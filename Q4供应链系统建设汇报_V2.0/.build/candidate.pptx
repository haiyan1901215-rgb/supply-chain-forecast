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2a9924ee204d40" /><Relationship Type="http://schemas.openxmlformats.org/officeDocument/2006/relationships/extended-properties" Target="/docProps/app.xml" Id="R2def50002d534103" /><Relationship Type="http://schemas.openxmlformats.org/officeDocument/2006/relationships/officeDocument" Target="/ppt/presentation.xml" Id="R6a6b1ec4edb74a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7c9f558aba4d41"/>
  </p:sldMasterIdLst>
  <p:notesMasterIdLst>
    <p:notesMasterId xmlns:r="http://schemas.openxmlformats.org/officeDocument/2006/relationships" r:id="R63503795b3a749b7"/>
  </p:notesMasterIdLst>
  <p:sldIdLst>
    <p:sldId xmlns:r="http://schemas.openxmlformats.org/officeDocument/2006/relationships" id="256" r:id="R8264e085dd6344f0"/>
    <p:sldId xmlns:r="http://schemas.openxmlformats.org/officeDocument/2006/relationships" id="257" r:id="R68fdc4bcb5c04d9a"/>
  </p:sldIdLst>
  <p:sldSz cx="27432000" cy="1714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c24eed35f44201" /><Relationship Type="http://schemas.openxmlformats.org/officeDocument/2006/relationships/slideMaster" Target="/ppt/slideMasters/slideMaster1.xml" Id="R2b7c9f558aba4d41" /><Relationship Type="http://schemas.openxmlformats.org/officeDocument/2006/relationships/notesMaster" Target="/ppt/notesMasters/notesMaster1.xml" Id="R63503795b3a749b7" /><Relationship Type="http://schemas.openxmlformats.org/officeDocument/2006/relationships/presProps" Target="/ppt/presProps.xml" Id="R44d4c228714949b6" /><Relationship Type="http://schemas.openxmlformats.org/officeDocument/2006/relationships/tableStyles" Target="/ppt/tableStyles.xml" Id="R2c91da653c5c4d8a" /><Relationship Type="http://schemas.openxmlformats.org/officeDocument/2006/relationships/slide" Target="/ppt/slides/slide1.xml" Id="R8264e085dd6344f0" /><Relationship Type="http://schemas.openxmlformats.org/officeDocument/2006/relationships/slide" Target="/ppt/slides/slide2.xml" Id="R68fdc4bcb5c04d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ddb7072f164e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0d1e677840471a" /><Relationship Type="http://schemas.openxmlformats.org/officeDocument/2006/relationships/notesMaster" Target="/ppt/notesMasters/notesMaster1.xml" Id="R01c685586ecb42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cab17d7417450f" /><Relationship Type="http://schemas.openxmlformats.org/officeDocument/2006/relationships/notesMaster" Target="/ppt/notesMasters/notesMaster1.xml" Id="R9a40eed9444f40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01_Q4供应链业务主流程图_V2.0.svg。业务依据：本次《第四季度供应链系统建设方案》1.2、1.4、1.7、1.10、1.11及第2节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02_Q4供应链跨部门泳道图_V2.0.svg。业务依据：本次《第四季度供应链系统建设方案》1.2、1.4、1.7、1.10、1.11及第2节。MRP为P1同步建设；PMC确认PR，SCM承载PR/PO管理。图中QC和入库为目标协同节点，一期接入范围需联评；原文1.8边界表未提供。所有文字与流程图元素为原生可编辑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a3c6177cb41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022840e9c9430c" /><Relationship Type="http://schemas.openxmlformats.org/officeDocument/2006/relationships/slideLayout" Target="/ppt/slideLayouts/slideLayout1.xml" Id="Re8a5e159f819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5e159f819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dd148393f4b73" /><Relationship Type="http://schemas.openxmlformats.org/officeDocument/2006/relationships/notesSlide" Target="/ppt/notesSlides/notesSlide1.xml" Id="Ra553513eef8346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efeda684945c3" /><Relationship Type="http://schemas.openxmlformats.org/officeDocument/2006/relationships/notesSlide" Target="/ppt/notesSlides/notesSlide2.xml" Id="R101c27b8ecce42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0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78013A1D-1966-4A83-B4DC-948A6D46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432000" cy="171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C53352B2-46F5-48BE-B74C-F3C0E9B5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432000" cy="171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9AFD45C3-58EC-41F0-BD4E-3C1206E1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Q4供应链建设｜业务主流程">
            <a:extLst xmlns:a="http://schemas.openxmlformats.org/drawingml/2006/main">
              <a:ext uri="{FF2B5EF4-FFF2-40B4-BE49-F238E27FC236}">
                <a16:creationId xmlns:a16="http://schemas.microsoft.com/office/drawing/2014/main" id="{931BF368-5412-4B10-999F-159C9772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494"/>
            <a:ext cx="6347174" cy="704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Q4供应链建设｜业务主流程</a:t>
            </a:r>
          </a:p>
        </p:txBody>
      </p:sp>
      <p:sp>
        <p:nvSpPr>
          <p:cNvPr id="5" name="2026 Q4 / V2.0">
            <a:extLst xmlns:a="http://schemas.openxmlformats.org/drawingml/2006/main">
              <a:ext uri="{FF2B5EF4-FFF2-40B4-BE49-F238E27FC236}">
                <a16:creationId xmlns:a16="http://schemas.microsoft.com/office/drawing/2014/main" id="{B7951817-BA93-4C1F-82C2-1B79304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5004" y="66675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V2.0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FADAFDCD-0983-47BE-9685-F63DC128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6212800" cy="476"/>
          </a:xfrm>
          <a:custGeom xmlns:a="http://schemas.openxmlformats.org/drawingml/2006/main">
            <a:pathLst>
              <a:path w="26212800" h="476">
                <a:moveTo>
                  <a:pt x="0" y="0"/>
                </a:moveTo>
                <a:lnTo>
                  <a:pt x="2621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P0打通PMC计划至SCM采购与供应商执行；P1同步建设MRP，并接入MES执行数据">
            <a:extLst xmlns:a="http://schemas.openxmlformats.org/drawingml/2006/main">
              <a:ext uri="{FF2B5EF4-FFF2-40B4-BE49-F238E27FC236}">
                <a16:creationId xmlns:a16="http://schemas.microsoft.com/office/drawing/2014/main" id="{FA103812-6A61-4B88-B13E-19941EBC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1002617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P0打通PMC计划至SCM采购与供应商执行；P1同步建设MRP，并接入MES执行数据</a:t>
            </a:r>
          </a:p>
        </p:txBody>
      </p:sp>
      <p:sp>
        <p:nvSpPr>
          <p:cNvPr id="8" name="01 / 方案校准版">
            <a:extLst xmlns:a="http://schemas.openxmlformats.org/drawingml/2006/main">
              <a:ext uri="{FF2B5EF4-FFF2-40B4-BE49-F238E27FC236}">
                <a16:creationId xmlns:a16="http://schemas.microsoft.com/office/drawing/2014/main" id="{862AE182-EB0B-4DE7-9700-D321A025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94208" y="1610487"/>
            <a:ext cx="1728192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01 / 方案校准版</a:t>
            </a:r>
          </a:p>
        </p:txBody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7C970774-B5EE-4D0D-8C31-BE82F3821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26212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B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" name="统一业务依据">
            <a:extLst xmlns:a="http://schemas.openxmlformats.org/drawingml/2006/main">
              <a:ext uri="{FF2B5EF4-FFF2-40B4-BE49-F238E27FC236}">
                <a16:creationId xmlns:a16="http://schemas.microsoft.com/office/drawing/2014/main" id="{DCED7EBB-0BC4-43B0-B6AB-ADC03B06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138"/>
            <a:ext cx="1700022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统一业务依据</a:t>
            </a:r>
          </a:p>
        </p:txBody>
      </p:sp>
      <p:sp>
        <p:nvSpPr>
          <p:cNvPr id="11" name="商品主数据 / PLM：SKU、版本、商品关系、BOM与技术资料">
            <a:extLst xmlns:a="http://schemas.openxmlformats.org/drawingml/2006/main">
              <a:ext uri="{FF2B5EF4-FFF2-40B4-BE49-F238E27FC236}">
                <a16:creationId xmlns:a16="http://schemas.microsoft.com/office/drawing/2014/main" id="{72694800-E533-4B8F-9623-247FB1AF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044"/>
            <a:ext cx="721410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商品主数据 / PLM：SKU、版本、商品关系、BOM与技术资料</a:t>
            </a:r>
          </a:p>
        </p:txBody>
      </p:sp>
      <p:sp>
        <p:nvSpPr>
          <p:cNvPr id="12" name="领星 / 库存 / 数仓：销量、库存、在途、AI基准与到货事实">
            <a:extLst xmlns:a="http://schemas.openxmlformats.org/drawingml/2006/main">
              <a:ext uri="{FF2B5EF4-FFF2-40B4-BE49-F238E27FC236}">
                <a16:creationId xmlns:a16="http://schemas.microsoft.com/office/drawing/2014/main" id="{8E8FA04E-8391-415A-AD59-87177666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2257044"/>
            <a:ext cx="6850059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领星 / 库存 / 数仓：销量、库存、在途、AI基准与到货事实</a:t>
            </a:r>
          </a:p>
        </p:txBody>
      </p:sp>
      <p:sp>
        <p:nvSpPr>
          <p:cNvPr id="13" name="供应商数据：产能、交期、成本、准交率与质量；PMC调用，采购结合这些依据进行分配">
            <a:extLst xmlns:a="http://schemas.openxmlformats.org/drawingml/2006/main">
              <a:ext uri="{FF2B5EF4-FFF2-40B4-BE49-F238E27FC236}">
                <a16:creationId xmlns:a16="http://schemas.microsoft.com/office/drawing/2014/main" id="{30F5C8CC-A20E-45FA-B365-C9A3FAD1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23769"/>
            <a:ext cx="1020494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供应商数据：产能、交期、成本、准交率与质量；PMC调用，采购结合这些依据进行分配</a:t>
            </a:r>
          </a:p>
        </p:txBody>
      </p:sp>
      <p:sp>
        <p:nvSpPr>
          <p:cNvPr id="14" name="path-13">
            <a:extLst xmlns:a="http://schemas.openxmlformats.org/drawingml/2006/main">
              <a:ext uri="{FF2B5EF4-FFF2-40B4-BE49-F238E27FC236}">
                <a16:creationId xmlns:a16="http://schemas.microsoft.com/office/drawing/2014/main" id="{1D47AFC6-91D2-4A68-88DB-46F62192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6335375" cy="476"/>
          </a:xfrm>
          <a:custGeom xmlns:a="http://schemas.openxmlformats.org/drawingml/2006/main">
            <a:pathLst>
              <a:path w="16335375" h="476">
                <a:moveTo>
                  <a:pt x="0" y="0"/>
                </a:moveTo>
                <a:lnTo>
                  <a:pt x="16335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008DD5"/>
            </a:solidFill>
            <a:prstDash val="solid"/>
          </a:ln>
        </p:spPr>
      </p:sp>
      <p:sp>
        <p:nvSpPr>
          <p:cNvPr id="15" name="P0 必须打通：计划 → PR → PO → 供应商执行状态">
            <a:extLst xmlns:a="http://schemas.openxmlformats.org/drawingml/2006/main">
              <a:ext uri="{FF2B5EF4-FFF2-40B4-BE49-F238E27FC236}">
                <a16:creationId xmlns:a16="http://schemas.microsoft.com/office/drawing/2014/main" id="{79539372-9AE9-4661-8968-F2828E1E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88236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P0 必须打通：计划 → PR → PO → 供应商执行状态</a:t>
            </a:r>
          </a:p>
        </p:txBody>
      </p:sp>
      <p:sp>
        <p:nvSpPr>
          <p:cNvPr id="16" name="path-15">
            <a:extLst xmlns:a="http://schemas.openxmlformats.org/drawingml/2006/main">
              <a:ext uri="{FF2B5EF4-FFF2-40B4-BE49-F238E27FC236}">
                <a16:creationId xmlns:a16="http://schemas.microsoft.com/office/drawing/2014/main" id="{97B6AD4D-7643-420E-AF22-92B90160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3714750"/>
            <a:ext cx="9639300" cy="476"/>
          </a:xfrm>
          <a:custGeom xmlns:a="http://schemas.openxmlformats.org/drawingml/2006/main">
            <a:pathLst>
              <a:path w="9639300" h="476">
                <a:moveTo>
                  <a:pt x="0" y="0"/>
                </a:moveTo>
                <a:lnTo>
                  <a:pt x="9639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7625">
            <a:solidFill>
              <a:srgbClr val="54963C"/>
            </a:solidFill>
            <a:prstDash val="solid"/>
          </a:ln>
        </p:spPr>
      </p:sp>
      <p:sp>
        <p:nvSpPr>
          <p:cNvPr id="17" name="执行协同：接入已有能力，按节点分阶段落地">
            <a:extLst xmlns:a="http://schemas.openxmlformats.org/drawingml/2006/main">
              <a:ext uri="{FF2B5EF4-FFF2-40B4-BE49-F238E27FC236}">
                <a16:creationId xmlns:a16="http://schemas.microsoft.com/office/drawing/2014/main" id="{A26EEB40-72BD-4D21-B6D7-34A58BBC0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83100" y="3352800"/>
            <a:ext cx="50482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执行协同：接入已有能力，按节点分阶段落地</a:t>
            </a:r>
          </a:p>
        </p:txBody>
      </p:sp>
      <p:sp>
        <p:nvSpPr>
          <p:cNvPr id="18" name="path-17">
            <a:extLst xmlns:a="http://schemas.openxmlformats.org/drawingml/2006/main">
              <a:ext uri="{FF2B5EF4-FFF2-40B4-BE49-F238E27FC236}">
                <a16:creationId xmlns:a16="http://schemas.microsoft.com/office/drawing/2014/main" id="{B662B8F4-DF0B-494B-A2DA-1A3FA146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33825"/>
            <a:ext cx="3190875" cy="933450"/>
          </a:xfrm>
          <a:custGeom xmlns:a="http://schemas.openxmlformats.org/drawingml/2006/main">
            <a:pathLst>
              <a:path w="3190875" h="933450">
                <a:moveTo>
                  <a:pt x="0" y="0"/>
                </a:moveTo>
                <a:lnTo>
                  <a:pt x="2952750" y="0"/>
                </a:lnTo>
                <a:lnTo>
                  <a:pt x="3190875" y="466725"/>
                </a:lnTo>
                <a:lnTo>
                  <a:pt x="2952750" y="933450"/>
                </a:lnTo>
                <a:lnTo>
                  <a:pt x="0" y="933450"/>
                </a:lnTo>
                <a:lnTo>
                  <a:pt x="209550" y="4667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销量预测">
            <a:extLst xmlns:a="http://schemas.openxmlformats.org/drawingml/2006/main">
              <a:ext uri="{FF2B5EF4-FFF2-40B4-BE49-F238E27FC236}">
                <a16:creationId xmlns:a16="http://schemas.microsoft.com/office/drawing/2014/main" id="{009EB33B-D3AF-422B-AFAD-2CF996BE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340" y="4207764"/>
            <a:ext cx="1323594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销量预测</a:t>
            </a:r>
          </a:p>
        </p:txBody>
      </p:sp>
      <p:sp>
        <p:nvSpPr>
          <p:cNvPr id="20" name="销售 / PMC · 计划平台">
            <a:extLst xmlns:a="http://schemas.openxmlformats.org/drawingml/2006/main">
              <a:ext uri="{FF2B5EF4-FFF2-40B4-BE49-F238E27FC236}">
                <a16:creationId xmlns:a16="http://schemas.microsoft.com/office/drawing/2014/main" id="{2CFEDC0C-878E-4264-BF33-F3C73B9A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33" y="5029962"/>
            <a:ext cx="251541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销售 / PMC · 计划平台</a:t>
            </a:r>
          </a:p>
        </p:txBody>
      </p:sp>
      <p:sp>
        <p:nvSpPr>
          <p:cNvPr id="21" name="周期发起、日级填报">
            <a:extLst xmlns:a="http://schemas.openxmlformats.org/drawingml/2006/main">
              <a:ext uri="{FF2B5EF4-FFF2-40B4-BE49-F238E27FC236}">
                <a16:creationId xmlns:a16="http://schemas.microsoft.com/office/drawing/2014/main" id="{8260F357-5086-4E6B-885D-A0EBACD7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95544"/>
            <a:ext cx="241325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周期发起、日级填报</a:t>
            </a:r>
          </a:p>
        </p:txBody>
      </p:sp>
      <p:sp>
        <p:nvSpPr>
          <p:cNvPr id="22" name="AI基准、人工修正与活动">
            <a:extLst xmlns:a="http://schemas.openxmlformats.org/drawingml/2006/main">
              <a:ext uri="{FF2B5EF4-FFF2-40B4-BE49-F238E27FC236}">
                <a16:creationId xmlns:a16="http://schemas.microsoft.com/office/drawing/2014/main" id="{932FE9F4-82AC-40E3-BFE1-3832E9D0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119"/>
            <a:ext cx="2901125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AI基准、人工修正与活动</a:t>
            </a:r>
          </a:p>
        </p:txBody>
      </p:sp>
      <p:sp>
        <p:nvSpPr>
          <p:cNvPr id="23" name="销售确认、PMC审核">
            <a:extLst xmlns:a="http://schemas.openxmlformats.org/drawingml/2006/main">
              <a:ext uri="{FF2B5EF4-FFF2-40B4-BE49-F238E27FC236}">
                <a16:creationId xmlns:a16="http://schemas.microsoft.com/office/drawing/2014/main" id="{7A1DE8EA-9722-46F4-8AFC-7AA1BB98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14694"/>
            <a:ext cx="247826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销售确认、PMC审核</a:t>
            </a:r>
          </a:p>
        </p:txBody>
      </p:sp>
      <p:sp>
        <p:nvSpPr>
          <p:cNvPr id="24" name="path-23">
            <a:extLst xmlns:a="http://schemas.openxmlformats.org/drawingml/2006/main">
              <a:ext uri="{FF2B5EF4-FFF2-40B4-BE49-F238E27FC236}">
                <a16:creationId xmlns:a16="http://schemas.microsoft.com/office/drawing/2014/main" id="{C281FA6D-E1ED-45E9-B16C-348D374E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29425"/>
            <a:ext cx="2962275" cy="476"/>
          </a:xfrm>
          <a:custGeom xmlns:a="http://schemas.openxmlformats.org/drawingml/2006/main">
            <a:pathLst>
              <a:path w="2962275" h="476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25" name="核心交付物">
            <a:extLst xmlns:a="http://schemas.openxmlformats.org/drawingml/2006/main">
              <a:ext uri="{FF2B5EF4-FFF2-40B4-BE49-F238E27FC236}">
                <a16:creationId xmlns:a16="http://schemas.microsoft.com/office/drawing/2014/main" id="{ACE58488-91A1-40C4-AA7E-557A8A58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35724"/>
            <a:ext cx="113538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核心交付物</a:t>
            </a:r>
          </a:p>
        </p:txBody>
      </p:sp>
      <p:sp>
        <p:nvSpPr>
          <p:cNvPr id="26" name="预测单 / 预测版本">
            <a:extLst xmlns:a="http://schemas.openxmlformats.org/drawingml/2006/main">
              <a:ext uri="{FF2B5EF4-FFF2-40B4-BE49-F238E27FC236}">
                <a16:creationId xmlns:a16="http://schemas.microsoft.com/office/drawing/2014/main" id="{1B16D09C-0438-4F6D-AEA6-8756F1B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77100"/>
            <a:ext cx="211762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预测单 / 预测版本</a:t>
            </a:r>
          </a:p>
        </p:txBody>
      </p:sp>
      <p:sp>
        <p:nvSpPr>
          <p:cNvPr id="27" name="path-26">
            <a:extLst xmlns:a="http://schemas.openxmlformats.org/drawingml/2006/main">
              <a:ext uri="{FF2B5EF4-FFF2-40B4-BE49-F238E27FC236}">
                <a16:creationId xmlns:a16="http://schemas.microsoft.com/office/drawing/2014/main" id="{5EFBDFE2-85D3-4393-96AE-30B3E967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33825"/>
            <a:ext cx="3190875" cy="933450"/>
          </a:xfrm>
          <a:custGeom xmlns:a="http://schemas.openxmlformats.org/drawingml/2006/main">
            <a:pathLst>
              <a:path w="3190875" h="933450">
                <a:moveTo>
                  <a:pt x="0" y="0"/>
                </a:moveTo>
                <a:lnTo>
                  <a:pt x="2952750" y="0"/>
                </a:lnTo>
                <a:lnTo>
                  <a:pt x="3190875" y="466725"/>
                </a:lnTo>
                <a:lnTo>
                  <a:pt x="2952750" y="933450"/>
                </a:lnTo>
                <a:lnTo>
                  <a:pt x="0" y="933450"/>
                </a:lnTo>
                <a:lnTo>
                  <a:pt x="209550" y="4667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备货计划">
            <a:extLst xmlns:a="http://schemas.openxmlformats.org/drawingml/2006/main">
              <a:ext uri="{FF2B5EF4-FFF2-40B4-BE49-F238E27FC236}">
                <a16:creationId xmlns:a16="http://schemas.microsoft.com/office/drawing/2014/main" id="{82E91178-0BB3-46EF-A574-17005586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466" y="4207764"/>
            <a:ext cx="1323594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备货计划</a:t>
            </a:r>
          </a:p>
        </p:txBody>
      </p:sp>
      <p:sp>
        <p:nvSpPr>
          <p:cNvPr id="29" name="PMC · 计划中枢">
            <a:extLst xmlns:a="http://schemas.openxmlformats.org/drawingml/2006/main">
              <a:ext uri="{FF2B5EF4-FFF2-40B4-BE49-F238E27FC236}">
                <a16:creationId xmlns:a16="http://schemas.microsoft.com/office/drawing/2014/main" id="{BAF831D6-A792-47EA-AB76-46F7EE02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098" y="5029962"/>
            <a:ext cx="1794129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 · 计划中枢</a:t>
            </a:r>
          </a:p>
        </p:txBody>
      </p:sp>
      <p:sp>
        <p:nvSpPr>
          <p:cNvPr id="30" name="校准库存、在途与时效">
            <a:extLst xmlns:a="http://schemas.openxmlformats.org/drawingml/2006/main">
              <a:ext uri="{FF2B5EF4-FFF2-40B4-BE49-F238E27FC236}">
                <a16:creationId xmlns:a16="http://schemas.microsoft.com/office/drawing/2014/main" id="{E0530A19-5EAB-4E9A-B971-2E3E4AFC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495544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校准库存、在途与时效</a:t>
            </a:r>
          </a:p>
        </p:txBody>
      </p:sp>
      <p:sp>
        <p:nvSpPr>
          <p:cNvPr id="31" name="水位、SKU版本拆解">
            <a:extLst xmlns:a="http://schemas.openxmlformats.org/drawingml/2006/main">
              <a:ext uri="{FF2B5EF4-FFF2-40B4-BE49-F238E27FC236}">
                <a16:creationId xmlns:a16="http://schemas.microsoft.com/office/drawing/2014/main" id="{09ABE92C-2BD4-4C1D-8F38-01E560AB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905119"/>
            <a:ext cx="2422541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水位、SKU版本拆解</a:t>
            </a:r>
          </a:p>
        </p:txBody>
      </p:sp>
      <p:sp>
        <p:nvSpPr>
          <p:cNvPr id="32" name="供货能力校准、计划审批">
            <a:extLst xmlns:a="http://schemas.openxmlformats.org/drawingml/2006/main">
              <a:ext uri="{FF2B5EF4-FFF2-40B4-BE49-F238E27FC236}">
                <a16:creationId xmlns:a16="http://schemas.microsoft.com/office/drawing/2014/main" id="{339FA73A-8CDB-4169-AC96-A79EFF45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314694"/>
            <a:ext cx="2928366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供货能力校准、计划审批</a:t>
            </a:r>
          </a:p>
        </p:txBody>
      </p:sp>
      <p:sp>
        <p:nvSpPr>
          <p:cNvPr id="33" name="path-32">
            <a:extLst xmlns:a="http://schemas.openxmlformats.org/drawingml/2006/main">
              <a:ext uri="{FF2B5EF4-FFF2-40B4-BE49-F238E27FC236}">
                <a16:creationId xmlns:a16="http://schemas.microsoft.com/office/drawing/2014/main" id="{A6E6F590-F806-47D5-A459-52BA7D36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829425"/>
            <a:ext cx="2962275" cy="476"/>
          </a:xfrm>
          <a:custGeom xmlns:a="http://schemas.openxmlformats.org/drawingml/2006/main">
            <a:pathLst>
              <a:path w="2962275" h="476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34" name="核心交付物">
            <a:extLst xmlns:a="http://schemas.openxmlformats.org/drawingml/2006/main">
              <a:ext uri="{FF2B5EF4-FFF2-40B4-BE49-F238E27FC236}">
                <a16:creationId xmlns:a16="http://schemas.microsoft.com/office/drawing/2014/main" id="{2BA3547B-9B93-4BC4-BC2B-466CD1F5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6935724"/>
            <a:ext cx="113538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核心交付物</a:t>
            </a:r>
          </a:p>
        </p:txBody>
      </p:sp>
      <p:sp>
        <p:nvSpPr>
          <p:cNvPr id="35" name="最终计划单 / 采购需求">
            <a:extLst xmlns:a="http://schemas.openxmlformats.org/drawingml/2006/main">
              <a:ext uri="{FF2B5EF4-FFF2-40B4-BE49-F238E27FC236}">
                <a16:creationId xmlns:a16="http://schemas.microsoft.com/office/drawing/2014/main" id="{22E4993A-A18A-44BA-A012-7691FEC6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7277100"/>
            <a:ext cx="261292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最终计划单 / 采购需求</a:t>
            </a:r>
          </a:p>
        </p:txBody>
      </p:sp>
      <p:sp>
        <p:nvSpPr>
          <p:cNvPr id="36" name="path-35">
            <a:extLst xmlns:a="http://schemas.openxmlformats.org/drawingml/2006/main">
              <a:ext uri="{FF2B5EF4-FFF2-40B4-BE49-F238E27FC236}">
                <a16:creationId xmlns:a16="http://schemas.microsoft.com/office/drawing/2014/main" id="{5B715E4E-58CF-466E-BC81-873840C9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33825"/>
            <a:ext cx="3190875" cy="933450"/>
          </a:xfrm>
          <a:custGeom xmlns:a="http://schemas.openxmlformats.org/drawingml/2006/main">
            <a:pathLst>
              <a:path w="3190875" h="933450">
                <a:moveTo>
                  <a:pt x="0" y="0"/>
                </a:moveTo>
                <a:lnTo>
                  <a:pt x="2952750" y="0"/>
                </a:lnTo>
                <a:lnTo>
                  <a:pt x="3190875" y="466725"/>
                </a:lnTo>
                <a:lnTo>
                  <a:pt x="2952750" y="933450"/>
                </a:lnTo>
                <a:lnTo>
                  <a:pt x="0" y="933450"/>
                </a:lnTo>
                <a:lnTo>
                  <a:pt x="209550" y="466725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采购需求 / PR">
            <a:extLst xmlns:a="http://schemas.openxmlformats.org/drawingml/2006/main">
              <a:ext uri="{FF2B5EF4-FFF2-40B4-BE49-F238E27FC236}">
                <a16:creationId xmlns:a16="http://schemas.microsoft.com/office/drawing/2014/main" id="{BD9B9467-5F14-4817-9426-9B191B65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947" y="4207764"/>
            <a:ext cx="2096881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采购需求 / PR</a:t>
            </a:r>
          </a:p>
        </p:txBody>
      </p:sp>
      <p:sp>
        <p:nvSpPr>
          <p:cNvPr id="38" name="PMC确认 · SCM管理">
            <a:extLst xmlns:a="http://schemas.openxmlformats.org/drawingml/2006/main">
              <a:ext uri="{FF2B5EF4-FFF2-40B4-BE49-F238E27FC236}">
                <a16:creationId xmlns:a16="http://schemas.microsoft.com/office/drawing/2014/main" id="{C4AE604A-EF39-4AE3-9AB9-A6F985F8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04" y="5029962"/>
            <a:ext cx="2314968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PMC确认 · SCM管理</a:t>
            </a:r>
          </a:p>
        </p:txBody>
      </p:sp>
      <p:sp>
        <p:nvSpPr>
          <p:cNvPr id="39" name="计划需求进入采购计划">
            <a:extLst xmlns:a="http://schemas.openxmlformats.org/drawingml/2006/main">
              <a:ext uri="{FF2B5EF4-FFF2-40B4-BE49-F238E27FC236}">
                <a16:creationId xmlns:a16="http://schemas.microsoft.com/office/drawing/2014/main" id="{CF340604-9758-449A-ADB8-EBC027DC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495544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计划需求进入采购计划</a:t>
            </a:r>
          </a:p>
        </p:txBody>
      </p:sp>
      <p:sp>
        <p:nvSpPr>
          <p:cNvPr id="40" name="PR生成、审核与状态">
            <a:extLst xmlns:a="http://schemas.openxmlformats.org/drawingml/2006/main">
              <a:ext uri="{FF2B5EF4-FFF2-40B4-BE49-F238E27FC236}">
                <a16:creationId xmlns:a16="http://schemas.microsoft.com/office/drawing/2014/main" id="{123CF68C-E735-4800-83B2-3EF38CA1A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905119"/>
            <a:ext cx="2495288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PR生成、审核与状态</a:t>
            </a:r>
          </a:p>
        </p:txBody>
      </p:sp>
      <p:sp>
        <p:nvSpPr>
          <p:cNvPr id="41" name="拆分 / 合并、PR转PO">
            <a:extLst xmlns:a="http://schemas.openxmlformats.org/drawingml/2006/main">
              <a:ext uri="{FF2B5EF4-FFF2-40B4-BE49-F238E27FC236}">
                <a16:creationId xmlns:a16="http://schemas.microsoft.com/office/drawing/2014/main" id="{6E3674A6-3589-43C3-A7EB-57771B66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314694"/>
            <a:ext cx="2643259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拆分 / 合并、PR转PO</a:t>
            </a:r>
          </a:p>
        </p:txBody>
      </p:sp>
      <p:sp>
        <p:nvSpPr>
          <p:cNvPr id="42" name="path-41">
            <a:extLst xmlns:a="http://schemas.openxmlformats.org/drawingml/2006/main">
              <a:ext uri="{FF2B5EF4-FFF2-40B4-BE49-F238E27FC236}">
                <a16:creationId xmlns:a16="http://schemas.microsoft.com/office/drawing/2014/main" id="{CBA783BF-E7A1-474A-8665-D6CC0361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829425"/>
            <a:ext cx="2962275" cy="476"/>
          </a:xfrm>
          <a:custGeom xmlns:a="http://schemas.openxmlformats.org/drawingml/2006/main">
            <a:pathLst>
              <a:path w="2962275" h="476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43" name="核心交付物">
            <a:extLst xmlns:a="http://schemas.openxmlformats.org/drawingml/2006/main">
              <a:ext uri="{FF2B5EF4-FFF2-40B4-BE49-F238E27FC236}">
                <a16:creationId xmlns:a16="http://schemas.microsoft.com/office/drawing/2014/main" id="{72F86409-E987-430A-9A5F-B0D953B4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6935724"/>
            <a:ext cx="113538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核心交付物</a:t>
            </a:r>
          </a:p>
        </p:txBody>
      </p:sp>
      <p:sp>
        <p:nvSpPr>
          <p:cNvPr id="44" name="已确认PR">
            <a:extLst xmlns:a="http://schemas.openxmlformats.org/drawingml/2006/main">
              <a:ext uri="{FF2B5EF4-FFF2-40B4-BE49-F238E27FC236}">
                <a16:creationId xmlns:a16="http://schemas.microsoft.com/office/drawing/2014/main" id="{83887678-08EF-42D4-9B4F-74258B75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7277100"/>
            <a:ext cx="1173147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已确认PR</a:t>
            </a:r>
          </a:p>
        </p:txBody>
      </p:sp>
      <p:sp>
        <p:nvSpPr>
          <p:cNvPr id="45" name="path-44">
            <a:extLst xmlns:a="http://schemas.openxmlformats.org/drawingml/2006/main">
              <a:ext uri="{FF2B5EF4-FFF2-40B4-BE49-F238E27FC236}">
                <a16:creationId xmlns:a16="http://schemas.microsoft.com/office/drawing/2014/main" id="{458F3B38-74BF-424B-97E7-546AD75A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3933825"/>
            <a:ext cx="3190875" cy="933450"/>
          </a:xfrm>
          <a:custGeom xmlns:a="http://schemas.openxmlformats.org/drawingml/2006/main">
            <a:pathLst>
              <a:path w="3190875" h="933450">
                <a:moveTo>
                  <a:pt x="0" y="0"/>
                </a:moveTo>
                <a:lnTo>
                  <a:pt x="2952750" y="0"/>
                </a:lnTo>
                <a:lnTo>
                  <a:pt x="3190875" y="466725"/>
                </a:lnTo>
                <a:lnTo>
                  <a:pt x="2952750" y="933450"/>
                </a:lnTo>
                <a:lnTo>
                  <a:pt x="0" y="933450"/>
                </a:lnTo>
                <a:lnTo>
                  <a:pt x="209550" y="466725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采购分配 / PO">
            <a:extLst xmlns:a="http://schemas.openxmlformats.org/drawingml/2006/main">
              <a:ext uri="{FF2B5EF4-FFF2-40B4-BE49-F238E27FC236}">
                <a16:creationId xmlns:a16="http://schemas.microsoft.com/office/drawing/2014/main" id="{DC8DE0A9-8F5F-418D-925D-746DF62E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1076" y="4207764"/>
            <a:ext cx="2120872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采购分配 / PO</a:t>
            </a:r>
          </a:p>
        </p:txBody>
      </p:sp>
      <p:sp>
        <p:nvSpPr>
          <p:cNvPr id="47" name="采购 · SCM">
            <a:extLst xmlns:a="http://schemas.openxmlformats.org/drawingml/2006/main">
              <a:ext uri="{FF2B5EF4-FFF2-40B4-BE49-F238E27FC236}">
                <a16:creationId xmlns:a16="http://schemas.microsoft.com/office/drawing/2014/main" id="{BECD11AF-7958-45E6-9D8E-C15BB36F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650" y="5029962"/>
            <a:ext cx="1337524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采购 · SCM</a:t>
            </a:r>
          </a:p>
        </p:txBody>
      </p:sp>
      <p:sp>
        <p:nvSpPr>
          <p:cNvPr id="48" name="产能、成本、交期分配">
            <a:extLst xmlns:a="http://schemas.openxmlformats.org/drawingml/2006/main">
              <a:ext uri="{FF2B5EF4-FFF2-40B4-BE49-F238E27FC236}">
                <a16:creationId xmlns:a16="http://schemas.microsoft.com/office/drawing/2014/main" id="{719F923E-33F4-4859-9FDC-E7462C5A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495544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产能、成本、交期分配</a:t>
            </a:r>
          </a:p>
        </p:txBody>
      </p:sp>
      <p:sp>
        <p:nvSpPr>
          <p:cNvPr id="49" name="版本、工厂库存与包装">
            <a:extLst xmlns:a="http://schemas.openxmlformats.org/drawingml/2006/main">
              <a:ext uri="{FF2B5EF4-FFF2-40B4-BE49-F238E27FC236}">
                <a16:creationId xmlns:a16="http://schemas.microsoft.com/office/drawing/2014/main" id="{3BD0D7AA-7602-4079-9823-C86CCA7C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905119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版本、工厂库存与包装</a:t>
            </a:r>
          </a:p>
        </p:txBody>
      </p:sp>
      <p:sp>
        <p:nvSpPr>
          <p:cNvPr id="50" name="PO审核、交期确认">
            <a:extLst xmlns:a="http://schemas.openxmlformats.org/drawingml/2006/main">
              <a:ext uri="{FF2B5EF4-FFF2-40B4-BE49-F238E27FC236}">
                <a16:creationId xmlns:a16="http://schemas.microsoft.com/office/drawing/2014/main" id="{C8E17E11-70EB-43FB-86DC-7F86E2A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6314694"/>
            <a:ext cx="226110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PO审核、交期确认</a:t>
            </a:r>
          </a:p>
        </p:txBody>
      </p:sp>
      <p:sp>
        <p:nvSpPr>
          <p:cNvPr id="51" name="path-50">
            <a:extLst xmlns:a="http://schemas.openxmlformats.org/drawingml/2006/main">
              <a:ext uri="{FF2B5EF4-FFF2-40B4-BE49-F238E27FC236}">
                <a16:creationId xmlns:a16="http://schemas.microsoft.com/office/drawing/2014/main" id="{C930BE7E-4BB1-4D7F-8FD1-461FA989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6829425"/>
            <a:ext cx="2962275" cy="476"/>
          </a:xfrm>
          <a:custGeom xmlns:a="http://schemas.openxmlformats.org/drawingml/2006/main">
            <a:pathLst>
              <a:path w="2962275" h="476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52" name="核心交付物">
            <a:extLst xmlns:a="http://schemas.openxmlformats.org/drawingml/2006/main">
              <a:ext uri="{FF2B5EF4-FFF2-40B4-BE49-F238E27FC236}">
                <a16:creationId xmlns:a16="http://schemas.microsoft.com/office/drawing/2014/main" id="{DCC91D5F-4E2E-40E5-A080-3E32D439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6935724"/>
            <a:ext cx="113538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核心交付物</a:t>
            </a:r>
          </a:p>
        </p:txBody>
      </p:sp>
      <p:sp>
        <p:nvSpPr>
          <p:cNvPr id="53" name="采购订单PO">
            <a:extLst xmlns:a="http://schemas.openxmlformats.org/drawingml/2006/main">
              <a:ext uri="{FF2B5EF4-FFF2-40B4-BE49-F238E27FC236}">
                <a16:creationId xmlns:a16="http://schemas.microsoft.com/office/drawing/2014/main" id="{696592EF-E031-4DB1-8E23-B28D661E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7277100"/>
            <a:ext cx="143999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采购订单PO</a:t>
            </a:r>
          </a:p>
        </p:txBody>
      </p:sp>
      <p:sp>
        <p:nvSpPr>
          <p:cNvPr id="54" name="path-53">
            <a:extLst xmlns:a="http://schemas.openxmlformats.org/drawingml/2006/main">
              <a:ext uri="{FF2B5EF4-FFF2-40B4-BE49-F238E27FC236}">
                <a16:creationId xmlns:a16="http://schemas.microsoft.com/office/drawing/2014/main" id="{7C982CE7-8BD9-4CBA-AC42-C3D7B175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3933825"/>
            <a:ext cx="3190875" cy="933450"/>
          </a:xfrm>
          <a:custGeom xmlns:a="http://schemas.openxmlformats.org/drawingml/2006/main">
            <a:pathLst>
              <a:path w="3190875" h="933450">
                <a:moveTo>
                  <a:pt x="0" y="0"/>
                </a:moveTo>
                <a:lnTo>
                  <a:pt x="2952750" y="0"/>
                </a:lnTo>
                <a:lnTo>
                  <a:pt x="3190875" y="466725"/>
                </a:lnTo>
                <a:lnTo>
                  <a:pt x="2952750" y="933450"/>
                </a:lnTo>
                <a:lnTo>
                  <a:pt x="0" y="933450"/>
                </a:lnTo>
                <a:lnTo>
                  <a:pt x="209550" y="466725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供应商执行">
            <a:extLst xmlns:a="http://schemas.openxmlformats.org/drawingml/2006/main">
              <a:ext uri="{FF2B5EF4-FFF2-40B4-BE49-F238E27FC236}">
                <a16:creationId xmlns:a16="http://schemas.microsoft.com/office/drawing/2014/main" id="{2CCF41B0-61ED-4AFB-BFED-60730FF2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2298" y="4207764"/>
            <a:ext cx="163068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供应商执行</a:t>
            </a:r>
          </a:p>
        </p:txBody>
      </p:sp>
      <p:sp>
        <p:nvSpPr>
          <p:cNvPr id="56" name="供应商 · SCM协同">
            <a:extLst xmlns:a="http://schemas.openxmlformats.org/drawingml/2006/main">
              <a:ext uri="{FF2B5EF4-FFF2-40B4-BE49-F238E27FC236}">
                <a16:creationId xmlns:a16="http://schemas.microsoft.com/office/drawing/2014/main" id="{3DFABF27-9E1A-4F44-8947-CED98F3F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9018" y="5029962"/>
            <a:ext cx="2021038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供应商 · SCM协同</a:t>
            </a:r>
          </a:p>
        </p:txBody>
      </p:sp>
      <p:sp>
        <p:nvSpPr>
          <p:cNvPr id="57" name="接单及要求货期确认">
            <a:extLst xmlns:a="http://schemas.openxmlformats.org/drawingml/2006/main">
              <a:ext uri="{FF2B5EF4-FFF2-40B4-BE49-F238E27FC236}">
                <a16:creationId xmlns:a16="http://schemas.microsoft.com/office/drawing/2014/main" id="{A5A6BAC8-F6A3-49D1-842B-238893F9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495544"/>
            <a:ext cx="241325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接单及要求货期确认</a:t>
            </a:r>
          </a:p>
        </p:txBody>
      </p:sp>
      <p:sp>
        <p:nvSpPr>
          <p:cNvPr id="58" name="BOM、工艺与技术资料">
            <a:extLst xmlns:a="http://schemas.openxmlformats.org/drawingml/2006/main">
              <a:ext uri="{FF2B5EF4-FFF2-40B4-BE49-F238E27FC236}">
                <a16:creationId xmlns:a16="http://schemas.microsoft.com/office/drawing/2014/main" id="{60EC1D40-388F-44F6-AF1B-99336D6E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5905119"/>
            <a:ext cx="2754856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BOM、工艺与技术资料</a:t>
            </a:r>
          </a:p>
        </p:txBody>
      </p:sp>
      <p:sp>
        <p:nvSpPr>
          <p:cNvPr id="59" name="到料、执行状态及异常">
            <a:extLst xmlns:a="http://schemas.openxmlformats.org/drawingml/2006/main">
              <a:ext uri="{FF2B5EF4-FFF2-40B4-BE49-F238E27FC236}">
                <a16:creationId xmlns:a16="http://schemas.microsoft.com/office/drawing/2014/main" id="{6E63112A-C34D-4986-87A2-63092E1A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314694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到料、执行状态及异常</a:t>
            </a:r>
          </a:p>
        </p:txBody>
      </p:sp>
      <p:sp>
        <p:nvSpPr>
          <p:cNvPr id="60" name="path-59">
            <a:extLst xmlns:a="http://schemas.openxmlformats.org/drawingml/2006/main">
              <a:ext uri="{FF2B5EF4-FFF2-40B4-BE49-F238E27FC236}">
                <a16:creationId xmlns:a16="http://schemas.microsoft.com/office/drawing/2014/main" id="{EF047938-3126-4C5B-8ED1-037F4D2E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829425"/>
            <a:ext cx="2962275" cy="476"/>
          </a:xfrm>
          <a:custGeom xmlns:a="http://schemas.openxmlformats.org/drawingml/2006/main">
            <a:pathLst>
              <a:path w="2962275" h="476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61" name="核心交付物">
            <a:extLst xmlns:a="http://schemas.openxmlformats.org/drawingml/2006/main">
              <a:ext uri="{FF2B5EF4-FFF2-40B4-BE49-F238E27FC236}">
                <a16:creationId xmlns:a16="http://schemas.microsoft.com/office/drawing/2014/main" id="{3F8726AB-B484-47E4-A8EB-12408E64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6935724"/>
            <a:ext cx="113538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核心交付物</a:t>
            </a:r>
          </a:p>
        </p:txBody>
      </p:sp>
      <p:sp>
        <p:nvSpPr>
          <p:cNvPr id="62" name="接单 / 交期 / 执行状态">
            <a:extLst xmlns:a="http://schemas.openxmlformats.org/drawingml/2006/main">
              <a:ext uri="{FF2B5EF4-FFF2-40B4-BE49-F238E27FC236}">
                <a16:creationId xmlns:a16="http://schemas.microsoft.com/office/drawing/2014/main" id="{A7A2FA97-4A70-464B-9D51-CBFA20EE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7277100"/>
            <a:ext cx="2654094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接单 / 交期 / 执行状态</a:t>
            </a:r>
          </a:p>
        </p:txBody>
      </p:sp>
      <p:sp>
        <p:nvSpPr>
          <p:cNvPr id="63" name="path-62">
            <a:extLst xmlns:a="http://schemas.openxmlformats.org/drawingml/2006/main">
              <a:ext uri="{FF2B5EF4-FFF2-40B4-BE49-F238E27FC236}">
                <a16:creationId xmlns:a16="http://schemas.microsoft.com/office/drawing/2014/main" id="{64DEBC1A-3AC1-43F2-A4D3-698335EF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0225" y="3933825"/>
            <a:ext cx="3190875" cy="933450"/>
          </a:xfrm>
          <a:custGeom xmlns:a="http://schemas.openxmlformats.org/drawingml/2006/main">
            <a:pathLst>
              <a:path w="3190875" h="933450">
                <a:moveTo>
                  <a:pt x="0" y="0"/>
                </a:moveTo>
                <a:lnTo>
                  <a:pt x="2952750" y="0"/>
                </a:lnTo>
                <a:lnTo>
                  <a:pt x="3190875" y="466725"/>
                </a:lnTo>
                <a:lnTo>
                  <a:pt x="2952750" y="933450"/>
                </a:lnTo>
                <a:lnTo>
                  <a:pt x="0" y="933450"/>
                </a:lnTo>
                <a:lnTo>
                  <a:pt x="209550" y="466725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生产 / MES">
            <a:extLst xmlns:a="http://schemas.openxmlformats.org/drawingml/2006/main">
              <a:ext uri="{FF2B5EF4-FFF2-40B4-BE49-F238E27FC236}">
                <a16:creationId xmlns:a16="http://schemas.microsoft.com/office/drawing/2014/main" id="{8751D74B-A488-4239-B433-E5373E43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02779" y="4207764"/>
            <a:ext cx="1741968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生产 / MES</a:t>
            </a:r>
          </a:p>
        </p:txBody>
      </p:sp>
      <p:sp>
        <p:nvSpPr>
          <p:cNvPr id="65" name="工厂 · 已有MES协同">
            <a:extLst xmlns:a="http://schemas.openxmlformats.org/drawingml/2006/main">
              <a:ext uri="{FF2B5EF4-FFF2-40B4-BE49-F238E27FC236}">
                <a16:creationId xmlns:a16="http://schemas.microsoft.com/office/drawing/2014/main" id="{CA8FB71B-08EE-4556-9703-79513419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1517" y="5029962"/>
            <a:ext cx="222829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工厂 · 已有MES协同</a:t>
            </a:r>
          </a:p>
        </p:txBody>
      </p:sp>
      <p:sp>
        <p:nvSpPr>
          <p:cNvPr id="66" name="订单关联、下达与开工">
            <a:extLst xmlns:a="http://schemas.openxmlformats.org/drawingml/2006/main">
              <a:ext uri="{FF2B5EF4-FFF2-40B4-BE49-F238E27FC236}">
                <a16:creationId xmlns:a16="http://schemas.microsoft.com/office/drawing/2014/main" id="{98D62B5F-F976-4928-926E-CBB352ED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525" y="5495544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订单关联、下达与开工</a:t>
            </a:r>
          </a:p>
        </p:txBody>
      </p:sp>
      <p:sp>
        <p:nvSpPr>
          <p:cNvPr id="67" name="扫菲 / 工序进度同步">
            <a:extLst xmlns:a="http://schemas.openxmlformats.org/drawingml/2006/main">
              <a:ext uri="{FF2B5EF4-FFF2-40B4-BE49-F238E27FC236}">
                <a16:creationId xmlns:a16="http://schemas.microsoft.com/office/drawing/2014/main" id="{EC923D21-E15F-497D-B00E-AC1525DA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525" y="5905119"/>
            <a:ext cx="2456128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扫菲 / 工序进度同步</a:t>
            </a:r>
          </a:p>
        </p:txBody>
      </p:sp>
      <p:sp>
        <p:nvSpPr>
          <p:cNvPr id="68" name="延期预警、完工回传">
            <a:extLst xmlns:a="http://schemas.openxmlformats.org/drawingml/2006/main">
              <a:ext uri="{FF2B5EF4-FFF2-40B4-BE49-F238E27FC236}">
                <a16:creationId xmlns:a16="http://schemas.microsoft.com/office/drawing/2014/main" id="{6CBB4552-A6BE-4734-8D69-5CCD647B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525" y="6314694"/>
            <a:ext cx="241325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延期预警、完工回传</a:t>
            </a:r>
          </a:p>
        </p:txBody>
      </p:sp>
      <p:sp>
        <p:nvSpPr>
          <p:cNvPr id="69" name="path-68">
            <a:extLst xmlns:a="http://schemas.openxmlformats.org/drawingml/2006/main">
              <a:ext uri="{FF2B5EF4-FFF2-40B4-BE49-F238E27FC236}">
                <a16:creationId xmlns:a16="http://schemas.microsoft.com/office/drawing/2014/main" id="{D7ADB00F-A32B-4D97-8B4A-1653C50E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525" y="6829425"/>
            <a:ext cx="2962275" cy="476"/>
          </a:xfrm>
          <a:custGeom xmlns:a="http://schemas.openxmlformats.org/drawingml/2006/main">
            <a:pathLst>
              <a:path w="2962275" h="476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70" name="核心交付物">
            <a:extLst xmlns:a="http://schemas.openxmlformats.org/drawingml/2006/main">
              <a:ext uri="{FF2B5EF4-FFF2-40B4-BE49-F238E27FC236}">
                <a16:creationId xmlns:a16="http://schemas.microsoft.com/office/drawing/2014/main" id="{BCDDAF10-8BAF-404F-9DA4-070850EA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525" y="6935724"/>
            <a:ext cx="113538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核心交付物</a:t>
            </a:r>
          </a:p>
        </p:txBody>
      </p:sp>
      <p:sp>
        <p:nvSpPr>
          <p:cNvPr id="71" name="生产订单 / 进度">
            <a:extLst xmlns:a="http://schemas.openxmlformats.org/drawingml/2006/main">
              <a:ext uri="{FF2B5EF4-FFF2-40B4-BE49-F238E27FC236}">
                <a16:creationId xmlns:a16="http://schemas.microsoft.com/office/drawing/2014/main" id="{C824BA28-243C-4498-AA53-52B89421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4525" y="7277100"/>
            <a:ext cx="18699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生产订单 / 进度</a:t>
            </a:r>
          </a:p>
        </p:txBody>
      </p:sp>
      <p:sp>
        <p:nvSpPr>
          <p:cNvPr id="72" name="path-71">
            <a:extLst xmlns:a="http://schemas.openxmlformats.org/drawingml/2006/main">
              <a:ext uri="{FF2B5EF4-FFF2-40B4-BE49-F238E27FC236}">
                <a16:creationId xmlns:a16="http://schemas.microsoft.com/office/drawing/2014/main" id="{840E56F7-8E79-4352-A944-6D705FEA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6350" y="3933825"/>
            <a:ext cx="3190875" cy="933450"/>
          </a:xfrm>
          <a:custGeom xmlns:a="http://schemas.openxmlformats.org/drawingml/2006/main">
            <a:pathLst>
              <a:path w="3190875" h="933450">
                <a:moveTo>
                  <a:pt x="0" y="0"/>
                </a:moveTo>
                <a:lnTo>
                  <a:pt x="2952750" y="0"/>
                </a:lnTo>
                <a:lnTo>
                  <a:pt x="3190875" y="466725"/>
                </a:lnTo>
                <a:lnTo>
                  <a:pt x="2952750" y="933450"/>
                </a:lnTo>
                <a:lnTo>
                  <a:pt x="0" y="933450"/>
                </a:lnTo>
                <a:lnTo>
                  <a:pt x="209550" y="466725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品控与发货">
            <a:extLst xmlns:a="http://schemas.openxmlformats.org/drawingml/2006/main">
              <a:ext uri="{FF2B5EF4-FFF2-40B4-BE49-F238E27FC236}">
                <a16:creationId xmlns:a16="http://schemas.microsoft.com/office/drawing/2014/main" id="{C08772B2-A228-4D39-ADF7-B1A690DD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4548" y="4207764"/>
            <a:ext cx="163068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品控与发货</a:t>
            </a:r>
          </a:p>
        </p:txBody>
      </p:sp>
      <p:sp>
        <p:nvSpPr>
          <p:cNvPr id="74" name="QC / 供应商 · 执行协同">
            <a:extLst xmlns:a="http://schemas.openxmlformats.org/drawingml/2006/main">
              <a:ext uri="{FF2B5EF4-FFF2-40B4-BE49-F238E27FC236}">
                <a16:creationId xmlns:a16="http://schemas.microsoft.com/office/drawing/2014/main" id="{50BF135A-009A-4D29-B991-D0779560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9318" y="5029962"/>
            <a:ext cx="256494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QC / 供应商 · 执行协同</a:t>
            </a:r>
          </a:p>
        </p:txBody>
      </p:sp>
      <p:sp>
        <p:nvSpPr>
          <p:cNvPr id="75" name="首扎、中期、尾期检验">
            <a:extLst xmlns:a="http://schemas.openxmlformats.org/drawingml/2006/main">
              <a:ext uri="{FF2B5EF4-FFF2-40B4-BE49-F238E27FC236}">
                <a16:creationId xmlns:a16="http://schemas.microsoft.com/office/drawing/2014/main" id="{00327167-5FB3-4E3D-9A7C-B47361CD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0" y="5495544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首扎、中期、尾期检验</a:t>
            </a:r>
          </a:p>
        </p:txBody>
      </p:sp>
      <p:sp>
        <p:nvSpPr>
          <p:cNvPr id="76" name="成品检验、问题与退货">
            <a:extLst xmlns:a="http://schemas.openxmlformats.org/drawingml/2006/main">
              <a:ext uri="{FF2B5EF4-FFF2-40B4-BE49-F238E27FC236}">
                <a16:creationId xmlns:a16="http://schemas.microsoft.com/office/drawing/2014/main" id="{00299A5F-601A-4721-9897-4BD75EFB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0" y="5905119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成品检验、问题与退货</a:t>
            </a:r>
          </a:p>
        </p:txBody>
      </p:sp>
      <p:sp>
        <p:nvSpPr>
          <p:cNvPr id="77" name="质量放行、供应商发货">
            <a:extLst xmlns:a="http://schemas.openxmlformats.org/drawingml/2006/main">
              <a:ext uri="{FF2B5EF4-FFF2-40B4-BE49-F238E27FC236}">
                <a16:creationId xmlns:a16="http://schemas.microsoft.com/office/drawing/2014/main" id="{F3251E8C-F980-49E6-B22D-F706959D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0" y="6314694"/>
            <a:ext cx="267081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质量放行、供应商发货</a:t>
            </a:r>
          </a:p>
        </p:txBody>
      </p:sp>
      <p:sp>
        <p:nvSpPr>
          <p:cNvPr id="78" name="path-77">
            <a:extLst xmlns:a="http://schemas.openxmlformats.org/drawingml/2006/main">
              <a:ext uri="{FF2B5EF4-FFF2-40B4-BE49-F238E27FC236}">
                <a16:creationId xmlns:a16="http://schemas.microsoft.com/office/drawing/2014/main" id="{5E347793-A566-4A36-AC8A-9C15AE03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0" y="6829425"/>
            <a:ext cx="2962275" cy="476"/>
          </a:xfrm>
          <a:custGeom xmlns:a="http://schemas.openxmlformats.org/drawingml/2006/main">
            <a:pathLst>
              <a:path w="2962275" h="476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79" name="核心交付物">
            <a:extLst xmlns:a="http://schemas.openxmlformats.org/drawingml/2006/main">
              <a:ext uri="{FF2B5EF4-FFF2-40B4-BE49-F238E27FC236}">
                <a16:creationId xmlns:a16="http://schemas.microsoft.com/office/drawing/2014/main" id="{F0894C8A-B9C3-486B-81AE-2B083382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0" y="6935724"/>
            <a:ext cx="113538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核心交付物</a:t>
            </a:r>
          </a:p>
        </p:txBody>
      </p:sp>
      <p:sp>
        <p:nvSpPr>
          <p:cNvPr id="80" name="质量记录 / 发货单">
            <a:extLst xmlns:a="http://schemas.openxmlformats.org/drawingml/2006/main">
              <a:ext uri="{FF2B5EF4-FFF2-40B4-BE49-F238E27FC236}">
                <a16:creationId xmlns:a16="http://schemas.microsoft.com/office/drawing/2014/main" id="{96BD071B-26AB-4756-8683-1000C2C3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0" y="7277100"/>
            <a:ext cx="211762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质量记录 / 发货单</a:t>
            </a:r>
          </a:p>
        </p:txBody>
      </p:sp>
      <p:sp>
        <p:nvSpPr>
          <p:cNvPr id="81" name="path-80">
            <a:extLst xmlns:a="http://schemas.openxmlformats.org/drawingml/2006/main">
              <a:ext uri="{FF2B5EF4-FFF2-40B4-BE49-F238E27FC236}">
                <a16:creationId xmlns:a16="http://schemas.microsoft.com/office/drawing/2014/main" id="{FED310CB-3B7F-4C79-BD2C-8F3911B3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2475" y="3933825"/>
            <a:ext cx="3190875" cy="933450"/>
          </a:xfrm>
          <a:custGeom xmlns:a="http://schemas.openxmlformats.org/drawingml/2006/main">
            <a:pathLst>
              <a:path w="3190875" h="933450">
                <a:moveTo>
                  <a:pt x="0" y="0"/>
                </a:moveTo>
                <a:lnTo>
                  <a:pt x="2952750" y="0"/>
                </a:lnTo>
                <a:lnTo>
                  <a:pt x="3190875" y="466725"/>
                </a:lnTo>
                <a:lnTo>
                  <a:pt x="2952750" y="933450"/>
                </a:lnTo>
                <a:lnTo>
                  <a:pt x="0" y="933450"/>
                </a:lnTo>
                <a:lnTo>
                  <a:pt x="209550" y="466725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收货与入库">
            <a:extLst xmlns:a="http://schemas.openxmlformats.org/drawingml/2006/main">
              <a:ext uri="{FF2B5EF4-FFF2-40B4-BE49-F238E27FC236}">
                <a16:creationId xmlns:a16="http://schemas.microsoft.com/office/drawing/2014/main" id="{8F47198A-F4C9-4641-A1C4-17850ED1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0673" y="4207764"/>
            <a:ext cx="163068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收货与入库</a:t>
            </a:r>
          </a:p>
        </p:txBody>
      </p:sp>
      <p:sp>
        <p:nvSpPr>
          <p:cNvPr id="83" name="仓储 · 库存 / 领星等">
            <a:extLst xmlns:a="http://schemas.openxmlformats.org/drawingml/2006/main">
              <a:ext uri="{FF2B5EF4-FFF2-40B4-BE49-F238E27FC236}">
                <a16:creationId xmlns:a16="http://schemas.microsoft.com/office/drawing/2014/main" id="{8585AF38-668D-4C08-8455-BD1B60D3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7172" y="5029962"/>
            <a:ext cx="2221480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仓储 · 库存 / 领星等</a:t>
            </a:r>
          </a:p>
        </p:txBody>
      </p:sp>
      <p:sp>
        <p:nvSpPr>
          <p:cNvPr id="84" name="仓库收货、到货核对">
            <a:extLst xmlns:a="http://schemas.openxmlformats.org/drawingml/2006/main">
              <a:ext uri="{FF2B5EF4-FFF2-40B4-BE49-F238E27FC236}">
                <a16:creationId xmlns:a16="http://schemas.microsoft.com/office/drawing/2014/main" id="{2DFB503D-151B-441A-A925-9A3CF079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75" y="5495544"/>
            <a:ext cx="241325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仓库收货、到货核对</a:t>
            </a:r>
          </a:p>
        </p:txBody>
      </p:sp>
      <p:sp>
        <p:nvSpPr>
          <p:cNvPr id="85" name="入库检验、库存更新">
            <a:extLst xmlns:a="http://schemas.openxmlformats.org/drawingml/2006/main">
              <a:ext uri="{FF2B5EF4-FFF2-40B4-BE49-F238E27FC236}">
                <a16:creationId xmlns:a16="http://schemas.microsoft.com/office/drawing/2014/main" id="{C83041B6-4AAF-4FEB-8B7E-62162DF2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75" y="5905119"/>
            <a:ext cx="241325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入库检验、库存更新</a:t>
            </a:r>
          </a:p>
        </p:txBody>
      </p:sp>
      <p:sp>
        <p:nvSpPr>
          <p:cNvPr id="86" name="到货与库存事实回流">
            <a:extLst xmlns:a="http://schemas.openxmlformats.org/drawingml/2006/main">
              <a:ext uri="{FF2B5EF4-FFF2-40B4-BE49-F238E27FC236}">
                <a16:creationId xmlns:a16="http://schemas.microsoft.com/office/drawing/2014/main" id="{203DBEB1-8BE0-4DAE-AA8D-FC9F46E7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75" y="6314694"/>
            <a:ext cx="241325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到货与库存事实回流</a:t>
            </a:r>
          </a:p>
        </p:txBody>
      </p:sp>
      <p:sp>
        <p:nvSpPr>
          <p:cNvPr id="87" name="path-86">
            <a:extLst xmlns:a="http://schemas.openxmlformats.org/drawingml/2006/main">
              <a:ext uri="{FF2B5EF4-FFF2-40B4-BE49-F238E27FC236}">
                <a16:creationId xmlns:a16="http://schemas.microsoft.com/office/drawing/2014/main" id="{D1B25E9D-B7F0-4D38-A0DD-2C8359F7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75" y="6829425"/>
            <a:ext cx="2962275" cy="476"/>
          </a:xfrm>
          <a:custGeom xmlns:a="http://schemas.openxmlformats.org/drawingml/2006/main">
            <a:pathLst>
              <a:path w="2962275" h="476">
                <a:moveTo>
                  <a:pt x="0" y="0"/>
                </a:moveTo>
                <a:lnTo>
                  <a:pt x="2962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88" name="核心交付物">
            <a:extLst xmlns:a="http://schemas.openxmlformats.org/drawingml/2006/main">
              <a:ext uri="{FF2B5EF4-FFF2-40B4-BE49-F238E27FC236}">
                <a16:creationId xmlns:a16="http://schemas.microsoft.com/office/drawing/2014/main" id="{712275BD-537D-4A52-8D98-47855AAF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75" y="6935724"/>
            <a:ext cx="1135380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核心交付物</a:t>
            </a:r>
          </a:p>
        </p:txBody>
      </p:sp>
      <p:sp>
        <p:nvSpPr>
          <p:cNvPr id="89" name="入库单 / 库存结果">
            <a:extLst xmlns:a="http://schemas.openxmlformats.org/drawingml/2006/main">
              <a:ext uri="{FF2B5EF4-FFF2-40B4-BE49-F238E27FC236}">
                <a16:creationId xmlns:a16="http://schemas.microsoft.com/office/drawing/2014/main" id="{C7456C12-6C0C-4309-89C5-934D73A9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6775" y="7277100"/>
            <a:ext cx="211762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入库单 / 库存结果</a:t>
            </a:r>
          </a:p>
        </p:txBody>
      </p:sp>
      <p:sp>
        <p:nvSpPr>
          <p:cNvPr id="90" name="path-89">
            <a:extLst xmlns:a="http://schemas.openxmlformats.org/drawingml/2006/main">
              <a:ext uri="{FF2B5EF4-FFF2-40B4-BE49-F238E27FC236}">
                <a16:creationId xmlns:a16="http://schemas.microsoft.com/office/drawing/2014/main" id="{BB3B6CD3-A884-4C5D-B5E3-A7948F30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696200"/>
            <a:ext cx="19745325" cy="428625"/>
          </a:xfrm>
          <a:custGeom xmlns:a="http://schemas.openxmlformats.org/drawingml/2006/main">
            <a:pathLst>
              <a:path w="19745325" h="428625">
                <a:moveTo>
                  <a:pt x="19745325" y="0"/>
                </a:moveTo>
                <a:lnTo>
                  <a:pt x="19745325" y="428625"/>
                </a:lnTo>
                <a:lnTo>
                  <a:pt x="0" y="4286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dash"/>
          </a:ln>
        </p:spPr>
      </p:sp>
      <p:sp>
        <p:nvSpPr>
          <p:cNvPr id="91" name="arrowhead-89">
            <a:extLst xmlns:a="http://schemas.openxmlformats.org/drawingml/2006/main">
              <a:ext uri="{FF2B5EF4-FFF2-40B4-BE49-F238E27FC236}">
                <a16:creationId xmlns:a16="http://schemas.microsoft.com/office/drawing/2014/main" id="{39F865EE-4538-438F-A982-CCB961BA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2565" y="769620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0"/>
                </a:moveTo>
                <a:lnTo>
                  <a:pt x="198120" y="198120"/>
                </a:lnTo>
                <a:lnTo>
                  <a:pt x="0" y="19812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92" name="rect-90">
            <a:extLst xmlns:a="http://schemas.openxmlformats.org/drawingml/2006/main">
              <a:ext uri="{FF2B5EF4-FFF2-40B4-BE49-F238E27FC236}">
                <a16:creationId xmlns:a16="http://schemas.microsoft.com/office/drawing/2014/main" id="{3B143405-06FD-45CA-9E82-29CAD2F2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9088" y="7962900"/>
            <a:ext cx="77438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3" name="订单、交期、到料、生产、质量及库存回流 → PMC滚动校准下一轮计划">
            <a:extLst xmlns:a="http://schemas.openxmlformats.org/drawingml/2006/main">
              <a:ext uri="{FF2B5EF4-FFF2-40B4-BE49-F238E27FC236}">
                <a16:creationId xmlns:a16="http://schemas.microsoft.com/office/drawing/2014/main" id="{8269F25F-4739-42CA-ADD4-662CD4A8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7476" y="7943850"/>
            <a:ext cx="8007048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订单、交期、到料、生产、质量及库存回流 → PMC滚动校准下一轮计划</a:t>
            </a:r>
          </a:p>
        </p:txBody>
      </p:sp>
      <p:sp>
        <p:nvSpPr>
          <p:cNvPr id="94" name="rect-92">
            <a:extLst xmlns:a="http://schemas.openxmlformats.org/drawingml/2006/main">
              <a:ext uri="{FF2B5EF4-FFF2-40B4-BE49-F238E27FC236}">
                <a16:creationId xmlns:a16="http://schemas.microsoft.com/office/drawing/2014/main" id="{ABA2DC0C-2A23-439C-B54E-91D0A74C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0"/>
            <a:ext cx="26212800" cy="30861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BF9FE"/>
          </a:solidFill>
          <a:ln xmlns:a="http://schemas.openxmlformats.org/drawingml/2006/main" w="19050">
            <a:solidFill>
              <a:srgbClr val="AE99C7"/>
            </a:solidFill>
            <a:prstDash val="solid"/>
          </a:ln>
        </p:spPr>
      </p:sp>
      <p:sp>
        <p:nvSpPr>
          <p:cNvPr id="95" name="P1同步建设｜MRP面辅料计划域">
            <a:extLst xmlns:a="http://schemas.openxmlformats.org/drawingml/2006/main">
              <a:ext uri="{FF2B5EF4-FFF2-40B4-BE49-F238E27FC236}">
                <a16:creationId xmlns:a16="http://schemas.microsoft.com/office/drawing/2014/main" id="{C9C61EAC-BB05-4EB2-AC9F-6B12DF8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817483"/>
            <a:ext cx="4634675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P1同步建设｜MRP面辅料计划域</a:t>
            </a:r>
          </a:p>
        </p:txBody>
      </p:sp>
      <p:sp>
        <p:nvSpPr>
          <p:cNvPr id="96" name="由成衣采购计划驱动，与SCM采购执行、工厂齐料衔接">
            <a:extLst xmlns:a="http://schemas.openxmlformats.org/drawingml/2006/main">
              <a:ext uri="{FF2B5EF4-FFF2-40B4-BE49-F238E27FC236}">
                <a16:creationId xmlns:a16="http://schemas.microsoft.com/office/drawing/2014/main" id="{8DFC635B-2626-4F4E-8C21-61C14504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8867013"/>
            <a:ext cx="6579191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由成衣采购计划驱动，与SCM采购执行、工厂齐料衔接</a:t>
            </a:r>
          </a:p>
        </p:txBody>
      </p:sp>
      <p:sp>
        <p:nvSpPr>
          <p:cNvPr id="97" name="成衣采购计划 + BOM">
            <a:extLst xmlns:a="http://schemas.openxmlformats.org/drawingml/2006/main">
              <a:ext uri="{FF2B5EF4-FFF2-40B4-BE49-F238E27FC236}">
                <a16:creationId xmlns:a16="http://schemas.microsoft.com/office/drawing/2014/main" id="{BA80FA72-D4AB-4ECF-8797-A356B7B8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9513570"/>
            <a:ext cx="2959787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成衣采购计划 + BOM</a:t>
            </a:r>
          </a:p>
        </p:txBody>
      </p:sp>
      <p:sp>
        <p:nvSpPr>
          <p:cNvPr id="98" name="统一物料身份、规格">
            <a:extLst xmlns:a="http://schemas.openxmlformats.org/drawingml/2006/main">
              <a:ext uri="{FF2B5EF4-FFF2-40B4-BE49-F238E27FC236}">
                <a16:creationId xmlns:a16="http://schemas.microsoft.com/office/drawing/2014/main" id="{FE6C7166-FD9C-41C4-AB03-52063DDF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029444"/>
            <a:ext cx="241325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统一物料身份、规格</a:t>
            </a:r>
          </a:p>
        </p:txBody>
      </p:sp>
      <p:sp>
        <p:nvSpPr>
          <p:cNvPr id="99" name="供应商与采购 / 备料周期">
            <a:extLst xmlns:a="http://schemas.openxmlformats.org/drawingml/2006/main">
              <a:ext uri="{FF2B5EF4-FFF2-40B4-BE49-F238E27FC236}">
                <a16:creationId xmlns:a16="http://schemas.microsoft.com/office/drawing/2014/main" id="{878BEBD4-B258-4F09-A71E-86B53077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448544"/>
            <a:ext cx="297124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供应商与采购 / 备料周期</a:t>
            </a:r>
          </a:p>
        </p:txBody>
      </p:sp>
      <p:sp>
        <p:nvSpPr>
          <p:cNvPr id="100" name="path-98">
            <a:extLst xmlns:a="http://schemas.openxmlformats.org/drawingml/2006/main">
              <a:ext uri="{FF2B5EF4-FFF2-40B4-BE49-F238E27FC236}">
                <a16:creationId xmlns:a16="http://schemas.microsoft.com/office/drawing/2014/main" id="{1811AC11-914A-42F2-A45B-8A34EDCB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9886950"/>
            <a:ext cx="581025" cy="476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60A8"/>
            </a:solidFill>
            <a:prstDash val="solid"/>
          </a:ln>
        </p:spPr>
      </p:sp>
      <p:sp>
        <p:nvSpPr>
          <p:cNvPr id="101" name="arrowhead-98">
            <a:extLst xmlns:a="http://schemas.openxmlformats.org/drawingml/2006/main">
              <a:ext uri="{FF2B5EF4-FFF2-40B4-BE49-F238E27FC236}">
                <a16:creationId xmlns:a16="http://schemas.microsoft.com/office/drawing/2014/main" id="{96E2BBB0-ED08-4EE5-9E3F-FB7C244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2130" y="97878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02" name="MRP需求计算">
            <a:extLst xmlns:a="http://schemas.openxmlformats.org/drawingml/2006/main">
              <a:ext uri="{FF2B5EF4-FFF2-40B4-BE49-F238E27FC236}">
                <a16:creationId xmlns:a16="http://schemas.microsoft.com/office/drawing/2014/main" id="{B6B6509E-68B6-4669-8C7D-2A80BB5D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513570"/>
            <a:ext cx="195417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MRP需求计算</a:t>
            </a:r>
          </a:p>
        </p:txBody>
      </p:sp>
      <p:sp>
        <p:nvSpPr>
          <p:cNvPr id="103" name="物料库存、在途、安全库存">
            <a:extLst xmlns:a="http://schemas.openxmlformats.org/drawingml/2006/main">
              <a:ext uri="{FF2B5EF4-FFF2-40B4-BE49-F238E27FC236}">
                <a16:creationId xmlns:a16="http://schemas.microsoft.com/office/drawing/2014/main" id="{8CE06273-8A82-43B9-8A45-6C7FA82A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0029444"/>
            <a:ext cx="318592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物料库存、在途、安全库存</a:t>
            </a:r>
          </a:p>
        </p:txBody>
      </p:sp>
      <p:sp>
        <p:nvSpPr>
          <p:cNvPr id="104" name="损耗率 → 净需求与建议">
            <a:extLst xmlns:a="http://schemas.openxmlformats.org/drawingml/2006/main">
              <a:ext uri="{FF2B5EF4-FFF2-40B4-BE49-F238E27FC236}">
                <a16:creationId xmlns:a16="http://schemas.microsoft.com/office/drawing/2014/main" id="{7D5B8894-EEA5-47B7-A246-5A7A7B0C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0448544"/>
            <a:ext cx="284246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损耗率 → 净需求与建议</a:t>
            </a:r>
          </a:p>
        </p:txBody>
      </p:sp>
      <p:sp>
        <p:nvSpPr>
          <p:cNvPr id="105" name="path-102">
            <a:extLst xmlns:a="http://schemas.openxmlformats.org/drawingml/2006/main">
              <a:ext uri="{FF2B5EF4-FFF2-40B4-BE49-F238E27FC236}">
                <a16:creationId xmlns:a16="http://schemas.microsoft.com/office/drawing/2014/main" id="{D241D3C9-FE22-4EC5-B829-1AABDE81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9886950"/>
            <a:ext cx="581025" cy="476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60A8"/>
            </a:solidFill>
            <a:prstDash val="solid"/>
          </a:ln>
        </p:spPr>
      </p:sp>
      <p:sp>
        <p:nvSpPr>
          <p:cNvPr id="106" name="arrowhead-102">
            <a:extLst xmlns:a="http://schemas.openxmlformats.org/drawingml/2006/main">
              <a:ext uri="{FF2B5EF4-FFF2-40B4-BE49-F238E27FC236}">
                <a16:creationId xmlns:a16="http://schemas.microsoft.com/office/drawing/2014/main" id="{86195317-2D52-4C91-A2E1-A6BCFBCF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1830" y="97878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07" name="面辅料需求计划">
            <a:extLst xmlns:a="http://schemas.openxmlformats.org/drawingml/2006/main">
              <a:ext uri="{FF2B5EF4-FFF2-40B4-BE49-F238E27FC236}">
                <a16:creationId xmlns:a16="http://schemas.microsoft.com/office/drawing/2014/main" id="{9B15AFE7-602C-4F7B-8D06-474931A3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9513570"/>
            <a:ext cx="217551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面辅料需求计划</a:t>
            </a:r>
          </a:p>
        </p:txBody>
      </p:sp>
      <p:sp>
        <p:nvSpPr>
          <p:cNvPr id="108" name="面料 / 辅料需求">
            <a:extLst xmlns:a="http://schemas.openxmlformats.org/drawingml/2006/main">
              <a:ext uri="{FF2B5EF4-FFF2-40B4-BE49-F238E27FC236}">
                <a16:creationId xmlns:a16="http://schemas.microsoft.com/office/drawing/2014/main" id="{74492778-05F2-47CB-9950-83A2DCB4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0029444"/>
            <a:ext cx="1941016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面料 / 辅料需求</a:t>
            </a:r>
          </a:p>
        </p:txBody>
      </p:sp>
      <p:sp>
        <p:nvSpPr>
          <p:cNvPr id="109" name="采购建议、备料与发料需求">
            <a:extLst xmlns:a="http://schemas.openxmlformats.org/drawingml/2006/main">
              <a:ext uri="{FF2B5EF4-FFF2-40B4-BE49-F238E27FC236}">
                <a16:creationId xmlns:a16="http://schemas.microsoft.com/office/drawing/2014/main" id="{427FAAA1-5A68-475E-9939-FAB39F29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0448544"/>
            <a:ext cx="318592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采购建议、备料与发料需求</a:t>
            </a:r>
          </a:p>
        </p:txBody>
      </p:sp>
      <p:sp>
        <p:nvSpPr>
          <p:cNvPr id="110" name="path-106">
            <a:extLst xmlns:a="http://schemas.openxmlformats.org/drawingml/2006/main">
              <a:ext uri="{FF2B5EF4-FFF2-40B4-BE49-F238E27FC236}">
                <a16:creationId xmlns:a16="http://schemas.microsoft.com/office/drawing/2014/main" id="{E6365560-9B05-4CF3-933C-48A62474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25" y="9886950"/>
            <a:ext cx="581025" cy="476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60A8"/>
            </a:solidFill>
            <a:prstDash val="solid"/>
          </a:ln>
        </p:spPr>
      </p:sp>
      <p:sp>
        <p:nvSpPr>
          <p:cNvPr id="111" name="arrowhead-106">
            <a:extLst xmlns:a="http://schemas.openxmlformats.org/drawingml/2006/main">
              <a:ext uri="{FF2B5EF4-FFF2-40B4-BE49-F238E27FC236}">
                <a16:creationId xmlns:a16="http://schemas.microsoft.com/office/drawing/2014/main" id="{89D42FA6-510E-4CBC-B66B-219EBDE6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1530" y="97878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12" name="SCM物料采购">
            <a:extLst xmlns:a="http://schemas.openxmlformats.org/drawingml/2006/main">
              <a:ext uri="{FF2B5EF4-FFF2-40B4-BE49-F238E27FC236}">
                <a16:creationId xmlns:a16="http://schemas.microsoft.com/office/drawing/2014/main" id="{31E23B5F-0B13-481E-80DF-B1525D4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9513570"/>
            <a:ext cx="196346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SCM物料采购</a:t>
            </a:r>
          </a:p>
        </p:txBody>
      </p:sp>
      <p:sp>
        <p:nvSpPr>
          <p:cNvPr id="113" name="供应商选择、PO与交期">
            <a:extLst xmlns:a="http://schemas.openxmlformats.org/drawingml/2006/main">
              <a:ext uri="{FF2B5EF4-FFF2-40B4-BE49-F238E27FC236}">
                <a16:creationId xmlns:a16="http://schemas.microsoft.com/office/drawing/2014/main" id="{CD0CD5B1-B579-4B60-9ADD-79231C0C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10029444"/>
            <a:ext cx="2776216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供应商选择、PO与交期</a:t>
            </a:r>
          </a:p>
        </p:txBody>
      </p:sp>
      <p:sp>
        <p:nvSpPr>
          <p:cNvPr id="114" name="材料供应商接单、到货跟进">
            <a:extLst xmlns:a="http://schemas.openxmlformats.org/drawingml/2006/main">
              <a:ext uri="{FF2B5EF4-FFF2-40B4-BE49-F238E27FC236}">
                <a16:creationId xmlns:a16="http://schemas.microsoft.com/office/drawing/2014/main" id="{98BD3504-E9DB-4CC0-8158-787F4C41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4450" y="10448544"/>
            <a:ext cx="3185922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材料供应商接单、到货跟进</a:t>
            </a:r>
          </a:p>
        </p:txBody>
      </p:sp>
      <p:sp>
        <p:nvSpPr>
          <p:cNvPr id="115" name="path-110">
            <a:extLst xmlns:a="http://schemas.openxmlformats.org/drawingml/2006/main">
              <a:ext uri="{FF2B5EF4-FFF2-40B4-BE49-F238E27FC236}">
                <a16:creationId xmlns:a16="http://schemas.microsoft.com/office/drawing/2014/main" id="{BE7B153A-F108-4F94-955C-F939D062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88325" y="9886950"/>
            <a:ext cx="581025" cy="476"/>
          </a:xfrm>
          <a:custGeom xmlns:a="http://schemas.openxmlformats.org/drawingml/2006/main">
            <a:pathLst>
              <a:path w="581025" h="476">
                <a:moveTo>
                  <a:pt x="0" y="0"/>
                </a:moveTo>
                <a:lnTo>
                  <a:pt x="581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60A8"/>
            </a:solidFill>
            <a:prstDash val="solid"/>
          </a:ln>
        </p:spPr>
      </p:sp>
      <p:sp>
        <p:nvSpPr>
          <p:cNvPr id="116" name="arrowhead-110">
            <a:extLst xmlns:a="http://schemas.openxmlformats.org/drawingml/2006/main">
              <a:ext uri="{FF2B5EF4-FFF2-40B4-BE49-F238E27FC236}">
                <a16:creationId xmlns:a16="http://schemas.microsoft.com/office/drawing/2014/main" id="{B397F1FF-97F4-4B21-B152-922C29D2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1230" y="97878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117" name="到料 / 齐料 / 发料">
            <a:extLst xmlns:a="http://schemas.openxmlformats.org/drawingml/2006/main">
              <a:ext uri="{FF2B5EF4-FFF2-40B4-BE49-F238E27FC236}">
                <a16:creationId xmlns:a16="http://schemas.microsoft.com/office/drawing/2014/main" id="{180C6361-03CE-44AD-9C8B-C8F13EDE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0" y="9513570"/>
            <a:ext cx="257144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到料 / 齐料 / 发料</a:t>
            </a:r>
          </a:p>
        </p:txBody>
      </p:sp>
      <p:sp>
        <p:nvSpPr>
          <p:cNvPr id="118" name="来料IQC、预计 / 实际到料">
            <a:extLst xmlns:a="http://schemas.openxmlformats.org/drawingml/2006/main">
              <a:ext uri="{FF2B5EF4-FFF2-40B4-BE49-F238E27FC236}">
                <a16:creationId xmlns:a16="http://schemas.microsoft.com/office/drawing/2014/main" id="{D8C00735-DC84-4D3D-981E-D68A188A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0" y="10029444"/>
            <a:ext cx="315976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来料IQC、预计 / 实际到料</a:t>
            </a:r>
          </a:p>
        </p:txBody>
      </p:sp>
      <p:sp>
        <p:nvSpPr>
          <p:cNvPr id="119" name="缺料预警，发往成衣工厂">
            <a:extLst xmlns:a="http://schemas.openxmlformats.org/drawingml/2006/main">
              <a:ext uri="{FF2B5EF4-FFF2-40B4-BE49-F238E27FC236}">
                <a16:creationId xmlns:a16="http://schemas.microsoft.com/office/drawing/2014/main" id="{43FF165C-B217-4A09-BF47-1723117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74150" y="10448544"/>
            <a:ext cx="2928366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缺料预警，发往成衣工厂</a:t>
            </a:r>
          </a:p>
        </p:txBody>
      </p:sp>
      <p:sp>
        <p:nvSpPr>
          <p:cNvPr id="120" name="责任：MRP计算净需求并组织备料 / 发料；有净缺口交SCM采购，现有可用物料直接备料；到料与齐料支撑生产。">
            <a:extLst xmlns:a="http://schemas.openxmlformats.org/drawingml/2006/main">
              <a:ext uri="{FF2B5EF4-FFF2-40B4-BE49-F238E27FC236}">
                <a16:creationId xmlns:a16="http://schemas.microsoft.com/office/drawing/2014/main" id="{BFFE053C-B72E-4FD7-92E8-65F4D345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096244"/>
            <a:ext cx="13149346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责任：MRP计算净需求并组织备料 / 发料；有净缺口交SCM采购，现有可用物料直接备料；到料与齐料支撑生产。</a:t>
            </a:r>
          </a:p>
        </p:txBody>
      </p:sp>
      <p:sp>
        <p:nvSpPr>
          <p:cNvPr id="121" name="四个建设域与交付重点">
            <a:extLst xmlns:a="http://schemas.openxmlformats.org/drawingml/2006/main">
              <a:ext uri="{FF2B5EF4-FFF2-40B4-BE49-F238E27FC236}">
                <a16:creationId xmlns:a16="http://schemas.microsoft.com/office/drawing/2014/main" id="{AE090665-78AF-4D60-AD24-C83D1541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45696"/>
            <a:ext cx="3463290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四个建设域与交付重点</a:t>
            </a:r>
          </a:p>
        </p:txBody>
      </p:sp>
      <p:sp>
        <p:nvSpPr>
          <p:cNvPr id="122" name="path-116">
            <a:extLst xmlns:a="http://schemas.openxmlformats.org/drawingml/2006/main">
              <a:ext uri="{FF2B5EF4-FFF2-40B4-BE49-F238E27FC236}">
                <a16:creationId xmlns:a16="http://schemas.microsoft.com/office/drawing/2014/main" id="{D038D92F-C066-477E-BCB6-812EC577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49200"/>
            <a:ext cx="6296025" cy="476"/>
          </a:xfrm>
          <a:custGeom xmlns:a="http://schemas.openxmlformats.org/drawingml/2006/main">
            <a:pathLst>
              <a:path w="6296025" h="476">
                <a:moveTo>
                  <a:pt x="0" y="0"/>
                </a:moveTo>
                <a:lnTo>
                  <a:pt x="6296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8DD5"/>
            </a:solidFill>
            <a:prstDash val="solid"/>
          </a:ln>
        </p:spPr>
      </p:sp>
      <p:sp>
        <p:nvSpPr>
          <p:cNvPr id="123" name="PMC计划域">
            <a:extLst xmlns:a="http://schemas.openxmlformats.org/drawingml/2006/main">
              <a:ext uri="{FF2B5EF4-FFF2-40B4-BE49-F238E27FC236}">
                <a16:creationId xmlns:a16="http://schemas.microsoft.com/office/drawing/2014/main" id="{637E23DE-FD16-4127-B2BD-6ACD0CA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18364"/>
            <a:ext cx="1719834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PMC计划域</a:t>
            </a:r>
          </a:p>
        </p:txBody>
      </p:sp>
      <p:sp>
        <p:nvSpPr>
          <p:cNvPr id="124" name="P0">
            <a:extLst xmlns:a="http://schemas.openxmlformats.org/drawingml/2006/main">
              <a:ext uri="{FF2B5EF4-FFF2-40B4-BE49-F238E27FC236}">
                <a16:creationId xmlns:a16="http://schemas.microsoft.com/office/drawing/2014/main" id="{58EE9A0D-32A0-4FC0-8D3A-8EC7A6A8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06806"/>
            <a:ext cx="39366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25" name="预测、备货、审批与计划执行">
            <a:extLst xmlns:a="http://schemas.openxmlformats.org/drawingml/2006/main">
              <a:ext uri="{FF2B5EF4-FFF2-40B4-BE49-F238E27FC236}">
                <a16:creationId xmlns:a16="http://schemas.microsoft.com/office/drawing/2014/main" id="{B351DAA1-376B-4170-8B2F-5BDD1FBF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34288"/>
            <a:ext cx="3572256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预测、备货、审批与计划执行</a:t>
            </a:r>
          </a:p>
        </p:txBody>
      </p:sp>
      <p:sp>
        <p:nvSpPr>
          <p:cNvPr id="126" name="日级预测 → 最终备货计划">
            <a:extLst xmlns:a="http://schemas.openxmlformats.org/drawingml/2006/main">
              <a:ext uri="{FF2B5EF4-FFF2-40B4-BE49-F238E27FC236}">
                <a16:creationId xmlns:a16="http://schemas.microsoft.com/office/drawing/2014/main" id="{173EA657-24DE-4CAE-9963-FAB488A5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81963"/>
            <a:ext cx="3215485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日级预测 → 最终备货计划</a:t>
            </a:r>
          </a:p>
        </p:txBody>
      </p:sp>
      <p:sp>
        <p:nvSpPr>
          <p:cNvPr id="127" name="path-121">
            <a:extLst xmlns:a="http://schemas.openxmlformats.org/drawingml/2006/main">
              <a:ext uri="{FF2B5EF4-FFF2-40B4-BE49-F238E27FC236}">
                <a16:creationId xmlns:a16="http://schemas.microsoft.com/office/drawing/2014/main" id="{937AF863-3EC1-4E8A-A569-D15D0C20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2649200"/>
            <a:ext cx="6296025" cy="476"/>
          </a:xfrm>
          <a:custGeom xmlns:a="http://schemas.openxmlformats.org/drawingml/2006/main">
            <a:pathLst>
              <a:path w="6296025" h="476">
                <a:moveTo>
                  <a:pt x="0" y="0"/>
                </a:moveTo>
                <a:lnTo>
                  <a:pt x="6296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7B60A8"/>
            </a:solidFill>
            <a:prstDash val="solid"/>
          </a:ln>
        </p:spPr>
      </p:sp>
      <p:sp>
        <p:nvSpPr>
          <p:cNvPr id="128" name="MRP面辅料计划域">
            <a:extLst xmlns:a="http://schemas.openxmlformats.org/drawingml/2006/main">
              <a:ext uri="{FF2B5EF4-FFF2-40B4-BE49-F238E27FC236}">
                <a16:creationId xmlns:a16="http://schemas.microsoft.com/office/drawing/2014/main" id="{DB878DF0-83F6-4ED3-88A6-0E10D122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2818364"/>
            <a:ext cx="2630257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MRP面辅料计划域</a:t>
            </a:r>
          </a:p>
        </p:txBody>
      </p:sp>
      <p:sp>
        <p:nvSpPr>
          <p:cNvPr id="129" name="P1">
            <a:extLst xmlns:a="http://schemas.openxmlformats.org/drawingml/2006/main">
              <a:ext uri="{FF2B5EF4-FFF2-40B4-BE49-F238E27FC236}">
                <a16:creationId xmlns:a16="http://schemas.microsoft.com/office/drawing/2014/main" id="{D97322D1-AE89-42DD-A379-53E0A335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3306806"/>
            <a:ext cx="348472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P1</a:t>
            </a:r>
          </a:p>
        </p:txBody>
      </p:sp>
      <p:sp>
        <p:nvSpPr>
          <p:cNvPr id="130" name="主数据、需求计算、备料与发料">
            <a:extLst xmlns:a="http://schemas.openxmlformats.org/drawingml/2006/main">
              <a:ext uri="{FF2B5EF4-FFF2-40B4-BE49-F238E27FC236}">
                <a16:creationId xmlns:a16="http://schemas.microsoft.com/office/drawing/2014/main" id="{A344CAD3-D063-4F40-90E7-3AB7B728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3734288"/>
            <a:ext cx="3839718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主数据、需求计算、备料与发料</a:t>
            </a:r>
          </a:p>
        </p:txBody>
      </p:sp>
      <p:sp>
        <p:nvSpPr>
          <p:cNvPr id="131" name="成衣计划 → 面辅料需求计划">
            <a:extLst xmlns:a="http://schemas.openxmlformats.org/drawingml/2006/main">
              <a:ext uri="{FF2B5EF4-FFF2-40B4-BE49-F238E27FC236}">
                <a16:creationId xmlns:a16="http://schemas.microsoft.com/office/drawing/2014/main" id="{868CD01E-6041-4355-827E-AD9AA8F9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4181963"/>
            <a:ext cx="3482947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成衣计划 → 面辅料需求计划</a:t>
            </a:r>
          </a:p>
        </p:txBody>
      </p:sp>
      <p:sp>
        <p:nvSpPr>
          <p:cNvPr id="132" name="path-126">
            <a:extLst xmlns:a="http://schemas.openxmlformats.org/drawingml/2006/main">
              <a:ext uri="{FF2B5EF4-FFF2-40B4-BE49-F238E27FC236}">
                <a16:creationId xmlns:a16="http://schemas.microsoft.com/office/drawing/2014/main" id="{2E561065-26DC-4F04-8D9F-DEA1E77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2649200"/>
            <a:ext cx="6296025" cy="476"/>
          </a:xfrm>
          <a:custGeom xmlns:a="http://schemas.openxmlformats.org/drawingml/2006/main">
            <a:pathLst>
              <a:path w="6296025" h="476">
                <a:moveTo>
                  <a:pt x="0" y="0"/>
                </a:moveTo>
                <a:lnTo>
                  <a:pt x="6296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DC8226"/>
            </a:solidFill>
            <a:prstDash val="solid"/>
          </a:ln>
        </p:spPr>
      </p:sp>
      <p:sp>
        <p:nvSpPr>
          <p:cNvPr id="133" name="SCM采购域">
            <a:extLst xmlns:a="http://schemas.openxmlformats.org/drawingml/2006/main">
              <a:ext uri="{FF2B5EF4-FFF2-40B4-BE49-F238E27FC236}">
                <a16:creationId xmlns:a16="http://schemas.microsoft.com/office/drawing/2014/main" id="{BBB5E7AD-20EF-4596-AC3C-2E4B0133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2818364"/>
            <a:ext cx="1718596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SCM采购域</a:t>
            </a:r>
          </a:p>
        </p:txBody>
      </p:sp>
      <p:sp>
        <p:nvSpPr>
          <p:cNvPr id="134" name="P0">
            <a:extLst xmlns:a="http://schemas.openxmlformats.org/drawingml/2006/main">
              <a:ext uri="{FF2B5EF4-FFF2-40B4-BE49-F238E27FC236}">
                <a16:creationId xmlns:a16="http://schemas.microsoft.com/office/drawing/2014/main" id="{6AA67AE1-B259-4331-B684-C626EC20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3306806"/>
            <a:ext cx="393668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P0</a:t>
            </a:r>
          </a:p>
        </p:txBody>
      </p:sp>
      <p:sp>
        <p:nvSpPr>
          <p:cNvPr id="135" name="采购计划、PR / PO、供应商分配">
            <a:extLst xmlns:a="http://schemas.openxmlformats.org/drawingml/2006/main">
              <a:ext uri="{FF2B5EF4-FFF2-40B4-BE49-F238E27FC236}">
                <a16:creationId xmlns:a16="http://schemas.microsoft.com/office/drawing/2014/main" id="{7F4875F6-5E1C-461E-8F12-78037AE0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3734288"/>
            <a:ext cx="4078700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采购计划、PR / PO、供应商分配</a:t>
            </a:r>
          </a:p>
        </p:txBody>
      </p:sp>
      <p:sp>
        <p:nvSpPr>
          <p:cNvPr id="136" name="需求承接 → 可执行采购订单">
            <a:extLst xmlns:a="http://schemas.openxmlformats.org/drawingml/2006/main">
              <a:ext uri="{FF2B5EF4-FFF2-40B4-BE49-F238E27FC236}">
                <a16:creationId xmlns:a16="http://schemas.microsoft.com/office/drawing/2014/main" id="{CA551CE8-C089-4CC7-A1CB-A2D1D0E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14181963"/>
            <a:ext cx="3482947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需求承接 → 可执行采购订单</a:t>
            </a:r>
          </a:p>
        </p:txBody>
      </p:sp>
      <p:sp>
        <p:nvSpPr>
          <p:cNvPr id="137" name="path-131">
            <a:extLst xmlns:a="http://schemas.openxmlformats.org/drawingml/2006/main">
              <a:ext uri="{FF2B5EF4-FFF2-40B4-BE49-F238E27FC236}">
                <a16:creationId xmlns:a16="http://schemas.microsoft.com/office/drawing/2014/main" id="{AD057CD0-E957-4BB2-B25E-44F8889A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2075" y="12649200"/>
            <a:ext cx="6296025" cy="476"/>
          </a:xfrm>
          <a:custGeom xmlns:a="http://schemas.openxmlformats.org/drawingml/2006/main">
            <a:pathLst>
              <a:path w="6296025" h="476">
                <a:moveTo>
                  <a:pt x="0" y="0"/>
                </a:moveTo>
                <a:lnTo>
                  <a:pt x="62960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54963C"/>
            </a:solidFill>
            <a:prstDash val="solid"/>
          </a:ln>
        </p:spPr>
      </p:sp>
      <p:sp>
        <p:nvSpPr>
          <p:cNvPr id="138" name="供应商执行与生产协同">
            <a:extLst xmlns:a="http://schemas.openxmlformats.org/drawingml/2006/main">
              <a:ext uri="{FF2B5EF4-FFF2-40B4-BE49-F238E27FC236}">
                <a16:creationId xmlns:a16="http://schemas.microsoft.com/office/drawing/2014/main" id="{C59255E2-B4CA-4ACD-B2B1-937FE4E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2075" y="12818364"/>
            <a:ext cx="3166110" cy="428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供应商执行与生产协同</a:t>
            </a:r>
          </a:p>
        </p:txBody>
      </p:sp>
      <p:sp>
        <p:nvSpPr>
          <p:cNvPr id="139" name="P0状态 / P1 MES">
            <a:extLst xmlns:a="http://schemas.openxmlformats.org/drawingml/2006/main">
              <a:ext uri="{FF2B5EF4-FFF2-40B4-BE49-F238E27FC236}">
                <a16:creationId xmlns:a16="http://schemas.microsoft.com/office/drawing/2014/main" id="{B246CC94-5EC8-40AA-923F-3674346C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2075" y="13306806"/>
            <a:ext cx="2000917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P0状态 / P1 MES</a:t>
            </a:r>
          </a:p>
        </p:txBody>
      </p:sp>
      <p:sp>
        <p:nvSpPr>
          <p:cNvPr id="140" name="接单、技术资料、生产、QC与发货">
            <a:extLst xmlns:a="http://schemas.openxmlformats.org/drawingml/2006/main">
              <a:ext uri="{FF2B5EF4-FFF2-40B4-BE49-F238E27FC236}">
                <a16:creationId xmlns:a16="http://schemas.microsoft.com/office/drawing/2014/main" id="{DED9F700-3515-4FDB-8182-89F57143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2075" y="13734288"/>
            <a:ext cx="4239673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接单、技术资料、生产、QC与发货</a:t>
            </a:r>
          </a:p>
        </p:txBody>
      </p:sp>
      <p:sp>
        <p:nvSpPr>
          <p:cNvPr id="141" name="执行状态 → 质量 / 入库反馈">
            <a:extLst xmlns:a="http://schemas.openxmlformats.org/drawingml/2006/main">
              <a:ext uri="{FF2B5EF4-FFF2-40B4-BE49-F238E27FC236}">
                <a16:creationId xmlns:a16="http://schemas.microsoft.com/office/drawing/2014/main" id="{A9E297EA-19E2-41AC-95A2-27501DBF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12075" y="14181963"/>
            <a:ext cx="3527369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执行状态 → 质量 / 入库反馈</a:t>
            </a:r>
          </a:p>
        </p:txBody>
      </p:sp>
      <p:sp>
        <p:nvSpPr>
          <p:cNvPr id="142" name="单据闭环">
            <a:extLst xmlns:a="http://schemas.openxmlformats.org/drawingml/2006/main">
              <a:ext uri="{FF2B5EF4-FFF2-40B4-BE49-F238E27FC236}">
                <a16:creationId xmlns:a16="http://schemas.microsoft.com/office/drawing/2014/main" id="{BA613BA6-F37D-4885-A909-385D1640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43582"/>
            <a:ext cx="120472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单据闭环</a:t>
            </a:r>
          </a:p>
        </p:txBody>
      </p:sp>
      <p:sp>
        <p:nvSpPr>
          <p:cNvPr id="143" name="预测单 → 计划单 → PR → PO → 生产订单 → 发货单 → 入库单">
            <a:extLst xmlns:a="http://schemas.openxmlformats.org/drawingml/2006/main">
              <a:ext uri="{FF2B5EF4-FFF2-40B4-BE49-F238E27FC236}">
                <a16:creationId xmlns:a16="http://schemas.microsoft.com/office/drawing/2014/main" id="{507CE109-C827-44E7-B252-C2E52000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4933676"/>
            <a:ext cx="8362426" cy="4005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预测单 → 计划单 → PR → PO → 生产订单 → 发货单 → 入库单</a:t>
            </a:r>
          </a:p>
        </p:txBody>
      </p:sp>
      <p:sp>
        <p:nvSpPr>
          <p:cNvPr id="144" name="范围控制">
            <a:extLst xmlns:a="http://schemas.openxmlformats.org/drawingml/2006/main">
              <a:ext uri="{FF2B5EF4-FFF2-40B4-BE49-F238E27FC236}">
                <a16:creationId xmlns:a16="http://schemas.microsoft.com/office/drawing/2014/main" id="{6A7A64B3-0862-42B5-BE7F-75AFAA7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58694"/>
            <a:ext cx="112547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范围控制</a:t>
            </a:r>
          </a:p>
        </p:txBody>
      </p:sp>
      <p:sp>
        <p:nvSpPr>
          <p:cNvPr id="145" name="Q4先跑通计划、采购与供应商执行；MRP同步建设，MES利用已有系统，QC / 入库按关键节点接入。">
            <a:extLst xmlns:a="http://schemas.openxmlformats.org/drawingml/2006/main">
              <a:ext uri="{FF2B5EF4-FFF2-40B4-BE49-F238E27FC236}">
                <a16:creationId xmlns:a16="http://schemas.microsoft.com/office/drawing/2014/main" id="{471EF4E5-4A18-4B02-BF95-A9F4CA2B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468600"/>
            <a:ext cx="1133345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Q4先跑通计划、采购与供应商执行；MRP同步建设，MES利用已有系统，QC / 入库按关键节点接入。</a:t>
            </a:r>
          </a:p>
        </p:txBody>
      </p:sp>
      <p:sp>
        <p:nvSpPr>
          <p:cNvPr id="146" name="不建设完整WMS、OMS、PMS；不在PMC建设数据清洗平台。审批以单据状态流转承载。">
            <a:extLst xmlns:a="http://schemas.openxmlformats.org/drawingml/2006/main">
              <a:ext uri="{FF2B5EF4-FFF2-40B4-BE49-F238E27FC236}">
                <a16:creationId xmlns:a16="http://schemas.microsoft.com/office/drawing/2014/main" id="{1C94106B-7176-4FAC-8818-7C544C81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897225"/>
            <a:ext cx="10034218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不建设完整WMS、OMS、PMS；不在PMC建设数据清洗平台。审批以单据状态流转承载。</a:t>
            </a:r>
          </a:p>
        </p:txBody>
      </p:sp>
      <p:sp>
        <p:nvSpPr>
          <p:cNvPr id="147" name="path-141">
            <a:extLst xmlns:a="http://schemas.openxmlformats.org/drawingml/2006/main">
              <a:ext uri="{FF2B5EF4-FFF2-40B4-BE49-F238E27FC236}">
                <a16:creationId xmlns:a16="http://schemas.microsoft.com/office/drawing/2014/main" id="{1A7C64E9-02D8-492E-91B9-D054A773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92550"/>
            <a:ext cx="26212800" cy="476"/>
          </a:xfrm>
          <a:custGeom xmlns:a="http://schemas.openxmlformats.org/drawingml/2006/main">
            <a:pathLst>
              <a:path w="26212800" h="476">
                <a:moveTo>
                  <a:pt x="0" y="0"/>
                </a:moveTo>
                <a:lnTo>
                  <a:pt x="2621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5E1E9"/>
            </a:solidFill>
            <a:prstDash val="solid"/>
          </a:ln>
        </p:spPr>
      </p:sp>
      <p:sp>
        <p:nvSpPr>
          <p:cNvPr id="148" name="依据：本次《第四季度供应链系统建设方案》 · 目标业务蓝图与分级建设范围 · 2026.09.16">
            <a:extLst xmlns:a="http://schemas.openxmlformats.org/drawingml/2006/main">
              <a:ext uri="{FF2B5EF4-FFF2-40B4-BE49-F238E27FC236}">
                <a16:creationId xmlns:a16="http://schemas.microsoft.com/office/drawing/2014/main" id="{044D0792-E909-45FF-9719-734978E5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17518"/>
            <a:ext cx="8913138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依据：本次《第四季度供应链系统建设方案》 · 目标业务蓝图与分级建设范围 · 2026.09.16</a:t>
            </a:r>
          </a:p>
        </p:txBody>
      </p:sp>
      <p:sp>
        <p:nvSpPr>
          <p:cNvPr id="149" name="供应链数字化">
            <a:extLst xmlns:a="http://schemas.openxmlformats.org/drawingml/2006/main">
              <a:ext uri="{FF2B5EF4-FFF2-40B4-BE49-F238E27FC236}">
                <a16:creationId xmlns:a16="http://schemas.microsoft.com/office/drawing/2014/main" id="{5879C17B-0AB7-4BD0-ABD5-7D244C95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558" y="16717518"/>
            <a:ext cx="1402842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供应链数字化</a:t>
            </a:r>
          </a:p>
        </p:txBody>
      </p:sp>
    </p:spTree>
    <p:extLst>
      <p:ext uri="{BB962C8B-B14F-4D97-AF65-F5344CB8AC3E}">
        <p14:creationId xmlns:p14="http://schemas.microsoft.com/office/powerpoint/2010/main" val="196251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4" name="白色画布">
            <a:extLst xmlns:a="http://schemas.openxmlformats.org/drawingml/2006/main">
              <a:ext uri="{FF2B5EF4-FFF2-40B4-BE49-F238E27FC236}">
                <a16:creationId xmlns:a16="http://schemas.microsoft.com/office/drawing/2014/main" id="{F6C2AB52-CA55-408E-8316-1CD7CE21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432000" cy="171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rect-1">
            <a:extLst xmlns:a="http://schemas.openxmlformats.org/drawingml/2006/main">
              <a:ext uri="{FF2B5EF4-FFF2-40B4-BE49-F238E27FC236}">
                <a16:creationId xmlns:a16="http://schemas.microsoft.com/office/drawing/2014/main" id="{2A8A1ED6-9EA2-4932-8719-7010522D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7432000" cy="1714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" name="rect-2">
            <a:extLst xmlns:a="http://schemas.openxmlformats.org/drawingml/2006/main">
              <a:ext uri="{FF2B5EF4-FFF2-40B4-BE49-F238E27FC236}">
                <a16:creationId xmlns:a16="http://schemas.microsoft.com/office/drawing/2014/main" id="{24EE982A-F4CF-4727-9CEB-DB141E82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857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" name="Q4供应链建设｜跨部门业务泳道">
            <a:extLst xmlns:a="http://schemas.openxmlformats.org/drawingml/2006/main">
              <a:ext uri="{FF2B5EF4-FFF2-40B4-BE49-F238E27FC236}">
                <a16:creationId xmlns:a16="http://schemas.microsoft.com/office/drawing/2014/main" id="{49C940BC-C6D8-4C1B-BD47-188F287E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3494"/>
            <a:ext cx="7357586" cy="7043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82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Q4供应链建设｜跨部门业务泳道</a:t>
            </a:r>
          </a:p>
        </p:txBody>
      </p:sp>
      <p:sp>
        <p:nvSpPr>
          <p:cNvPr id="5" name="2026 Q4 / V2.0">
            <a:extLst xmlns:a="http://schemas.openxmlformats.org/drawingml/2006/main">
              <a:ext uri="{FF2B5EF4-FFF2-40B4-BE49-F238E27FC236}">
                <a16:creationId xmlns:a16="http://schemas.microsoft.com/office/drawing/2014/main" id="{78A469AF-D568-4816-8CBC-24B15226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5004" y="666750"/>
            <a:ext cx="19273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2026 Q4 / V2.0</a:t>
            </a:r>
          </a:p>
        </p:txBody>
      </p:sp>
      <p:sp>
        <p:nvSpPr>
          <p:cNvPr id="6" name="path-5">
            <a:extLst xmlns:a="http://schemas.openxmlformats.org/drawingml/2006/main">
              <a:ext uri="{FF2B5EF4-FFF2-40B4-BE49-F238E27FC236}">
                <a16:creationId xmlns:a16="http://schemas.microsoft.com/office/drawing/2014/main" id="{B9EB8180-8994-47B7-9529-0D62DC8C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6212800" cy="476"/>
          </a:xfrm>
          <a:custGeom xmlns:a="http://schemas.openxmlformats.org/drawingml/2006/main">
            <a:pathLst>
              <a:path w="26212800" h="476">
                <a:moveTo>
                  <a:pt x="0" y="0"/>
                </a:moveTo>
                <a:lnTo>
                  <a:pt x="2621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008DD5"/>
            </a:solidFill>
            <a:prstDash val="solid"/>
          </a:ln>
        </p:spPr>
      </p:sp>
      <p:sp>
        <p:nvSpPr>
          <p:cNvPr id="7" name="以预测单、计划单、PR、PO及执行单据衔接责任；展示目标闭环，具体上线节点按P0 / P1推进">
            <a:extLst xmlns:a="http://schemas.openxmlformats.org/drawingml/2006/main">
              <a:ext uri="{FF2B5EF4-FFF2-40B4-BE49-F238E27FC236}">
                <a16:creationId xmlns:a16="http://schemas.microsoft.com/office/drawing/2014/main" id="{D0FE0C2D-559A-41D5-A5BA-9D310003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0863"/>
            <a:ext cx="11376327" cy="372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以预测单、计划单、PR、PO及执行单据衔接责任；展示目标闭环，具体上线节点按P0 / P1推进</a:t>
            </a:r>
          </a:p>
        </p:txBody>
      </p:sp>
      <p:sp>
        <p:nvSpPr>
          <p:cNvPr id="8" name="02 / 方案校准版">
            <a:extLst xmlns:a="http://schemas.openxmlformats.org/drawingml/2006/main">
              <a:ext uri="{FF2B5EF4-FFF2-40B4-BE49-F238E27FC236}">
                <a16:creationId xmlns:a16="http://schemas.microsoft.com/office/drawing/2014/main" id="{2EF6D2CC-BB4B-4AE0-9BF8-7C98F337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48857" y="1610487"/>
            <a:ext cx="1773543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02 / 方案校准版</a:t>
            </a:r>
          </a:p>
        </p:txBody>
      </p:sp>
      <p:sp>
        <p:nvSpPr>
          <p:cNvPr id="9" name="rect-8">
            <a:extLst xmlns:a="http://schemas.openxmlformats.org/drawingml/2006/main">
              <a:ext uri="{FF2B5EF4-FFF2-40B4-BE49-F238E27FC236}">
                <a16:creationId xmlns:a16="http://schemas.microsoft.com/office/drawing/2014/main" id="{BFDF281E-2170-4413-905E-5F679467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" name="数据准备">
            <a:extLst xmlns:a="http://schemas.openxmlformats.org/drawingml/2006/main">
              <a:ext uri="{FF2B5EF4-FFF2-40B4-BE49-F238E27FC236}">
                <a16:creationId xmlns:a16="http://schemas.microsoft.com/office/drawing/2014/main" id="{4425B184-E3C2-4488-81FE-356E845F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412" y="2133981"/>
            <a:ext cx="1046226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数据准备</a:t>
            </a:r>
          </a:p>
        </p:txBody>
      </p:sp>
      <p:sp>
        <p:nvSpPr>
          <p:cNvPr id="11" name="rect-10">
            <a:extLst xmlns:a="http://schemas.openxmlformats.org/drawingml/2006/main">
              <a:ext uri="{FF2B5EF4-FFF2-40B4-BE49-F238E27FC236}">
                <a16:creationId xmlns:a16="http://schemas.microsoft.com/office/drawing/2014/main" id="{66A7869F-F315-41E0-BA8D-5EE1E1D9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" name="预测填报">
            <a:extLst xmlns:a="http://schemas.openxmlformats.org/drawingml/2006/main">
              <a:ext uri="{FF2B5EF4-FFF2-40B4-BE49-F238E27FC236}">
                <a16:creationId xmlns:a16="http://schemas.microsoft.com/office/drawing/2014/main" id="{12EDE694-B19D-47F0-88B1-F14D0CF1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462" y="2133981"/>
            <a:ext cx="1046226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预测填报</a:t>
            </a:r>
          </a:p>
        </p:txBody>
      </p:sp>
      <p:sp>
        <p:nvSpPr>
          <p:cNvPr id="13" name="rect-12">
            <a:extLst xmlns:a="http://schemas.openxmlformats.org/drawingml/2006/main">
              <a:ext uri="{FF2B5EF4-FFF2-40B4-BE49-F238E27FC236}">
                <a16:creationId xmlns:a16="http://schemas.microsoft.com/office/drawing/2014/main" id="{DA35A82D-7025-4FDF-BF43-BBDD642D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" name="审核校准">
            <a:extLst xmlns:a="http://schemas.openxmlformats.org/drawingml/2006/main">
              <a:ext uri="{FF2B5EF4-FFF2-40B4-BE49-F238E27FC236}">
                <a16:creationId xmlns:a16="http://schemas.microsoft.com/office/drawing/2014/main" id="{44CE4B33-3BCB-4832-958C-7F47B8AA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2133981"/>
            <a:ext cx="1046226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审核校准</a:t>
            </a:r>
          </a:p>
        </p:txBody>
      </p:sp>
      <p:sp>
        <p:nvSpPr>
          <p:cNvPr id="15" name="rect-14">
            <a:extLst xmlns:a="http://schemas.openxmlformats.org/drawingml/2006/main">
              <a:ext uri="{FF2B5EF4-FFF2-40B4-BE49-F238E27FC236}">
                <a16:creationId xmlns:a16="http://schemas.microsoft.com/office/drawing/2014/main" id="{F85A6930-EF6F-4F40-9DD2-04AAF5C4B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" name="计划 / PR">
            <a:extLst xmlns:a="http://schemas.openxmlformats.org/drawingml/2006/main">
              <a:ext uri="{FF2B5EF4-FFF2-40B4-BE49-F238E27FC236}">
                <a16:creationId xmlns:a16="http://schemas.microsoft.com/office/drawing/2014/main" id="{D234B83C-26FF-4B98-AE9B-7717333B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2959" y="2133981"/>
            <a:ext cx="1169432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计划 / PR</a:t>
            </a:r>
          </a:p>
        </p:txBody>
      </p:sp>
      <p:sp>
        <p:nvSpPr>
          <p:cNvPr id="17" name="rect-16">
            <a:extLst xmlns:a="http://schemas.openxmlformats.org/drawingml/2006/main">
              <a:ext uri="{FF2B5EF4-FFF2-40B4-BE49-F238E27FC236}">
                <a16:creationId xmlns:a16="http://schemas.microsoft.com/office/drawing/2014/main" id="{7BFD33BA-9E04-4926-96C4-1C902030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" name="采购分配 / PO">
            <a:extLst xmlns:a="http://schemas.openxmlformats.org/drawingml/2006/main">
              <a:ext uri="{FF2B5EF4-FFF2-40B4-BE49-F238E27FC236}">
                <a16:creationId xmlns:a16="http://schemas.microsoft.com/office/drawing/2014/main" id="{A8E03ACE-CBE7-4CCB-9CFF-9A94900B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1978" y="2133981"/>
            <a:ext cx="1663494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采购分配 / PO</a:t>
            </a:r>
          </a:p>
        </p:txBody>
      </p:sp>
      <p:sp>
        <p:nvSpPr>
          <p:cNvPr id="19" name="rect-18">
            <a:extLst xmlns:a="http://schemas.openxmlformats.org/drawingml/2006/main">
              <a:ext uri="{FF2B5EF4-FFF2-40B4-BE49-F238E27FC236}">
                <a16:creationId xmlns:a16="http://schemas.microsoft.com/office/drawing/2014/main" id="{AB998BDF-1527-454D-AC5F-20F1A0A4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" name="面辅料交付">
            <a:extLst xmlns:a="http://schemas.openxmlformats.org/drawingml/2006/main">
              <a:ext uri="{FF2B5EF4-FFF2-40B4-BE49-F238E27FC236}">
                <a16:creationId xmlns:a16="http://schemas.microsoft.com/office/drawing/2014/main" id="{7F665E58-4597-4B45-91B4-51EB06E1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07790" y="2133981"/>
            <a:ext cx="1283970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面辅料交付</a:t>
            </a:r>
          </a:p>
        </p:txBody>
      </p:sp>
      <p:sp>
        <p:nvSpPr>
          <p:cNvPr id="21" name="rect-20">
            <a:extLst xmlns:a="http://schemas.openxmlformats.org/drawingml/2006/main">
              <a:ext uri="{FF2B5EF4-FFF2-40B4-BE49-F238E27FC236}">
                <a16:creationId xmlns:a16="http://schemas.microsoft.com/office/drawing/2014/main" id="{DB44EA8C-F376-4FBB-BBA8-5190EB15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" name="接单 / 生产">
            <a:extLst xmlns:a="http://schemas.openxmlformats.org/drawingml/2006/main">
              <a:ext uri="{FF2B5EF4-FFF2-40B4-BE49-F238E27FC236}">
                <a16:creationId xmlns:a16="http://schemas.microsoft.com/office/drawing/2014/main" id="{D95DBFAB-C269-424C-B566-F4FE24E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74105" y="2133981"/>
            <a:ext cx="1323439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接单 / 生产</a:t>
            </a:r>
          </a:p>
        </p:txBody>
      </p:sp>
      <p:sp>
        <p:nvSpPr>
          <p:cNvPr id="23" name="rect-22">
            <a:extLst xmlns:a="http://schemas.openxmlformats.org/drawingml/2006/main">
              <a:ext uri="{FF2B5EF4-FFF2-40B4-BE49-F238E27FC236}">
                <a16:creationId xmlns:a16="http://schemas.microsoft.com/office/drawing/2014/main" id="{94A4D988-611B-4208-8AB0-FC6DEA75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85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" name="品控 / 发货">
            <a:extLst xmlns:a="http://schemas.openxmlformats.org/drawingml/2006/main">
              <a:ext uri="{FF2B5EF4-FFF2-40B4-BE49-F238E27FC236}">
                <a16:creationId xmlns:a16="http://schemas.microsoft.com/office/drawing/2014/main" id="{A59C1D2E-BFA5-4DB0-8170-79A7B66B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60155" y="2133981"/>
            <a:ext cx="1323439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品控 / 发货</a:t>
            </a:r>
          </a:p>
        </p:txBody>
      </p:sp>
      <p:sp>
        <p:nvSpPr>
          <p:cNvPr id="25" name="rect-24">
            <a:extLst xmlns:a="http://schemas.openxmlformats.org/drawingml/2006/main">
              <a:ext uri="{FF2B5EF4-FFF2-40B4-BE49-F238E27FC236}">
                <a16:creationId xmlns:a16="http://schemas.microsoft.com/office/drawing/2014/main" id="{E54E3264-B48B-4CCA-8F74-AE043BB4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4900" y="2085975"/>
            <a:ext cx="26860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" name="入库 / 回流">
            <a:extLst xmlns:a="http://schemas.openxmlformats.org/drawingml/2006/main">
              <a:ext uri="{FF2B5EF4-FFF2-40B4-BE49-F238E27FC236}">
                <a16:creationId xmlns:a16="http://schemas.microsoft.com/office/drawing/2014/main" id="{486F5A8A-F041-4667-AAF4-ADD200A5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46205" y="2133981"/>
            <a:ext cx="1323439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入库 / 回流</a:t>
            </a:r>
          </a:p>
        </p:txBody>
      </p:sp>
      <p:sp>
        <p:nvSpPr>
          <p:cNvPr id="27" name="rect-26">
            <a:extLst xmlns:a="http://schemas.openxmlformats.org/drawingml/2006/main">
              <a:ext uri="{FF2B5EF4-FFF2-40B4-BE49-F238E27FC236}">
                <a16:creationId xmlns:a16="http://schemas.microsoft.com/office/drawing/2014/main" id="{72BF6618-A7DB-451A-AEC0-464B286E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" name="rect-27">
            <a:extLst xmlns:a="http://schemas.openxmlformats.org/drawingml/2006/main">
              <a:ext uri="{FF2B5EF4-FFF2-40B4-BE49-F238E27FC236}">
                <a16:creationId xmlns:a16="http://schemas.microsoft.com/office/drawing/2014/main" id="{79435F69-E1E3-457D-BC4A-93FE4B2B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95550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9" name="数据责任方">
            <a:extLst xmlns:a="http://schemas.openxmlformats.org/drawingml/2006/main">
              <a:ext uri="{FF2B5EF4-FFF2-40B4-BE49-F238E27FC236}">
                <a16:creationId xmlns:a16="http://schemas.microsoft.com/office/drawing/2014/main" id="{1CA55147-34D4-4024-8AE1-64A8818A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09494"/>
            <a:ext cx="138303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数据责任方</a:t>
            </a:r>
          </a:p>
        </p:txBody>
      </p:sp>
      <p:sp>
        <p:nvSpPr>
          <p:cNvPr id="30" name="商品主数据 / PLM / 数仓">
            <a:extLst xmlns:a="http://schemas.openxmlformats.org/drawingml/2006/main">
              <a:ext uri="{FF2B5EF4-FFF2-40B4-BE49-F238E27FC236}">
                <a16:creationId xmlns:a16="http://schemas.microsoft.com/office/drawing/2014/main" id="{AAF47407-08AA-418B-B86C-6F428B0CF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60979"/>
            <a:ext cx="1909131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商品主数据 / PLM / 数仓</a:t>
            </a:r>
          </a:p>
        </p:txBody>
      </p:sp>
      <p:sp>
        <p:nvSpPr>
          <p:cNvPr id="31" name="path-30">
            <a:extLst xmlns:a="http://schemas.openxmlformats.org/drawingml/2006/main">
              <a:ext uri="{FF2B5EF4-FFF2-40B4-BE49-F238E27FC236}">
                <a16:creationId xmlns:a16="http://schemas.microsoft.com/office/drawing/2014/main" id="{56A2D55F-F344-4036-85B1-97028B73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32" name="rect-31">
            <a:extLst xmlns:a="http://schemas.openxmlformats.org/drawingml/2006/main">
              <a:ext uri="{FF2B5EF4-FFF2-40B4-BE49-F238E27FC236}">
                <a16:creationId xmlns:a16="http://schemas.microsoft.com/office/drawing/2014/main" id="{ABD6F70A-2C23-479D-AF79-47E0039A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3" name="rect-32">
            <a:extLst xmlns:a="http://schemas.openxmlformats.org/drawingml/2006/main">
              <a:ext uri="{FF2B5EF4-FFF2-40B4-BE49-F238E27FC236}">
                <a16:creationId xmlns:a16="http://schemas.microsoft.com/office/drawing/2014/main" id="{BE8AA56B-DA3C-4428-977E-1910C6C1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76675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4" name="销售 / 运营">
            <a:extLst xmlns:a="http://schemas.openxmlformats.org/drawingml/2006/main">
              <a:ext uri="{FF2B5EF4-FFF2-40B4-BE49-F238E27FC236}">
                <a16:creationId xmlns:a16="http://schemas.microsoft.com/office/drawing/2014/main" id="{F44E4C16-4961-44F2-9489-29402BDB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190619"/>
            <a:ext cx="142590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销售 / 运营</a:t>
            </a:r>
          </a:p>
        </p:txBody>
      </p:sp>
      <p:sp>
        <p:nvSpPr>
          <p:cNvPr id="35" name="日级填报、确认与修改">
            <a:extLst xmlns:a="http://schemas.openxmlformats.org/drawingml/2006/main">
              <a:ext uri="{FF2B5EF4-FFF2-40B4-BE49-F238E27FC236}">
                <a16:creationId xmlns:a16="http://schemas.microsoft.com/office/drawing/2014/main" id="{8FF73DCB-F3A8-4B2A-A4C6-5EFA8AE3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42104"/>
            <a:ext cx="168021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日级填报、确认与修改</a:t>
            </a:r>
          </a:p>
        </p:txBody>
      </p:sp>
      <p:sp>
        <p:nvSpPr>
          <p:cNvPr id="36" name="path-35">
            <a:extLst xmlns:a="http://schemas.openxmlformats.org/drawingml/2006/main">
              <a:ext uri="{FF2B5EF4-FFF2-40B4-BE49-F238E27FC236}">
                <a16:creationId xmlns:a16="http://schemas.microsoft.com/office/drawing/2014/main" id="{546C5B84-284F-406C-9D2A-A034471B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37" name="rect-36">
            <a:extLst xmlns:a="http://schemas.openxmlformats.org/drawingml/2006/main">
              <a:ext uri="{FF2B5EF4-FFF2-40B4-BE49-F238E27FC236}">
                <a16:creationId xmlns:a16="http://schemas.microsoft.com/office/drawing/2014/main" id="{A2B43F4F-1F11-4476-9505-F3B9DC54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3F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8" name="rect-37">
            <a:extLst xmlns:a="http://schemas.openxmlformats.org/drawingml/2006/main">
              <a:ext uri="{FF2B5EF4-FFF2-40B4-BE49-F238E27FC236}">
                <a16:creationId xmlns:a16="http://schemas.microsoft.com/office/drawing/2014/main" id="{F21841F7-8753-4D1F-A61E-90C2CC52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57800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AFE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39" name="PMC计划">
            <a:extLst xmlns:a="http://schemas.openxmlformats.org/drawingml/2006/main">
              <a:ext uri="{FF2B5EF4-FFF2-40B4-BE49-F238E27FC236}">
                <a16:creationId xmlns:a16="http://schemas.microsoft.com/office/drawing/2014/main" id="{95E75518-92DD-4591-A7CA-17D552F1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71744"/>
            <a:ext cx="120023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PMC计划</a:t>
            </a:r>
          </a:p>
        </p:txBody>
      </p:sp>
      <p:sp>
        <p:nvSpPr>
          <p:cNvPr id="40" name="预测、备货、计划确认">
            <a:extLst xmlns:a="http://schemas.openxmlformats.org/drawingml/2006/main">
              <a:ext uri="{FF2B5EF4-FFF2-40B4-BE49-F238E27FC236}">
                <a16:creationId xmlns:a16="http://schemas.microsoft.com/office/drawing/2014/main" id="{1BB74B1E-32F2-471A-9C57-B4BCA345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023229"/>
            <a:ext cx="168021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预测、备货、计划确认</a:t>
            </a:r>
          </a:p>
        </p:txBody>
      </p:sp>
      <p:sp>
        <p:nvSpPr>
          <p:cNvPr id="41" name="path-40">
            <a:extLst xmlns:a="http://schemas.openxmlformats.org/drawingml/2006/main">
              <a:ext uri="{FF2B5EF4-FFF2-40B4-BE49-F238E27FC236}">
                <a16:creationId xmlns:a16="http://schemas.microsoft.com/office/drawing/2014/main" id="{3B041EEC-585A-47AE-8853-6DCD55E6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42" name="rect-41">
            <a:extLst xmlns:a="http://schemas.openxmlformats.org/drawingml/2006/main">
              <a:ext uri="{FF2B5EF4-FFF2-40B4-BE49-F238E27FC236}">
                <a16:creationId xmlns:a16="http://schemas.microsoft.com/office/drawing/2014/main" id="{A493AEFD-6455-440E-AC8D-EF90151B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38925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3" name="rect-42">
            <a:extLst xmlns:a="http://schemas.openxmlformats.org/drawingml/2006/main">
              <a:ext uri="{FF2B5EF4-FFF2-40B4-BE49-F238E27FC236}">
                <a16:creationId xmlns:a16="http://schemas.microsoft.com/office/drawing/2014/main" id="{DA042C57-0117-4057-9012-3879733D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638925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4" name="采购 / SCM">
            <a:extLst xmlns:a="http://schemas.openxmlformats.org/drawingml/2006/main">
              <a:ext uri="{FF2B5EF4-FFF2-40B4-BE49-F238E27FC236}">
                <a16:creationId xmlns:a16="http://schemas.microsoft.com/office/drawing/2014/main" id="{4CBEC155-07B3-47B2-A308-D91F38C4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952869"/>
            <a:ext cx="149958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采购 / SCM</a:t>
            </a:r>
          </a:p>
        </p:txBody>
      </p:sp>
      <p:sp>
        <p:nvSpPr>
          <p:cNvPr id="45" name="PR / PO与供应商分配">
            <a:extLst xmlns:a="http://schemas.openxmlformats.org/drawingml/2006/main">
              <a:ext uri="{FF2B5EF4-FFF2-40B4-BE49-F238E27FC236}">
                <a16:creationId xmlns:a16="http://schemas.microsoft.com/office/drawing/2014/main" id="{4222D035-2895-452B-9C7C-119ADEDB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404354"/>
            <a:ext cx="1663339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PR / PO与供应商分配</a:t>
            </a:r>
          </a:p>
        </p:txBody>
      </p:sp>
      <p:sp>
        <p:nvSpPr>
          <p:cNvPr id="46" name="path-45">
            <a:extLst xmlns:a="http://schemas.openxmlformats.org/drawingml/2006/main">
              <a:ext uri="{FF2B5EF4-FFF2-40B4-BE49-F238E27FC236}">
                <a16:creationId xmlns:a16="http://schemas.microsoft.com/office/drawing/2014/main" id="{8652DE6B-C00A-4C47-A045-C1A67F86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0050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47" name="rect-46">
            <a:extLst xmlns:a="http://schemas.openxmlformats.org/drawingml/2006/main">
              <a:ext uri="{FF2B5EF4-FFF2-40B4-BE49-F238E27FC236}">
                <a16:creationId xmlns:a16="http://schemas.microsoft.com/office/drawing/2014/main" id="{EACBF690-5C3C-41DF-BDDF-68AED78E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20050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A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8" name="rect-47">
            <a:extLst xmlns:a="http://schemas.openxmlformats.org/drawingml/2006/main">
              <a:ext uri="{FF2B5EF4-FFF2-40B4-BE49-F238E27FC236}">
                <a16:creationId xmlns:a16="http://schemas.microsoft.com/office/drawing/2014/main" id="{9FC61CE6-0E14-456E-A19B-3113A9DF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8020050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49" name="材料计划 / MRP">
            <a:extLst xmlns:a="http://schemas.openxmlformats.org/drawingml/2006/main">
              <a:ext uri="{FF2B5EF4-FFF2-40B4-BE49-F238E27FC236}">
                <a16:creationId xmlns:a16="http://schemas.microsoft.com/office/drawing/2014/main" id="{956984C0-DA01-418A-9B01-B746E2CD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333994"/>
            <a:ext cx="200664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材料计划 / MRP</a:t>
            </a:r>
          </a:p>
        </p:txBody>
      </p:sp>
      <p:sp>
        <p:nvSpPr>
          <p:cNvPr id="50" name="P1需求、备料与发料">
            <a:extLst xmlns:a="http://schemas.openxmlformats.org/drawingml/2006/main">
              <a:ext uri="{FF2B5EF4-FFF2-40B4-BE49-F238E27FC236}">
                <a16:creationId xmlns:a16="http://schemas.microsoft.com/office/drawing/2014/main" id="{B963F114-EAFC-4544-BB18-53D59961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8785479"/>
            <a:ext cx="1528679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P1需求、备料与发料</a:t>
            </a:r>
          </a:p>
        </p:txBody>
      </p:sp>
      <p:sp>
        <p:nvSpPr>
          <p:cNvPr id="51" name="path-50">
            <a:extLst xmlns:a="http://schemas.openxmlformats.org/drawingml/2006/main">
              <a:ext uri="{FF2B5EF4-FFF2-40B4-BE49-F238E27FC236}">
                <a16:creationId xmlns:a16="http://schemas.microsoft.com/office/drawing/2014/main" id="{307B1228-0840-4866-8031-DFD78C0B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01175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52" name="rect-51">
            <a:extLst xmlns:a="http://schemas.openxmlformats.org/drawingml/2006/main">
              <a:ext uri="{FF2B5EF4-FFF2-40B4-BE49-F238E27FC236}">
                <a16:creationId xmlns:a16="http://schemas.microsoft.com/office/drawing/2014/main" id="{ADACA578-FE47-4DC0-BF4C-FD86AAE7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401175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3" name="rect-52">
            <a:extLst xmlns:a="http://schemas.openxmlformats.org/drawingml/2006/main">
              <a:ext uri="{FF2B5EF4-FFF2-40B4-BE49-F238E27FC236}">
                <a16:creationId xmlns:a16="http://schemas.microsoft.com/office/drawing/2014/main" id="{9F4912BE-CDCF-4D4C-B298-C8C6C1F0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9401175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4" name="供应商">
            <a:extLst xmlns:a="http://schemas.openxmlformats.org/drawingml/2006/main">
              <a:ext uri="{FF2B5EF4-FFF2-40B4-BE49-F238E27FC236}">
                <a16:creationId xmlns:a16="http://schemas.microsoft.com/office/drawing/2014/main" id="{D9E68D7A-18C8-4CD2-873E-F71A7397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9715119"/>
            <a:ext cx="867918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</a:t>
            </a:r>
          </a:p>
        </p:txBody>
      </p:sp>
      <p:sp>
        <p:nvSpPr>
          <p:cNvPr id="55" name="成衣 / 面辅料执行">
            <a:extLst xmlns:a="http://schemas.openxmlformats.org/drawingml/2006/main">
              <a:ext uri="{FF2B5EF4-FFF2-40B4-BE49-F238E27FC236}">
                <a16:creationId xmlns:a16="http://schemas.microsoft.com/office/drawing/2014/main" id="{BC0E3796-C4CD-4B6D-BDD1-C65CD04E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0166604"/>
            <a:ext cx="1389531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成衣 / 面辅料执行</a:t>
            </a:r>
          </a:p>
        </p:txBody>
      </p:sp>
      <p:sp>
        <p:nvSpPr>
          <p:cNvPr id="56" name="path-55">
            <a:extLst xmlns:a="http://schemas.openxmlformats.org/drawingml/2006/main">
              <a:ext uri="{FF2B5EF4-FFF2-40B4-BE49-F238E27FC236}">
                <a16:creationId xmlns:a16="http://schemas.microsoft.com/office/drawing/2014/main" id="{C77E20F3-ECF2-45D1-9B1D-A2599D94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82300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57" name="rect-56">
            <a:extLst xmlns:a="http://schemas.openxmlformats.org/drawingml/2006/main">
              <a:ext uri="{FF2B5EF4-FFF2-40B4-BE49-F238E27FC236}">
                <a16:creationId xmlns:a16="http://schemas.microsoft.com/office/drawing/2014/main" id="{F1800DB3-F7CC-46DA-9D56-574CFC0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82300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8" name="rect-57">
            <a:extLst xmlns:a="http://schemas.openxmlformats.org/drawingml/2006/main">
              <a:ext uri="{FF2B5EF4-FFF2-40B4-BE49-F238E27FC236}">
                <a16:creationId xmlns:a16="http://schemas.microsoft.com/office/drawing/2014/main" id="{F5D318D9-53A6-4260-B6B9-0E36BD2A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782300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59" name="工厂 / MES">
            <a:extLst xmlns:a="http://schemas.openxmlformats.org/drawingml/2006/main">
              <a:ext uri="{FF2B5EF4-FFF2-40B4-BE49-F238E27FC236}">
                <a16:creationId xmlns:a16="http://schemas.microsoft.com/office/drawing/2014/main" id="{12998AC7-2107-4902-8665-5A381A5D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096244"/>
            <a:ext cx="1476363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工厂 / MES</a:t>
            </a:r>
          </a:p>
        </p:txBody>
      </p:sp>
      <p:sp>
        <p:nvSpPr>
          <p:cNvPr id="60" name="P1订单关联与生产回传">
            <a:extLst xmlns:a="http://schemas.openxmlformats.org/drawingml/2006/main">
              <a:ext uri="{FF2B5EF4-FFF2-40B4-BE49-F238E27FC236}">
                <a16:creationId xmlns:a16="http://schemas.microsoft.com/office/drawing/2014/main" id="{3071A863-9DC5-4014-865F-E289B461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1547729"/>
            <a:ext cx="1687175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P1订单关联与生产回传</a:t>
            </a:r>
          </a:p>
        </p:txBody>
      </p:sp>
      <p:sp>
        <p:nvSpPr>
          <p:cNvPr id="61" name="path-60">
            <a:extLst xmlns:a="http://schemas.openxmlformats.org/drawingml/2006/main">
              <a:ext uri="{FF2B5EF4-FFF2-40B4-BE49-F238E27FC236}">
                <a16:creationId xmlns:a16="http://schemas.microsoft.com/office/drawing/2014/main" id="{E42B75B9-A7A1-4A1F-B071-5BA36A29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63425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62" name="rect-61">
            <a:extLst xmlns:a="http://schemas.openxmlformats.org/drawingml/2006/main">
              <a:ext uri="{FF2B5EF4-FFF2-40B4-BE49-F238E27FC236}">
                <a16:creationId xmlns:a16="http://schemas.microsoft.com/office/drawing/2014/main" id="{79170A77-729F-44A3-8C82-6E46EFF4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63425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3" name="rect-62">
            <a:extLst xmlns:a="http://schemas.openxmlformats.org/drawingml/2006/main">
              <a:ext uri="{FF2B5EF4-FFF2-40B4-BE49-F238E27FC236}">
                <a16:creationId xmlns:a16="http://schemas.microsoft.com/office/drawing/2014/main" id="{24E1E371-EB5E-4826-A61F-AC319765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163425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CFD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4" name="品控 / QC">
            <a:extLst xmlns:a="http://schemas.openxmlformats.org/drawingml/2006/main">
              <a:ext uri="{FF2B5EF4-FFF2-40B4-BE49-F238E27FC236}">
                <a16:creationId xmlns:a16="http://schemas.microsoft.com/office/drawing/2014/main" id="{98159C1C-AA25-46A1-9959-343C664D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477369"/>
            <a:ext cx="1298829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品控 / QC</a:t>
            </a:r>
          </a:p>
        </p:txBody>
      </p:sp>
      <p:sp>
        <p:nvSpPr>
          <p:cNvPr id="65" name="来料、产中、成品质量">
            <a:extLst xmlns:a="http://schemas.openxmlformats.org/drawingml/2006/main">
              <a:ext uri="{FF2B5EF4-FFF2-40B4-BE49-F238E27FC236}">
                <a16:creationId xmlns:a16="http://schemas.microsoft.com/office/drawing/2014/main" id="{D33859F0-DDD8-4269-BFA6-29ED7984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2928854"/>
            <a:ext cx="1680210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来料、产中、成品质量</a:t>
            </a:r>
          </a:p>
        </p:txBody>
      </p:sp>
      <p:sp>
        <p:nvSpPr>
          <p:cNvPr id="66" name="path-65">
            <a:extLst xmlns:a="http://schemas.openxmlformats.org/drawingml/2006/main">
              <a:ext uri="{FF2B5EF4-FFF2-40B4-BE49-F238E27FC236}">
                <a16:creationId xmlns:a16="http://schemas.microsoft.com/office/drawing/2014/main" id="{EEA94732-4569-4BAE-8719-EA50AFED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44550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67" name="rect-66">
            <a:extLst xmlns:a="http://schemas.openxmlformats.org/drawingml/2006/main">
              <a:ext uri="{FF2B5EF4-FFF2-40B4-BE49-F238E27FC236}">
                <a16:creationId xmlns:a16="http://schemas.microsoft.com/office/drawing/2014/main" id="{CF95211B-DA72-4943-B468-838C1421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44550"/>
            <a:ext cx="18669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8" name="rect-67">
            <a:extLst xmlns:a="http://schemas.openxmlformats.org/drawingml/2006/main">
              <a:ext uri="{FF2B5EF4-FFF2-40B4-BE49-F238E27FC236}">
                <a16:creationId xmlns:a16="http://schemas.microsoft.com/office/drawing/2014/main" id="{1D176DC5-915D-4D41-921C-E53C2A91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544550"/>
            <a:ext cx="241744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69" name="仓储 / 库存">
            <a:extLst xmlns:a="http://schemas.openxmlformats.org/drawingml/2006/main">
              <a:ext uri="{FF2B5EF4-FFF2-40B4-BE49-F238E27FC236}">
                <a16:creationId xmlns:a16="http://schemas.microsoft.com/office/drawing/2014/main" id="{6F7F57B3-2F1F-4355-A604-AA618CFF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3858494"/>
            <a:ext cx="1425904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仓储 / 库存</a:t>
            </a:r>
          </a:p>
        </p:txBody>
      </p:sp>
      <p:sp>
        <p:nvSpPr>
          <p:cNvPr id="70" name="库存 / 领星等事实来源">
            <a:extLst xmlns:a="http://schemas.openxmlformats.org/drawingml/2006/main">
              <a:ext uri="{FF2B5EF4-FFF2-40B4-BE49-F238E27FC236}">
                <a16:creationId xmlns:a16="http://schemas.microsoft.com/office/drawing/2014/main" id="{E95C0743-AC47-4F7C-8C59-C125ED1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4309979"/>
            <a:ext cx="1706523" cy="220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库存 / 领星等事实来源</a:t>
            </a:r>
          </a:p>
        </p:txBody>
      </p:sp>
      <p:sp>
        <p:nvSpPr>
          <p:cNvPr id="71" name="path-70">
            <a:extLst xmlns:a="http://schemas.openxmlformats.org/drawingml/2006/main">
              <a:ext uri="{FF2B5EF4-FFF2-40B4-BE49-F238E27FC236}">
                <a16:creationId xmlns:a16="http://schemas.microsoft.com/office/drawing/2014/main" id="{863A97C6-075B-43C6-B3F6-AF96393C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25675"/>
            <a:ext cx="26041350" cy="476"/>
          </a:xfrm>
          <a:custGeom xmlns:a="http://schemas.openxmlformats.org/drawingml/2006/main">
            <a:pathLst>
              <a:path w="26041350" h="476">
                <a:moveTo>
                  <a:pt x="0" y="0"/>
                </a:moveTo>
                <a:lnTo>
                  <a:pt x="26041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D5E1E9"/>
            </a:solidFill>
            <a:prstDash val="solid"/>
          </a:ln>
        </p:spPr>
      </p:sp>
      <p:sp>
        <p:nvSpPr>
          <p:cNvPr id="72" name="path-71">
            <a:extLst xmlns:a="http://schemas.openxmlformats.org/drawingml/2006/main">
              <a:ext uri="{FF2B5EF4-FFF2-40B4-BE49-F238E27FC236}">
                <a16:creationId xmlns:a16="http://schemas.microsoft.com/office/drawing/2014/main" id="{7416BCE7-9CC7-4B1E-BD17-418FEBFF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73" name="path-72">
            <a:extLst xmlns:a="http://schemas.openxmlformats.org/drawingml/2006/main">
              <a:ext uri="{FF2B5EF4-FFF2-40B4-BE49-F238E27FC236}">
                <a16:creationId xmlns:a16="http://schemas.microsoft.com/office/drawing/2014/main" id="{4A5CCF77-104A-4965-9CDD-30EFF7A5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74" name="path-73">
            <a:extLst xmlns:a="http://schemas.openxmlformats.org/drawingml/2006/main">
              <a:ext uri="{FF2B5EF4-FFF2-40B4-BE49-F238E27FC236}">
                <a16:creationId xmlns:a16="http://schemas.microsoft.com/office/drawing/2014/main" id="{74AD746E-A571-423D-993F-E2D19F59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75" name="path-74">
            <a:extLst xmlns:a="http://schemas.openxmlformats.org/drawingml/2006/main">
              <a:ext uri="{FF2B5EF4-FFF2-40B4-BE49-F238E27FC236}">
                <a16:creationId xmlns:a16="http://schemas.microsoft.com/office/drawing/2014/main" id="{4D404561-12F3-4176-BE87-4A02A1EF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76" name="path-75">
            <a:extLst xmlns:a="http://schemas.openxmlformats.org/drawingml/2006/main">
              <a:ext uri="{FF2B5EF4-FFF2-40B4-BE49-F238E27FC236}">
                <a16:creationId xmlns:a16="http://schemas.microsoft.com/office/drawing/2014/main" id="{AA2394FA-D658-4728-9DF1-ACC095C6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77" name="path-76">
            <a:extLst xmlns:a="http://schemas.openxmlformats.org/drawingml/2006/main">
              <a:ext uri="{FF2B5EF4-FFF2-40B4-BE49-F238E27FC236}">
                <a16:creationId xmlns:a16="http://schemas.microsoft.com/office/drawing/2014/main" id="{B3292689-9B60-41F4-9C7A-2DDACBC57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78" name="path-77">
            <a:extLst xmlns:a="http://schemas.openxmlformats.org/drawingml/2006/main">
              <a:ext uri="{FF2B5EF4-FFF2-40B4-BE49-F238E27FC236}">
                <a16:creationId xmlns:a16="http://schemas.microsoft.com/office/drawing/2014/main" id="{E300D5C5-88C1-434C-A500-A8A41857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9280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79" name="path-78">
            <a:extLst xmlns:a="http://schemas.openxmlformats.org/drawingml/2006/main">
              <a:ext uri="{FF2B5EF4-FFF2-40B4-BE49-F238E27FC236}">
                <a16:creationId xmlns:a16="http://schemas.microsoft.com/office/drawing/2014/main" id="{4417EA99-7127-4BDA-B4D1-5AB6CBCB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885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80" name="path-79">
            <a:extLst xmlns:a="http://schemas.openxmlformats.org/drawingml/2006/main">
              <a:ext uri="{FF2B5EF4-FFF2-40B4-BE49-F238E27FC236}">
                <a16:creationId xmlns:a16="http://schemas.microsoft.com/office/drawing/2014/main" id="{6C4FBF8A-AC19-4144-B15E-D6D1143B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490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81" name="path-80">
            <a:extLst xmlns:a="http://schemas.openxmlformats.org/drawingml/2006/main">
              <a:ext uri="{FF2B5EF4-FFF2-40B4-BE49-F238E27FC236}">
                <a16:creationId xmlns:a16="http://schemas.microsoft.com/office/drawing/2014/main" id="{F2167AE4-62BB-4E4E-B52E-102786A5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0" y="2495550"/>
            <a:ext cx="476" cy="12430125"/>
          </a:xfrm>
          <a:custGeom xmlns:a="http://schemas.openxmlformats.org/drawingml/2006/main">
            <a:pathLst>
              <a:path w="476" h="12430125">
                <a:moveTo>
                  <a:pt x="0" y="0"/>
                </a:moveTo>
                <a:lnTo>
                  <a:pt x="0" y="12430125"/>
                </a:lnTo>
              </a:path>
            </a:pathLst>
          </a:custGeom>
          <a:noFill xmlns:a="http://schemas.openxmlformats.org/drawingml/2006/main"/>
          <a:ln xmlns:a="http://schemas.openxmlformats.org/drawingml/2006/main" w="6668">
            <a:solidFill>
              <a:srgbClr val="D5E1E9"/>
            </a:solidFill>
            <a:prstDash val="solid"/>
          </a:ln>
        </p:spPr>
      </p:sp>
      <p:sp>
        <p:nvSpPr>
          <p:cNvPr id="82" name="rect-81">
            <a:extLst xmlns:a="http://schemas.openxmlformats.org/drawingml/2006/main">
              <a:ext uri="{FF2B5EF4-FFF2-40B4-BE49-F238E27FC236}">
                <a16:creationId xmlns:a16="http://schemas.microsoft.com/office/drawing/2014/main" id="{3BFBDDFE-8D2E-4675-869E-D6C97EDF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83" name="rect-82">
            <a:extLst xmlns:a="http://schemas.openxmlformats.org/drawingml/2006/main">
              <a:ext uri="{FF2B5EF4-FFF2-40B4-BE49-F238E27FC236}">
                <a16:creationId xmlns:a16="http://schemas.microsoft.com/office/drawing/2014/main" id="{C7FB12BC-40A2-40EA-9BD5-257CFC36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4" name="商品与BOM资料">
            <a:extLst xmlns:a="http://schemas.openxmlformats.org/drawingml/2006/main">
              <a:ext uri="{FF2B5EF4-FFF2-40B4-BE49-F238E27FC236}">
                <a16:creationId xmlns:a16="http://schemas.microsoft.com/office/drawing/2014/main" id="{F8D4A411-0850-472B-B380-35AE54FB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2392" y="2809875"/>
            <a:ext cx="191996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商品与BOM资料</a:t>
            </a:r>
          </a:p>
        </p:txBody>
      </p:sp>
      <p:sp>
        <p:nvSpPr>
          <p:cNvPr id="85" name="SKU / 版本 / 商品关系">
            <a:extLst xmlns:a="http://schemas.openxmlformats.org/drawingml/2006/main">
              <a:ext uri="{FF2B5EF4-FFF2-40B4-BE49-F238E27FC236}">
                <a16:creationId xmlns:a16="http://schemas.microsoft.com/office/drawing/2014/main" id="{915C8068-7842-4BB6-88B0-241FD099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622" y="3154680"/>
            <a:ext cx="214950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SKU / 版本 / 商品关系</a:t>
            </a:r>
          </a:p>
        </p:txBody>
      </p:sp>
      <p:sp>
        <p:nvSpPr>
          <p:cNvPr id="86" name="BOM、工艺、物料规格">
            <a:extLst xmlns:a="http://schemas.openxmlformats.org/drawingml/2006/main">
              <a:ext uri="{FF2B5EF4-FFF2-40B4-BE49-F238E27FC236}">
                <a16:creationId xmlns:a16="http://schemas.microsoft.com/office/drawing/2014/main" id="{58A85722-E39D-429B-9454-1B120A18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1801" y="3411855"/>
            <a:ext cx="214114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BOM、工艺、物料规格</a:t>
            </a:r>
          </a:p>
        </p:txBody>
      </p:sp>
      <p:sp>
        <p:nvSpPr>
          <p:cNvPr id="87" name="rect-86">
            <a:extLst xmlns:a="http://schemas.openxmlformats.org/drawingml/2006/main">
              <a:ext uri="{FF2B5EF4-FFF2-40B4-BE49-F238E27FC236}">
                <a16:creationId xmlns:a16="http://schemas.microsoft.com/office/drawing/2014/main" id="{7EE661EB-6A85-43B7-8B20-E8435F43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88" name="rect-87">
            <a:extLst xmlns:a="http://schemas.openxmlformats.org/drawingml/2006/main">
              <a:ext uri="{FF2B5EF4-FFF2-40B4-BE49-F238E27FC236}">
                <a16:creationId xmlns:a16="http://schemas.microsoft.com/office/drawing/2014/main" id="{F09B26BE-8F64-4C53-BE22-7A3A3C4F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89" name="经营与库存事实">
            <a:extLst xmlns:a="http://schemas.openxmlformats.org/drawingml/2006/main">
              <a:ext uri="{FF2B5EF4-FFF2-40B4-BE49-F238E27FC236}">
                <a16:creationId xmlns:a16="http://schemas.microsoft.com/office/drawing/2014/main" id="{649FBD84-E8CA-40ED-A725-789B4DFD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809875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经营与库存事实</a:t>
            </a:r>
          </a:p>
        </p:txBody>
      </p:sp>
      <p:sp>
        <p:nvSpPr>
          <p:cNvPr id="90" name="销量 / AI基准 / 在途">
            <a:extLst xmlns:a="http://schemas.openxmlformats.org/drawingml/2006/main">
              <a:ext uri="{FF2B5EF4-FFF2-40B4-BE49-F238E27FC236}">
                <a16:creationId xmlns:a16="http://schemas.microsoft.com/office/drawing/2014/main" id="{7275B720-B0DA-4E7B-B547-B86A769E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867" y="3154680"/>
            <a:ext cx="192321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销量 / AI基准 / 在途</a:t>
            </a:r>
          </a:p>
        </p:txBody>
      </p:sp>
      <p:sp>
        <p:nvSpPr>
          <p:cNvPr id="91" name="库存、运输与预计到货">
            <a:extLst xmlns:a="http://schemas.openxmlformats.org/drawingml/2006/main">
              <a:ext uri="{FF2B5EF4-FFF2-40B4-BE49-F238E27FC236}">
                <a16:creationId xmlns:a16="http://schemas.microsoft.com/office/drawing/2014/main" id="{AEABBE23-D58C-45A3-B9F2-FEC2217B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11855"/>
            <a:ext cx="2076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库存、运输与预计到货</a:t>
            </a:r>
          </a:p>
        </p:txBody>
      </p:sp>
      <p:sp>
        <p:nvSpPr>
          <p:cNvPr id="92" name="rect-91">
            <a:extLst xmlns:a="http://schemas.openxmlformats.org/drawingml/2006/main">
              <a:ext uri="{FF2B5EF4-FFF2-40B4-BE49-F238E27FC236}">
                <a16:creationId xmlns:a16="http://schemas.microsoft.com/office/drawing/2014/main" id="{DEEADAB6-6A2D-42E8-8532-17B43EDE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78130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93" name="rect-92">
            <a:extLst xmlns:a="http://schemas.openxmlformats.org/drawingml/2006/main">
              <a:ext uri="{FF2B5EF4-FFF2-40B4-BE49-F238E27FC236}">
                <a16:creationId xmlns:a16="http://schemas.microsoft.com/office/drawing/2014/main" id="{B3E12D97-D14A-4E2F-AD2E-77AC7373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2781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4" name="供应商能力依据">
            <a:extLst xmlns:a="http://schemas.openxmlformats.org/drawingml/2006/main">
              <a:ext uri="{FF2B5EF4-FFF2-40B4-BE49-F238E27FC236}">
                <a16:creationId xmlns:a16="http://schemas.microsoft.com/office/drawing/2014/main" id="{32833285-0B6F-4E2A-907E-00DDE7BF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2809875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供应商能力依据</a:t>
            </a:r>
          </a:p>
        </p:txBody>
      </p:sp>
      <p:sp>
        <p:nvSpPr>
          <p:cNvPr id="95" name="产能 / 交期 / 成本">
            <a:extLst xmlns:a="http://schemas.openxmlformats.org/drawingml/2006/main">
              <a:ext uri="{FF2B5EF4-FFF2-40B4-BE49-F238E27FC236}">
                <a16:creationId xmlns:a16="http://schemas.microsoft.com/office/drawing/2014/main" id="{75C590A6-FD53-4346-9940-835E9DE6A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3579" y="3154680"/>
            <a:ext cx="174599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产能 / 交期 / 成本</a:t>
            </a:r>
          </a:p>
        </p:txBody>
      </p:sp>
      <p:sp>
        <p:nvSpPr>
          <p:cNvPr id="96" name="交付、质量、工厂库存">
            <a:extLst xmlns:a="http://schemas.openxmlformats.org/drawingml/2006/main">
              <a:ext uri="{FF2B5EF4-FFF2-40B4-BE49-F238E27FC236}">
                <a16:creationId xmlns:a16="http://schemas.microsoft.com/office/drawing/2014/main" id="{2984C5AE-CCB6-4CB3-8579-A9BA8D20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350" y="3411855"/>
            <a:ext cx="2076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交付、质量、工厂库存</a:t>
            </a:r>
          </a:p>
        </p:txBody>
      </p:sp>
      <p:sp>
        <p:nvSpPr>
          <p:cNvPr id="97" name="rect-96">
            <a:extLst xmlns:a="http://schemas.openxmlformats.org/drawingml/2006/main">
              <a:ext uri="{FF2B5EF4-FFF2-40B4-BE49-F238E27FC236}">
                <a16:creationId xmlns:a16="http://schemas.microsoft.com/office/drawing/2014/main" id="{ED6557B2-E666-4B6C-BAD1-1DF4B48A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6242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98" name="rect-97">
            <a:extLst xmlns:a="http://schemas.openxmlformats.org/drawingml/2006/main">
              <a:ext uri="{FF2B5EF4-FFF2-40B4-BE49-F238E27FC236}">
                <a16:creationId xmlns:a16="http://schemas.microsoft.com/office/drawing/2014/main" id="{4BE2E4DD-14C6-43F1-9101-24A27495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624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99" name="填报并销售确认">
            <a:extLst xmlns:a="http://schemas.openxmlformats.org/drawingml/2006/main">
              <a:ext uri="{FF2B5EF4-FFF2-40B4-BE49-F238E27FC236}">
                <a16:creationId xmlns:a16="http://schemas.microsoft.com/office/drawing/2014/main" id="{E4468454-7106-4E2C-AA0C-54261E06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19100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填报并销售确认</a:t>
            </a:r>
          </a:p>
        </p:txBody>
      </p:sp>
      <p:sp>
        <p:nvSpPr>
          <p:cNvPr id="100" name="人工修正、活动影响">
            <a:extLst xmlns:a="http://schemas.openxmlformats.org/drawingml/2006/main">
              <a:ext uri="{FF2B5EF4-FFF2-40B4-BE49-F238E27FC236}">
                <a16:creationId xmlns:a16="http://schemas.microsoft.com/office/drawing/2014/main" id="{ABE82609-EE9D-470D-8B6F-1793E2155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260" y="453580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人工修正、活动影响</a:t>
            </a:r>
          </a:p>
        </p:txBody>
      </p:sp>
      <p:sp>
        <p:nvSpPr>
          <p:cNvPr id="101" name="最终日级预测 / 周汇总">
            <a:extLst xmlns:a="http://schemas.openxmlformats.org/drawingml/2006/main">
              <a:ext uri="{FF2B5EF4-FFF2-40B4-BE49-F238E27FC236}">
                <a16:creationId xmlns:a16="http://schemas.microsoft.com/office/drawing/2014/main" id="{F7B459A7-D241-4E2C-89F9-0A78CE88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3716" y="4792980"/>
            <a:ext cx="210941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最终日级预测 / 周汇总</a:t>
            </a:r>
          </a:p>
        </p:txBody>
      </p:sp>
      <p:sp>
        <p:nvSpPr>
          <p:cNvPr id="102" name="rect-101">
            <a:extLst xmlns:a="http://schemas.openxmlformats.org/drawingml/2006/main">
              <a:ext uri="{FF2B5EF4-FFF2-40B4-BE49-F238E27FC236}">
                <a16:creationId xmlns:a16="http://schemas.microsoft.com/office/drawing/2014/main" id="{BBE7AC9E-BE58-4CB1-A9B9-BB095862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4355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03" name="rect-102">
            <a:extLst xmlns:a="http://schemas.openxmlformats.org/drawingml/2006/main">
              <a:ext uri="{FF2B5EF4-FFF2-40B4-BE49-F238E27FC236}">
                <a16:creationId xmlns:a16="http://schemas.microsoft.com/office/drawing/2014/main" id="{B7B1AD5B-14F3-47A1-9FBE-B2ED96D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435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4" name="开启预测周期">
            <a:extLst xmlns:a="http://schemas.openxmlformats.org/drawingml/2006/main">
              <a:ext uri="{FF2B5EF4-FFF2-40B4-BE49-F238E27FC236}">
                <a16:creationId xmlns:a16="http://schemas.microsoft.com/office/drawing/2014/main" id="{805D36BC-183A-4019-B12A-8E244BF1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72125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开启预测周期</a:t>
            </a:r>
          </a:p>
        </p:txBody>
      </p:sp>
      <p:sp>
        <p:nvSpPr>
          <p:cNvPr id="105" name="月份 / W周数 / 窗口">
            <a:extLst xmlns:a="http://schemas.openxmlformats.org/drawingml/2006/main">
              <a:ext uri="{FF2B5EF4-FFF2-40B4-BE49-F238E27FC236}">
                <a16:creationId xmlns:a16="http://schemas.microsoft.com/office/drawing/2014/main" id="{2493844C-D7D1-4B35-8CA6-44201AA6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3257" y="5916930"/>
            <a:ext cx="1930337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月份 / W周数 / 窗口</a:t>
            </a:r>
          </a:p>
        </p:txBody>
      </p:sp>
      <p:sp>
        <p:nvSpPr>
          <p:cNvPr id="106" name="计划日历与预测版本">
            <a:extLst xmlns:a="http://schemas.openxmlformats.org/drawingml/2006/main">
              <a:ext uri="{FF2B5EF4-FFF2-40B4-BE49-F238E27FC236}">
                <a16:creationId xmlns:a16="http://schemas.microsoft.com/office/drawing/2014/main" id="{9C8E38C2-976C-44DF-B1AD-6499499A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260" y="617410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计划日历与预测版本</a:t>
            </a:r>
          </a:p>
        </p:txBody>
      </p:sp>
      <p:sp>
        <p:nvSpPr>
          <p:cNvPr id="107" name="rect-106">
            <a:extLst xmlns:a="http://schemas.openxmlformats.org/drawingml/2006/main">
              <a:ext uri="{FF2B5EF4-FFF2-40B4-BE49-F238E27FC236}">
                <a16:creationId xmlns:a16="http://schemas.microsoft.com/office/drawing/2014/main" id="{82E529DF-C2DA-4E15-B4E5-B0E3ED166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4355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08" name="rect-107">
            <a:extLst xmlns:a="http://schemas.openxmlformats.org/drawingml/2006/main">
              <a:ext uri="{FF2B5EF4-FFF2-40B4-BE49-F238E27FC236}">
                <a16:creationId xmlns:a16="http://schemas.microsoft.com/office/drawing/2014/main" id="{A5D379F0-6075-4B91-9E5A-397ADA73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435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09" name="PMC审核与调整">
            <a:extLst xmlns:a="http://schemas.openxmlformats.org/drawingml/2006/main">
              <a:ext uri="{FF2B5EF4-FFF2-40B4-BE49-F238E27FC236}">
                <a16:creationId xmlns:a16="http://schemas.microsoft.com/office/drawing/2014/main" id="{320529CF-779B-4670-8A32-1E555B28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166" y="5572125"/>
            <a:ext cx="1900619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PMC审核与调整</a:t>
            </a:r>
          </a:p>
        </p:txBody>
      </p:sp>
      <p:sp>
        <p:nvSpPr>
          <p:cNvPr id="110" name="库存 / 在途 / 水位校准">
            <a:extLst xmlns:a="http://schemas.openxmlformats.org/drawingml/2006/main">
              <a:ext uri="{FF2B5EF4-FFF2-40B4-BE49-F238E27FC236}">
                <a16:creationId xmlns:a16="http://schemas.microsoft.com/office/drawing/2014/main" id="{74DD71DE-A2C1-4CE0-A077-88A3043D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359" y="5916930"/>
            <a:ext cx="21422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 / 在途 / 水位校准</a:t>
            </a:r>
          </a:p>
        </p:txBody>
      </p:sp>
      <p:sp>
        <p:nvSpPr>
          <p:cNvPr id="111" name="差异说明、退回或确认">
            <a:extLst xmlns:a="http://schemas.openxmlformats.org/drawingml/2006/main">
              <a:ext uri="{FF2B5EF4-FFF2-40B4-BE49-F238E27FC236}">
                <a16:creationId xmlns:a16="http://schemas.microsoft.com/office/drawing/2014/main" id="{3148779E-729E-4B7D-8704-CF9F68AE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174105"/>
            <a:ext cx="2076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差异说明、退回或确认</a:t>
            </a:r>
          </a:p>
        </p:txBody>
      </p:sp>
      <p:sp>
        <p:nvSpPr>
          <p:cNvPr id="112" name="rect-111">
            <a:extLst xmlns:a="http://schemas.openxmlformats.org/drawingml/2006/main">
              <a:ext uri="{FF2B5EF4-FFF2-40B4-BE49-F238E27FC236}">
                <a16:creationId xmlns:a16="http://schemas.microsoft.com/office/drawing/2014/main" id="{42FAAE07-FE2C-4A31-AA7A-3DD7AE8D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4355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13" name="rect-112">
            <a:extLst xmlns:a="http://schemas.openxmlformats.org/drawingml/2006/main">
              <a:ext uri="{FF2B5EF4-FFF2-40B4-BE49-F238E27FC236}">
                <a16:creationId xmlns:a16="http://schemas.microsoft.com/office/drawing/2014/main" id="{2786E5DE-1240-445C-BC93-EEA0A983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5435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4" name="最终备货计划">
            <a:extLst xmlns:a="http://schemas.openxmlformats.org/drawingml/2006/main">
              <a:ext uri="{FF2B5EF4-FFF2-40B4-BE49-F238E27FC236}">
                <a16:creationId xmlns:a16="http://schemas.microsoft.com/office/drawing/2014/main" id="{D51E132F-180E-4469-81E1-3065B21F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5572125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最终备货计划</a:t>
            </a:r>
          </a:p>
        </p:txBody>
      </p:sp>
      <p:sp>
        <p:nvSpPr>
          <p:cNvPr id="115" name="SKU版本与供货校准">
            <a:extLst xmlns:a="http://schemas.openxmlformats.org/drawingml/2006/main">
              <a:ext uri="{FF2B5EF4-FFF2-40B4-BE49-F238E27FC236}">
                <a16:creationId xmlns:a16="http://schemas.microsoft.com/office/drawing/2014/main" id="{D42B0FC8-EDF1-4BA4-B2AA-8091DAA4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723" y="5916930"/>
            <a:ext cx="188560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SKU版本与供货校准</a:t>
            </a:r>
          </a:p>
        </p:txBody>
      </p:sp>
      <p:sp>
        <p:nvSpPr>
          <p:cNvPr id="116" name="PMC确认采购需求">
            <a:extLst xmlns:a="http://schemas.openxmlformats.org/drawingml/2006/main">
              <a:ext uri="{FF2B5EF4-FFF2-40B4-BE49-F238E27FC236}">
                <a16:creationId xmlns:a16="http://schemas.microsoft.com/office/drawing/2014/main" id="{EB2D2B34-127B-4833-BD2D-12B14868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423" y="6174105"/>
            <a:ext cx="1730204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PMC确认采购需求</a:t>
            </a:r>
          </a:p>
        </p:txBody>
      </p:sp>
      <p:sp>
        <p:nvSpPr>
          <p:cNvPr id="117" name="rect-116">
            <a:extLst xmlns:a="http://schemas.openxmlformats.org/drawingml/2006/main">
              <a:ext uri="{FF2B5EF4-FFF2-40B4-BE49-F238E27FC236}">
                <a16:creationId xmlns:a16="http://schemas.microsoft.com/office/drawing/2014/main" id="{73882FEF-ABD8-46C6-B596-14E46D54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6350" y="554355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8DD5"/>
            </a:solidFill>
            <a:prstDash val="solid"/>
          </a:ln>
        </p:spPr>
      </p:sp>
      <p:sp>
        <p:nvSpPr>
          <p:cNvPr id="118" name="rect-117">
            <a:extLst xmlns:a="http://schemas.openxmlformats.org/drawingml/2006/main">
              <a:ext uri="{FF2B5EF4-FFF2-40B4-BE49-F238E27FC236}">
                <a16:creationId xmlns:a16="http://schemas.microsoft.com/office/drawing/2014/main" id="{E310E990-1900-4BEE-A5F5-1C18A5FD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6350" y="55435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DD5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19" name="执行反馈与再计划">
            <a:extLst xmlns:a="http://schemas.openxmlformats.org/drawingml/2006/main">
              <a:ext uri="{FF2B5EF4-FFF2-40B4-BE49-F238E27FC236}">
                <a16:creationId xmlns:a16="http://schemas.microsoft.com/office/drawing/2014/main" id="{51AA62C5-E019-4A3A-8515-079839FD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2550" y="5572125"/>
            <a:ext cx="20764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执行反馈与再计划</a:t>
            </a:r>
          </a:p>
        </p:txBody>
      </p:sp>
      <p:sp>
        <p:nvSpPr>
          <p:cNvPr id="120" name="交期 / 数量 / 质量偏差">
            <a:extLst xmlns:a="http://schemas.openxmlformats.org/drawingml/2006/main">
              <a:ext uri="{FF2B5EF4-FFF2-40B4-BE49-F238E27FC236}">
                <a16:creationId xmlns:a16="http://schemas.microsoft.com/office/drawing/2014/main" id="{B140A930-72BF-4B87-9488-AC81DF0A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9659" y="5916930"/>
            <a:ext cx="21422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交期 / 数量 / 质量偏差</a:t>
            </a:r>
          </a:p>
        </p:txBody>
      </p:sp>
      <p:sp>
        <p:nvSpPr>
          <p:cNvPr id="121" name="滚动修正下一轮计划">
            <a:extLst xmlns:a="http://schemas.openxmlformats.org/drawingml/2006/main">
              <a:ext uri="{FF2B5EF4-FFF2-40B4-BE49-F238E27FC236}">
                <a16:creationId xmlns:a16="http://schemas.microsoft.com/office/drawing/2014/main" id="{B3C7BFAA-DAEA-43AB-950D-C67F2591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610" y="617410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滚动修正下一轮计划</a:t>
            </a:r>
          </a:p>
        </p:txBody>
      </p:sp>
      <p:sp>
        <p:nvSpPr>
          <p:cNvPr id="122" name="rect-121">
            <a:extLst xmlns:a="http://schemas.openxmlformats.org/drawingml/2006/main">
              <a:ext uri="{FF2B5EF4-FFF2-40B4-BE49-F238E27FC236}">
                <a16:creationId xmlns:a16="http://schemas.microsoft.com/office/drawing/2014/main" id="{69ABFCD5-77B2-4BF3-8FEC-F5C96DF7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92467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23" name="rect-122">
            <a:extLst xmlns:a="http://schemas.openxmlformats.org/drawingml/2006/main">
              <a:ext uri="{FF2B5EF4-FFF2-40B4-BE49-F238E27FC236}">
                <a16:creationId xmlns:a16="http://schemas.microsoft.com/office/drawing/2014/main" id="{6E94D1E8-2996-4F7E-908A-2B067B4C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69246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4" name="PR管理与承接">
            <a:extLst xmlns:a="http://schemas.openxmlformats.org/drawingml/2006/main">
              <a:ext uri="{FF2B5EF4-FFF2-40B4-BE49-F238E27FC236}">
                <a16:creationId xmlns:a16="http://schemas.microsoft.com/office/drawing/2014/main" id="{7551B429-800E-49C3-8D4E-69881E30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302" y="6953250"/>
            <a:ext cx="1668447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PR管理与承接</a:t>
            </a:r>
          </a:p>
        </p:txBody>
      </p:sp>
      <p:sp>
        <p:nvSpPr>
          <p:cNvPr id="125" name="PMC确认PR，SCM管理">
            <a:extLst xmlns:a="http://schemas.openxmlformats.org/drawingml/2006/main">
              <a:ext uri="{FF2B5EF4-FFF2-40B4-BE49-F238E27FC236}">
                <a16:creationId xmlns:a16="http://schemas.microsoft.com/office/drawing/2014/main" id="{F14D486E-BFA5-4544-A905-482034F4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814" y="7298055"/>
            <a:ext cx="2237423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PMC确认PR，SCM管理</a:t>
            </a:r>
          </a:p>
        </p:txBody>
      </p:sp>
      <p:sp>
        <p:nvSpPr>
          <p:cNvPr id="126" name="审核 / 拆并 / 状态流转">
            <a:extLst xmlns:a="http://schemas.openxmlformats.org/drawingml/2006/main">
              <a:ext uri="{FF2B5EF4-FFF2-40B4-BE49-F238E27FC236}">
                <a16:creationId xmlns:a16="http://schemas.microsoft.com/office/drawing/2014/main" id="{D386DBE6-2424-46E2-A2C9-6723DAEC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409" y="7555230"/>
            <a:ext cx="21422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审核 / 拆并 / 状态流转</a:t>
            </a:r>
          </a:p>
        </p:txBody>
      </p:sp>
      <p:sp>
        <p:nvSpPr>
          <p:cNvPr id="127" name="rect-126">
            <a:extLst xmlns:a="http://schemas.openxmlformats.org/drawingml/2006/main">
              <a:ext uri="{FF2B5EF4-FFF2-40B4-BE49-F238E27FC236}">
                <a16:creationId xmlns:a16="http://schemas.microsoft.com/office/drawing/2014/main" id="{E688C5AE-73C3-4DFF-9354-FBC3AE25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92467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28" name="rect-127">
            <a:extLst xmlns:a="http://schemas.openxmlformats.org/drawingml/2006/main">
              <a:ext uri="{FF2B5EF4-FFF2-40B4-BE49-F238E27FC236}">
                <a16:creationId xmlns:a16="http://schemas.microsoft.com/office/drawing/2014/main" id="{230F5F4E-5AF4-4AF6-B752-A279EA0A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69246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29" name="分配供应商 / PO">
            <a:extLst xmlns:a="http://schemas.openxmlformats.org/drawingml/2006/main">
              <a:ext uri="{FF2B5EF4-FFF2-40B4-BE49-F238E27FC236}">
                <a16:creationId xmlns:a16="http://schemas.microsoft.com/office/drawing/2014/main" id="{ADA928D9-5F43-4106-8660-7B5E59E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8344" y="6953250"/>
            <a:ext cx="1976461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分配供应商 / PO</a:t>
            </a:r>
          </a:p>
        </p:txBody>
      </p:sp>
      <p:sp>
        <p:nvSpPr>
          <p:cNvPr id="130" name="产能、成本、库存、版本">
            <a:extLst xmlns:a="http://schemas.openxmlformats.org/drawingml/2006/main">
              <a:ext uri="{FF2B5EF4-FFF2-40B4-BE49-F238E27FC236}">
                <a16:creationId xmlns:a16="http://schemas.microsoft.com/office/drawing/2014/main" id="{8ED4F45C-DADA-4942-B0F8-F3ADE6E3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9290" y="7298055"/>
            <a:ext cx="22745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产能、成本、库存、版本</a:t>
            </a:r>
          </a:p>
        </p:txBody>
      </p:sp>
      <p:sp>
        <p:nvSpPr>
          <p:cNvPr id="131" name="交期校准 / PO审核">
            <a:extLst xmlns:a="http://schemas.openxmlformats.org/drawingml/2006/main">
              <a:ext uri="{FF2B5EF4-FFF2-40B4-BE49-F238E27FC236}">
                <a16:creationId xmlns:a16="http://schemas.microsoft.com/office/drawing/2014/main" id="{67A52CCE-76BB-4B95-9800-237A845D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9511" y="7555230"/>
            <a:ext cx="179412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交期校准 / PO审核</a:t>
            </a:r>
          </a:p>
        </p:txBody>
      </p:sp>
      <p:sp>
        <p:nvSpPr>
          <p:cNvPr id="132" name="rect-131">
            <a:extLst xmlns:a="http://schemas.openxmlformats.org/drawingml/2006/main">
              <a:ext uri="{FF2B5EF4-FFF2-40B4-BE49-F238E27FC236}">
                <a16:creationId xmlns:a16="http://schemas.microsoft.com/office/drawing/2014/main" id="{B5048270-6072-49A9-9EE0-5FC03ED1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92467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33" name="rect-132">
            <a:extLst xmlns:a="http://schemas.openxmlformats.org/drawingml/2006/main">
              <a:ext uri="{FF2B5EF4-FFF2-40B4-BE49-F238E27FC236}">
                <a16:creationId xmlns:a16="http://schemas.microsoft.com/office/drawing/2014/main" id="{8BF2FEFE-47C2-42BE-9CD7-884B369E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69246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4" name="面辅料采购执行">
            <a:extLst xmlns:a="http://schemas.openxmlformats.org/drawingml/2006/main">
              <a:ext uri="{FF2B5EF4-FFF2-40B4-BE49-F238E27FC236}">
                <a16:creationId xmlns:a16="http://schemas.microsoft.com/office/drawing/2014/main" id="{5B423FC1-90A1-40D4-8AC7-FF11E251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8225" y="695325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面辅料采购执行</a:t>
            </a:r>
          </a:p>
        </p:txBody>
      </p:sp>
      <p:sp>
        <p:nvSpPr>
          <p:cNvPr id="135" name="供应商选择 / 物料PO">
            <a:extLst xmlns:a="http://schemas.openxmlformats.org/drawingml/2006/main">
              <a:ext uri="{FF2B5EF4-FFF2-40B4-BE49-F238E27FC236}">
                <a16:creationId xmlns:a16="http://schemas.microsoft.com/office/drawing/2014/main" id="{7A3766DA-4035-4F79-81DC-74407E5A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6501" y="7298055"/>
            <a:ext cx="1992249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供应商选择 / 物料PO</a:t>
            </a:r>
          </a:p>
        </p:txBody>
      </p:sp>
      <p:sp>
        <p:nvSpPr>
          <p:cNvPr id="136" name="接单、交期及到货跟进">
            <a:extLst xmlns:a="http://schemas.openxmlformats.org/drawingml/2006/main">
              <a:ext uri="{FF2B5EF4-FFF2-40B4-BE49-F238E27FC236}">
                <a16:creationId xmlns:a16="http://schemas.microsoft.com/office/drawing/2014/main" id="{C8EDFB4E-FC88-488E-BAAF-F67F8550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0" y="7555230"/>
            <a:ext cx="2076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接单、交期及到货跟进</a:t>
            </a:r>
          </a:p>
        </p:txBody>
      </p:sp>
      <p:sp>
        <p:nvSpPr>
          <p:cNvPr id="137" name="rect-136">
            <a:extLst xmlns:a="http://schemas.openxmlformats.org/drawingml/2006/main">
              <a:ext uri="{FF2B5EF4-FFF2-40B4-BE49-F238E27FC236}">
                <a16:creationId xmlns:a16="http://schemas.microsoft.com/office/drawing/2014/main" id="{31602912-E239-46FF-B618-6AD9CF361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30580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138" name="rect-137">
            <a:extLst xmlns:a="http://schemas.openxmlformats.org/drawingml/2006/main">
              <a:ext uri="{FF2B5EF4-FFF2-40B4-BE49-F238E27FC236}">
                <a16:creationId xmlns:a16="http://schemas.microsoft.com/office/drawing/2014/main" id="{477A6744-E54B-4346-971B-CBF5C933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83058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39" name="MRP计算">
            <a:extLst xmlns:a="http://schemas.openxmlformats.org/drawingml/2006/main">
              <a:ext uri="{FF2B5EF4-FFF2-40B4-BE49-F238E27FC236}">
                <a16:creationId xmlns:a16="http://schemas.microsoft.com/office/drawing/2014/main" id="{B49B9C1A-0D1D-4865-8162-4D379C14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025" y="8334375"/>
            <a:ext cx="1149001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MRP计算</a:t>
            </a:r>
          </a:p>
        </p:txBody>
      </p:sp>
      <p:sp>
        <p:nvSpPr>
          <p:cNvPr id="140" name="BOM / 物料库存 / 在途">
            <a:extLst xmlns:a="http://schemas.openxmlformats.org/drawingml/2006/main">
              <a:ext uri="{FF2B5EF4-FFF2-40B4-BE49-F238E27FC236}">
                <a16:creationId xmlns:a16="http://schemas.microsoft.com/office/drawing/2014/main" id="{1969FB5E-A940-4953-AFF8-DAED9566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7060" y="8679180"/>
            <a:ext cx="220693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BOM / 物料库存 / 在途</a:t>
            </a:r>
          </a:p>
        </p:txBody>
      </p:sp>
      <p:sp>
        <p:nvSpPr>
          <p:cNvPr id="141" name="安全库存 / 损耗 / 周期">
            <a:extLst xmlns:a="http://schemas.openxmlformats.org/drawingml/2006/main">
              <a:ext uri="{FF2B5EF4-FFF2-40B4-BE49-F238E27FC236}">
                <a16:creationId xmlns:a16="http://schemas.microsoft.com/office/drawing/2014/main" id="{13ECAD20-FDB3-483D-9CC6-BBB4B4B9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409" y="8936355"/>
            <a:ext cx="21422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安全库存 / 损耗 / 周期</a:t>
            </a:r>
          </a:p>
        </p:txBody>
      </p:sp>
      <p:sp>
        <p:nvSpPr>
          <p:cNvPr id="142" name="rect-141">
            <a:extLst xmlns:a="http://schemas.openxmlformats.org/drawingml/2006/main">
              <a:ext uri="{FF2B5EF4-FFF2-40B4-BE49-F238E27FC236}">
                <a16:creationId xmlns:a16="http://schemas.microsoft.com/office/drawing/2014/main" id="{3CAE4DF3-2040-4786-BEB6-24A15916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30580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143" name="rect-142">
            <a:extLst xmlns:a="http://schemas.openxmlformats.org/drawingml/2006/main">
              <a:ext uri="{FF2B5EF4-FFF2-40B4-BE49-F238E27FC236}">
                <a16:creationId xmlns:a16="http://schemas.microsoft.com/office/drawing/2014/main" id="{E7742117-0764-4F38-8CCF-84E78508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2150" y="83058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4" name="面辅料需求计划">
            <a:extLst xmlns:a="http://schemas.openxmlformats.org/drawingml/2006/main">
              <a:ext uri="{FF2B5EF4-FFF2-40B4-BE49-F238E27FC236}">
                <a16:creationId xmlns:a16="http://schemas.microsoft.com/office/drawing/2014/main" id="{FBA72A28-FBAC-42E5-8DEC-1A4A4512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8334375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面辅料需求计划</a:t>
            </a:r>
          </a:p>
        </p:txBody>
      </p:sp>
      <p:sp>
        <p:nvSpPr>
          <p:cNvPr id="145" name="采购建议、备料需求">
            <a:extLst xmlns:a="http://schemas.openxmlformats.org/drawingml/2006/main">
              <a:ext uri="{FF2B5EF4-FFF2-40B4-BE49-F238E27FC236}">
                <a16:creationId xmlns:a16="http://schemas.microsoft.com/office/drawing/2014/main" id="{8CB02401-7CCA-469E-9E37-12C823A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410" y="8679180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采购建议、备料需求</a:t>
            </a:r>
          </a:p>
        </p:txBody>
      </p:sp>
      <p:sp>
        <p:nvSpPr>
          <p:cNvPr id="146" name="发料计划 / 缺料预警">
            <a:extLst xmlns:a="http://schemas.openxmlformats.org/drawingml/2006/main">
              <a:ext uri="{FF2B5EF4-FFF2-40B4-BE49-F238E27FC236}">
                <a16:creationId xmlns:a16="http://schemas.microsoft.com/office/drawing/2014/main" id="{96961668-BB8D-456E-AFE1-70729B09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0926" y="8936355"/>
            <a:ext cx="191129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发料计划 / 缺料预警</a:t>
            </a:r>
          </a:p>
        </p:txBody>
      </p:sp>
      <p:sp>
        <p:nvSpPr>
          <p:cNvPr id="147" name="rect-146">
            <a:extLst xmlns:a="http://schemas.openxmlformats.org/drawingml/2006/main">
              <a:ext uri="{FF2B5EF4-FFF2-40B4-BE49-F238E27FC236}">
                <a16:creationId xmlns:a16="http://schemas.microsoft.com/office/drawing/2014/main" id="{DF2FC400-11F9-4F59-832D-E6F4514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830580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60A8"/>
            </a:solidFill>
            <a:prstDash val="solid"/>
          </a:ln>
        </p:spPr>
      </p:sp>
      <p:sp>
        <p:nvSpPr>
          <p:cNvPr id="148" name="rect-147">
            <a:extLst xmlns:a="http://schemas.openxmlformats.org/drawingml/2006/main">
              <a:ext uri="{FF2B5EF4-FFF2-40B4-BE49-F238E27FC236}">
                <a16:creationId xmlns:a16="http://schemas.microsoft.com/office/drawing/2014/main" id="{39EDB5CA-E5DB-426E-A1D1-61B62142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83058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0A8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49" name="到料 / 齐料 / 发料">
            <a:extLst xmlns:a="http://schemas.openxmlformats.org/drawingml/2006/main">
              <a:ext uri="{FF2B5EF4-FFF2-40B4-BE49-F238E27FC236}">
                <a16:creationId xmlns:a16="http://schemas.microsoft.com/office/drawing/2014/main" id="{205EBF8E-1771-49AF-B079-AE482E72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9278" y="8334375"/>
            <a:ext cx="2158794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到料 / 齐料 / 发料</a:t>
            </a:r>
          </a:p>
        </p:txBody>
      </p:sp>
      <p:sp>
        <p:nvSpPr>
          <p:cNvPr id="150" name="预计与实际到料">
            <a:extLst xmlns:a="http://schemas.openxmlformats.org/drawingml/2006/main">
              <a:ext uri="{FF2B5EF4-FFF2-40B4-BE49-F238E27FC236}">
                <a16:creationId xmlns:a16="http://schemas.microsoft.com/office/drawing/2014/main" id="{F6763A8C-B8C7-40E7-8671-C71B6E8F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7630" y="8679180"/>
            <a:ext cx="14820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预计与实际到料</a:t>
            </a:r>
          </a:p>
        </p:txBody>
      </p:sp>
      <p:sp>
        <p:nvSpPr>
          <p:cNvPr id="151" name="检验结果、缺料跟进">
            <a:extLst xmlns:a="http://schemas.openxmlformats.org/drawingml/2006/main">
              <a:ext uri="{FF2B5EF4-FFF2-40B4-BE49-F238E27FC236}">
                <a16:creationId xmlns:a16="http://schemas.microsoft.com/office/drawing/2014/main" id="{1D5A60D6-C9A1-4487-B08D-7B30EC7C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39510" y="893635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检验结果、缺料跟进</a:t>
            </a:r>
          </a:p>
        </p:txBody>
      </p:sp>
      <p:sp>
        <p:nvSpPr>
          <p:cNvPr id="152" name="rect-151">
            <a:extLst xmlns:a="http://schemas.openxmlformats.org/drawingml/2006/main">
              <a:ext uri="{FF2B5EF4-FFF2-40B4-BE49-F238E27FC236}">
                <a16:creationId xmlns:a16="http://schemas.microsoft.com/office/drawing/2014/main" id="{6B780B7E-B422-47AA-AB9C-ECDD1EA3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968692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53" name="rect-152">
            <a:extLst xmlns:a="http://schemas.openxmlformats.org/drawingml/2006/main">
              <a:ext uri="{FF2B5EF4-FFF2-40B4-BE49-F238E27FC236}">
                <a16:creationId xmlns:a16="http://schemas.microsoft.com/office/drawing/2014/main" id="{5D461943-6B15-4186-B186-3B5C68D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96869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4" name="面辅料供应商">
            <a:extLst xmlns:a="http://schemas.openxmlformats.org/drawingml/2006/main">
              <a:ext uri="{FF2B5EF4-FFF2-40B4-BE49-F238E27FC236}">
                <a16:creationId xmlns:a16="http://schemas.microsoft.com/office/drawing/2014/main" id="{27A65219-EF23-4599-9B01-72E110C08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02050" y="9715500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面辅料供应商</a:t>
            </a:r>
          </a:p>
        </p:txBody>
      </p:sp>
      <p:sp>
        <p:nvSpPr>
          <p:cNvPr id="155" name="接单、备料、发货">
            <a:extLst xmlns:a="http://schemas.openxmlformats.org/drawingml/2006/main">
              <a:ext uri="{FF2B5EF4-FFF2-40B4-BE49-F238E27FC236}">
                <a16:creationId xmlns:a16="http://schemas.microsoft.com/office/drawing/2014/main" id="{A8586AA5-A0DF-49FE-89EB-73CA5613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20" y="10060305"/>
            <a:ext cx="168021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接单、备料、发货</a:t>
            </a:r>
          </a:p>
        </p:txBody>
      </p:sp>
      <p:sp>
        <p:nvSpPr>
          <p:cNvPr id="156" name="送往成衣工厂 / 指定仓">
            <a:extLst xmlns:a="http://schemas.openxmlformats.org/drawingml/2006/main">
              <a:ext uri="{FF2B5EF4-FFF2-40B4-BE49-F238E27FC236}">
                <a16:creationId xmlns:a16="http://schemas.microsoft.com/office/drawing/2014/main" id="{2A3EAEFD-9F0E-4EB4-A1F3-1C66DE52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7916" y="10317480"/>
            <a:ext cx="210941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送往成衣工厂 / 指定仓</a:t>
            </a:r>
          </a:p>
        </p:txBody>
      </p:sp>
      <p:sp>
        <p:nvSpPr>
          <p:cNvPr id="157" name="rect-156">
            <a:extLst xmlns:a="http://schemas.openxmlformats.org/drawingml/2006/main">
              <a:ext uri="{FF2B5EF4-FFF2-40B4-BE49-F238E27FC236}">
                <a16:creationId xmlns:a16="http://schemas.microsoft.com/office/drawing/2014/main" id="{253CA0DA-C2A9-444B-A727-317462F5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968692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58" name="rect-157">
            <a:extLst xmlns:a="http://schemas.openxmlformats.org/drawingml/2006/main">
              <a:ext uri="{FF2B5EF4-FFF2-40B4-BE49-F238E27FC236}">
                <a16:creationId xmlns:a16="http://schemas.microsoft.com/office/drawing/2014/main" id="{C756C166-548C-4938-8E6C-7134EC93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96869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59" name="成衣供应商接单">
            <a:extLst xmlns:a="http://schemas.openxmlformats.org/drawingml/2006/main">
              <a:ext uri="{FF2B5EF4-FFF2-40B4-BE49-F238E27FC236}">
                <a16:creationId xmlns:a16="http://schemas.microsoft.com/office/drawing/2014/main" id="{EDEB9665-841B-4EA2-9475-F1D9DE41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4275" y="971550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成衣供应商接单</a:t>
            </a:r>
          </a:p>
        </p:txBody>
      </p:sp>
      <p:sp>
        <p:nvSpPr>
          <p:cNvPr id="160" name="要求货期、SKU与数量">
            <a:extLst xmlns:a="http://schemas.openxmlformats.org/drawingml/2006/main">
              <a:ext uri="{FF2B5EF4-FFF2-40B4-BE49-F238E27FC236}">
                <a16:creationId xmlns:a16="http://schemas.microsoft.com/office/drawing/2014/main" id="{78024DDE-E469-4DCF-A304-AFFE7887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6813" y="10060305"/>
            <a:ext cx="2083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要求货期、SKU与数量</a:t>
            </a:r>
          </a:p>
        </p:txBody>
      </p:sp>
      <p:sp>
        <p:nvSpPr>
          <p:cNvPr id="161" name="BOM / 工艺 / 包装资料">
            <a:extLst xmlns:a="http://schemas.openxmlformats.org/drawingml/2006/main">
              <a:ext uri="{FF2B5EF4-FFF2-40B4-BE49-F238E27FC236}">
                <a16:creationId xmlns:a16="http://schemas.microsoft.com/office/drawing/2014/main" id="{5780E5DD-ECA4-45D1-B1BB-07482621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75210" y="10317480"/>
            <a:ext cx="220693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BOM / 工艺 / 包装资料</a:t>
            </a:r>
          </a:p>
        </p:txBody>
      </p:sp>
      <p:sp>
        <p:nvSpPr>
          <p:cNvPr id="162" name="rect-161">
            <a:extLst xmlns:a="http://schemas.openxmlformats.org/drawingml/2006/main">
              <a:ext uri="{FF2B5EF4-FFF2-40B4-BE49-F238E27FC236}">
                <a16:creationId xmlns:a16="http://schemas.microsoft.com/office/drawing/2014/main" id="{4466083C-6255-4709-994A-548312D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968692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8226"/>
            </a:solidFill>
            <a:prstDash val="solid"/>
          </a:ln>
        </p:spPr>
      </p:sp>
      <p:sp>
        <p:nvSpPr>
          <p:cNvPr id="163" name="rect-162">
            <a:extLst xmlns:a="http://schemas.openxmlformats.org/drawingml/2006/main">
              <a:ext uri="{FF2B5EF4-FFF2-40B4-BE49-F238E27FC236}">
                <a16:creationId xmlns:a16="http://schemas.microsoft.com/office/drawing/2014/main" id="{68EA0050-B445-4EB6-AE93-3207654E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968692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8226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4" name="供应商发货">
            <a:extLst xmlns:a="http://schemas.openxmlformats.org/drawingml/2006/main">
              <a:ext uri="{FF2B5EF4-FFF2-40B4-BE49-F238E27FC236}">
                <a16:creationId xmlns:a16="http://schemas.microsoft.com/office/drawing/2014/main" id="{E03FCCB1-C42E-4E4B-9638-FF007323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97975" y="9715500"/>
            <a:ext cx="13335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供应商发货</a:t>
            </a:r>
          </a:p>
        </p:txBody>
      </p:sp>
      <p:sp>
        <p:nvSpPr>
          <p:cNvPr id="165" name="QC放行、形成发货单">
            <a:extLst xmlns:a="http://schemas.openxmlformats.org/drawingml/2006/main">
              <a:ext uri="{FF2B5EF4-FFF2-40B4-BE49-F238E27FC236}">
                <a16:creationId xmlns:a16="http://schemas.microsoft.com/office/drawing/2014/main" id="{70EEE49A-4D73-46F3-9CED-CC98DCC6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6494" y="10060305"/>
            <a:ext cx="197646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QC放行、形成发货单</a:t>
            </a:r>
          </a:p>
        </p:txBody>
      </p:sp>
      <p:sp>
        <p:nvSpPr>
          <p:cNvPr id="166" name="发货数量 / 日期 / 去向">
            <a:extLst xmlns:a="http://schemas.openxmlformats.org/drawingml/2006/main">
              <a:ext uri="{FF2B5EF4-FFF2-40B4-BE49-F238E27FC236}">
                <a16:creationId xmlns:a16="http://schemas.microsoft.com/office/drawing/2014/main" id="{3B2A9E40-AA04-4478-9FDF-0CE471E0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93609" y="10317480"/>
            <a:ext cx="21422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发货数量 / 日期 / 去向</a:t>
            </a:r>
          </a:p>
        </p:txBody>
      </p:sp>
      <p:sp>
        <p:nvSpPr>
          <p:cNvPr id="167" name="rect-166">
            <a:extLst xmlns:a="http://schemas.openxmlformats.org/drawingml/2006/main">
              <a:ext uri="{FF2B5EF4-FFF2-40B4-BE49-F238E27FC236}">
                <a16:creationId xmlns:a16="http://schemas.microsoft.com/office/drawing/2014/main" id="{D42DCE44-E18E-4582-822A-D56A384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1106805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54963C"/>
            </a:solidFill>
            <a:prstDash val="solid"/>
          </a:ln>
        </p:spPr>
      </p:sp>
      <p:sp>
        <p:nvSpPr>
          <p:cNvPr id="168" name="rect-167">
            <a:extLst xmlns:a="http://schemas.openxmlformats.org/drawingml/2006/main">
              <a:ext uri="{FF2B5EF4-FFF2-40B4-BE49-F238E27FC236}">
                <a16:creationId xmlns:a16="http://schemas.microsoft.com/office/drawing/2014/main" id="{C5F7DA66-B737-48E9-AF4A-9CF9B8FC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1106805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963C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69" name="生产执行 / MES">
            <a:extLst xmlns:a="http://schemas.openxmlformats.org/drawingml/2006/main">
              <a:ext uri="{FF2B5EF4-FFF2-40B4-BE49-F238E27FC236}">
                <a16:creationId xmlns:a16="http://schemas.microsoft.com/office/drawing/2014/main" id="{1F49B557-B674-4AA6-8C56-0452DF2D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9388" y="11096625"/>
            <a:ext cx="1918573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生产执行 / MES</a:t>
            </a:r>
          </a:p>
        </p:txBody>
      </p:sp>
      <p:sp>
        <p:nvSpPr>
          <p:cNvPr id="170" name="订单关联、开工与扫菲">
            <a:extLst xmlns:a="http://schemas.openxmlformats.org/drawingml/2006/main">
              <a:ext uri="{FF2B5EF4-FFF2-40B4-BE49-F238E27FC236}">
                <a16:creationId xmlns:a16="http://schemas.microsoft.com/office/drawing/2014/main" id="{2B0DFE04-EE78-4D45-9AA5-70F3E7A4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0450" y="11441430"/>
            <a:ext cx="2076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订单关联、开工与扫菲</a:t>
            </a:r>
          </a:p>
        </p:txBody>
      </p:sp>
      <p:sp>
        <p:nvSpPr>
          <p:cNvPr id="171" name="进度 / 延期预警 / 完工">
            <a:extLst xmlns:a="http://schemas.openxmlformats.org/drawingml/2006/main">
              <a:ext uri="{FF2B5EF4-FFF2-40B4-BE49-F238E27FC236}">
                <a16:creationId xmlns:a16="http://schemas.microsoft.com/office/drawing/2014/main" id="{C4AAA293-2AFE-4D4C-96B7-E4E06CF4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07559" y="11698605"/>
            <a:ext cx="214223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进度 / 延期预警 / 完工</a:t>
            </a:r>
          </a:p>
        </p:txBody>
      </p:sp>
      <p:sp>
        <p:nvSpPr>
          <p:cNvPr id="172" name="rect-171">
            <a:extLst xmlns:a="http://schemas.openxmlformats.org/drawingml/2006/main">
              <a:ext uri="{FF2B5EF4-FFF2-40B4-BE49-F238E27FC236}">
                <a16:creationId xmlns:a16="http://schemas.microsoft.com/office/drawing/2014/main" id="{FC730221-55C6-4BDF-A4E4-CE1225FF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1244917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173" name="rect-172">
            <a:extLst xmlns:a="http://schemas.openxmlformats.org/drawingml/2006/main">
              <a:ext uri="{FF2B5EF4-FFF2-40B4-BE49-F238E27FC236}">
                <a16:creationId xmlns:a16="http://schemas.microsoft.com/office/drawing/2014/main" id="{FEC26666-A762-48D9-ADCA-D8E04CD2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8200" y="124491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4" name="来料检验 IQC">
            <a:extLst xmlns:a="http://schemas.openxmlformats.org/drawingml/2006/main">
              <a:ext uri="{FF2B5EF4-FFF2-40B4-BE49-F238E27FC236}">
                <a16:creationId xmlns:a16="http://schemas.microsoft.com/office/drawing/2014/main" id="{92859DE6-F27C-4294-8AC7-0BEA3E02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9977" y="12477750"/>
            <a:ext cx="1605296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来料检验 IQC</a:t>
            </a:r>
          </a:p>
        </p:txBody>
      </p:sp>
      <p:sp>
        <p:nvSpPr>
          <p:cNvPr id="175" name="来料质量、问题处理">
            <a:extLst xmlns:a="http://schemas.openxmlformats.org/drawingml/2006/main">
              <a:ext uri="{FF2B5EF4-FFF2-40B4-BE49-F238E27FC236}">
                <a16:creationId xmlns:a16="http://schemas.microsoft.com/office/drawing/2014/main" id="{F8722955-DECB-4A87-BE56-16894779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3460" y="1282255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来料质量、问题处理</a:t>
            </a:r>
          </a:p>
        </p:txBody>
      </p:sp>
      <p:sp>
        <p:nvSpPr>
          <p:cNvPr id="176" name="检验结果反馈齐料">
            <a:extLst xmlns:a="http://schemas.openxmlformats.org/drawingml/2006/main">
              <a:ext uri="{FF2B5EF4-FFF2-40B4-BE49-F238E27FC236}">
                <a16:creationId xmlns:a16="http://schemas.microsoft.com/office/drawing/2014/main" id="{A96CFC58-DDE4-4082-814B-CC9039D8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2520" y="13079730"/>
            <a:ext cx="168021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检验结果反馈齐料</a:t>
            </a:r>
          </a:p>
        </p:txBody>
      </p:sp>
      <p:sp>
        <p:nvSpPr>
          <p:cNvPr id="177" name="rect-176">
            <a:extLst xmlns:a="http://schemas.openxmlformats.org/drawingml/2006/main">
              <a:ext uri="{FF2B5EF4-FFF2-40B4-BE49-F238E27FC236}">
                <a16:creationId xmlns:a16="http://schemas.microsoft.com/office/drawing/2014/main" id="{1BE2A029-E2DF-4154-83E5-55DBD31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1244917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178" name="rect-177">
            <a:extLst xmlns:a="http://schemas.openxmlformats.org/drawingml/2006/main">
              <a:ext uri="{FF2B5EF4-FFF2-40B4-BE49-F238E27FC236}">
                <a16:creationId xmlns:a16="http://schemas.microsoft.com/office/drawing/2014/main" id="{31B0D2AA-7527-4EB1-B7BD-2DB76D2A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0" y="124491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79" name="生产过程检验">
            <a:extLst xmlns:a="http://schemas.openxmlformats.org/drawingml/2006/main">
              <a:ext uri="{FF2B5EF4-FFF2-40B4-BE49-F238E27FC236}">
                <a16:creationId xmlns:a16="http://schemas.microsoft.com/office/drawing/2014/main" id="{56D7C7DA-978B-459D-8871-4603637B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8100" y="12477750"/>
            <a:ext cx="15811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生产过程检验</a:t>
            </a:r>
          </a:p>
        </p:txBody>
      </p:sp>
      <p:sp>
        <p:nvSpPr>
          <p:cNvPr id="180" name="首扎 / 中期 / 尾期">
            <a:extLst xmlns:a="http://schemas.openxmlformats.org/drawingml/2006/main">
              <a:ext uri="{FF2B5EF4-FFF2-40B4-BE49-F238E27FC236}">
                <a16:creationId xmlns:a16="http://schemas.microsoft.com/office/drawing/2014/main" id="{44927D2E-7A47-4D4B-9374-D4595F100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5679" y="12822555"/>
            <a:ext cx="174599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首扎 / 中期 / 尾期</a:t>
            </a:r>
          </a:p>
        </p:txBody>
      </p:sp>
      <p:sp>
        <p:nvSpPr>
          <p:cNvPr id="181" name="问题跟进与返工">
            <a:extLst xmlns:a="http://schemas.openxmlformats.org/drawingml/2006/main">
              <a:ext uri="{FF2B5EF4-FFF2-40B4-BE49-F238E27FC236}">
                <a16:creationId xmlns:a16="http://schemas.microsoft.com/office/drawing/2014/main" id="{4AC2A88C-649E-4657-8B71-0EE1CE32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7630" y="13079730"/>
            <a:ext cx="14820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问题跟进与返工</a:t>
            </a:r>
          </a:p>
        </p:txBody>
      </p:sp>
      <p:sp>
        <p:nvSpPr>
          <p:cNvPr id="182" name="rect-181">
            <a:extLst xmlns:a="http://schemas.openxmlformats.org/drawingml/2006/main">
              <a:ext uri="{FF2B5EF4-FFF2-40B4-BE49-F238E27FC236}">
                <a16:creationId xmlns:a16="http://schemas.microsoft.com/office/drawing/2014/main" id="{45FC6CFC-6A69-4312-AF26-B0E079E5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12449175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183" name="rect-182">
            <a:extLst xmlns:a="http://schemas.openxmlformats.org/drawingml/2006/main">
              <a:ext uri="{FF2B5EF4-FFF2-40B4-BE49-F238E27FC236}">
                <a16:creationId xmlns:a16="http://schemas.microsoft.com/office/drawing/2014/main" id="{C2F43317-48BB-4DA2-9174-0F535BA9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0300" y="12449175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4" name="成品检验与放行">
            <a:extLst xmlns:a="http://schemas.openxmlformats.org/drawingml/2006/main">
              <a:ext uri="{FF2B5EF4-FFF2-40B4-BE49-F238E27FC236}">
                <a16:creationId xmlns:a16="http://schemas.microsoft.com/office/drawing/2014/main" id="{D2DF5E8B-5E5A-4C8D-96AE-0308574E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50325" y="12477750"/>
            <a:ext cx="182880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成品检验与放行</a:t>
            </a:r>
          </a:p>
        </p:txBody>
      </p:sp>
      <p:sp>
        <p:nvSpPr>
          <p:cNvPr id="185" name="成品质量、缺陷、退货">
            <a:extLst xmlns:a="http://schemas.openxmlformats.org/drawingml/2006/main">
              <a:ext uri="{FF2B5EF4-FFF2-40B4-BE49-F238E27FC236}">
                <a16:creationId xmlns:a16="http://schemas.microsoft.com/office/drawing/2014/main" id="{17ADB046-40D5-419A-93C3-D19D7316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0" y="12822555"/>
            <a:ext cx="20764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成品质量、缺陷、退货</a:t>
            </a:r>
          </a:p>
        </p:txBody>
      </p:sp>
      <p:sp>
        <p:nvSpPr>
          <p:cNvPr id="186" name="沉淀供应商质量档案">
            <a:extLst xmlns:a="http://schemas.openxmlformats.org/drawingml/2006/main">
              <a:ext uri="{FF2B5EF4-FFF2-40B4-BE49-F238E27FC236}">
                <a16:creationId xmlns:a16="http://schemas.microsoft.com/office/drawing/2014/main" id="{ED396A0C-01BB-4838-9449-98892A32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5560" y="13079730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沉淀供应商质量档案</a:t>
            </a:r>
          </a:p>
        </p:txBody>
      </p:sp>
      <p:sp>
        <p:nvSpPr>
          <p:cNvPr id="187" name="rect-186">
            <a:extLst xmlns:a="http://schemas.openxmlformats.org/drawingml/2006/main">
              <a:ext uri="{FF2B5EF4-FFF2-40B4-BE49-F238E27FC236}">
                <a16:creationId xmlns:a16="http://schemas.microsoft.com/office/drawing/2014/main" id="{7FED9CBD-2278-4A23-8628-2F40E83D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6350" y="13830300"/>
            <a:ext cx="2228850" cy="952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78E99"/>
            </a:solidFill>
            <a:prstDash val="solid"/>
          </a:ln>
        </p:spPr>
      </p:sp>
      <p:sp>
        <p:nvSpPr>
          <p:cNvPr id="188" name="rect-187">
            <a:extLst xmlns:a="http://schemas.openxmlformats.org/drawingml/2006/main">
              <a:ext uri="{FF2B5EF4-FFF2-40B4-BE49-F238E27FC236}">
                <a16:creationId xmlns:a16="http://schemas.microsoft.com/office/drawing/2014/main" id="{C934D771-0082-4B79-B507-0ED3061B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36350" y="13830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8E99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89" name="收货 / 质检入库">
            <a:extLst xmlns:a="http://schemas.openxmlformats.org/drawingml/2006/main">
              <a:ext uri="{FF2B5EF4-FFF2-40B4-BE49-F238E27FC236}">
                <a16:creationId xmlns:a16="http://schemas.microsoft.com/office/drawing/2014/main" id="{7AF9697E-306E-49E1-90D3-CA7562AC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5789" y="13858875"/>
            <a:ext cx="1869972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收货 / 质检入库</a:t>
            </a:r>
          </a:p>
        </p:txBody>
      </p:sp>
      <p:sp>
        <p:nvSpPr>
          <p:cNvPr id="190" name="收货核对、入库检验">
            <a:extLst xmlns:a="http://schemas.openxmlformats.org/drawingml/2006/main">
              <a:ext uri="{FF2B5EF4-FFF2-40B4-BE49-F238E27FC236}">
                <a16:creationId xmlns:a16="http://schemas.microsoft.com/office/drawing/2014/main" id="{66C8A2C0-7C7B-4625-99F4-ACC677E1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610" y="14203680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收货核对、入库检验</a:t>
            </a:r>
          </a:p>
        </p:txBody>
      </p:sp>
      <p:sp>
        <p:nvSpPr>
          <p:cNvPr id="191" name="库存与到货事实更新">
            <a:extLst xmlns:a="http://schemas.openxmlformats.org/drawingml/2006/main">
              <a:ext uri="{FF2B5EF4-FFF2-40B4-BE49-F238E27FC236}">
                <a16:creationId xmlns:a16="http://schemas.microsoft.com/office/drawing/2014/main" id="{6EBC5441-81DC-4FBE-90E0-AA15101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610" y="14460855"/>
            <a:ext cx="18783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库存与到货事实更新</a:t>
            </a:r>
          </a:p>
        </p:txBody>
      </p:sp>
      <p:sp>
        <p:nvSpPr>
          <p:cNvPr id="192" name="path-191">
            <a:extLst xmlns:a="http://schemas.openxmlformats.org/drawingml/2006/main">
              <a:ext uri="{FF2B5EF4-FFF2-40B4-BE49-F238E27FC236}">
                <a16:creationId xmlns:a16="http://schemas.microsoft.com/office/drawing/2014/main" id="{4CBD2F80-D66A-448C-A93D-DB71690D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57550"/>
            <a:ext cx="457200" cy="1381125"/>
          </a:xfrm>
          <a:custGeom xmlns:a="http://schemas.openxmlformats.org/drawingml/2006/main">
            <a:pathLst>
              <a:path w="457200" h="1381125">
                <a:moveTo>
                  <a:pt x="0" y="0"/>
                </a:moveTo>
                <a:lnTo>
                  <a:pt x="180975" y="0"/>
                </a:lnTo>
                <a:lnTo>
                  <a:pt x="180975" y="1381125"/>
                </a:lnTo>
                <a:lnTo>
                  <a:pt x="457200" y="13811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dash"/>
          </a:ln>
        </p:spPr>
      </p:sp>
      <p:sp>
        <p:nvSpPr>
          <p:cNvPr id="193" name="arrowhead-191">
            <a:extLst xmlns:a="http://schemas.openxmlformats.org/drawingml/2006/main">
              <a:ext uri="{FF2B5EF4-FFF2-40B4-BE49-F238E27FC236}">
                <a16:creationId xmlns:a16="http://schemas.microsoft.com/office/drawing/2014/main" id="{BB562316-CF84-4E95-8775-DC0D8AB6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80" y="453961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194" name="rect-192">
            <a:extLst xmlns:a="http://schemas.openxmlformats.org/drawingml/2006/main">
              <a:ext uri="{FF2B5EF4-FFF2-40B4-BE49-F238E27FC236}">
                <a16:creationId xmlns:a16="http://schemas.microsoft.com/office/drawing/2014/main" id="{D4B289B5-E862-40B8-820A-3341E7BA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848100"/>
            <a:ext cx="1504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5" name="商品身份与关系">
            <a:extLst xmlns:a="http://schemas.openxmlformats.org/drawingml/2006/main">
              <a:ext uri="{FF2B5EF4-FFF2-40B4-BE49-F238E27FC236}">
                <a16:creationId xmlns:a16="http://schemas.microsoft.com/office/drawing/2014/main" id="{735E4022-31E0-49E3-89FC-D7DBD2C4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505" y="3830955"/>
            <a:ext cx="148209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商品身份与关系</a:t>
            </a:r>
          </a:p>
        </p:txBody>
      </p:sp>
      <p:sp>
        <p:nvSpPr>
          <p:cNvPr id="196" name="path-194">
            <a:extLst xmlns:a="http://schemas.openxmlformats.org/drawingml/2006/main">
              <a:ext uri="{FF2B5EF4-FFF2-40B4-BE49-F238E27FC236}">
                <a16:creationId xmlns:a16="http://schemas.microsoft.com/office/drawing/2014/main" id="{240D2EEA-225C-4C40-B3A7-F8932B69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733800"/>
            <a:ext cx="476" cy="1809750"/>
          </a:xfrm>
          <a:custGeom xmlns:a="http://schemas.openxmlformats.org/drawingml/2006/main">
            <a:pathLst>
              <a:path w="476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dash"/>
          </a:ln>
        </p:spPr>
      </p:sp>
      <p:sp>
        <p:nvSpPr>
          <p:cNvPr id="197" name="arrowhead-194">
            <a:extLst xmlns:a="http://schemas.openxmlformats.org/drawingml/2006/main">
              <a:ext uri="{FF2B5EF4-FFF2-40B4-BE49-F238E27FC236}">
                <a16:creationId xmlns:a16="http://schemas.microsoft.com/office/drawing/2014/main" id="{A0284E9C-50F6-44B0-A115-981C6D2C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415" y="534543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198120"/>
                </a:moveTo>
                <a:lnTo>
                  <a:pt x="0" y="0"/>
                </a:lnTo>
                <a:lnTo>
                  <a:pt x="19812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198" name="rect-195">
            <a:extLst xmlns:a="http://schemas.openxmlformats.org/drawingml/2006/main">
              <a:ext uri="{FF2B5EF4-FFF2-40B4-BE49-F238E27FC236}">
                <a16:creationId xmlns:a16="http://schemas.microsoft.com/office/drawing/2014/main" id="{7758402A-F843-4419-B290-B1D6E766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76775"/>
            <a:ext cx="933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199" name="取数依据">
            <a:extLst xmlns:a="http://schemas.openxmlformats.org/drawingml/2006/main">
              <a:ext uri="{FF2B5EF4-FFF2-40B4-BE49-F238E27FC236}">
                <a16:creationId xmlns:a16="http://schemas.microsoft.com/office/drawing/2014/main" id="{D15CED39-0D9B-4DEE-B17A-48D342FD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5460" y="4659630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取数依据</a:t>
            </a:r>
          </a:p>
        </p:txBody>
      </p:sp>
      <p:sp>
        <p:nvSpPr>
          <p:cNvPr id="200" name="path-197">
            <a:extLst xmlns:a="http://schemas.openxmlformats.org/drawingml/2006/main">
              <a:ext uri="{FF2B5EF4-FFF2-40B4-BE49-F238E27FC236}">
                <a16:creationId xmlns:a16="http://schemas.microsoft.com/office/drawing/2014/main" id="{6D90842B-01D1-4CFF-8399-6F7DD548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14925"/>
            <a:ext cx="476" cy="428625"/>
          </a:xfrm>
          <a:custGeom xmlns:a="http://schemas.openxmlformats.org/drawingml/2006/main">
            <a:pathLst>
              <a:path w="476" h="428625">
                <a:moveTo>
                  <a:pt x="0" y="428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8DD5"/>
            </a:solidFill>
            <a:prstDash val="solid"/>
          </a:ln>
        </p:spPr>
      </p:sp>
      <p:sp>
        <p:nvSpPr>
          <p:cNvPr id="201" name="arrowhead-197">
            <a:extLst xmlns:a="http://schemas.openxmlformats.org/drawingml/2006/main">
              <a:ext uri="{FF2B5EF4-FFF2-40B4-BE49-F238E27FC236}">
                <a16:creationId xmlns:a16="http://schemas.microsoft.com/office/drawing/2014/main" id="{91C400D0-B30F-45FA-9AD7-C510D62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9365" y="511492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0"/>
                </a:moveTo>
                <a:lnTo>
                  <a:pt x="198120" y="198120"/>
                </a:lnTo>
                <a:lnTo>
                  <a:pt x="0" y="19812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02" name="rect-198">
            <a:extLst xmlns:a="http://schemas.openxmlformats.org/drawingml/2006/main">
              <a:ext uri="{FF2B5EF4-FFF2-40B4-BE49-F238E27FC236}">
                <a16:creationId xmlns:a16="http://schemas.microsoft.com/office/drawing/2014/main" id="{9E360581-6F19-4B6A-8B32-DD033C39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210175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3" name="开启窗口">
            <a:extLst xmlns:a="http://schemas.openxmlformats.org/drawingml/2006/main">
              <a:ext uri="{FF2B5EF4-FFF2-40B4-BE49-F238E27FC236}">
                <a16:creationId xmlns:a16="http://schemas.microsoft.com/office/drawing/2014/main" id="{503B9D35-296E-4BE7-B440-D0F2615C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547" y="5193411"/>
            <a:ext cx="84810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开启窗口</a:t>
            </a:r>
          </a:p>
        </p:txBody>
      </p:sp>
      <p:sp>
        <p:nvSpPr>
          <p:cNvPr id="204" name="path-200">
            <a:extLst xmlns:a="http://schemas.openxmlformats.org/drawingml/2006/main">
              <a:ext uri="{FF2B5EF4-FFF2-40B4-BE49-F238E27FC236}">
                <a16:creationId xmlns:a16="http://schemas.microsoft.com/office/drawing/2014/main" id="{A9D1900B-8BCD-4AF5-ABB6-988472F7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38675"/>
            <a:ext cx="457200" cy="1381125"/>
          </a:xfrm>
          <a:custGeom xmlns:a="http://schemas.openxmlformats.org/drawingml/2006/main">
            <a:pathLst>
              <a:path w="457200" h="1381125">
                <a:moveTo>
                  <a:pt x="0" y="0"/>
                </a:moveTo>
                <a:lnTo>
                  <a:pt x="295275" y="0"/>
                </a:lnTo>
                <a:lnTo>
                  <a:pt x="295275" y="1381125"/>
                </a:lnTo>
                <a:lnTo>
                  <a:pt x="457200" y="13811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8DD5"/>
            </a:solidFill>
            <a:prstDash val="solid"/>
          </a:ln>
        </p:spPr>
      </p:sp>
      <p:sp>
        <p:nvSpPr>
          <p:cNvPr id="205" name="arrowhead-200">
            <a:extLst xmlns:a="http://schemas.openxmlformats.org/drawingml/2006/main">
              <a:ext uri="{FF2B5EF4-FFF2-40B4-BE49-F238E27FC236}">
                <a16:creationId xmlns:a16="http://schemas.microsoft.com/office/drawing/2014/main" id="{C6023F32-85BC-46A4-BA1E-BE17A011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930" y="592074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06" name="rect-201">
            <a:extLst xmlns:a="http://schemas.openxmlformats.org/drawingml/2006/main">
              <a:ext uri="{FF2B5EF4-FFF2-40B4-BE49-F238E27FC236}">
                <a16:creationId xmlns:a16="http://schemas.microsoft.com/office/drawing/2014/main" id="{E5A9BB14-3A4D-4214-85CE-75B63C07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124450"/>
            <a:ext cx="533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07" name="提交">
            <a:extLst xmlns:a="http://schemas.openxmlformats.org/drawingml/2006/main">
              <a:ext uri="{FF2B5EF4-FFF2-40B4-BE49-F238E27FC236}">
                <a16:creationId xmlns:a16="http://schemas.microsoft.com/office/drawing/2014/main" id="{92A6C534-9B40-4DE4-9BE7-92EFDF61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711" y="5107686"/>
            <a:ext cx="47167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208" name="path-203">
            <a:extLst xmlns:a="http://schemas.openxmlformats.org/drawingml/2006/main">
              <a:ext uri="{FF2B5EF4-FFF2-40B4-BE49-F238E27FC236}">
                <a16:creationId xmlns:a16="http://schemas.microsoft.com/office/drawing/2014/main" id="{2462A664-1E23-47D3-81AE-232D1286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76725"/>
            <a:ext cx="1190625" cy="1266825"/>
          </a:xfrm>
          <a:custGeom xmlns:a="http://schemas.openxmlformats.org/drawingml/2006/main">
            <a:pathLst>
              <a:path w="1190625" h="1266825">
                <a:moveTo>
                  <a:pt x="1190625" y="1266825"/>
                </a:moveTo>
                <a:lnTo>
                  <a:pt x="119062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226"/>
            </a:solidFill>
            <a:prstDash val="dash"/>
          </a:ln>
        </p:spPr>
      </p:sp>
      <p:sp>
        <p:nvSpPr>
          <p:cNvPr id="209" name="arrowhead-203">
            <a:extLst xmlns:a="http://schemas.openxmlformats.org/drawingml/2006/main">
              <a:ext uri="{FF2B5EF4-FFF2-40B4-BE49-F238E27FC236}">
                <a16:creationId xmlns:a16="http://schemas.microsoft.com/office/drawing/2014/main" id="{1AEDC509-32AB-4BDE-A1BE-0DF10A24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776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0" y="99060"/>
                </a:moveTo>
                <a:lnTo>
                  <a:pt x="198120" y="0"/>
                </a:lnTo>
                <a:lnTo>
                  <a:pt x="198120" y="19812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10" name="rect-204">
            <a:extLst xmlns:a="http://schemas.openxmlformats.org/drawingml/2006/main">
              <a:ext uri="{FF2B5EF4-FFF2-40B4-BE49-F238E27FC236}">
                <a16:creationId xmlns:a16="http://schemas.microsoft.com/office/drawing/2014/main" id="{A428EFA9-AC29-4C91-9209-FD870BA1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1480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1" name="退回修改">
            <a:extLst xmlns:a="http://schemas.openxmlformats.org/drawingml/2006/main">
              <a:ext uri="{FF2B5EF4-FFF2-40B4-BE49-F238E27FC236}">
                <a16:creationId xmlns:a16="http://schemas.microsoft.com/office/drawing/2014/main" id="{6503A9B7-E7F7-4CBB-BD4D-EC2EC9CD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1372" y="4098036"/>
            <a:ext cx="84810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退回修改</a:t>
            </a:r>
          </a:p>
        </p:txBody>
      </p:sp>
      <p:sp>
        <p:nvSpPr>
          <p:cNvPr id="212" name="path-206">
            <a:extLst xmlns:a="http://schemas.openxmlformats.org/drawingml/2006/main">
              <a:ext uri="{FF2B5EF4-FFF2-40B4-BE49-F238E27FC236}">
                <a16:creationId xmlns:a16="http://schemas.microsoft.com/office/drawing/2014/main" id="{8A586A74-63C3-4C8B-A062-8C64DBB3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6019800"/>
            <a:ext cx="457200" cy="476"/>
          </a:xfrm>
          <a:custGeom xmlns:a="http://schemas.openxmlformats.org/drawingml/2006/main">
            <a:pathLst>
              <a:path w="457200" h="476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8DD5"/>
            </a:solidFill>
            <a:prstDash val="solid"/>
          </a:ln>
        </p:spPr>
      </p:sp>
      <p:sp>
        <p:nvSpPr>
          <p:cNvPr id="213" name="arrowhead-206">
            <a:extLst xmlns:a="http://schemas.openxmlformats.org/drawingml/2006/main">
              <a:ext uri="{FF2B5EF4-FFF2-40B4-BE49-F238E27FC236}">
                <a16:creationId xmlns:a16="http://schemas.microsoft.com/office/drawing/2014/main" id="{E241E21D-EA4E-4ABC-BA8E-696FB8D6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980" y="592074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14" name="path-207">
            <a:extLst xmlns:a="http://schemas.openxmlformats.org/drawingml/2006/main">
              <a:ext uri="{FF2B5EF4-FFF2-40B4-BE49-F238E27FC236}">
                <a16:creationId xmlns:a16="http://schemas.microsoft.com/office/drawing/2014/main" id="{2B0CE9C4-F2AC-4ED4-B321-41C9C2FA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6496050"/>
            <a:ext cx="476" cy="428625"/>
          </a:xfrm>
          <a:custGeom xmlns:a="http://schemas.openxmlformats.org/drawingml/2006/main">
            <a:pathLst>
              <a:path w="476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8DD5"/>
            </a:solidFill>
            <a:prstDash val="solid"/>
          </a:ln>
        </p:spPr>
      </p:sp>
      <p:sp>
        <p:nvSpPr>
          <p:cNvPr id="215" name="arrowhead-207">
            <a:extLst xmlns:a="http://schemas.openxmlformats.org/drawingml/2006/main">
              <a:ext uri="{FF2B5EF4-FFF2-40B4-BE49-F238E27FC236}">
                <a16:creationId xmlns:a16="http://schemas.microsoft.com/office/drawing/2014/main" id="{38542AA1-4136-4578-881C-307FA03C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1465" y="672655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198120"/>
                </a:moveTo>
                <a:lnTo>
                  <a:pt x="0" y="0"/>
                </a:lnTo>
                <a:lnTo>
                  <a:pt x="19812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16" name="rect-208">
            <a:extLst xmlns:a="http://schemas.openxmlformats.org/drawingml/2006/main">
              <a:ext uri="{FF2B5EF4-FFF2-40B4-BE49-F238E27FC236}">
                <a16:creationId xmlns:a16="http://schemas.microsoft.com/office/drawing/2014/main" id="{A8A795EA-917A-46E0-A600-213013DA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7725" y="6600825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17" name="采购需求">
            <a:extLst xmlns:a="http://schemas.openxmlformats.org/drawingml/2006/main">
              <a:ext uri="{FF2B5EF4-FFF2-40B4-BE49-F238E27FC236}">
                <a16:creationId xmlns:a16="http://schemas.microsoft.com/office/drawing/2014/main" id="{6D454CA6-ECA8-481F-9D34-EE3E0340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1347" y="6584061"/>
            <a:ext cx="84810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采购需求</a:t>
            </a:r>
          </a:p>
        </p:txBody>
      </p:sp>
      <p:sp>
        <p:nvSpPr>
          <p:cNvPr id="218" name="path-210">
            <a:extLst xmlns:a="http://schemas.openxmlformats.org/drawingml/2006/main">
              <a:ext uri="{FF2B5EF4-FFF2-40B4-BE49-F238E27FC236}">
                <a16:creationId xmlns:a16="http://schemas.microsoft.com/office/drawing/2014/main" id="{A21CA6BA-7F26-4FC7-97E9-6274182A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7400925"/>
            <a:ext cx="457200" cy="476"/>
          </a:xfrm>
          <a:custGeom xmlns:a="http://schemas.openxmlformats.org/drawingml/2006/main">
            <a:pathLst>
              <a:path w="457200" h="476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226"/>
            </a:solidFill>
            <a:prstDash val="solid"/>
          </a:ln>
        </p:spPr>
      </p:sp>
      <p:sp>
        <p:nvSpPr>
          <p:cNvPr id="219" name="arrowhead-210">
            <a:extLst xmlns:a="http://schemas.openxmlformats.org/drawingml/2006/main">
              <a:ext uri="{FF2B5EF4-FFF2-40B4-BE49-F238E27FC236}">
                <a16:creationId xmlns:a16="http://schemas.microsoft.com/office/drawing/2014/main" id="{98FCFCE6-132F-441A-9362-68F50121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030" y="73018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20" name="path-211">
            <a:extLst xmlns:a="http://schemas.openxmlformats.org/drawingml/2006/main">
              <a:ext uri="{FF2B5EF4-FFF2-40B4-BE49-F238E27FC236}">
                <a16:creationId xmlns:a16="http://schemas.microsoft.com/office/drawing/2014/main" id="{C78F890A-2189-4F52-BAFD-1030A73B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6575" y="6762750"/>
            <a:ext cx="6638925" cy="3400425"/>
          </a:xfrm>
          <a:custGeom xmlns:a="http://schemas.openxmlformats.org/drawingml/2006/main">
            <a:pathLst>
              <a:path w="6638925" h="3400425">
                <a:moveTo>
                  <a:pt x="0" y="161925"/>
                </a:moveTo>
                <a:lnTo>
                  <a:pt x="0" y="0"/>
                </a:lnTo>
                <a:lnTo>
                  <a:pt x="6638925" y="0"/>
                </a:lnTo>
                <a:lnTo>
                  <a:pt x="6638925" y="3400425"/>
                </a:lnTo>
                <a:lnTo>
                  <a:pt x="6486525" y="34004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226"/>
            </a:solidFill>
            <a:prstDash val="solid"/>
          </a:ln>
        </p:spPr>
      </p:sp>
      <p:sp>
        <p:nvSpPr>
          <p:cNvPr id="221" name="arrowhead-211">
            <a:extLst xmlns:a="http://schemas.openxmlformats.org/drawingml/2006/main">
              <a:ext uri="{FF2B5EF4-FFF2-40B4-BE49-F238E27FC236}">
                <a16:creationId xmlns:a16="http://schemas.microsoft.com/office/drawing/2014/main" id="{C503D772-DCDB-4BF0-8709-4A1F121F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3100" y="1006411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0" y="99060"/>
                </a:moveTo>
                <a:lnTo>
                  <a:pt x="198120" y="0"/>
                </a:lnTo>
                <a:lnTo>
                  <a:pt x="198120" y="19812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22" name="rect-212">
            <a:extLst xmlns:a="http://schemas.openxmlformats.org/drawingml/2006/main">
              <a:ext uri="{FF2B5EF4-FFF2-40B4-BE49-F238E27FC236}">
                <a16:creationId xmlns:a16="http://schemas.microsoft.com/office/drawing/2014/main" id="{894A0850-A681-4F0A-8DEB-73F0AD5D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69915" y="6572250"/>
            <a:ext cx="193167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3" name="成衣PO / 技术资料">
            <a:extLst xmlns:a="http://schemas.openxmlformats.org/drawingml/2006/main">
              <a:ext uri="{FF2B5EF4-FFF2-40B4-BE49-F238E27FC236}">
                <a16:creationId xmlns:a16="http://schemas.microsoft.com/office/drawing/2014/main" id="{36CE1DEE-47A0-4A16-8EEB-90E1F470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94495" y="6554724"/>
            <a:ext cx="1882509" cy="2900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成衣PO / 技术资料</a:t>
            </a:r>
          </a:p>
        </p:txBody>
      </p:sp>
      <p:sp>
        <p:nvSpPr>
          <p:cNvPr id="224" name="path-214">
            <a:extLst xmlns:a="http://schemas.openxmlformats.org/drawingml/2006/main">
              <a:ext uri="{FF2B5EF4-FFF2-40B4-BE49-F238E27FC236}">
                <a16:creationId xmlns:a16="http://schemas.microsoft.com/office/drawing/2014/main" id="{B5B90212-A587-45F8-9990-A44790AA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276975"/>
            <a:ext cx="200025" cy="2505075"/>
          </a:xfrm>
          <a:custGeom xmlns:a="http://schemas.openxmlformats.org/drawingml/2006/main">
            <a:pathLst>
              <a:path w="200025" h="2505075">
                <a:moveTo>
                  <a:pt x="200025" y="0"/>
                </a:moveTo>
                <a:lnTo>
                  <a:pt x="0" y="0"/>
                </a:lnTo>
                <a:lnTo>
                  <a:pt x="0" y="2505075"/>
                </a:lnTo>
                <a:lnTo>
                  <a:pt x="200025" y="25050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60A8"/>
            </a:solidFill>
            <a:prstDash val="solid"/>
          </a:ln>
        </p:spPr>
      </p:sp>
      <p:sp>
        <p:nvSpPr>
          <p:cNvPr id="225" name="arrowhead-214">
            <a:extLst xmlns:a="http://schemas.openxmlformats.org/drawingml/2006/main">
              <a:ext uri="{FF2B5EF4-FFF2-40B4-BE49-F238E27FC236}">
                <a16:creationId xmlns:a16="http://schemas.microsoft.com/office/drawing/2014/main" id="{9AB41A86-332E-4C0D-8979-55080EC2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980" y="86829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226" name="rect-215">
            <a:extLst xmlns:a="http://schemas.openxmlformats.org/drawingml/2006/main">
              <a:ext uri="{FF2B5EF4-FFF2-40B4-BE49-F238E27FC236}">
                <a16:creationId xmlns:a16="http://schemas.microsoft.com/office/drawing/2014/main" id="{EB3A2980-82C1-40CB-8BD5-E8D16CF6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8020050"/>
            <a:ext cx="1314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27" name="成衣采购计划">
            <a:extLst xmlns:a="http://schemas.openxmlformats.org/drawingml/2006/main">
              <a:ext uri="{FF2B5EF4-FFF2-40B4-BE49-F238E27FC236}">
                <a16:creationId xmlns:a16="http://schemas.microsoft.com/office/drawing/2014/main" id="{F3E349BF-22C0-4379-B519-31F2185D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4465" y="8002905"/>
            <a:ext cx="128397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成衣采购计划</a:t>
            </a:r>
          </a:p>
        </p:txBody>
      </p:sp>
      <p:sp>
        <p:nvSpPr>
          <p:cNvPr id="228" name="path-217">
            <a:extLst xmlns:a="http://schemas.openxmlformats.org/drawingml/2006/main">
              <a:ext uri="{FF2B5EF4-FFF2-40B4-BE49-F238E27FC236}">
                <a16:creationId xmlns:a16="http://schemas.microsoft.com/office/drawing/2014/main" id="{D44B7322-B9DB-4E55-908C-9D4C6152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8782050"/>
            <a:ext cx="457200" cy="476"/>
          </a:xfrm>
          <a:custGeom xmlns:a="http://schemas.openxmlformats.org/drawingml/2006/main">
            <a:pathLst>
              <a:path w="457200" h="476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60A8"/>
            </a:solidFill>
            <a:prstDash val="solid"/>
          </a:ln>
        </p:spPr>
      </p:sp>
      <p:sp>
        <p:nvSpPr>
          <p:cNvPr id="229" name="arrowhead-217">
            <a:extLst xmlns:a="http://schemas.openxmlformats.org/drawingml/2006/main">
              <a:ext uri="{FF2B5EF4-FFF2-40B4-BE49-F238E27FC236}">
                <a16:creationId xmlns:a16="http://schemas.microsoft.com/office/drawing/2014/main" id="{6E848708-E4EF-45D0-9A74-0BA7028F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4030" y="86829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230" name="path-218">
            <a:extLst xmlns:a="http://schemas.openxmlformats.org/drawingml/2006/main">
              <a:ext uri="{FF2B5EF4-FFF2-40B4-BE49-F238E27FC236}">
                <a16:creationId xmlns:a16="http://schemas.microsoft.com/office/drawing/2014/main" id="{3BD16E93-204D-41DD-A7B1-77D99EAF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0" y="7620000"/>
            <a:ext cx="457200" cy="1162050"/>
          </a:xfrm>
          <a:custGeom xmlns:a="http://schemas.openxmlformats.org/drawingml/2006/main">
            <a:pathLst>
              <a:path w="457200" h="1162050">
                <a:moveTo>
                  <a:pt x="0" y="1162050"/>
                </a:moveTo>
                <a:lnTo>
                  <a:pt x="219075" y="1162050"/>
                </a:lnTo>
                <a:lnTo>
                  <a:pt x="219075" y="0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60A8"/>
            </a:solidFill>
            <a:prstDash val="solid"/>
          </a:ln>
        </p:spPr>
      </p:sp>
      <p:sp>
        <p:nvSpPr>
          <p:cNvPr id="231" name="arrowhead-218">
            <a:extLst xmlns:a="http://schemas.openxmlformats.org/drawingml/2006/main">
              <a:ext uri="{FF2B5EF4-FFF2-40B4-BE49-F238E27FC236}">
                <a16:creationId xmlns:a16="http://schemas.microsoft.com/office/drawing/2014/main" id="{92AD5C96-EE33-4739-B55E-89829A95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0080" y="752094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232" name="rect-219">
            <a:extLst xmlns:a="http://schemas.openxmlformats.org/drawingml/2006/main">
              <a:ext uri="{FF2B5EF4-FFF2-40B4-BE49-F238E27FC236}">
                <a16:creationId xmlns:a16="http://schemas.microsoft.com/office/drawing/2014/main" id="{98361B5F-7FC7-4FD1-B209-299CBEFB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2888" y="8077200"/>
            <a:ext cx="1438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3" name="净缺口采购建议">
            <a:extLst xmlns:a="http://schemas.openxmlformats.org/drawingml/2006/main">
              <a:ext uri="{FF2B5EF4-FFF2-40B4-BE49-F238E27FC236}">
                <a16:creationId xmlns:a16="http://schemas.microsoft.com/office/drawing/2014/main" id="{22F55DA3-1679-49F4-AFEC-93F294E1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5651" y="8060436"/>
            <a:ext cx="1412748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净缺口采购建议</a:t>
            </a:r>
          </a:p>
        </p:txBody>
      </p:sp>
      <p:sp>
        <p:nvSpPr>
          <p:cNvPr id="234" name="path-221">
            <a:extLst xmlns:a="http://schemas.openxmlformats.org/drawingml/2006/main">
              <a:ext uri="{FF2B5EF4-FFF2-40B4-BE49-F238E27FC236}">
                <a16:creationId xmlns:a16="http://schemas.microsoft.com/office/drawing/2014/main" id="{AB26EE5A-E1C2-415F-98AF-B740F86A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7877175"/>
            <a:ext cx="476" cy="1809750"/>
          </a:xfrm>
          <a:custGeom xmlns:a="http://schemas.openxmlformats.org/drawingml/2006/main">
            <a:pathLst>
              <a:path w="476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226"/>
            </a:solidFill>
            <a:prstDash val="solid"/>
          </a:ln>
        </p:spPr>
      </p:sp>
      <p:sp>
        <p:nvSpPr>
          <p:cNvPr id="235" name="arrowhead-221">
            <a:extLst xmlns:a="http://schemas.openxmlformats.org/drawingml/2006/main">
              <a:ext uri="{FF2B5EF4-FFF2-40B4-BE49-F238E27FC236}">
                <a16:creationId xmlns:a16="http://schemas.microsoft.com/office/drawing/2014/main" id="{20A148A4-1C73-4250-9F23-D6E5C428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3565" y="948880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198120"/>
                </a:moveTo>
                <a:lnTo>
                  <a:pt x="0" y="0"/>
                </a:lnTo>
                <a:lnTo>
                  <a:pt x="19812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36" name="rect-222">
            <a:extLst xmlns:a="http://schemas.openxmlformats.org/drawingml/2006/main">
              <a:ext uri="{FF2B5EF4-FFF2-40B4-BE49-F238E27FC236}">
                <a16:creationId xmlns:a16="http://schemas.microsoft.com/office/drawing/2014/main" id="{17EE7DE0-913A-4432-A0F1-BEA9AADF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5045" y="9248775"/>
            <a:ext cx="76581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37" name="物料PO">
            <a:extLst xmlns:a="http://schemas.openxmlformats.org/drawingml/2006/main">
              <a:ext uri="{FF2B5EF4-FFF2-40B4-BE49-F238E27FC236}">
                <a16:creationId xmlns:a16="http://schemas.microsoft.com/office/drawing/2014/main" id="{7D3A0951-B368-4510-B8E4-FA93B90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1045" y="9231630"/>
            <a:ext cx="77381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物料PO</a:t>
            </a:r>
          </a:p>
        </p:txBody>
      </p:sp>
      <p:sp>
        <p:nvSpPr>
          <p:cNvPr id="238" name="path-224">
            <a:extLst xmlns:a="http://schemas.openxmlformats.org/drawingml/2006/main">
              <a:ext uri="{FF2B5EF4-FFF2-40B4-BE49-F238E27FC236}">
                <a16:creationId xmlns:a16="http://schemas.microsoft.com/office/drawing/2014/main" id="{7473FBF5-272C-4AC1-8DA5-DE909EAD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25" y="10639425"/>
            <a:ext cx="476" cy="1809750"/>
          </a:xfrm>
          <a:custGeom xmlns:a="http://schemas.openxmlformats.org/drawingml/2006/main">
            <a:pathLst>
              <a:path w="476" h="1809750">
                <a:moveTo>
                  <a:pt x="0" y="0"/>
                </a:moveTo>
                <a:lnTo>
                  <a:pt x="0" y="18097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solid"/>
          </a:ln>
        </p:spPr>
      </p:sp>
      <p:sp>
        <p:nvSpPr>
          <p:cNvPr id="239" name="arrowhead-224">
            <a:extLst xmlns:a="http://schemas.openxmlformats.org/drawingml/2006/main">
              <a:ext uri="{FF2B5EF4-FFF2-40B4-BE49-F238E27FC236}">
                <a16:creationId xmlns:a16="http://schemas.microsoft.com/office/drawing/2014/main" id="{F7F16135-97CA-4848-B2CE-F51D510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3565" y="1225105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198120"/>
                </a:moveTo>
                <a:lnTo>
                  <a:pt x="0" y="0"/>
                </a:lnTo>
                <a:lnTo>
                  <a:pt x="19812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240" name="rect-225">
            <a:extLst xmlns:a="http://schemas.openxmlformats.org/drawingml/2006/main">
              <a:ext uri="{FF2B5EF4-FFF2-40B4-BE49-F238E27FC236}">
                <a16:creationId xmlns:a16="http://schemas.microsoft.com/office/drawing/2014/main" id="{BDF3F8D0-4C41-4CB9-91F1-319BF643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11553825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1" name="到料送检">
            <a:extLst xmlns:a="http://schemas.openxmlformats.org/drawingml/2006/main">
              <a:ext uri="{FF2B5EF4-FFF2-40B4-BE49-F238E27FC236}">
                <a16:creationId xmlns:a16="http://schemas.microsoft.com/office/drawing/2014/main" id="{79562652-E590-4343-921A-351BBFC4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82922" y="11537061"/>
            <a:ext cx="84810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到料送检</a:t>
            </a:r>
          </a:p>
        </p:txBody>
      </p:sp>
      <p:sp>
        <p:nvSpPr>
          <p:cNvPr id="242" name="path-227">
            <a:extLst xmlns:a="http://schemas.openxmlformats.org/drawingml/2006/main">
              <a:ext uri="{FF2B5EF4-FFF2-40B4-BE49-F238E27FC236}">
                <a16:creationId xmlns:a16="http://schemas.microsoft.com/office/drawing/2014/main" id="{07D6FA5C-5D46-431E-A8D2-4AD2AABF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07050" y="8782050"/>
            <a:ext cx="457200" cy="4143375"/>
          </a:xfrm>
          <a:custGeom xmlns:a="http://schemas.openxmlformats.org/drawingml/2006/main">
            <a:pathLst>
              <a:path w="457200" h="4143375">
                <a:moveTo>
                  <a:pt x="0" y="4143375"/>
                </a:moveTo>
                <a:lnTo>
                  <a:pt x="180975" y="4143375"/>
                </a:lnTo>
                <a:lnTo>
                  <a:pt x="180975" y="0"/>
                </a:ln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dash"/>
          </a:ln>
        </p:spPr>
      </p:sp>
      <p:sp>
        <p:nvSpPr>
          <p:cNvPr id="243" name="arrowhead-227">
            <a:extLst xmlns:a="http://schemas.openxmlformats.org/drawingml/2006/main">
              <a:ext uri="{FF2B5EF4-FFF2-40B4-BE49-F238E27FC236}">
                <a16:creationId xmlns:a16="http://schemas.microsoft.com/office/drawing/2014/main" id="{AA67EFDC-D102-4116-87CE-ED9C9C74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6130" y="86829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244" name="rect-228">
            <a:extLst xmlns:a="http://schemas.openxmlformats.org/drawingml/2006/main">
              <a:ext uri="{FF2B5EF4-FFF2-40B4-BE49-F238E27FC236}">
                <a16:creationId xmlns:a16="http://schemas.microsoft.com/office/drawing/2014/main" id="{FBEC4E07-E140-4E7E-AD8A-C01C9421C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25" y="10934700"/>
            <a:ext cx="857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5" name="检验结果">
            <a:extLst xmlns:a="http://schemas.openxmlformats.org/drawingml/2006/main">
              <a:ext uri="{FF2B5EF4-FFF2-40B4-BE49-F238E27FC236}">
                <a16:creationId xmlns:a16="http://schemas.microsoft.com/office/drawing/2014/main" id="{7C861BA3-B3F3-4625-8445-68254171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9509" y="10918317"/>
            <a:ext cx="808482" cy="2486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检验结果</a:t>
            </a:r>
          </a:p>
        </p:txBody>
      </p:sp>
      <p:sp>
        <p:nvSpPr>
          <p:cNvPr id="246" name="path-230">
            <a:extLst xmlns:a="http://schemas.openxmlformats.org/drawingml/2006/main">
              <a:ext uri="{FF2B5EF4-FFF2-40B4-BE49-F238E27FC236}">
                <a16:creationId xmlns:a16="http://schemas.microsoft.com/office/drawing/2014/main" id="{C3E32B17-49E5-431C-9CBB-0B1B69A1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2325" y="9258300"/>
            <a:ext cx="1276350" cy="2028825"/>
          </a:xfrm>
          <a:custGeom xmlns:a="http://schemas.openxmlformats.org/drawingml/2006/main">
            <a:pathLst>
              <a:path w="1276350" h="2028825">
                <a:moveTo>
                  <a:pt x="1276350" y="0"/>
                </a:moveTo>
                <a:lnTo>
                  <a:pt x="1276350" y="219075"/>
                </a:lnTo>
                <a:lnTo>
                  <a:pt x="0" y="219075"/>
                </a:lnTo>
                <a:lnTo>
                  <a:pt x="0" y="2028825"/>
                </a:lnTo>
                <a:lnTo>
                  <a:pt x="161925" y="20288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60A8"/>
            </a:solidFill>
            <a:prstDash val="solid"/>
          </a:ln>
        </p:spPr>
      </p:sp>
      <p:sp>
        <p:nvSpPr>
          <p:cNvPr id="247" name="arrowhead-230">
            <a:extLst xmlns:a="http://schemas.openxmlformats.org/drawingml/2006/main">
              <a:ext uri="{FF2B5EF4-FFF2-40B4-BE49-F238E27FC236}">
                <a16:creationId xmlns:a16="http://schemas.microsoft.com/office/drawing/2014/main" id="{CB0F25D1-4384-464E-AC37-51155A07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6130" y="111880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B60A8"/>
          </a:solidFill>
          <a:ln xmlns:a="http://schemas.openxmlformats.org/drawingml/2006/main" w="0">
            <a:noFill/>
          </a:ln>
        </p:spPr>
      </p:sp>
      <p:sp>
        <p:nvSpPr>
          <p:cNvPr id="248" name="rect-231">
            <a:extLst xmlns:a="http://schemas.openxmlformats.org/drawingml/2006/main">
              <a:ext uri="{FF2B5EF4-FFF2-40B4-BE49-F238E27FC236}">
                <a16:creationId xmlns:a16="http://schemas.microsoft.com/office/drawing/2014/main" id="{59DDE25A-BD24-4189-B453-C93BB958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49975" y="9305925"/>
            <a:ext cx="1257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49" name="齐料支持开工">
            <a:extLst xmlns:a="http://schemas.openxmlformats.org/drawingml/2006/main">
              <a:ext uri="{FF2B5EF4-FFF2-40B4-BE49-F238E27FC236}">
                <a16:creationId xmlns:a16="http://schemas.microsoft.com/office/drawing/2014/main" id="{21631C45-DC67-4B84-A39E-3E44AA94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6358" y="9289161"/>
            <a:ext cx="1224534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B60A8"/>
                </a:solidFill>
                <a:latin typeface="Microsoft YaHei"/>
                <a:ea typeface="Microsoft YaHei"/>
                <a:cs typeface="Microsoft YaHei"/>
              </a:rPr>
              <a:t>齐料支持开工</a:t>
            </a:r>
          </a:p>
        </p:txBody>
      </p:sp>
      <p:sp>
        <p:nvSpPr>
          <p:cNvPr id="250" name="path-233">
            <a:extLst xmlns:a="http://schemas.openxmlformats.org/drawingml/2006/main">
              <a:ext uri="{FF2B5EF4-FFF2-40B4-BE49-F238E27FC236}">
                <a16:creationId xmlns:a16="http://schemas.microsoft.com/office/drawing/2014/main" id="{6744A351-FEEC-4BB3-A594-11BA2EEE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8675" y="10639425"/>
            <a:ext cx="476" cy="428625"/>
          </a:xfrm>
          <a:custGeom xmlns:a="http://schemas.openxmlformats.org/drawingml/2006/main">
            <a:pathLst>
              <a:path w="476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54963C"/>
            </a:solidFill>
            <a:prstDash val="solid"/>
          </a:ln>
        </p:spPr>
      </p:sp>
      <p:sp>
        <p:nvSpPr>
          <p:cNvPr id="251" name="arrowhead-233">
            <a:extLst xmlns:a="http://schemas.openxmlformats.org/drawingml/2006/main">
              <a:ext uri="{FF2B5EF4-FFF2-40B4-BE49-F238E27FC236}">
                <a16:creationId xmlns:a16="http://schemas.microsoft.com/office/drawing/2014/main" id="{DBF203C0-217A-4E69-8B3A-CB0819D7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615" y="1086993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198120"/>
                </a:moveTo>
                <a:lnTo>
                  <a:pt x="0" y="0"/>
                </a:lnTo>
                <a:lnTo>
                  <a:pt x="19812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252" name="rect-234">
            <a:extLst xmlns:a="http://schemas.openxmlformats.org/drawingml/2006/main">
              <a:ext uri="{FF2B5EF4-FFF2-40B4-BE49-F238E27FC236}">
                <a16:creationId xmlns:a16="http://schemas.microsoft.com/office/drawing/2014/main" id="{2880E0BE-3174-4360-A94B-CCCF9610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6325" y="10772775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3" name="生产任务">
            <a:extLst xmlns:a="http://schemas.openxmlformats.org/drawingml/2006/main">
              <a:ext uri="{FF2B5EF4-FFF2-40B4-BE49-F238E27FC236}">
                <a16:creationId xmlns:a16="http://schemas.microsoft.com/office/drawing/2014/main" id="{60E89DFC-C9DC-4392-A11A-581717DD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9947" y="10756011"/>
            <a:ext cx="84810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生产任务</a:t>
            </a:r>
          </a:p>
        </p:txBody>
      </p:sp>
      <p:sp>
        <p:nvSpPr>
          <p:cNvPr id="254" name="path-236">
            <a:extLst xmlns:a="http://schemas.openxmlformats.org/drawingml/2006/main">
              <a:ext uri="{FF2B5EF4-FFF2-40B4-BE49-F238E27FC236}">
                <a16:creationId xmlns:a16="http://schemas.microsoft.com/office/drawing/2014/main" id="{15D04456-D979-4E0E-BDAB-111B7DC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8675" y="12020550"/>
            <a:ext cx="476" cy="428625"/>
          </a:xfrm>
          <a:custGeom xmlns:a="http://schemas.openxmlformats.org/drawingml/2006/main">
            <a:pathLst>
              <a:path w="476"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54963C"/>
            </a:solidFill>
            <a:prstDash val="solid"/>
          </a:ln>
        </p:spPr>
      </p:sp>
      <p:sp>
        <p:nvSpPr>
          <p:cNvPr id="255" name="arrowhead-236">
            <a:extLst xmlns:a="http://schemas.openxmlformats.org/drawingml/2006/main">
              <a:ext uri="{FF2B5EF4-FFF2-40B4-BE49-F238E27FC236}">
                <a16:creationId xmlns:a16="http://schemas.microsoft.com/office/drawing/2014/main" id="{AAA8BD81-A0D5-4B5E-A9C4-5652CE97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79615" y="1225105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198120"/>
                </a:moveTo>
                <a:lnTo>
                  <a:pt x="0" y="0"/>
                </a:lnTo>
                <a:lnTo>
                  <a:pt x="19812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256" name="rect-237">
            <a:extLst xmlns:a="http://schemas.openxmlformats.org/drawingml/2006/main">
              <a:ext uri="{FF2B5EF4-FFF2-40B4-BE49-F238E27FC236}">
                <a16:creationId xmlns:a16="http://schemas.microsoft.com/office/drawing/2014/main" id="{0A80BEFA-EAB0-40EF-AE74-1CB27798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26325" y="12172950"/>
            <a:ext cx="895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57" name="过程送检">
            <a:extLst xmlns:a="http://schemas.openxmlformats.org/drawingml/2006/main">
              <a:ext uri="{FF2B5EF4-FFF2-40B4-BE49-F238E27FC236}">
                <a16:creationId xmlns:a16="http://schemas.microsoft.com/office/drawing/2014/main" id="{80870057-0AB5-4407-AAF6-7E567FE3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49947" y="12156186"/>
            <a:ext cx="848106" cy="2624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过程送检</a:t>
            </a:r>
          </a:p>
        </p:txBody>
      </p:sp>
      <p:sp>
        <p:nvSpPr>
          <p:cNvPr id="258" name="path-239">
            <a:extLst xmlns:a="http://schemas.openxmlformats.org/drawingml/2006/main">
              <a:ext uri="{FF2B5EF4-FFF2-40B4-BE49-F238E27FC236}">
                <a16:creationId xmlns:a16="http://schemas.microsoft.com/office/drawing/2014/main" id="{2F1443E9-E158-4594-9C7C-B3D8435D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3100" y="12925425"/>
            <a:ext cx="457200" cy="476"/>
          </a:xfrm>
          <a:custGeom xmlns:a="http://schemas.openxmlformats.org/drawingml/2006/main">
            <a:pathLst>
              <a:path w="457200" h="476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solid"/>
          </a:ln>
        </p:spPr>
      </p:sp>
      <p:sp>
        <p:nvSpPr>
          <p:cNvPr id="259" name="arrowhead-239">
            <a:extLst xmlns:a="http://schemas.openxmlformats.org/drawingml/2006/main">
              <a:ext uri="{FF2B5EF4-FFF2-40B4-BE49-F238E27FC236}">
                <a16:creationId xmlns:a16="http://schemas.microsoft.com/office/drawing/2014/main" id="{F58EA80E-7827-43E5-ADE9-EA64159D3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2180" y="128263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260" name="path-240">
            <a:extLst xmlns:a="http://schemas.openxmlformats.org/drawingml/2006/main">
              <a:ext uri="{FF2B5EF4-FFF2-40B4-BE49-F238E27FC236}">
                <a16:creationId xmlns:a16="http://schemas.microsoft.com/office/drawing/2014/main" id="{3C6D7654-7EDC-414F-B57A-E1D103EA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4725" y="10639425"/>
            <a:ext cx="476" cy="1809750"/>
          </a:xfrm>
          <a:custGeom xmlns:a="http://schemas.openxmlformats.org/drawingml/2006/main">
            <a:pathLst>
              <a:path w="476" h="1809750">
                <a:moveTo>
                  <a:pt x="0" y="1809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solid"/>
          </a:ln>
        </p:spPr>
      </p:sp>
      <p:sp>
        <p:nvSpPr>
          <p:cNvPr id="261" name="arrowhead-240">
            <a:extLst xmlns:a="http://schemas.openxmlformats.org/drawingml/2006/main">
              <a:ext uri="{FF2B5EF4-FFF2-40B4-BE49-F238E27FC236}">
                <a16:creationId xmlns:a16="http://schemas.microsoft.com/office/drawing/2014/main" id="{A1610A52-F6E7-42BC-A377-961A5036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65665" y="1063942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0"/>
                </a:moveTo>
                <a:lnTo>
                  <a:pt x="198120" y="198120"/>
                </a:lnTo>
                <a:lnTo>
                  <a:pt x="0" y="19812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262" name="rect-241">
            <a:extLst xmlns:a="http://schemas.openxmlformats.org/drawingml/2006/main">
              <a:ext uri="{FF2B5EF4-FFF2-40B4-BE49-F238E27FC236}">
                <a16:creationId xmlns:a16="http://schemas.microsoft.com/office/drawing/2014/main" id="{C9915E63-250D-48E6-9AA1-54F28905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6650" y="11134725"/>
            <a:ext cx="933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3" name="质量放行">
            <a:extLst xmlns:a="http://schemas.openxmlformats.org/drawingml/2006/main">
              <a:ext uri="{FF2B5EF4-FFF2-40B4-BE49-F238E27FC236}">
                <a16:creationId xmlns:a16="http://schemas.microsoft.com/office/drawing/2014/main" id="{A2D4B397-9512-41D9-90E4-5CA501E9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9510" y="11117580"/>
            <a:ext cx="88773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质量放行</a:t>
            </a:r>
          </a:p>
        </p:txBody>
      </p:sp>
      <p:sp>
        <p:nvSpPr>
          <p:cNvPr id="264" name="path-243">
            <a:extLst xmlns:a="http://schemas.openxmlformats.org/drawingml/2006/main">
              <a:ext uri="{FF2B5EF4-FFF2-40B4-BE49-F238E27FC236}">
                <a16:creationId xmlns:a16="http://schemas.microsoft.com/office/drawing/2014/main" id="{9B6011AF-1861-4A90-83EA-92C7EFDC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9150" y="10163175"/>
            <a:ext cx="457200" cy="4143375"/>
          </a:xfrm>
          <a:custGeom xmlns:a="http://schemas.openxmlformats.org/drawingml/2006/main">
            <a:pathLst>
              <a:path w="457200" h="4143375">
                <a:moveTo>
                  <a:pt x="0" y="0"/>
                </a:moveTo>
                <a:lnTo>
                  <a:pt x="247650" y="0"/>
                </a:lnTo>
                <a:lnTo>
                  <a:pt x="247650" y="4143375"/>
                </a:lnTo>
                <a:lnTo>
                  <a:pt x="457200" y="414337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226"/>
            </a:solidFill>
            <a:prstDash val="solid"/>
          </a:ln>
        </p:spPr>
      </p:sp>
      <p:sp>
        <p:nvSpPr>
          <p:cNvPr id="265" name="arrowhead-243">
            <a:extLst xmlns:a="http://schemas.openxmlformats.org/drawingml/2006/main">
              <a:ext uri="{FF2B5EF4-FFF2-40B4-BE49-F238E27FC236}">
                <a16:creationId xmlns:a16="http://schemas.microsoft.com/office/drawing/2014/main" id="{BC6184B0-24AA-4203-8B59-C02BE827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8230" y="142074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66" name="rect-244">
            <a:extLst xmlns:a="http://schemas.openxmlformats.org/drawingml/2006/main">
              <a:ext uri="{FF2B5EF4-FFF2-40B4-BE49-F238E27FC236}">
                <a16:creationId xmlns:a16="http://schemas.microsoft.com/office/drawing/2014/main" id="{18CCB5D5-4506-4DE1-88CA-A5C8ED6A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5325" y="13449300"/>
            <a:ext cx="7429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67" name="发货单">
            <a:extLst xmlns:a="http://schemas.openxmlformats.org/drawingml/2006/main">
              <a:ext uri="{FF2B5EF4-FFF2-40B4-BE49-F238E27FC236}">
                <a16:creationId xmlns:a16="http://schemas.microsoft.com/office/drawing/2014/main" id="{DBEB314F-817A-464D-A1BA-1C6A89B7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1995" y="13432155"/>
            <a:ext cx="68961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发货单</a:t>
            </a:r>
          </a:p>
        </p:txBody>
      </p:sp>
      <p:sp>
        <p:nvSpPr>
          <p:cNvPr id="268" name="path-246">
            <a:extLst xmlns:a="http://schemas.openxmlformats.org/drawingml/2006/main">
              <a:ext uri="{FF2B5EF4-FFF2-40B4-BE49-F238E27FC236}">
                <a16:creationId xmlns:a16="http://schemas.microsoft.com/office/drawing/2014/main" id="{FFDF2CDE-6F9E-41AF-BD10-7FFB48E0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0775" y="6496050"/>
            <a:ext cx="476" cy="7334250"/>
          </a:xfrm>
          <a:custGeom xmlns:a="http://schemas.openxmlformats.org/drawingml/2006/main">
            <a:pathLst>
              <a:path w="476" h="7334250">
                <a:moveTo>
                  <a:pt x="0" y="7334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dash"/>
          </a:ln>
        </p:spPr>
      </p:sp>
      <p:sp>
        <p:nvSpPr>
          <p:cNvPr id="269" name="arrowhead-246">
            <a:extLst xmlns:a="http://schemas.openxmlformats.org/drawingml/2006/main">
              <a:ext uri="{FF2B5EF4-FFF2-40B4-BE49-F238E27FC236}">
                <a16:creationId xmlns:a16="http://schemas.microsoft.com/office/drawing/2014/main" id="{7751A3B9-9418-489F-9268-47CF5D45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51715" y="649605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0"/>
                </a:moveTo>
                <a:lnTo>
                  <a:pt x="198120" y="198120"/>
                </a:lnTo>
                <a:lnTo>
                  <a:pt x="0" y="19812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270" name="rect-247">
            <a:extLst xmlns:a="http://schemas.openxmlformats.org/drawingml/2006/main">
              <a:ext uri="{FF2B5EF4-FFF2-40B4-BE49-F238E27FC236}">
                <a16:creationId xmlns:a16="http://schemas.microsoft.com/office/drawing/2014/main" id="{0371A1B2-19F8-453C-910F-B30FEA4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33605" y="10629900"/>
            <a:ext cx="125349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1" name="入库 / 库存">
            <a:extLst xmlns:a="http://schemas.openxmlformats.org/drawingml/2006/main">
              <a:ext uri="{FF2B5EF4-FFF2-40B4-BE49-F238E27FC236}">
                <a16:creationId xmlns:a16="http://schemas.microsoft.com/office/drawing/2014/main" id="{E5A22A3B-6C16-4A08-833B-65ABEFD8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00941" y="10612755"/>
            <a:ext cx="111881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入库 / 库存</a:t>
            </a:r>
          </a:p>
        </p:txBody>
      </p:sp>
      <p:sp>
        <p:nvSpPr>
          <p:cNvPr id="272" name="path-249">
            <a:extLst xmlns:a="http://schemas.openxmlformats.org/drawingml/2006/main">
              <a:ext uri="{FF2B5EF4-FFF2-40B4-BE49-F238E27FC236}">
                <a16:creationId xmlns:a16="http://schemas.microsoft.com/office/drawing/2014/main" id="{BB725180-7FFD-46EB-8DB2-35E0D8C0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93100" y="11649075"/>
            <a:ext cx="4257675" cy="552450"/>
          </a:xfrm>
          <a:custGeom xmlns:a="http://schemas.openxmlformats.org/drawingml/2006/main">
            <a:pathLst>
              <a:path w="4257675" h="552450">
                <a:moveTo>
                  <a:pt x="0" y="0"/>
                </a:moveTo>
                <a:lnTo>
                  <a:pt x="342900" y="0"/>
                </a:lnTo>
                <a:lnTo>
                  <a:pt x="342900" y="552450"/>
                </a:lnTo>
                <a:lnTo>
                  <a:pt x="4257675" y="5524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54963C"/>
            </a:solidFill>
            <a:prstDash val="dash"/>
          </a:ln>
        </p:spPr>
      </p:sp>
      <p:sp>
        <p:nvSpPr>
          <p:cNvPr id="273" name="arrowhead-249">
            <a:extLst xmlns:a="http://schemas.openxmlformats.org/drawingml/2006/main">
              <a:ext uri="{FF2B5EF4-FFF2-40B4-BE49-F238E27FC236}">
                <a16:creationId xmlns:a16="http://schemas.microsoft.com/office/drawing/2014/main" id="{0EE1A532-8943-43A8-9E40-EEF6EC72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655" y="121024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4963C"/>
          </a:solidFill>
          <a:ln xmlns:a="http://schemas.openxmlformats.org/drawingml/2006/main" w="0">
            <a:noFill/>
          </a:ln>
        </p:spPr>
      </p:sp>
      <p:sp>
        <p:nvSpPr>
          <p:cNvPr id="274" name="rect-250">
            <a:extLst xmlns:a="http://schemas.openxmlformats.org/drawingml/2006/main">
              <a:ext uri="{FF2B5EF4-FFF2-40B4-BE49-F238E27FC236}">
                <a16:creationId xmlns:a16="http://schemas.microsoft.com/office/drawing/2014/main" id="{9F7F8A76-FEEA-4D31-BAB5-ED3E41F4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4305" y="12087225"/>
            <a:ext cx="163449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5" name="进度 / 延期回传">
            <a:extLst xmlns:a="http://schemas.openxmlformats.org/drawingml/2006/main">
              <a:ext uri="{FF2B5EF4-FFF2-40B4-BE49-F238E27FC236}">
                <a16:creationId xmlns:a16="http://schemas.microsoft.com/office/drawing/2014/main" id="{FBC183DF-A474-44D0-A040-B4BE7CDE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4021" y="12070080"/>
            <a:ext cx="15150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4963C"/>
                </a:solidFill>
                <a:latin typeface="Microsoft YaHei"/>
                <a:ea typeface="Microsoft YaHei"/>
                <a:cs typeface="Microsoft YaHei"/>
              </a:rPr>
              <a:t>进度 / 延期回传</a:t>
            </a:r>
          </a:p>
        </p:txBody>
      </p:sp>
      <p:sp>
        <p:nvSpPr>
          <p:cNvPr id="276" name="path-252">
            <a:extLst xmlns:a="http://schemas.openxmlformats.org/drawingml/2006/main">
              <a:ext uri="{FF2B5EF4-FFF2-40B4-BE49-F238E27FC236}">
                <a16:creationId xmlns:a16="http://schemas.microsoft.com/office/drawing/2014/main" id="{4F21E656-0958-47B5-B677-2003696A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0" y="10639425"/>
            <a:ext cx="4867275" cy="161925"/>
          </a:xfrm>
          <a:custGeom xmlns:a="http://schemas.openxmlformats.org/drawingml/2006/main">
            <a:pathLst>
              <a:path w="4867275" h="161925">
                <a:moveTo>
                  <a:pt x="0" y="0"/>
                </a:moveTo>
                <a:lnTo>
                  <a:pt x="0" y="161925"/>
                </a:lnTo>
                <a:lnTo>
                  <a:pt x="4867275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226"/>
            </a:solidFill>
            <a:prstDash val="dash"/>
          </a:ln>
        </p:spPr>
      </p:sp>
      <p:sp>
        <p:nvSpPr>
          <p:cNvPr id="277" name="arrowhead-252">
            <a:extLst xmlns:a="http://schemas.openxmlformats.org/drawingml/2006/main">
              <a:ext uri="{FF2B5EF4-FFF2-40B4-BE49-F238E27FC236}">
                <a16:creationId xmlns:a16="http://schemas.microsoft.com/office/drawing/2014/main" id="{A31B8430-EB95-4AC6-9DA6-B5F6F594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2655" y="1070229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78" name="rect-253">
            <a:extLst xmlns:a="http://schemas.openxmlformats.org/drawingml/2006/main">
              <a:ext uri="{FF2B5EF4-FFF2-40B4-BE49-F238E27FC236}">
                <a16:creationId xmlns:a16="http://schemas.microsoft.com/office/drawing/2014/main" id="{7E4C32A4-79D6-442C-81BF-7671A289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9005" y="10687050"/>
            <a:ext cx="163449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79" name="接单 / 交期状态">
            <a:extLst xmlns:a="http://schemas.openxmlformats.org/drawingml/2006/main">
              <a:ext uri="{FF2B5EF4-FFF2-40B4-BE49-F238E27FC236}">
                <a16:creationId xmlns:a16="http://schemas.microsoft.com/office/drawing/2014/main" id="{38E32732-D2C4-417B-8FA7-ECF5775B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8721" y="10669905"/>
            <a:ext cx="151505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接单 / 交期状态</a:t>
            </a:r>
          </a:p>
        </p:txBody>
      </p:sp>
      <p:sp>
        <p:nvSpPr>
          <p:cNvPr id="280" name="path-255">
            <a:extLst xmlns:a="http://schemas.openxmlformats.org/drawingml/2006/main">
              <a:ext uri="{FF2B5EF4-FFF2-40B4-BE49-F238E27FC236}">
                <a16:creationId xmlns:a16="http://schemas.microsoft.com/office/drawing/2014/main" id="{CCB2196B-385C-4C1E-B97C-5635C2EF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019800"/>
            <a:ext cx="14668500" cy="571500"/>
          </a:xfrm>
          <a:custGeom xmlns:a="http://schemas.openxmlformats.org/drawingml/2006/main">
            <a:pathLst>
              <a:path w="14668500" h="571500">
                <a:moveTo>
                  <a:pt x="14668500" y="0"/>
                </a:moveTo>
                <a:lnTo>
                  <a:pt x="14287500" y="0"/>
                </a:lnTo>
                <a:lnTo>
                  <a:pt x="14287500" y="571500"/>
                </a:lnTo>
                <a:lnTo>
                  <a:pt x="0" y="571500"/>
                </a:lnTo>
                <a:lnTo>
                  <a:pt x="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dash"/>
          </a:ln>
        </p:spPr>
      </p:sp>
      <p:sp>
        <p:nvSpPr>
          <p:cNvPr id="281" name="arrowhead-255">
            <a:extLst xmlns:a="http://schemas.openxmlformats.org/drawingml/2006/main">
              <a:ext uri="{FF2B5EF4-FFF2-40B4-BE49-F238E27FC236}">
                <a16:creationId xmlns:a16="http://schemas.microsoft.com/office/drawing/2014/main" id="{D56A02D6-671A-4D71-A911-47AE817C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790" y="6496050"/>
            <a:ext cx="198120" cy="198120"/>
          </a:xfrm>
          <a:custGeom xmlns:a="http://schemas.openxmlformats.org/drawingml/2006/main">
            <a:pathLst>
              <a:path w="198120" h="198120">
                <a:moveTo>
                  <a:pt x="99060" y="0"/>
                </a:moveTo>
                <a:lnTo>
                  <a:pt x="198120" y="198120"/>
                </a:lnTo>
                <a:lnTo>
                  <a:pt x="0" y="19812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282" name="rect-256">
            <a:extLst xmlns:a="http://schemas.openxmlformats.org/drawingml/2006/main">
              <a:ext uri="{FF2B5EF4-FFF2-40B4-BE49-F238E27FC236}">
                <a16:creationId xmlns:a16="http://schemas.microsoft.com/office/drawing/2014/main" id="{1D9576CF-6518-43FE-BCD5-BEEF603F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8255" y="6410325"/>
            <a:ext cx="201549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3" name="反馈校准 / 二次确认">
            <a:extLst xmlns:a="http://schemas.openxmlformats.org/drawingml/2006/main">
              <a:ext uri="{FF2B5EF4-FFF2-40B4-BE49-F238E27FC236}">
                <a16:creationId xmlns:a16="http://schemas.microsoft.com/office/drawing/2014/main" id="{02C6855D-DE77-4AB6-B52C-FFC2EC7E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0351" y="6393180"/>
            <a:ext cx="191129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78E99"/>
                </a:solidFill>
                <a:latin typeface="Microsoft YaHei"/>
                <a:ea typeface="Microsoft YaHei"/>
                <a:cs typeface="Microsoft YaHei"/>
              </a:rPr>
              <a:t>反馈校准 / 二次确认</a:t>
            </a:r>
          </a:p>
        </p:txBody>
      </p:sp>
      <p:sp>
        <p:nvSpPr>
          <p:cNvPr id="284" name="path-258">
            <a:extLst xmlns:a="http://schemas.openxmlformats.org/drawingml/2006/main">
              <a:ext uri="{FF2B5EF4-FFF2-40B4-BE49-F238E27FC236}">
                <a16:creationId xmlns:a16="http://schemas.microsoft.com/office/drawing/2014/main" id="{9A65CB8F-45C7-4A08-9C36-7E0D54EF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78525" y="11858625"/>
            <a:ext cx="3886200" cy="1781175"/>
          </a:xfrm>
          <a:custGeom xmlns:a="http://schemas.openxmlformats.org/drawingml/2006/main">
            <a:pathLst>
              <a:path w="3886200" h="1781175">
                <a:moveTo>
                  <a:pt x="3886200" y="1543050"/>
                </a:moveTo>
                <a:lnTo>
                  <a:pt x="3886200" y="1781175"/>
                </a:lnTo>
                <a:lnTo>
                  <a:pt x="0" y="1781175"/>
                </a:lnTo>
                <a:lnTo>
                  <a:pt x="0" y="0"/>
                </a:ln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226"/>
            </a:solidFill>
            <a:prstDash val="dash"/>
          </a:ln>
        </p:spPr>
      </p:sp>
      <p:sp>
        <p:nvSpPr>
          <p:cNvPr id="285" name="arrowhead-258">
            <a:extLst xmlns:a="http://schemas.openxmlformats.org/drawingml/2006/main">
              <a:ext uri="{FF2B5EF4-FFF2-40B4-BE49-F238E27FC236}">
                <a16:creationId xmlns:a16="http://schemas.microsoft.com/office/drawing/2014/main" id="{320CFE45-0914-4747-BFDC-55D84D7E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6130" y="117595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86" name="rect-259">
            <a:extLst xmlns:a="http://schemas.openxmlformats.org/drawingml/2006/main">
              <a:ext uri="{FF2B5EF4-FFF2-40B4-BE49-F238E27FC236}">
                <a16:creationId xmlns:a16="http://schemas.microsoft.com/office/drawing/2014/main" id="{6A9D5E72-29E4-4E63-82C1-3070E46A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0" y="13525500"/>
            <a:ext cx="26098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noFill/>
            <a:prstDash val="solid"/>
          </a:ln>
        </p:spPr>
      </p:sp>
      <p:sp>
        <p:nvSpPr>
          <p:cNvPr id="287" name="不合格 → 返工 / 退货处理">
            <a:extLst xmlns:a="http://schemas.openxmlformats.org/drawingml/2006/main">
              <a:ext uri="{FF2B5EF4-FFF2-40B4-BE49-F238E27FC236}">
                <a16:creationId xmlns:a16="http://schemas.microsoft.com/office/drawing/2014/main" id="{F786DA07-2BA5-43CE-BB0E-C5BB25DD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6719" y="13508355"/>
            <a:ext cx="243941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DC8226"/>
                </a:solidFill>
                <a:latin typeface="Microsoft YaHei"/>
                <a:ea typeface="Microsoft YaHei"/>
                <a:cs typeface="Microsoft YaHei"/>
              </a:rPr>
              <a:t>不合格 → 返工 / 退货处理</a:t>
            </a:r>
          </a:p>
        </p:txBody>
      </p:sp>
      <p:sp>
        <p:nvSpPr>
          <p:cNvPr id="288" name="线型">
            <a:extLst xmlns:a="http://schemas.openxmlformats.org/drawingml/2006/main">
              <a:ext uri="{FF2B5EF4-FFF2-40B4-BE49-F238E27FC236}">
                <a16:creationId xmlns:a16="http://schemas.microsoft.com/office/drawing/2014/main" id="{02C95F2B-ADF2-43CD-9E87-90D2445A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35987"/>
            <a:ext cx="550926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384E"/>
                </a:solidFill>
                <a:latin typeface="Microsoft YaHei"/>
                <a:ea typeface="Microsoft YaHei"/>
                <a:cs typeface="Microsoft YaHei"/>
              </a:rPr>
              <a:t>线型</a:t>
            </a:r>
          </a:p>
        </p:txBody>
      </p:sp>
      <p:sp>
        <p:nvSpPr>
          <p:cNvPr id="289" name="path-262">
            <a:extLst xmlns:a="http://schemas.openxmlformats.org/drawingml/2006/main">
              <a:ext uri="{FF2B5EF4-FFF2-40B4-BE49-F238E27FC236}">
                <a16:creationId xmlns:a16="http://schemas.microsoft.com/office/drawing/2014/main" id="{99ED3718-87D3-470B-B956-D963EC0F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5287625"/>
            <a:ext cx="619125" cy="476"/>
          </a:xfrm>
          <a:custGeom xmlns:a="http://schemas.openxmlformats.org/drawingml/2006/main">
            <a:pathLst>
              <a:path w="619125" h="476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08DD5"/>
            </a:solidFill>
            <a:prstDash val="solid"/>
          </a:ln>
        </p:spPr>
      </p:sp>
      <p:sp>
        <p:nvSpPr>
          <p:cNvPr id="290" name="arrowhead-262">
            <a:extLst xmlns:a="http://schemas.openxmlformats.org/drawingml/2006/main">
              <a:ext uri="{FF2B5EF4-FFF2-40B4-BE49-F238E27FC236}">
                <a16:creationId xmlns:a16="http://schemas.microsoft.com/office/drawing/2014/main" id="{0D9067A8-44A8-4268-A075-83C65518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151885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DD5"/>
          </a:solidFill>
          <a:ln xmlns:a="http://schemas.openxmlformats.org/drawingml/2006/main" w="0">
            <a:noFill/>
          </a:ln>
        </p:spPr>
      </p:sp>
      <p:sp>
        <p:nvSpPr>
          <p:cNvPr id="291" name="业务交接">
            <a:extLst xmlns:a="http://schemas.openxmlformats.org/drawingml/2006/main">
              <a:ext uri="{FF2B5EF4-FFF2-40B4-BE49-F238E27FC236}">
                <a16:creationId xmlns:a16="http://schemas.microsoft.com/office/drawing/2014/main" id="{F91343EA-676F-47FA-8906-394852EC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5145893"/>
            <a:ext cx="966978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业务交接</a:t>
            </a:r>
          </a:p>
        </p:txBody>
      </p:sp>
      <p:sp>
        <p:nvSpPr>
          <p:cNvPr id="292" name="path-264">
            <a:extLst xmlns:a="http://schemas.openxmlformats.org/drawingml/2006/main">
              <a:ext uri="{FF2B5EF4-FFF2-40B4-BE49-F238E27FC236}">
                <a16:creationId xmlns:a16="http://schemas.microsoft.com/office/drawing/2014/main" id="{07F498A2-A807-4C27-B412-4335E106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5287625"/>
            <a:ext cx="619125" cy="476"/>
          </a:xfrm>
          <a:custGeom xmlns:a="http://schemas.openxmlformats.org/drawingml/2006/main">
            <a:pathLst>
              <a:path w="619125" h="476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78E99"/>
            </a:solidFill>
            <a:prstDash val="dash"/>
          </a:ln>
        </p:spPr>
      </p:sp>
      <p:sp>
        <p:nvSpPr>
          <p:cNvPr id="293" name="arrowhead-264">
            <a:extLst xmlns:a="http://schemas.openxmlformats.org/drawingml/2006/main">
              <a:ext uri="{FF2B5EF4-FFF2-40B4-BE49-F238E27FC236}">
                <a16:creationId xmlns:a16="http://schemas.microsoft.com/office/drawing/2014/main" id="{46F6497C-13A3-4AC8-90B1-08A56AAA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151885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78E99"/>
          </a:solidFill>
          <a:ln xmlns:a="http://schemas.openxmlformats.org/drawingml/2006/main" w="0">
            <a:noFill/>
          </a:ln>
        </p:spPr>
      </p:sp>
      <p:sp>
        <p:nvSpPr>
          <p:cNvPr id="294" name="数据引用 / 状态回传">
            <a:extLst xmlns:a="http://schemas.openxmlformats.org/drawingml/2006/main">
              <a:ext uri="{FF2B5EF4-FFF2-40B4-BE49-F238E27FC236}">
                <a16:creationId xmlns:a16="http://schemas.microsoft.com/office/drawing/2014/main" id="{7061D49B-C3E7-4B14-8EC7-54E5ED54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5145893"/>
            <a:ext cx="2092857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数据引用 / 状态回传</a:t>
            </a:r>
          </a:p>
        </p:txBody>
      </p:sp>
      <p:sp>
        <p:nvSpPr>
          <p:cNvPr id="295" name="path-266">
            <a:extLst xmlns:a="http://schemas.openxmlformats.org/drawingml/2006/main">
              <a:ext uri="{FF2B5EF4-FFF2-40B4-BE49-F238E27FC236}">
                <a16:creationId xmlns:a16="http://schemas.microsoft.com/office/drawing/2014/main" id="{25597269-C7A6-41D8-B3C7-9151C286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87625"/>
            <a:ext cx="619125" cy="476"/>
          </a:xfrm>
          <a:custGeom xmlns:a="http://schemas.openxmlformats.org/drawingml/2006/main">
            <a:pathLst>
              <a:path w="619125" h="476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226"/>
            </a:solidFill>
            <a:prstDash val="dash"/>
          </a:ln>
        </p:spPr>
      </p:sp>
      <p:sp>
        <p:nvSpPr>
          <p:cNvPr id="296" name="arrowhead-266">
            <a:extLst xmlns:a="http://schemas.openxmlformats.org/drawingml/2006/main">
              <a:ext uri="{FF2B5EF4-FFF2-40B4-BE49-F238E27FC236}">
                <a16:creationId xmlns:a16="http://schemas.microsoft.com/office/drawing/2014/main" id="{E8C57F27-4EBD-497A-8E8D-E0483FB2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255" y="15188565"/>
            <a:ext cx="198120" cy="198120"/>
          </a:xfrm>
          <a:custGeom xmlns:a="http://schemas.openxmlformats.org/drawingml/2006/main">
            <a:pathLst>
              <a:path w="198120" h="198120">
                <a:moveTo>
                  <a:pt x="198120" y="99060"/>
                </a:moveTo>
                <a:lnTo>
                  <a:pt x="0" y="1981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C8226"/>
          </a:solidFill>
          <a:ln xmlns:a="http://schemas.openxmlformats.org/drawingml/2006/main" w="0">
            <a:noFill/>
          </a:ln>
        </p:spPr>
      </p:sp>
      <p:sp>
        <p:nvSpPr>
          <p:cNvPr id="297" name="退回与异常">
            <a:extLst xmlns:a="http://schemas.openxmlformats.org/drawingml/2006/main">
              <a:ext uri="{FF2B5EF4-FFF2-40B4-BE49-F238E27FC236}">
                <a16:creationId xmlns:a16="http://schemas.microsoft.com/office/drawing/2014/main" id="{F62EBE42-96A2-4973-A4B2-13FED9E3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5145893"/>
            <a:ext cx="118491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退回与异常</a:t>
            </a:r>
          </a:p>
        </p:txBody>
      </p:sp>
      <p:sp>
        <p:nvSpPr>
          <p:cNvPr id="298" name="建设口径">
            <a:extLst xmlns:a="http://schemas.openxmlformats.org/drawingml/2006/main">
              <a:ext uri="{FF2B5EF4-FFF2-40B4-BE49-F238E27FC236}">
                <a16:creationId xmlns:a16="http://schemas.microsoft.com/office/drawing/2014/main" id="{C334C967-C688-4A8B-AE0B-134366DD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63850"/>
            <a:ext cx="1085850" cy="3452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建设口径</a:t>
            </a:r>
          </a:p>
        </p:txBody>
      </p:sp>
      <p:sp>
        <p:nvSpPr>
          <p:cNvPr id="299" name="P0：PMC → PR → PO → 供应商执行状态；P1：MRP同步建设、MES接入。QC / 入库展示目标闭环，节点分批联评。">
            <a:extLst xmlns:a="http://schemas.openxmlformats.org/drawingml/2006/main">
              <a:ext uri="{FF2B5EF4-FFF2-40B4-BE49-F238E27FC236}">
                <a16:creationId xmlns:a16="http://schemas.microsoft.com/office/drawing/2014/main" id="{0982552E-AE09-4993-A033-00DE4E8C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573756"/>
            <a:ext cx="12760845" cy="3314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C566B"/>
                </a:solidFill>
                <a:latin typeface="Microsoft YaHei"/>
                <a:ea typeface="Microsoft YaHei"/>
                <a:cs typeface="Microsoft YaHei"/>
              </a:rPr>
              <a:t>P0：PMC → PR → PO → 供应商执行状态；P1：MRP同步建设、MES接入。QC / 入库展示目标闭环，节点分批联评。</a:t>
            </a:r>
          </a:p>
        </p:txBody>
      </p:sp>
      <p:sp>
        <p:nvSpPr>
          <p:cNvPr id="300" name="PR由PMC业务确认、SCM承载管理；各级审批权限及生成接口待细化。库存、商品与供应商事实由责任方提供，PMC不承担清洗。">
            <a:extLst xmlns:a="http://schemas.openxmlformats.org/drawingml/2006/main">
              <a:ext uri="{FF2B5EF4-FFF2-40B4-BE49-F238E27FC236}">
                <a16:creationId xmlns:a16="http://schemas.microsoft.com/office/drawing/2014/main" id="{C0030BF1-4DA9-472D-BA52-77C93C44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6002762"/>
            <a:ext cx="13324558" cy="317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PR由PMC业务确认、SCM承载管理；各级审批权限及生成接口待细化。库存、商品与供应商事实由责任方提供，PMC不承担清洗。</a:t>
            </a:r>
          </a:p>
        </p:txBody>
      </p:sp>
      <p:sp>
        <p:nvSpPr>
          <p:cNvPr id="301" name="path-271">
            <a:extLst xmlns:a="http://schemas.openxmlformats.org/drawingml/2006/main">
              <a:ext uri="{FF2B5EF4-FFF2-40B4-BE49-F238E27FC236}">
                <a16:creationId xmlns:a16="http://schemas.microsoft.com/office/drawing/2014/main" id="{BA693D75-3D95-4B49-9220-E4013AF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92550"/>
            <a:ext cx="26212800" cy="476"/>
          </a:xfrm>
          <a:custGeom xmlns:a="http://schemas.openxmlformats.org/drawingml/2006/main">
            <a:pathLst>
              <a:path w="26212800" h="476">
                <a:moveTo>
                  <a:pt x="0" y="0"/>
                </a:moveTo>
                <a:lnTo>
                  <a:pt x="2621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D5E1E9"/>
            </a:solidFill>
            <a:prstDash val="solid"/>
          </a:ln>
        </p:spPr>
      </p:sp>
      <p:sp>
        <p:nvSpPr>
          <p:cNvPr id="302" name="依据：本次《第四季度供应链系统建设方案》 · 目标业务蓝图与分级建设范围 · 2026.09.16">
            <a:extLst xmlns:a="http://schemas.openxmlformats.org/drawingml/2006/main">
              <a:ext uri="{FF2B5EF4-FFF2-40B4-BE49-F238E27FC236}">
                <a16:creationId xmlns:a16="http://schemas.microsoft.com/office/drawing/2014/main" id="{56E16BF9-16D0-49E3-AD48-3354C571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17518"/>
            <a:ext cx="8913138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B7F90"/>
                </a:solidFill>
                <a:latin typeface="Microsoft YaHei"/>
                <a:ea typeface="Microsoft YaHei"/>
                <a:cs typeface="Microsoft YaHei"/>
              </a:rPr>
              <a:t>依据：本次《第四季度供应链系统建设方案》 · 目标业务蓝图与分级建设范围 · 2026.09.16</a:t>
            </a:r>
          </a:p>
        </p:txBody>
      </p:sp>
      <p:sp>
        <p:nvSpPr>
          <p:cNvPr id="303" name="供应链数字化">
            <a:extLst xmlns:a="http://schemas.openxmlformats.org/drawingml/2006/main">
              <a:ext uri="{FF2B5EF4-FFF2-40B4-BE49-F238E27FC236}">
                <a16:creationId xmlns:a16="http://schemas.microsoft.com/office/drawing/2014/main" id="{90BA90F9-D654-465F-B094-5BD10205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558" y="16717518"/>
            <a:ext cx="1402842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08DD5"/>
                </a:solidFill>
                <a:latin typeface="Microsoft YaHei"/>
                <a:ea typeface="Microsoft YaHei"/>
                <a:cs typeface="Microsoft YaHei"/>
              </a:rPr>
              <a:t>供应链数字化</a:t>
            </a:r>
          </a:p>
        </p:txBody>
      </p:sp>
    </p:spTree>
    <p:extLst>
      <p:ext uri="{BB962C8B-B14F-4D97-AF65-F5344CB8AC3E}">
        <p14:creationId xmlns:p14="http://schemas.microsoft.com/office/powerpoint/2010/main" val="1084093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2026-09-16T06:36:52.5940000Z</dcterms:created>
  <dcterms:modified xsi:type="dcterms:W3CDTF">2026-09-16T06:36:52.5940000Z</dcterms:modified>
</coreProperties>
</file>