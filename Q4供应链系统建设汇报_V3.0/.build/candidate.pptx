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33b03562ae42fb" /><Relationship Type="http://schemas.openxmlformats.org/officeDocument/2006/relationships/extended-properties" Target="/docProps/app.xml" Id="R667005ef3cda4179" /><Relationship Type="http://schemas.openxmlformats.org/officeDocument/2006/relationships/officeDocument" Target="/ppt/presentation.xml" Id="R361e7a93a23f4d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de85a9c5be4015"/>
  </p:sldMasterIdLst>
  <p:notesMasterIdLst>
    <p:notesMasterId xmlns:r="http://schemas.openxmlformats.org/officeDocument/2006/relationships" r:id="Rc214157bd3e343b4"/>
  </p:notesMasterIdLst>
  <p:sldIdLst>
    <p:sldId xmlns:r="http://schemas.openxmlformats.org/officeDocument/2006/relationships" id="256" r:id="Rcdeee6ac93d84edf"/>
    <p:sldId xmlns:r="http://schemas.openxmlformats.org/officeDocument/2006/relationships" id="257" r:id="R6012bf2a9ae4440f"/>
    <p:sldId xmlns:r="http://schemas.openxmlformats.org/officeDocument/2006/relationships" id="258" r:id="R5a107a18d8444407"/>
    <p:sldId xmlns:r="http://schemas.openxmlformats.org/officeDocument/2006/relationships" id="259" r:id="Rf07268396fba4e67"/>
    <p:sldId xmlns:r="http://schemas.openxmlformats.org/officeDocument/2006/relationships" id="260" r:id="Rad5ce07ecc684265"/>
    <p:sldId xmlns:r="http://schemas.openxmlformats.org/officeDocument/2006/relationships" id="261" r:id="R41f014e9acd4440d"/>
    <p:sldId xmlns:r="http://schemas.openxmlformats.org/officeDocument/2006/relationships" id="262" r:id="Rd031763a8d45455b"/>
    <p:sldId xmlns:r="http://schemas.openxmlformats.org/officeDocument/2006/relationships" id="263" r:id="Rf68c3d96339143e8"/>
    <p:sldId xmlns:r="http://schemas.openxmlformats.org/officeDocument/2006/relationships" id="264" r:id="R89b079c3804847e5"/>
    <p:sldId xmlns:r="http://schemas.openxmlformats.org/officeDocument/2006/relationships" id="265" r:id="R9e8a0f816a27408b"/>
  </p:sldIdLst>
  <p:sldSz cx="24384000" cy="1371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21cf39096c4adc" /><Relationship Type="http://schemas.openxmlformats.org/officeDocument/2006/relationships/slideMaster" Target="/ppt/slideMasters/slideMaster1.xml" Id="R21de85a9c5be4015" /><Relationship Type="http://schemas.openxmlformats.org/officeDocument/2006/relationships/notesMaster" Target="/ppt/notesMasters/notesMaster1.xml" Id="Rc214157bd3e343b4" /><Relationship Type="http://schemas.openxmlformats.org/officeDocument/2006/relationships/presProps" Target="/ppt/presProps.xml" Id="Rf72494fba5e44fa4" /><Relationship Type="http://schemas.openxmlformats.org/officeDocument/2006/relationships/tableStyles" Target="/ppt/tableStyles.xml" Id="R86845b05ebf846ff" /><Relationship Type="http://schemas.openxmlformats.org/officeDocument/2006/relationships/slide" Target="/ppt/slides/slide1.xml" Id="Rcdeee6ac93d84edf" /><Relationship Type="http://schemas.openxmlformats.org/officeDocument/2006/relationships/slide" Target="/ppt/slides/slide2.xml" Id="R6012bf2a9ae4440f" /><Relationship Type="http://schemas.openxmlformats.org/officeDocument/2006/relationships/slide" Target="/ppt/slides/slide3.xml" Id="R5a107a18d8444407" /><Relationship Type="http://schemas.openxmlformats.org/officeDocument/2006/relationships/slide" Target="/ppt/slides/slide4.xml" Id="Rf07268396fba4e67" /><Relationship Type="http://schemas.openxmlformats.org/officeDocument/2006/relationships/slide" Target="/ppt/slides/slide5.xml" Id="Rad5ce07ecc684265" /><Relationship Type="http://schemas.openxmlformats.org/officeDocument/2006/relationships/slide" Target="/ppt/slides/slide6.xml" Id="R41f014e9acd4440d" /><Relationship Type="http://schemas.openxmlformats.org/officeDocument/2006/relationships/slide" Target="/ppt/slides/slide7.xml" Id="Rd031763a8d45455b" /><Relationship Type="http://schemas.openxmlformats.org/officeDocument/2006/relationships/slide" Target="/ppt/slides/slide8.xml" Id="Rf68c3d96339143e8" /><Relationship Type="http://schemas.openxmlformats.org/officeDocument/2006/relationships/slide" Target="/ppt/slides/slide9.xml" Id="R89b079c3804847e5" /><Relationship Type="http://schemas.openxmlformats.org/officeDocument/2006/relationships/slide" Target="/ppt/slides/slide10.xml" Id="R9e8a0f816a2740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fe5b09fddf4b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ec741b17194a55" /><Relationship Type="http://schemas.openxmlformats.org/officeDocument/2006/relationships/notesMaster" Target="/ppt/notesMasters/notesMaster1.xml" Id="R7f0baff73d9544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a5405b725f4485" /><Relationship Type="http://schemas.openxmlformats.org/officeDocument/2006/relationships/notesMaster" Target="/ppt/notesMasters/notesMaster1.xml" Id="R70deebec535847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214a6c81e744a8" /><Relationship Type="http://schemas.openxmlformats.org/officeDocument/2006/relationships/notesMaster" Target="/ppt/notesMasters/notesMaster1.xml" Id="R16718f96ba894c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e598cc8dde436e" /><Relationship Type="http://schemas.openxmlformats.org/officeDocument/2006/relationships/notesMaster" Target="/ppt/notesMasters/notesMaster1.xml" Id="Rb9c0dcb490e545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766c369be14093" /><Relationship Type="http://schemas.openxmlformats.org/officeDocument/2006/relationships/notesMaster" Target="/ppt/notesMasters/notesMaster1.xml" Id="R1255599c46bb41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e06c9fd01b4b30" /><Relationship Type="http://schemas.openxmlformats.org/officeDocument/2006/relationships/notesMaster" Target="/ppt/notesMasters/notesMaster1.xml" Id="R1d95621dc20049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a2293aee764f53" /><Relationship Type="http://schemas.openxmlformats.org/officeDocument/2006/relationships/notesMaster" Target="/ppt/notesMasters/notesMaster1.xml" Id="Rdbfbe21d51114e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6db82ad4434ac0" /><Relationship Type="http://schemas.openxmlformats.org/officeDocument/2006/relationships/notesMaster" Target="/ppt/notesMasters/notesMaster1.xml" Id="Rad545fd615224b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ebbdce28b7409f" /><Relationship Type="http://schemas.openxmlformats.org/officeDocument/2006/relationships/notesMaster" Target="/ppt/notesMasters/notesMaster1.xml" Id="R2c4f0c6e76174b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ad9fad91bc41b6" /><Relationship Type="http://schemas.openxmlformats.org/officeDocument/2006/relationships/notesMaster" Target="/ppt/notesMasters/notesMaster1.xml" Id="R0241e844863346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01_Q4供应链建设全景_V3.0.svg。业务依据：《第四季度供应链系统建设方案》及本次《修改意见》。采用全景、职责边界、六角色泳道和七个模块详细流程分层组织。MRP为P1同步建设；PMC确认PR，SCM承载PR/PO管理。图中QC和入库为目标协同节点，一期接入范围需联评；原文1.8边界表未提供。所有文字与流程图元素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02_Q4系统职责边界_V3.0.svg。业务依据：《第四季度供应链系统建设方案》及本次《修改意见》。采用全景、职责边界、六角色泳道和七个模块详细流程分层组织。MRP为P1同步建设；PMC确认PR，SCM承载PR/PO管理。图中QC和入库为目标协同节点，一期接入范围需联评；原文1.8边界表未提供。所有文字与流程图元素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03_Q4核心业务六角色泳道_V3.0.svg。业务依据：《第四季度供应链系统建设方案》及本次《修改意见》。采用全景、职责边界、六角色泳道和七个模块详细流程分层组织。MRP为P1同步建设；PMC确认PR，SCM承载PR/PO管理。图中QC和入库为目标协同节点，一期接入范围需联评；原文1.8边界表未提供。所有文字与流程图元素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04_PMC预测详细流程_V3.0.svg。业务依据：《第四季度供应链系统建设方案》及本次《修改意见》。采用全景、职责边界、六角色泳道和七个模块详细流程分层组织。MRP为P1同步建设；PMC确认PR，SCM承载PR/PO管理。图中QC和入库为目标协同节点，一期接入范围需联评；原文1.8边界表未提供。所有文字与流程图元素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05_PMC备货详细流程_V3.0.svg。业务依据：《第四季度供应链系统建设方案》及本次《修改意见》。采用全景、职责边界、六角色泳道和七个模块详细流程分层组织。MRP为P1同步建设；PMC确认PR，SCM承载PR/PO管理。图中QC和入库为目标协同节点，一期接入范围需联评；原文1.8边界表未提供。所有文字与流程图元素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06_MRP详细流程_V3.0.svg。业务依据：《第四季度供应链系统建设方案》及本次《修改意见》。采用全景、职责边界、六角色泳道和七个模块详细流程分层组织。MRP为P1同步建设；PMC确认PR，SCM承载PR/PO管理。图中QC和入库为目标协同节点，一期接入范围需联评；原文1.8边界表未提供。所有文字与流程图元素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07_SCM采购详细流程_V3.0.svg。业务依据：《第四季度供应链系统建设方案》及本次《修改意见》。采用全景、职责边界、六角色泳道和七个模块详细流程分层组织。MRP为P1同步建设；PMC确认PR，SCM承载PR/PO管理。图中QC和入库为目标协同节点，一期接入范围需联评；原文1.8边界表未提供。所有文字与流程图元素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08_供应商执行详细流程_V3.0.svg。业务依据：《第四季度供应链系统建设方案》及本次《修改意见》。采用全景、职责边界、六角色泳道和七个模块详细流程分层组织。MRP为P1同步建设；PMC确认PR，SCM承载PR/PO管理。图中QC和入库为目标协同节点，一期接入范围需联评；原文1.8边界表未提供。所有文字与流程图元素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09_MES协同详细流程_V3.0.svg。业务依据：《第四季度供应链系统建设方案》及本次《修改意见》。采用全景、职责边界、六角色泳道和七个模块详细流程分层组织。MRP为P1同步建设；PMC确认PR，SCM承载PR/PO管理。图中QC和入库为目标协同节点，一期接入范围需联评；原文1.8边界表未提供。所有文字与流程图元素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10_库存回流详细流程_V3.0.svg。业务依据：《第四季度供应链系统建设方案》及本次《修改意见》。采用全景、职责边界、六角色泳道和七个模块详细流程分层组织。MRP为P1同步建设；PMC确认PR，SCM承载PR/PO管理。图中QC和入库为目标协同节点，一期接入范围需联评；原文1.8边界表未提供。所有文字与流程图元素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655fec43841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d92dc087084f94" /><Relationship Type="http://schemas.openxmlformats.org/officeDocument/2006/relationships/slideLayout" Target="/ppt/slideLayouts/slideLayout1.xml" Id="Rea5b31008d274d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5b31008d274d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b1046967d431f" /><Relationship Type="http://schemas.openxmlformats.org/officeDocument/2006/relationships/notesSlide" Target="/ppt/notesSlides/notesSlide1.xml" Id="R0bd8f0d641dd47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48b059ab842b9" /><Relationship Type="http://schemas.openxmlformats.org/officeDocument/2006/relationships/notesSlide" Target="/ppt/notesSlides/notesSlide2.xml" Id="Re053327a5d3a47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74e37fe644570" /><Relationship Type="http://schemas.openxmlformats.org/officeDocument/2006/relationships/notesSlide" Target="/ppt/notesSlides/notesSlide3.xml" Id="R7229cc91ef3f47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57e186dd04157" /><Relationship Type="http://schemas.openxmlformats.org/officeDocument/2006/relationships/notesSlide" Target="/ppt/notesSlides/notesSlide4.xml" Id="Rf0a408e3bfe342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38d9e76c94b1e" /><Relationship Type="http://schemas.openxmlformats.org/officeDocument/2006/relationships/notesSlide" Target="/ppt/notesSlides/notesSlide5.xml" Id="Ra5be4b41b46f4d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51db3fd3542ee" /><Relationship Type="http://schemas.openxmlformats.org/officeDocument/2006/relationships/notesSlide" Target="/ppt/notesSlides/notesSlide6.xml" Id="R5d0ff5034fb546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446eb8bda4013" /><Relationship Type="http://schemas.openxmlformats.org/officeDocument/2006/relationships/notesSlide" Target="/ppt/notesSlides/notesSlide7.xml" Id="R47750be749d54b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24b84e5164c10" /><Relationship Type="http://schemas.openxmlformats.org/officeDocument/2006/relationships/notesSlide" Target="/ppt/notesSlides/notesSlide8.xml" Id="R224714ddc89e43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13055d50e49b3" /><Relationship Type="http://schemas.openxmlformats.org/officeDocument/2006/relationships/notesSlide" Target="/ppt/notesSlides/notesSlide9.xml" Id="Re3acb74be50c4c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a10df8a9241c1" /><Relationship Type="http://schemas.openxmlformats.org/officeDocument/2006/relationships/notesSlide" Target="/ppt/notesSlides/notesSlide10.xml" Id="Re3ca85d7ed2548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白色画布">
            <a:extLst xmlns:a="http://schemas.openxmlformats.org/drawingml/2006/main">
              <a:ext uri="{FF2B5EF4-FFF2-40B4-BE49-F238E27FC236}">
                <a16:creationId xmlns:a16="http://schemas.microsoft.com/office/drawing/2014/main" id="{5B67F49A-756B-4CED-ABB1-8E81D0F8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-1">
            <a:extLst xmlns:a="http://schemas.openxmlformats.org/drawingml/2006/main">
              <a:ext uri="{FF2B5EF4-FFF2-40B4-BE49-F238E27FC236}">
                <a16:creationId xmlns:a16="http://schemas.microsoft.com/office/drawing/2014/main" id="{2006B159-3917-4D34-B6F4-3442EA74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" name="rect-2">
            <a:extLst xmlns:a="http://schemas.openxmlformats.org/drawingml/2006/main">
              <a:ext uri="{FF2B5EF4-FFF2-40B4-BE49-F238E27FC236}">
                <a16:creationId xmlns:a16="http://schemas.microsoft.com/office/drawing/2014/main" id="{DA455466-6998-4DBB-AA3B-263770D3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" name="Q4供应链建设全景">
            <a:extLst xmlns:a="http://schemas.openxmlformats.org/drawingml/2006/main">
              <a:ext uri="{FF2B5EF4-FFF2-40B4-BE49-F238E27FC236}">
                <a16:creationId xmlns:a16="http://schemas.microsoft.com/office/drawing/2014/main" id="{5C6E5BD8-4AA6-44FA-BC3B-D88C312B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781"/>
            <a:ext cx="4160425" cy="676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Q4供应链建设全景</a:t>
            </a:r>
          </a:p>
        </p:txBody>
      </p:sp>
      <p:sp>
        <p:nvSpPr>
          <p:cNvPr id="5" name="2026 Q4 / V3.0">
            <a:extLst xmlns:a="http://schemas.openxmlformats.org/drawingml/2006/main">
              <a:ext uri="{FF2B5EF4-FFF2-40B4-BE49-F238E27FC236}">
                <a16:creationId xmlns:a16="http://schemas.microsoft.com/office/drawing/2014/main" id="{D1D87119-D049-4ECF-8F67-E843C339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7004" y="647700"/>
            <a:ext cx="1927396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V3.0</a:t>
            </a:r>
          </a:p>
        </p:txBody>
      </p:sp>
      <p:sp>
        <p:nvSpPr>
          <p:cNvPr id="6" name="path-5">
            <a:extLst xmlns:a="http://schemas.openxmlformats.org/drawingml/2006/main">
              <a:ext uri="{FF2B5EF4-FFF2-40B4-BE49-F238E27FC236}">
                <a16:creationId xmlns:a16="http://schemas.microsoft.com/office/drawing/2014/main" id="{B52E068A-17F4-498F-AE7C-8046324F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7" name="以PMC计划为起点，打通需求、计划、采购、执行、交付与库存的滚动闭环">
            <a:extLst xmlns:a="http://schemas.openxmlformats.org/drawingml/2006/main">
              <a:ext uri="{FF2B5EF4-FFF2-40B4-BE49-F238E27FC236}">
                <a16:creationId xmlns:a16="http://schemas.microsoft.com/office/drawing/2014/main" id="{EB39972D-0C1E-488A-9A05-A522D761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0863"/>
            <a:ext cx="8988981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以PMC计划为起点，打通需求、计划、采购、执行、交付与库存的滚动闭环</a:t>
            </a:r>
          </a:p>
        </p:txBody>
      </p:sp>
      <p:sp>
        <p:nvSpPr>
          <p:cNvPr id="8" name="01 / 先看全局">
            <a:extLst xmlns:a="http://schemas.openxmlformats.org/drawingml/2006/main">
              <a:ext uri="{FF2B5EF4-FFF2-40B4-BE49-F238E27FC236}">
                <a16:creationId xmlns:a16="http://schemas.microsoft.com/office/drawing/2014/main" id="{D8901806-6353-4FBC-8020-746074AA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4046" y="1610487"/>
            <a:ext cx="1500354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01 / 先看全局</a:t>
            </a:r>
          </a:p>
        </p:txBody>
      </p:sp>
      <p:sp>
        <p:nvSpPr>
          <p:cNvPr id="9" name="path-8">
            <a:extLst xmlns:a="http://schemas.openxmlformats.org/drawingml/2006/main">
              <a:ext uri="{FF2B5EF4-FFF2-40B4-BE49-F238E27FC236}">
                <a16:creationId xmlns:a16="http://schemas.microsoft.com/office/drawing/2014/main" id="{D27862FA-EB74-4362-855E-FE4E8F6A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3143250" cy="1200150"/>
          </a:xfrm>
          <a:custGeom xmlns:a="http://schemas.openxmlformats.org/drawingml/2006/main">
            <a:pathLst>
              <a:path w="3143250" h="1200150">
                <a:moveTo>
                  <a:pt x="0" y="0"/>
                </a:moveTo>
                <a:lnTo>
                  <a:pt x="2886075" y="0"/>
                </a:lnTo>
                <a:lnTo>
                  <a:pt x="3143250" y="600075"/>
                </a:lnTo>
                <a:lnTo>
                  <a:pt x="2886075" y="1200150"/>
                </a:lnTo>
                <a:lnTo>
                  <a:pt x="0" y="1200150"/>
                </a:lnTo>
                <a:lnTo>
                  <a:pt x="238125" y="600075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需求预测">
            <a:extLst xmlns:a="http://schemas.openxmlformats.org/drawingml/2006/main">
              <a:ext uri="{FF2B5EF4-FFF2-40B4-BE49-F238E27FC236}">
                <a16:creationId xmlns:a16="http://schemas.microsoft.com/office/drawing/2014/main" id="{99998A78-7A5A-488C-BC7D-99ECD8E8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007" y="3328416"/>
            <a:ext cx="1640586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需求预测</a:t>
            </a:r>
          </a:p>
        </p:txBody>
      </p:sp>
      <p:sp>
        <p:nvSpPr>
          <p:cNvPr id="11" name="销售 / PMC">
            <a:extLst xmlns:a="http://schemas.openxmlformats.org/drawingml/2006/main">
              <a:ext uri="{FF2B5EF4-FFF2-40B4-BE49-F238E27FC236}">
                <a16:creationId xmlns:a16="http://schemas.microsoft.com/office/drawing/2014/main" id="{98C82CC7-4256-42FC-8C1E-E42E0135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581" y="4494276"/>
            <a:ext cx="1660088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销售 / PMC</a:t>
            </a:r>
          </a:p>
        </p:txBody>
      </p:sp>
      <p:sp>
        <p:nvSpPr>
          <p:cNvPr id="12" name="path-11">
            <a:extLst xmlns:a="http://schemas.openxmlformats.org/drawingml/2006/main">
              <a:ext uri="{FF2B5EF4-FFF2-40B4-BE49-F238E27FC236}">
                <a16:creationId xmlns:a16="http://schemas.microsoft.com/office/drawing/2014/main" id="{A6AB6C76-2F09-4F43-8CC7-6B334853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90850"/>
            <a:ext cx="3143250" cy="1200150"/>
          </a:xfrm>
          <a:custGeom xmlns:a="http://schemas.openxmlformats.org/drawingml/2006/main">
            <a:pathLst>
              <a:path w="3143250" h="1200150">
                <a:moveTo>
                  <a:pt x="0" y="0"/>
                </a:moveTo>
                <a:lnTo>
                  <a:pt x="2886075" y="0"/>
                </a:lnTo>
                <a:lnTo>
                  <a:pt x="3143250" y="600075"/>
                </a:lnTo>
                <a:lnTo>
                  <a:pt x="2886075" y="1200150"/>
                </a:lnTo>
                <a:lnTo>
                  <a:pt x="0" y="1200150"/>
                </a:lnTo>
                <a:lnTo>
                  <a:pt x="238125" y="600075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备货计划">
            <a:extLst xmlns:a="http://schemas.openxmlformats.org/drawingml/2006/main">
              <a:ext uri="{FF2B5EF4-FFF2-40B4-BE49-F238E27FC236}">
                <a16:creationId xmlns:a16="http://schemas.microsoft.com/office/drawing/2014/main" id="{3F4C20A3-C88C-46C9-A5A3-FDCBBA70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07" y="3328416"/>
            <a:ext cx="1640586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备货计划</a:t>
            </a:r>
          </a:p>
        </p:txBody>
      </p:sp>
      <p:sp>
        <p:nvSpPr>
          <p:cNvPr id="14" name="PMC">
            <a:extLst xmlns:a="http://schemas.openxmlformats.org/drawingml/2006/main">
              <a:ext uri="{FF2B5EF4-FFF2-40B4-BE49-F238E27FC236}">
                <a16:creationId xmlns:a16="http://schemas.microsoft.com/office/drawing/2014/main" id="{1EB37D7C-F6E4-4FC2-9F7F-FBF5A14E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28" y="4494276"/>
            <a:ext cx="750594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PMC</a:t>
            </a:r>
          </a:p>
        </p:txBody>
      </p:sp>
      <p:sp>
        <p:nvSpPr>
          <p:cNvPr id="15" name="path-14">
            <a:extLst xmlns:a="http://schemas.openxmlformats.org/drawingml/2006/main">
              <a:ext uri="{FF2B5EF4-FFF2-40B4-BE49-F238E27FC236}">
                <a16:creationId xmlns:a16="http://schemas.microsoft.com/office/drawing/2014/main" id="{E1ACA43D-A63C-4E19-BD14-760BBE65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90850"/>
            <a:ext cx="3143250" cy="1200150"/>
          </a:xfrm>
          <a:custGeom xmlns:a="http://schemas.openxmlformats.org/drawingml/2006/main">
            <a:pathLst>
              <a:path w="3143250" h="1200150">
                <a:moveTo>
                  <a:pt x="0" y="0"/>
                </a:moveTo>
                <a:lnTo>
                  <a:pt x="2886075" y="0"/>
                </a:lnTo>
                <a:lnTo>
                  <a:pt x="3143250" y="600075"/>
                </a:lnTo>
                <a:lnTo>
                  <a:pt x="2886075" y="1200150"/>
                </a:lnTo>
                <a:lnTo>
                  <a:pt x="0" y="1200150"/>
                </a:lnTo>
                <a:lnTo>
                  <a:pt x="238125" y="600075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采购执行">
            <a:extLst xmlns:a="http://schemas.openxmlformats.org/drawingml/2006/main">
              <a:ext uri="{FF2B5EF4-FFF2-40B4-BE49-F238E27FC236}">
                <a16:creationId xmlns:a16="http://schemas.microsoft.com/office/drawing/2014/main" id="{3843A9AD-DA00-4FE5-A883-F50C1D1E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207" y="3328416"/>
            <a:ext cx="1640586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采购执行</a:t>
            </a:r>
          </a:p>
        </p:txBody>
      </p:sp>
      <p:sp>
        <p:nvSpPr>
          <p:cNvPr id="17" name="SCM">
            <a:extLst xmlns:a="http://schemas.openxmlformats.org/drawingml/2006/main">
              <a:ext uri="{FF2B5EF4-FFF2-40B4-BE49-F238E27FC236}">
                <a16:creationId xmlns:a16="http://schemas.microsoft.com/office/drawing/2014/main" id="{027D3A5F-7306-4043-9185-51F09104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2225" y="4494276"/>
            <a:ext cx="749201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SCM</a:t>
            </a:r>
          </a:p>
        </p:txBody>
      </p:sp>
      <p:sp>
        <p:nvSpPr>
          <p:cNvPr id="18" name="path-17">
            <a:extLst xmlns:a="http://schemas.openxmlformats.org/drawingml/2006/main">
              <a:ext uri="{FF2B5EF4-FFF2-40B4-BE49-F238E27FC236}">
                <a16:creationId xmlns:a16="http://schemas.microsoft.com/office/drawing/2014/main" id="{361BD122-699B-430D-9B0E-F9DFC631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90850"/>
            <a:ext cx="3143250" cy="1200150"/>
          </a:xfrm>
          <a:custGeom xmlns:a="http://schemas.openxmlformats.org/drawingml/2006/main">
            <a:pathLst>
              <a:path w="3143250" h="1200150">
                <a:moveTo>
                  <a:pt x="0" y="0"/>
                </a:moveTo>
                <a:lnTo>
                  <a:pt x="2886075" y="0"/>
                </a:lnTo>
                <a:lnTo>
                  <a:pt x="3143250" y="600075"/>
                </a:lnTo>
                <a:lnTo>
                  <a:pt x="2886075" y="1200150"/>
                </a:lnTo>
                <a:lnTo>
                  <a:pt x="0" y="1200150"/>
                </a:lnTo>
                <a:lnTo>
                  <a:pt x="238125" y="600075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供应商协同">
            <a:extLst xmlns:a="http://schemas.openxmlformats.org/drawingml/2006/main">
              <a:ext uri="{FF2B5EF4-FFF2-40B4-BE49-F238E27FC236}">
                <a16:creationId xmlns:a16="http://schemas.microsoft.com/office/drawing/2014/main" id="{8566FD7E-6020-4510-AF5C-2AB9EF42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6640" y="3328416"/>
            <a:ext cx="2026920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供应商协同</a:t>
            </a:r>
          </a:p>
        </p:txBody>
      </p:sp>
      <p:sp>
        <p:nvSpPr>
          <p:cNvPr id="20" name="SCM / 供应商">
            <a:extLst xmlns:a="http://schemas.openxmlformats.org/drawingml/2006/main">
              <a:ext uri="{FF2B5EF4-FFF2-40B4-BE49-F238E27FC236}">
                <a16:creationId xmlns:a16="http://schemas.microsoft.com/office/drawing/2014/main" id="{06F71621-F51F-4E73-A865-176E42EF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440" y="4494276"/>
            <a:ext cx="1945969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SCM / 供应商</a:t>
            </a:r>
          </a:p>
        </p:txBody>
      </p:sp>
      <p:sp>
        <p:nvSpPr>
          <p:cNvPr id="21" name="path-20">
            <a:extLst xmlns:a="http://schemas.openxmlformats.org/drawingml/2006/main">
              <a:ext uri="{FF2B5EF4-FFF2-40B4-BE49-F238E27FC236}">
                <a16:creationId xmlns:a16="http://schemas.microsoft.com/office/drawing/2014/main" id="{3E768B09-2421-4551-85E6-8A7C0B64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990850"/>
            <a:ext cx="3143250" cy="1200150"/>
          </a:xfrm>
          <a:custGeom xmlns:a="http://schemas.openxmlformats.org/drawingml/2006/main">
            <a:pathLst>
              <a:path w="3143250" h="1200150">
                <a:moveTo>
                  <a:pt x="0" y="0"/>
                </a:moveTo>
                <a:lnTo>
                  <a:pt x="2886075" y="0"/>
                </a:lnTo>
                <a:lnTo>
                  <a:pt x="3143250" y="600075"/>
                </a:lnTo>
                <a:lnTo>
                  <a:pt x="2886075" y="1200150"/>
                </a:lnTo>
                <a:lnTo>
                  <a:pt x="0" y="1200150"/>
                </a:lnTo>
                <a:lnTo>
                  <a:pt x="238125" y="600075"/>
                </a:lnTo>
                <a:close/>
              </a:path>
            </a:pathLst>
          </a:custGeom>
          <a:solidFill xmlns:a="http://schemas.openxmlformats.org/drawingml/2006/main">
            <a:srgbClr val="549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生产">
            <a:extLst xmlns:a="http://schemas.openxmlformats.org/drawingml/2006/main">
              <a:ext uri="{FF2B5EF4-FFF2-40B4-BE49-F238E27FC236}">
                <a16:creationId xmlns:a16="http://schemas.microsoft.com/office/drawing/2014/main" id="{627D559A-EF26-4D17-A540-80B98DFB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2741" y="3328416"/>
            <a:ext cx="867918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</a:t>
            </a:r>
          </a:p>
        </p:txBody>
      </p:sp>
      <p:sp>
        <p:nvSpPr>
          <p:cNvPr id="23" name="已有MES / 工厂">
            <a:extLst xmlns:a="http://schemas.openxmlformats.org/drawingml/2006/main">
              <a:ext uri="{FF2B5EF4-FFF2-40B4-BE49-F238E27FC236}">
                <a16:creationId xmlns:a16="http://schemas.microsoft.com/office/drawing/2014/main" id="{FB3ADB98-5CAF-472A-8CC4-17DB8658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6328" y="4494276"/>
            <a:ext cx="2207395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已有MES / 工厂</a:t>
            </a:r>
          </a:p>
        </p:txBody>
      </p:sp>
      <p:sp>
        <p:nvSpPr>
          <p:cNvPr id="24" name="path-23">
            <a:extLst xmlns:a="http://schemas.openxmlformats.org/drawingml/2006/main">
              <a:ext uri="{FF2B5EF4-FFF2-40B4-BE49-F238E27FC236}">
                <a16:creationId xmlns:a16="http://schemas.microsoft.com/office/drawing/2014/main" id="{1AC5E924-9777-4B6B-82D9-D5069C0F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2990850"/>
            <a:ext cx="3143250" cy="1200150"/>
          </a:xfrm>
          <a:custGeom xmlns:a="http://schemas.openxmlformats.org/drawingml/2006/main">
            <a:pathLst>
              <a:path w="3143250" h="1200150">
                <a:moveTo>
                  <a:pt x="0" y="0"/>
                </a:moveTo>
                <a:lnTo>
                  <a:pt x="2886075" y="0"/>
                </a:lnTo>
                <a:lnTo>
                  <a:pt x="3143250" y="600075"/>
                </a:lnTo>
                <a:lnTo>
                  <a:pt x="2886075" y="1200150"/>
                </a:lnTo>
                <a:lnTo>
                  <a:pt x="0" y="1200150"/>
                </a:lnTo>
                <a:lnTo>
                  <a:pt x="238125" y="600075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交付">
            <a:extLst xmlns:a="http://schemas.openxmlformats.org/drawingml/2006/main">
              <a:ext uri="{FF2B5EF4-FFF2-40B4-BE49-F238E27FC236}">
                <a16:creationId xmlns:a16="http://schemas.microsoft.com/office/drawing/2014/main" id="{294C3B5A-44D8-4AD5-AF9D-F114EE0A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9341" y="3328416"/>
            <a:ext cx="867918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26" name="QC / 供应商">
            <a:extLst xmlns:a="http://schemas.openxmlformats.org/drawingml/2006/main">
              <a:ext uri="{FF2B5EF4-FFF2-40B4-BE49-F238E27FC236}">
                <a16:creationId xmlns:a16="http://schemas.microsoft.com/office/drawing/2014/main" id="{F51CA058-FF60-47BA-843D-6A7AAF89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4541" y="4494276"/>
            <a:ext cx="1724168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QC / 供应商</a:t>
            </a:r>
          </a:p>
        </p:txBody>
      </p:sp>
      <p:sp>
        <p:nvSpPr>
          <p:cNvPr id="27" name="path-26">
            <a:extLst xmlns:a="http://schemas.openxmlformats.org/drawingml/2006/main">
              <a:ext uri="{FF2B5EF4-FFF2-40B4-BE49-F238E27FC236}">
                <a16:creationId xmlns:a16="http://schemas.microsoft.com/office/drawing/2014/main" id="{6A07D8EB-8BA4-4B5A-97AC-04A2B495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1600" y="2990850"/>
            <a:ext cx="3143250" cy="1200150"/>
          </a:xfrm>
          <a:custGeom xmlns:a="http://schemas.openxmlformats.org/drawingml/2006/main">
            <a:pathLst>
              <a:path w="3143250" h="1200150">
                <a:moveTo>
                  <a:pt x="0" y="0"/>
                </a:moveTo>
                <a:lnTo>
                  <a:pt x="2886075" y="0"/>
                </a:lnTo>
                <a:lnTo>
                  <a:pt x="3143250" y="600075"/>
                </a:lnTo>
                <a:lnTo>
                  <a:pt x="2886075" y="1200150"/>
                </a:lnTo>
                <a:lnTo>
                  <a:pt x="0" y="1200150"/>
                </a:lnTo>
                <a:lnTo>
                  <a:pt x="238125" y="600075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库存">
            <a:extLst xmlns:a="http://schemas.openxmlformats.org/drawingml/2006/main">
              <a:ext uri="{FF2B5EF4-FFF2-40B4-BE49-F238E27FC236}">
                <a16:creationId xmlns:a16="http://schemas.microsoft.com/office/drawing/2014/main" id="{6F591D23-1874-4273-836B-AF69592C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5941" y="3328416"/>
            <a:ext cx="867918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库存</a:t>
            </a:r>
          </a:p>
        </p:txBody>
      </p:sp>
      <p:sp>
        <p:nvSpPr>
          <p:cNvPr id="29" name="仓储 / 领星">
            <a:extLst xmlns:a="http://schemas.openxmlformats.org/drawingml/2006/main">
              <a:ext uri="{FF2B5EF4-FFF2-40B4-BE49-F238E27FC236}">
                <a16:creationId xmlns:a16="http://schemas.microsoft.com/office/drawing/2014/main" id="{0B1F45BC-0494-498B-B9B4-50184567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3501" y="4494276"/>
            <a:ext cx="1579447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仓储 / 领星</a:t>
            </a:r>
          </a:p>
        </p:txBody>
      </p:sp>
      <p:sp>
        <p:nvSpPr>
          <p:cNvPr id="30" name="path-29">
            <a:extLst xmlns:a="http://schemas.openxmlformats.org/drawingml/2006/main">
              <a:ext uri="{FF2B5EF4-FFF2-40B4-BE49-F238E27FC236}">
                <a16:creationId xmlns:a16="http://schemas.microsoft.com/office/drawing/2014/main" id="{ABEEFA08-F44C-49A9-A060-2C4B5103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12858750" cy="476"/>
          </a:xfrm>
          <a:custGeom xmlns:a="http://schemas.openxmlformats.org/drawingml/2006/main">
            <a:pathLst>
              <a:path w="12858750" h="476">
                <a:moveTo>
                  <a:pt x="0" y="0"/>
                </a:moveTo>
                <a:lnTo>
                  <a:pt x="1285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8DD5"/>
            </a:solidFill>
            <a:prstDash val="solid"/>
          </a:ln>
        </p:spPr>
      </p:sp>
      <p:sp>
        <p:nvSpPr>
          <p:cNvPr id="31" name="P0：计划 → 采购 → 供应商执行状态">
            <a:extLst xmlns:a="http://schemas.openxmlformats.org/drawingml/2006/main">
              <a:ext uri="{FF2B5EF4-FFF2-40B4-BE49-F238E27FC236}">
                <a16:creationId xmlns:a16="http://schemas.microsoft.com/office/drawing/2014/main" id="{967FCDB1-AE8A-438F-A098-608649F0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2457"/>
            <a:ext cx="4695968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P0：计划 → 采购 → 供应商执行状态</a:t>
            </a:r>
          </a:p>
        </p:txBody>
      </p:sp>
      <p:sp>
        <p:nvSpPr>
          <p:cNvPr id="32" name="path-31">
            <a:extLst xmlns:a="http://schemas.openxmlformats.org/drawingml/2006/main">
              <a:ext uri="{FF2B5EF4-FFF2-40B4-BE49-F238E27FC236}">
                <a16:creationId xmlns:a16="http://schemas.microsoft.com/office/drawing/2014/main" id="{B639477B-43DD-4C9E-958E-437D46FF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581275"/>
            <a:ext cx="9620250" cy="476"/>
          </a:xfrm>
          <a:custGeom xmlns:a="http://schemas.openxmlformats.org/drawingml/2006/main">
            <a:pathLst>
              <a:path w="9620250" h="476">
                <a:moveTo>
                  <a:pt x="0" y="0"/>
                </a:moveTo>
                <a:lnTo>
                  <a:pt x="962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54963C"/>
            </a:solidFill>
            <a:prstDash val="solid"/>
          </a:ln>
        </p:spPr>
      </p:sp>
      <p:sp>
        <p:nvSpPr>
          <p:cNvPr id="33" name="已有能力协同接入，按阶段落地">
            <a:extLst xmlns:a="http://schemas.openxmlformats.org/drawingml/2006/main">
              <a:ext uri="{FF2B5EF4-FFF2-40B4-BE49-F238E27FC236}">
                <a16:creationId xmlns:a16="http://schemas.microsoft.com/office/drawing/2014/main" id="{17A6F593-F1E0-4CFC-A5B7-399A4627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132457"/>
            <a:ext cx="3978402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已有能力协同接入，按阶段落地</a:t>
            </a:r>
          </a:p>
        </p:txBody>
      </p:sp>
      <p:sp>
        <p:nvSpPr>
          <p:cNvPr id="34" name="rect-33">
            <a:extLst xmlns:a="http://schemas.openxmlformats.org/drawingml/2006/main">
              <a:ext uri="{FF2B5EF4-FFF2-40B4-BE49-F238E27FC236}">
                <a16:creationId xmlns:a16="http://schemas.microsoft.com/office/drawing/2014/main" id="{EB67F74A-5CFB-44F0-A800-8BE59C68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81725"/>
            <a:ext cx="4286250" cy="135255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35" name="rect-34">
            <a:extLst xmlns:a="http://schemas.openxmlformats.org/drawingml/2006/main">
              <a:ext uri="{FF2B5EF4-FFF2-40B4-BE49-F238E27FC236}">
                <a16:creationId xmlns:a16="http://schemas.microsoft.com/office/drawing/2014/main" id="{030AB16C-E6B8-4DFF-A13F-D2FE9ABF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81725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6" name="下一轮滚动计划">
            <a:extLst xmlns:a="http://schemas.openxmlformats.org/drawingml/2006/main">
              <a:ext uri="{FF2B5EF4-FFF2-40B4-BE49-F238E27FC236}">
                <a16:creationId xmlns:a16="http://schemas.microsoft.com/office/drawing/2014/main" id="{9BFB7E4E-FD76-4D09-8FAD-6F1F9F0F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486" y="6283071"/>
            <a:ext cx="2452878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下一轮滚动计划</a:t>
            </a:r>
          </a:p>
        </p:txBody>
      </p:sp>
      <p:sp>
        <p:nvSpPr>
          <p:cNvPr id="37" name="用实际执行结果校准需求与供给">
            <a:extLst xmlns:a="http://schemas.openxmlformats.org/drawingml/2006/main">
              <a:ext uri="{FF2B5EF4-FFF2-40B4-BE49-F238E27FC236}">
                <a16:creationId xmlns:a16="http://schemas.microsoft.com/office/drawing/2014/main" id="{CCCBDD89-50BB-4399-8F99-9BBDBD59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066" y="6828663"/>
            <a:ext cx="383971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用实际执行结果校准需求与供给</a:t>
            </a:r>
          </a:p>
        </p:txBody>
      </p:sp>
      <p:sp>
        <p:nvSpPr>
          <p:cNvPr id="38" name="path-37">
            <a:extLst xmlns:a="http://schemas.openxmlformats.org/drawingml/2006/main">
              <a:ext uri="{FF2B5EF4-FFF2-40B4-BE49-F238E27FC236}">
                <a16:creationId xmlns:a16="http://schemas.microsoft.com/office/drawing/2014/main" id="{4261B838-F9CA-4561-8DDF-FC2AD94E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91000"/>
            <a:ext cx="17887950" cy="2667000"/>
          </a:xfrm>
          <a:custGeom xmlns:a="http://schemas.openxmlformats.org/drawingml/2006/main">
            <a:pathLst>
              <a:path w="17887950" h="2667000">
                <a:moveTo>
                  <a:pt x="17887950" y="0"/>
                </a:moveTo>
                <a:lnTo>
                  <a:pt x="17887950" y="2667000"/>
                </a:lnTo>
                <a:lnTo>
                  <a:pt x="0" y="266700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78E99"/>
            </a:solidFill>
            <a:prstDash val="solid"/>
          </a:ln>
        </p:spPr>
      </p:sp>
      <p:sp>
        <p:nvSpPr>
          <p:cNvPr id="39" name="arrowhead-37">
            <a:extLst xmlns:a="http://schemas.openxmlformats.org/drawingml/2006/main">
              <a:ext uri="{FF2B5EF4-FFF2-40B4-BE49-F238E27FC236}">
                <a16:creationId xmlns:a16="http://schemas.microsoft.com/office/drawing/2014/main" id="{ED2FB579-DED2-4E06-9886-567198A8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667500"/>
            <a:ext cx="381000" cy="381000"/>
          </a:xfrm>
          <a:custGeom xmlns:a="http://schemas.openxmlformats.org/drawingml/2006/main">
            <a:pathLst>
              <a:path w="381000" h="381000">
                <a:moveTo>
                  <a:pt x="0" y="190500"/>
                </a:moveTo>
                <a:lnTo>
                  <a:pt x="381000" y="0"/>
                </a:lnTo>
                <a:lnTo>
                  <a:pt x="381000" y="38100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40" name="rect-38">
            <a:extLst xmlns:a="http://schemas.openxmlformats.org/drawingml/2006/main">
              <a:ext uri="{FF2B5EF4-FFF2-40B4-BE49-F238E27FC236}">
                <a16:creationId xmlns:a16="http://schemas.microsoft.com/office/drawing/2014/main" id="{FDAEB1FB-4449-4012-B8D8-7699D79B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370" y="6505575"/>
            <a:ext cx="68427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1" name="实际销量 / 库存 / 在途 / 交期 / 生产 / 质量">
            <a:extLst xmlns:a="http://schemas.openxmlformats.org/drawingml/2006/main">
              <a:ext uri="{FF2B5EF4-FFF2-40B4-BE49-F238E27FC236}">
                <a16:creationId xmlns:a16="http://schemas.microsoft.com/office/drawing/2014/main" id="{DFFECBBD-0906-42DC-B35F-F9927993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346" y="6484239"/>
            <a:ext cx="6184809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实际销量 / 库存 / 在途 / 交期 / 生产 / 质量</a:t>
            </a:r>
          </a:p>
        </p:txBody>
      </p:sp>
      <p:sp>
        <p:nvSpPr>
          <p:cNvPr id="42" name="path-40">
            <a:extLst xmlns:a="http://schemas.openxmlformats.org/drawingml/2006/main">
              <a:ext uri="{FF2B5EF4-FFF2-40B4-BE49-F238E27FC236}">
                <a16:creationId xmlns:a16="http://schemas.microsoft.com/office/drawing/2014/main" id="{13115172-F151-4284-9F45-D7954B0C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457200" cy="3267075"/>
          </a:xfrm>
          <a:custGeom xmlns:a="http://schemas.openxmlformats.org/drawingml/2006/main">
            <a:pathLst>
              <a:path w="457200" h="3267075">
                <a:moveTo>
                  <a:pt x="457200" y="3267075"/>
                </a:moveTo>
                <a:lnTo>
                  <a:pt x="0" y="3267075"/>
                </a:lnTo>
                <a:lnTo>
                  <a:pt x="0" y="0"/>
                </a:ln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8DD5"/>
            </a:solidFill>
            <a:prstDash val="solid"/>
          </a:ln>
        </p:spPr>
      </p:sp>
      <p:sp>
        <p:nvSpPr>
          <p:cNvPr id="43" name="arrowhead-40">
            <a:extLst xmlns:a="http://schemas.openxmlformats.org/drawingml/2006/main">
              <a:ext uri="{FF2B5EF4-FFF2-40B4-BE49-F238E27FC236}">
                <a16:creationId xmlns:a16="http://schemas.microsoft.com/office/drawing/2014/main" id="{7DCB4870-4031-4544-A6C0-70E87418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304800" cy="304800"/>
          </a:xfrm>
          <a:custGeom xmlns:a="http://schemas.openxmlformats.org/drawingml/2006/main">
            <a:pathLst>
              <a:path w="304800" h="304800">
                <a:moveTo>
                  <a:pt x="304800" y="152400"/>
                </a:move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44" name="四个建设域，共同承接一条业务链">
            <a:extLst xmlns:a="http://schemas.openxmlformats.org/drawingml/2006/main">
              <a:ext uri="{FF2B5EF4-FFF2-40B4-BE49-F238E27FC236}">
                <a16:creationId xmlns:a16="http://schemas.microsoft.com/office/drawing/2014/main" id="{65506B56-6C24-47F3-BA93-7A1C025C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2346"/>
            <a:ext cx="5147310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四个建设域，共同承接一条业务链</a:t>
            </a:r>
          </a:p>
        </p:txBody>
      </p:sp>
      <p:sp>
        <p:nvSpPr>
          <p:cNvPr id="45" name="path-42">
            <a:extLst xmlns:a="http://schemas.openxmlformats.org/drawingml/2006/main">
              <a:ext uri="{FF2B5EF4-FFF2-40B4-BE49-F238E27FC236}">
                <a16:creationId xmlns:a16="http://schemas.microsoft.com/office/drawing/2014/main" id="{13AAFBF8-1AE7-4543-AA84-7B2DDD87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34425"/>
            <a:ext cx="5514975" cy="476"/>
          </a:xfrm>
          <a:custGeom xmlns:a="http://schemas.openxmlformats.org/drawingml/2006/main">
            <a:pathLst>
              <a:path w="5514975" h="476">
                <a:moveTo>
                  <a:pt x="0" y="0"/>
                </a:moveTo>
                <a:lnTo>
                  <a:pt x="5514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8DD5"/>
            </a:solidFill>
            <a:prstDash val="solid"/>
          </a:ln>
        </p:spPr>
      </p:sp>
      <p:sp>
        <p:nvSpPr>
          <p:cNvPr id="46" name="PMC计划">
            <a:extLst xmlns:a="http://schemas.openxmlformats.org/drawingml/2006/main">
              <a:ext uri="{FF2B5EF4-FFF2-40B4-BE49-F238E27FC236}">
                <a16:creationId xmlns:a16="http://schemas.microsoft.com/office/drawing/2014/main" id="{FD32C4AC-45AC-4EDE-8024-31F70B09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79027"/>
            <a:ext cx="1497723" cy="45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PMC计划</a:t>
            </a:r>
          </a:p>
        </p:txBody>
      </p:sp>
      <p:sp>
        <p:nvSpPr>
          <p:cNvPr id="47" name="P0 · 需求与备货决策">
            <a:extLst xmlns:a="http://schemas.openxmlformats.org/drawingml/2006/main">
              <a:ext uri="{FF2B5EF4-FFF2-40B4-BE49-F238E27FC236}">
                <a16:creationId xmlns:a16="http://schemas.microsoft.com/office/drawing/2014/main" id="{6CECE5C4-E886-4D20-BBEE-2DCB3500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33382"/>
            <a:ext cx="2704862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P0 · 需求与备货决策</a:t>
            </a:r>
          </a:p>
        </p:txBody>
      </p:sp>
      <p:sp>
        <p:nvSpPr>
          <p:cNvPr id="48" name="path-45">
            <a:extLst xmlns:a="http://schemas.openxmlformats.org/drawingml/2006/main">
              <a:ext uri="{FF2B5EF4-FFF2-40B4-BE49-F238E27FC236}">
                <a16:creationId xmlns:a16="http://schemas.microsoft.com/office/drawing/2014/main" id="{73E9BAC2-6EC1-4789-A8C6-36B8733E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734425"/>
            <a:ext cx="5514975" cy="476"/>
          </a:xfrm>
          <a:custGeom xmlns:a="http://schemas.openxmlformats.org/drawingml/2006/main">
            <a:pathLst>
              <a:path w="5514975" h="476">
                <a:moveTo>
                  <a:pt x="0" y="0"/>
                </a:moveTo>
                <a:lnTo>
                  <a:pt x="5514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7B60A8"/>
            </a:solidFill>
            <a:prstDash val="solid"/>
          </a:ln>
        </p:spPr>
      </p:sp>
      <p:sp>
        <p:nvSpPr>
          <p:cNvPr id="49" name="MRP面辅料计划">
            <a:extLst xmlns:a="http://schemas.openxmlformats.org/drawingml/2006/main">
              <a:ext uri="{FF2B5EF4-FFF2-40B4-BE49-F238E27FC236}">
                <a16:creationId xmlns:a16="http://schemas.microsoft.com/office/drawing/2014/main" id="{E77342C2-BB9F-4FD2-9672-C3005249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79027"/>
            <a:ext cx="2466963" cy="45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MRP面辅料计划</a:t>
            </a:r>
          </a:p>
        </p:txBody>
      </p:sp>
      <p:sp>
        <p:nvSpPr>
          <p:cNvPr id="50" name="P1 · 与成衣采购并行">
            <a:extLst xmlns:a="http://schemas.openxmlformats.org/drawingml/2006/main">
              <a:ext uri="{FF2B5EF4-FFF2-40B4-BE49-F238E27FC236}">
                <a16:creationId xmlns:a16="http://schemas.microsoft.com/office/drawing/2014/main" id="{92C83613-1C4F-4C82-B344-A87629F4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533382"/>
            <a:ext cx="264960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P1 · 与成衣采购并行</a:t>
            </a:r>
          </a:p>
        </p:txBody>
      </p:sp>
      <p:sp>
        <p:nvSpPr>
          <p:cNvPr id="51" name="path-48">
            <a:extLst xmlns:a="http://schemas.openxmlformats.org/drawingml/2006/main">
              <a:ext uri="{FF2B5EF4-FFF2-40B4-BE49-F238E27FC236}">
                <a16:creationId xmlns:a16="http://schemas.microsoft.com/office/drawing/2014/main" id="{E674DA19-E607-4E09-BDB0-9A7B9EE7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8734425"/>
            <a:ext cx="5514975" cy="476"/>
          </a:xfrm>
          <a:custGeom xmlns:a="http://schemas.openxmlformats.org/drawingml/2006/main">
            <a:pathLst>
              <a:path w="5514975" h="476">
                <a:moveTo>
                  <a:pt x="0" y="0"/>
                </a:moveTo>
                <a:lnTo>
                  <a:pt x="5514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DC8226"/>
            </a:solidFill>
            <a:prstDash val="solid"/>
          </a:ln>
        </p:spPr>
      </p:sp>
      <p:sp>
        <p:nvSpPr>
          <p:cNvPr id="52" name="SCM采购">
            <a:extLst xmlns:a="http://schemas.openxmlformats.org/drawingml/2006/main">
              <a:ext uri="{FF2B5EF4-FFF2-40B4-BE49-F238E27FC236}">
                <a16:creationId xmlns:a16="http://schemas.microsoft.com/office/drawing/2014/main" id="{FF86FC55-A9A7-4156-8494-DB723BD3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8979027"/>
            <a:ext cx="1496485" cy="45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SCM采购</a:t>
            </a:r>
          </a:p>
        </p:txBody>
      </p:sp>
      <p:sp>
        <p:nvSpPr>
          <p:cNvPr id="53" name="P0 · PR / PO与供应商协同">
            <a:extLst xmlns:a="http://schemas.openxmlformats.org/drawingml/2006/main">
              <a:ext uri="{FF2B5EF4-FFF2-40B4-BE49-F238E27FC236}">
                <a16:creationId xmlns:a16="http://schemas.microsoft.com/office/drawing/2014/main" id="{762031F1-4F7B-4BB3-BD2C-32E5C101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9533382"/>
            <a:ext cx="3507248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P0 · PR / PO与供应商协同</a:t>
            </a:r>
          </a:p>
        </p:txBody>
      </p:sp>
      <p:sp>
        <p:nvSpPr>
          <p:cNvPr id="54" name="path-51">
            <a:extLst xmlns:a="http://schemas.openxmlformats.org/drawingml/2006/main">
              <a:ext uri="{FF2B5EF4-FFF2-40B4-BE49-F238E27FC236}">
                <a16:creationId xmlns:a16="http://schemas.microsoft.com/office/drawing/2014/main" id="{70239B46-3605-4C5B-B9BB-3A585E5E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0" y="8734425"/>
            <a:ext cx="5514975" cy="476"/>
          </a:xfrm>
          <a:custGeom xmlns:a="http://schemas.openxmlformats.org/drawingml/2006/main">
            <a:pathLst>
              <a:path w="5514975" h="476">
                <a:moveTo>
                  <a:pt x="0" y="0"/>
                </a:moveTo>
                <a:lnTo>
                  <a:pt x="5514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4963C"/>
            </a:solidFill>
            <a:prstDash val="solid"/>
          </a:ln>
        </p:spPr>
      </p:sp>
      <p:sp>
        <p:nvSpPr>
          <p:cNvPr id="55" name="执行与生产协同">
            <a:extLst xmlns:a="http://schemas.openxmlformats.org/drawingml/2006/main">
              <a:ext uri="{FF2B5EF4-FFF2-40B4-BE49-F238E27FC236}">
                <a16:creationId xmlns:a16="http://schemas.microsoft.com/office/drawing/2014/main" id="{0EFC26B3-DE44-4A06-9A9D-379E9520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0" y="8979027"/>
            <a:ext cx="2383536" cy="45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执行与生产协同</a:t>
            </a:r>
          </a:p>
        </p:txBody>
      </p:sp>
      <p:sp>
        <p:nvSpPr>
          <p:cNvPr id="56" name="P0状态 · P1已有MES协同">
            <a:extLst xmlns:a="http://schemas.openxmlformats.org/drawingml/2006/main">
              <a:ext uri="{FF2B5EF4-FFF2-40B4-BE49-F238E27FC236}">
                <a16:creationId xmlns:a16="http://schemas.microsoft.com/office/drawing/2014/main" id="{45BF9591-CC29-4914-8933-DB08403F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0" y="9533382"/>
            <a:ext cx="3313307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P0状态 · P1已有MES协同</a:t>
            </a:r>
          </a:p>
        </p:txBody>
      </p:sp>
      <p:sp>
        <p:nvSpPr>
          <p:cNvPr id="57" name="rect-54">
            <a:extLst xmlns:a="http://schemas.openxmlformats.org/drawingml/2006/main">
              <a:ext uri="{FF2B5EF4-FFF2-40B4-BE49-F238E27FC236}">
                <a16:creationId xmlns:a16="http://schemas.microsoft.com/office/drawing/2014/main" id="{59E369C2-161D-48A9-8101-0781C852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0"/>
            <a:ext cx="231648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8" name="数据基础层">
            <a:extLst xmlns:a="http://schemas.openxmlformats.org/drawingml/2006/main">
              <a:ext uri="{FF2B5EF4-FFF2-40B4-BE49-F238E27FC236}">
                <a16:creationId xmlns:a16="http://schemas.microsoft.com/office/drawing/2014/main" id="{79117422-F257-4ECC-85FC-868632A1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790301"/>
            <a:ext cx="153162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数据基础层</a:t>
            </a:r>
          </a:p>
        </p:txBody>
      </p:sp>
      <p:sp>
        <p:nvSpPr>
          <p:cNvPr id="59" name="商品主数据">
            <a:extLst xmlns:a="http://schemas.openxmlformats.org/drawingml/2006/main">
              <a:ext uri="{FF2B5EF4-FFF2-40B4-BE49-F238E27FC236}">
                <a16:creationId xmlns:a16="http://schemas.microsoft.com/office/drawing/2014/main" id="{77CB3095-4B8E-4818-A253-7B8C2143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0914507"/>
            <a:ext cx="148209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商品主数据</a:t>
            </a:r>
          </a:p>
        </p:txBody>
      </p:sp>
      <p:sp>
        <p:nvSpPr>
          <p:cNvPr id="60" name="商品身份 / SKU版本">
            <a:extLst xmlns:a="http://schemas.openxmlformats.org/drawingml/2006/main">
              <a:ext uri="{FF2B5EF4-FFF2-40B4-BE49-F238E27FC236}">
                <a16:creationId xmlns:a16="http://schemas.microsoft.com/office/drawing/2014/main" id="{5A09E570-0A36-4B9F-BD00-79B33632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1381994"/>
            <a:ext cx="246541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商品身份 / SKU版本</a:t>
            </a:r>
          </a:p>
        </p:txBody>
      </p:sp>
      <p:sp>
        <p:nvSpPr>
          <p:cNvPr id="61" name="PLM / BOM">
            <a:extLst xmlns:a="http://schemas.openxmlformats.org/drawingml/2006/main">
              <a:ext uri="{FF2B5EF4-FFF2-40B4-BE49-F238E27FC236}">
                <a16:creationId xmlns:a16="http://schemas.microsoft.com/office/drawing/2014/main" id="{C55C0E1D-02F7-4941-9503-5F0936C3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0914507"/>
            <a:ext cx="1671852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PLM / BOM</a:t>
            </a:r>
          </a:p>
        </p:txBody>
      </p:sp>
      <p:sp>
        <p:nvSpPr>
          <p:cNvPr id="62" name="技术与物料资料">
            <a:extLst xmlns:a="http://schemas.openxmlformats.org/drawingml/2006/main">
              <a:ext uri="{FF2B5EF4-FFF2-40B4-BE49-F238E27FC236}">
                <a16:creationId xmlns:a16="http://schemas.microsoft.com/office/drawing/2014/main" id="{502D51C2-5928-44A2-9663-45AB9E12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1381994"/>
            <a:ext cx="1898142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技术与物料资料</a:t>
            </a:r>
          </a:p>
        </p:txBody>
      </p:sp>
      <p:sp>
        <p:nvSpPr>
          <p:cNvPr id="63" name="领星 / 库存 / 数仓">
            <a:extLst xmlns:a="http://schemas.openxmlformats.org/drawingml/2006/main">
              <a:ext uri="{FF2B5EF4-FFF2-40B4-BE49-F238E27FC236}">
                <a16:creationId xmlns:a16="http://schemas.microsoft.com/office/drawing/2014/main" id="{1108EB66-DD14-40C6-9D06-1088B289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10914507"/>
            <a:ext cx="2406289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领星 / 库存 / 数仓</a:t>
            </a:r>
          </a:p>
        </p:txBody>
      </p:sp>
      <p:sp>
        <p:nvSpPr>
          <p:cNvPr id="64" name="销量 / 库存 / 在途">
            <a:extLst xmlns:a="http://schemas.openxmlformats.org/drawingml/2006/main">
              <a:ext uri="{FF2B5EF4-FFF2-40B4-BE49-F238E27FC236}">
                <a16:creationId xmlns:a16="http://schemas.microsoft.com/office/drawing/2014/main" id="{8B4499A4-3E0C-4500-B9D9-0A5FC8E7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11381994"/>
            <a:ext cx="2241292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销量 / 库存 / 在途</a:t>
            </a:r>
          </a:p>
        </p:txBody>
      </p:sp>
      <p:sp>
        <p:nvSpPr>
          <p:cNvPr id="65" name="供应商数据">
            <a:extLst xmlns:a="http://schemas.openxmlformats.org/drawingml/2006/main">
              <a:ext uri="{FF2B5EF4-FFF2-40B4-BE49-F238E27FC236}">
                <a16:creationId xmlns:a16="http://schemas.microsoft.com/office/drawing/2014/main" id="{DD5FC4A2-96D4-460C-B4B8-AD983434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4225" y="10914507"/>
            <a:ext cx="148209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供应商数据</a:t>
            </a:r>
          </a:p>
        </p:txBody>
      </p:sp>
      <p:sp>
        <p:nvSpPr>
          <p:cNvPr id="66" name="产能 / 交期 / 成本">
            <a:extLst xmlns:a="http://schemas.openxmlformats.org/drawingml/2006/main">
              <a:ext uri="{FF2B5EF4-FFF2-40B4-BE49-F238E27FC236}">
                <a16:creationId xmlns:a16="http://schemas.microsoft.com/office/drawing/2014/main" id="{4D5E987C-262A-4809-8ED7-917B36C7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4225" y="11381994"/>
            <a:ext cx="2241292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产能 / 交期 / 成本</a:t>
            </a:r>
          </a:p>
        </p:txBody>
      </p:sp>
      <p:sp>
        <p:nvSpPr>
          <p:cNvPr id="67" name="为PMC / MRP / SCM提供依据；数据正确性与清洗由来源系统及数据责任方承担。">
            <a:extLst xmlns:a="http://schemas.openxmlformats.org/drawingml/2006/main">
              <a:ext uri="{FF2B5EF4-FFF2-40B4-BE49-F238E27FC236}">
                <a16:creationId xmlns:a16="http://schemas.microsoft.com/office/drawing/2014/main" id="{5D6B3799-5EC4-4A3F-A2EC-9F243B8B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1811000"/>
            <a:ext cx="9264801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为PMC / MRP / SCM提供依据；数据正确性与清洗由来源系统及数据责任方承担。</a:t>
            </a:r>
          </a:p>
        </p:txBody>
      </p:sp>
      <p:sp>
        <p:nvSpPr>
          <p:cNvPr id="68" name="范围：不重建完整WMS、OMS、PMS；QC与入库能力按关键节点协同接入。">
            <a:extLst xmlns:a="http://schemas.openxmlformats.org/drawingml/2006/main">
              <a:ext uri="{FF2B5EF4-FFF2-40B4-BE49-F238E27FC236}">
                <a16:creationId xmlns:a16="http://schemas.microsoft.com/office/drawing/2014/main" id="{DBECE905-66A4-4DBC-93CE-646FB246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24994"/>
            <a:ext cx="8949047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范围：不重建完整WMS、OMS、PMS；QC与入库能力按关键节点协同接入。</a:t>
            </a:r>
          </a:p>
        </p:txBody>
      </p:sp>
      <p:sp>
        <p:nvSpPr>
          <p:cNvPr id="69" name="path-66">
            <a:extLst xmlns:a="http://schemas.openxmlformats.org/drawingml/2006/main">
              <a:ext uri="{FF2B5EF4-FFF2-40B4-BE49-F238E27FC236}">
                <a16:creationId xmlns:a16="http://schemas.microsoft.com/office/drawing/2014/main" id="{8081366E-3A71-40EA-B8E8-06DBE643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5E1E9"/>
            </a:solidFill>
            <a:prstDash val="solid"/>
          </a:ln>
        </p:spPr>
      </p:sp>
      <p:sp>
        <p:nvSpPr>
          <p:cNvPr id="70" name="Q4供应链产品建设方案 · 汇报分层版 · 目标业务蓝图，按P0 / P1推进">
            <a:extLst xmlns:a="http://schemas.openxmlformats.org/drawingml/2006/main">
              <a:ext uri="{FF2B5EF4-FFF2-40B4-BE49-F238E27FC236}">
                <a16:creationId xmlns:a16="http://schemas.microsoft.com/office/drawing/2014/main" id="{6ABBAC14-C8BD-491B-9DE4-4B95ED19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07568"/>
            <a:ext cx="688395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Q4供应链产品建设方案 · 汇报分层版 · 目标业务蓝图，按P0 / P1推进</a:t>
            </a:r>
          </a:p>
        </p:txBody>
      </p:sp>
      <p:sp>
        <p:nvSpPr>
          <p:cNvPr id="71" name="01 / 10">
            <a:extLst xmlns:a="http://schemas.openxmlformats.org/drawingml/2006/main">
              <a:ext uri="{FF2B5EF4-FFF2-40B4-BE49-F238E27FC236}">
                <a16:creationId xmlns:a16="http://schemas.microsoft.com/office/drawing/2014/main" id="{B0ACA64A-C827-45C0-A961-1FAA15D8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5575" y="13307568"/>
            <a:ext cx="788825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7424367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白色画布">
            <a:extLst xmlns:a="http://schemas.openxmlformats.org/drawingml/2006/main">
              <a:ext uri="{FF2B5EF4-FFF2-40B4-BE49-F238E27FC236}">
                <a16:creationId xmlns:a16="http://schemas.microsoft.com/office/drawing/2014/main" id="{95EE4635-6055-4B07-BBEF-E1439DF1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-1">
            <a:extLst xmlns:a="http://schemas.openxmlformats.org/drawingml/2006/main">
              <a:ext uri="{FF2B5EF4-FFF2-40B4-BE49-F238E27FC236}">
                <a16:creationId xmlns:a16="http://schemas.microsoft.com/office/drawing/2014/main" id="{5FF40867-1457-49B7-AE15-E8B78F4B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" name="rect-2">
            <a:extLst xmlns:a="http://schemas.openxmlformats.org/drawingml/2006/main">
              <a:ext uri="{FF2B5EF4-FFF2-40B4-BE49-F238E27FC236}">
                <a16:creationId xmlns:a16="http://schemas.microsoft.com/office/drawing/2014/main" id="{E6855F2B-5AC0-4B38-87F3-6E7486EE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" name="系统与职责边界">
            <a:extLst xmlns:a="http://schemas.openxmlformats.org/drawingml/2006/main">
              <a:ext uri="{FF2B5EF4-FFF2-40B4-BE49-F238E27FC236}">
                <a16:creationId xmlns:a16="http://schemas.microsoft.com/office/drawing/2014/main" id="{432F0145-68D4-4052-B384-34B573BA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781"/>
            <a:ext cx="3493008" cy="676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系统与职责边界</a:t>
            </a:r>
          </a:p>
        </p:txBody>
      </p:sp>
      <p:sp>
        <p:nvSpPr>
          <p:cNvPr id="5" name="2026 Q4 / V3.0">
            <a:extLst xmlns:a="http://schemas.openxmlformats.org/drawingml/2006/main">
              <a:ext uri="{FF2B5EF4-FFF2-40B4-BE49-F238E27FC236}">
                <a16:creationId xmlns:a16="http://schemas.microsoft.com/office/drawing/2014/main" id="{6F8B57A7-EC5E-4D5D-B4C5-E1F2AE67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7004" y="647700"/>
            <a:ext cx="1927396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V3.0</a:t>
            </a:r>
          </a:p>
        </p:txBody>
      </p:sp>
      <p:sp>
        <p:nvSpPr>
          <p:cNvPr id="6" name="path-5">
            <a:extLst xmlns:a="http://schemas.openxmlformats.org/drawingml/2006/main">
              <a:ext uri="{FF2B5EF4-FFF2-40B4-BE49-F238E27FC236}">
                <a16:creationId xmlns:a16="http://schemas.microsoft.com/office/drawing/2014/main" id="{D0604A10-A159-48BD-AA6A-35BDFCA9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7" name="PMC确定买什么、买多少、什么时候要；采购决定向谁买、如何分配及以什么PO执行">
            <a:extLst xmlns:a="http://schemas.openxmlformats.org/drawingml/2006/main">
              <a:ext uri="{FF2B5EF4-FFF2-40B4-BE49-F238E27FC236}">
                <a16:creationId xmlns:a16="http://schemas.microsoft.com/office/drawing/2014/main" id="{EE7CACB8-5220-446C-9B50-E5E62A65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0863"/>
            <a:ext cx="10168259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PMC确定买什么、买多少、什么时候要；采购决定向谁买、如何分配及以什么PO执行</a:t>
            </a:r>
          </a:p>
        </p:txBody>
      </p:sp>
      <p:sp>
        <p:nvSpPr>
          <p:cNvPr id="8" name="02 / 识别边界">
            <a:extLst xmlns:a="http://schemas.openxmlformats.org/drawingml/2006/main">
              <a:ext uri="{FF2B5EF4-FFF2-40B4-BE49-F238E27FC236}">
                <a16:creationId xmlns:a16="http://schemas.microsoft.com/office/drawing/2014/main" id="{6BB74775-E860-46E6-8CCF-B2B971F7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8695" y="1610487"/>
            <a:ext cx="1545705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02 / 识别边界</a:t>
            </a:r>
          </a:p>
        </p:txBody>
      </p:sp>
      <p:sp>
        <p:nvSpPr>
          <p:cNvPr id="9" name="rect-8">
            <a:extLst xmlns:a="http://schemas.openxmlformats.org/drawingml/2006/main">
              <a:ext uri="{FF2B5EF4-FFF2-40B4-BE49-F238E27FC236}">
                <a16:creationId xmlns:a16="http://schemas.microsoft.com/office/drawing/2014/main" id="{D5E68566-8D62-4533-9BA8-AF2DE881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44767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10" name="rect-9">
            <a:extLst xmlns:a="http://schemas.openxmlformats.org/drawingml/2006/main">
              <a:ext uri="{FF2B5EF4-FFF2-40B4-BE49-F238E27FC236}">
                <a16:creationId xmlns:a16="http://schemas.microsoft.com/office/drawing/2014/main" id="{D5CA7B43-87D1-4ED2-A30D-26E0C96F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" name="销售 / 运营">
            <a:extLst xmlns:a="http://schemas.openxmlformats.org/drawingml/2006/main">
              <a:ext uri="{FF2B5EF4-FFF2-40B4-BE49-F238E27FC236}">
                <a16:creationId xmlns:a16="http://schemas.microsoft.com/office/drawing/2014/main" id="{9CF19375-975C-4DC3-9E83-6E740B63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975" y="2768346"/>
            <a:ext cx="1835301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销售 / 运营</a:t>
            </a:r>
          </a:p>
        </p:txBody>
      </p:sp>
      <p:sp>
        <p:nvSpPr>
          <p:cNvPr id="12" name="提供日级需求、活动与人工判断">
            <a:extLst xmlns:a="http://schemas.openxmlformats.org/drawingml/2006/main">
              <a:ext uri="{FF2B5EF4-FFF2-40B4-BE49-F238E27FC236}">
                <a16:creationId xmlns:a16="http://schemas.microsoft.com/office/drawing/2014/main" id="{D06050CD-BCA7-4E2A-8C23-3E0705FF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766" y="3313938"/>
            <a:ext cx="383971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提供日级需求、活动与人工判断</a:t>
            </a:r>
          </a:p>
        </p:txBody>
      </p:sp>
      <p:sp>
        <p:nvSpPr>
          <p:cNvPr id="13" name="rect-12">
            <a:extLst xmlns:a="http://schemas.openxmlformats.org/drawingml/2006/main">
              <a:ext uri="{FF2B5EF4-FFF2-40B4-BE49-F238E27FC236}">
                <a16:creationId xmlns:a16="http://schemas.microsoft.com/office/drawing/2014/main" id="{F75B9DB2-ECB5-44A4-B8AF-AFEF23AB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14600"/>
            <a:ext cx="5143500" cy="1543050"/>
          </a:xfrm>
          <a:prstGeom xmlns:a="http://schemas.openxmlformats.org/drawingml/2006/main" prst="roundRect">
            <a:avLst>
              <a:gd name="adj" fmla="val 30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14" name="rect-13">
            <a:extLst xmlns:a="http://schemas.openxmlformats.org/drawingml/2006/main">
              <a:ext uri="{FF2B5EF4-FFF2-40B4-BE49-F238E27FC236}">
                <a16:creationId xmlns:a16="http://schemas.microsoft.com/office/drawing/2014/main" id="{066E7AF1-624C-4135-9F90-D14DB6E2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14600"/>
            <a:ext cx="4762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" name="PMC计划中枢">
            <a:extLst xmlns:a="http://schemas.openxmlformats.org/drawingml/2006/main">
              <a:ext uri="{FF2B5EF4-FFF2-40B4-BE49-F238E27FC236}">
                <a16:creationId xmlns:a16="http://schemas.microsoft.com/office/drawing/2014/main" id="{5728A569-8321-4ADE-9DF1-84BFAD62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9802" y="2615946"/>
            <a:ext cx="2213896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PMC计划中枢</a:t>
            </a:r>
          </a:p>
        </p:txBody>
      </p:sp>
      <p:sp>
        <p:nvSpPr>
          <p:cNvPr id="16" name="审核需求、形成最终备货计划">
            <a:extLst xmlns:a="http://schemas.openxmlformats.org/drawingml/2006/main">
              <a:ext uri="{FF2B5EF4-FFF2-40B4-BE49-F238E27FC236}">
                <a16:creationId xmlns:a16="http://schemas.microsoft.com/office/drawing/2014/main" id="{11FE9640-63AB-4108-847B-BC1B6E92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0622" y="3161538"/>
            <a:ext cx="3572256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审核需求、形成最终备货计划</a:t>
            </a:r>
          </a:p>
        </p:txBody>
      </p:sp>
      <p:sp>
        <p:nvSpPr>
          <p:cNvPr id="17" name="输出成衣采购需求">
            <a:extLst xmlns:a="http://schemas.openxmlformats.org/drawingml/2006/main">
              <a:ext uri="{FF2B5EF4-FFF2-40B4-BE49-F238E27FC236}">
                <a16:creationId xmlns:a16="http://schemas.microsoft.com/office/drawing/2014/main" id="{5BE15A2A-928B-4B70-AC6B-626E27C8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277" y="3533013"/>
            <a:ext cx="2234946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输出成衣采购需求</a:t>
            </a:r>
          </a:p>
        </p:txBody>
      </p:sp>
      <p:sp>
        <p:nvSpPr>
          <p:cNvPr id="18" name="path-17">
            <a:extLst xmlns:a="http://schemas.openxmlformats.org/drawingml/2006/main">
              <a:ext uri="{FF2B5EF4-FFF2-40B4-BE49-F238E27FC236}">
                <a16:creationId xmlns:a16="http://schemas.microsoft.com/office/drawing/2014/main" id="{A14331F2-7796-4832-ACB0-2BD670E0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3429000" cy="476"/>
          </a:xfrm>
          <a:custGeom xmlns:a="http://schemas.openxmlformats.org/drawingml/2006/main">
            <a:pathLst>
              <a:path w="3429000" h="476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19" name="arrowhead-17">
            <a:extLst xmlns:a="http://schemas.openxmlformats.org/drawingml/2006/main">
              <a:ext uri="{FF2B5EF4-FFF2-40B4-BE49-F238E27FC236}">
                <a16:creationId xmlns:a16="http://schemas.microsoft.com/office/drawing/2014/main" id="{503E65B5-C408-490C-A192-16D75B1F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6707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0" name="rect-18">
            <a:extLst xmlns:a="http://schemas.openxmlformats.org/drawingml/2006/main">
              <a:ext uri="{FF2B5EF4-FFF2-40B4-BE49-F238E27FC236}">
                <a16:creationId xmlns:a16="http://schemas.microsoft.com/office/drawing/2014/main" id="{83BC37C9-C693-409F-9834-93563D6E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48000"/>
            <a:ext cx="1295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" name="预测需求">
            <a:extLst xmlns:a="http://schemas.openxmlformats.org/drawingml/2006/main">
              <a:ext uri="{FF2B5EF4-FFF2-40B4-BE49-F238E27FC236}">
                <a16:creationId xmlns:a16="http://schemas.microsoft.com/office/drawing/2014/main" id="{1BDAAF6B-F75D-4AAB-A3E0-54481E07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989" y="3027807"/>
            <a:ext cx="1204722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预测需求</a:t>
            </a:r>
          </a:p>
        </p:txBody>
      </p:sp>
      <p:sp>
        <p:nvSpPr>
          <p:cNvPr id="22" name="rect-20">
            <a:extLst xmlns:a="http://schemas.openxmlformats.org/drawingml/2006/main">
              <a:ext uri="{FF2B5EF4-FFF2-40B4-BE49-F238E27FC236}">
                <a16:creationId xmlns:a16="http://schemas.microsoft.com/office/drawing/2014/main" id="{06B2FDDF-5F58-4016-81D5-5CCD254B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57800"/>
            <a:ext cx="5429250" cy="1466850"/>
          </a:xfrm>
          <a:prstGeom xmlns:a="http://schemas.openxmlformats.org/drawingml/2006/main" prst="roundRect">
            <a:avLst>
              <a:gd name="adj" fmla="val 3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60A8"/>
            </a:solidFill>
            <a:prstDash val="solid"/>
          </a:ln>
        </p:spPr>
      </p:sp>
      <p:sp>
        <p:nvSpPr>
          <p:cNvPr id="23" name="rect-21">
            <a:extLst xmlns:a="http://schemas.openxmlformats.org/drawingml/2006/main">
              <a:ext uri="{FF2B5EF4-FFF2-40B4-BE49-F238E27FC236}">
                <a16:creationId xmlns:a16="http://schemas.microsoft.com/office/drawing/2014/main" id="{E5C5C530-9D80-46EE-A20D-A062C391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578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0A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" name="MRP面辅料计划">
            <a:extLst xmlns:a="http://schemas.openxmlformats.org/drawingml/2006/main">
              <a:ext uri="{FF2B5EF4-FFF2-40B4-BE49-F238E27FC236}">
                <a16:creationId xmlns:a16="http://schemas.microsoft.com/office/drawing/2014/main" id="{CE5BB0EA-FBFD-40C5-B984-11A8A059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984" y="5359146"/>
            <a:ext cx="2538782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MRP面辅料计划</a:t>
            </a:r>
          </a:p>
        </p:txBody>
      </p:sp>
      <p:sp>
        <p:nvSpPr>
          <p:cNvPr id="25" name="需要多少面辅料">
            <a:extLst xmlns:a="http://schemas.openxmlformats.org/drawingml/2006/main">
              <a:ext uri="{FF2B5EF4-FFF2-40B4-BE49-F238E27FC236}">
                <a16:creationId xmlns:a16="http://schemas.microsoft.com/office/drawing/2014/main" id="{70D52BDC-7A30-448F-9AC6-C780DED9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633" y="5904738"/>
            <a:ext cx="1967484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需要多少面辅料</a:t>
            </a:r>
          </a:p>
        </p:txBody>
      </p:sp>
      <p:sp>
        <p:nvSpPr>
          <p:cNvPr id="26" name="净需求、备料与发料计划">
            <a:extLst xmlns:a="http://schemas.openxmlformats.org/drawingml/2006/main">
              <a:ext uri="{FF2B5EF4-FFF2-40B4-BE49-F238E27FC236}">
                <a16:creationId xmlns:a16="http://schemas.microsoft.com/office/drawing/2014/main" id="{B8EC0C8C-E2E1-47B8-91ED-AA71D67D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709" y="6276213"/>
            <a:ext cx="3037332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净需求、备料与发料计划</a:t>
            </a:r>
          </a:p>
        </p:txBody>
      </p:sp>
      <p:sp>
        <p:nvSpPr>
          <p:cNvPr id="27" name="rect-25">
            <a:extLst xmlns:a="http://schemas.openxmlformats.org/drawingml/2006/main">
              <a:ext uri="{FF2B5EF4-FFF2-40B4-BE49-F238E27FC236}">
                <a16:creationId xmlns:a16="http://schemas.microsoft.com/office/drawing/2014/main" id="{F1BDA066-7734-497E-9BEC-E4B9E910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5257800"/>
            <a:ext cx="5429250" cy="1466850"/>
          </a:xfrm>
          <a:prstGeom xmlns:a="http://schemas.openxmlformats.org/drawingml/2006/main" prst="roundRect">
            <a:avLst>
              <a:gd name="adj" fmla="val 3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28" name="rect-26">
            <a:extLst xmlns:a="http://schemas.openxmlformats.org/drawingml/2006/main">
              <a:ext uri="{FF2B5EF4-FFF2-40B4-BE49-F238E27FC236}">
                <a16:creationId xmlns:a16="http://schemas.microsoft.com/office/drawing/2014/main" id="{2BBA02CB-73A4-4EEF-87C6-3C41087B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52578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9" name="SCM / 采购">
            <a:extLst xmlns:a="http://schemas.openxmlformats.org/drawingml/2006/main">
              <a:ext uri="{FF2B5EF4-FFF2-40B4-BE49-F238E27FC236}">
                <a16:creationId xmlns:a16="http://schemas.microsoft.com/office/drawing/2014/main" id="{358A04E7-2462-45AA-B4B6-B7B130DB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2338" y="5359146"/>
            <a:ext cx="1931575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SCM / 采购</a:t>
            </a:r>
          </a:p>
        </p:txBody>
      </p:sp>
      <p:sp>
        <p:nvSpPr>
          <p:cNvPr id="30" name="PR / PO、供应商分配">
            <a:extLst xmlns:a="http://schemas.openxmlformats.org/drawingml/2006/main">
              <a:ext uri="{FF2B5EF4-FFF2-40B4-BE49-F238E27FC236}">
                <a16:creationId xmlns:a16="http://schemas.microsoft.com/office/drawing/2014/main" id="{D78D879F-5804-43F2-A1AA-FBDA3EFF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7430" y="5904738"/>
            <a:ext cx="274139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PR / PO、供应商分配</a:t>
            </a:r>
          </a:p>
        </p:txBody>
      </p:sp>
      <p:sp>
        <p:nvSpPr>
          <p:cNvPr id="31" name="采购执行与交期协同">
            <a:extLst xmlns:a="http://schemas.openxmlformats.org/drawingml/2006/main">
              <a:ext uri="{FF2B5EF4-FFF2-40B4-BE49-F238E27FC236}">
                <a16:creationId xmlns:a16="http://schemas.microsoft.com/office/drawing/2014/main" id="{4040646A-6274-47A9-AA7E-9B8C112D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6921" y="6276213"/>
            <a:ext cx="250240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采购执行与交期协同</a:t>
            </a:r>
          </a:p>
        </p:txBody>
      </p:sp>
      <p:sp>
        <p:nvSpPr>
          <p:cNvPr id="32" name="path-30">
            <a:extLst xmlns:a="http://schemas.openxmlformats.org/drawingml/2006/main">
              <a:ext uri="{FF2B5EF4-FFF2-40B4-BE49-F238E27FC236}">
                <a16:creationId xmlns:a16="http://schemas.microsoft.com/office/drawing/2014/main" id="{F85B0BF1-1DA6-4AAF-BBD7-ABB67E64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57650"/>
            <a:ext cx="5286375" cy="1200150"/>
          </a:xfrm>
          <a:custGeom xmlns:a="http://schemas.openxmlformats.org/drawingml/2006/main">
            <a:pathLst>
              <a:path w="5286375" h="1200150">
                <a:moveTo>
                  <a:pt x="5286375" y="0"/>
                </a:moveTo>
                <a:lnTo>
                  <a:pt x="5286375" y="533400"/>
                </a:lnTo>
                <a:lnTo>
                  <a:pt x="0" y="533400"/>
                </a:lnTo>
                <a:lnTo>
                  <a:pt x="0" y="12001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B60A8"/>
            </a:solidFill>
            <a:prstDash val="solid"/>
          </a:ln>
        </p:spPr>
      </p:sp>
      <p:sp>
        <p:nvSpPr>
          <p:cNvPr id="33" name="arrowhead-30">
            <a:extLst xmlns:a="http://schemas.openxmlformats.org/drawingml/2006/main">
              <a:ext uri="{FF2B5EF4-FFF2-40B4-BE49-F238E27FC236}">
                <a16:creationId xmlns:a16="http://schemas.microsoft.com/office/drawing/2014/main" id="{E67A6962-4FA3-4115-A8C9-6AD1D969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0292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228600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34" name="path-31">
            <a:extLst xmlns:a="http://schemas.openxmlformats.org/drawingml/2006/main">
              <a:ext uri="{FF2B5EF4-FFF2-40B4-BE49-F238E27FC236}">
                <a16:creationId xmlns:a16="http://schemas.microsoft.com/office/drawing/2014/main" id="{B87166DE-84DE-4FCA-8921-AB0DFA90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591050"/>
            <a:ext cx="7191375" cy="666750"/>
          </a:xfrm>
          <a:custGeom xmlns:a="http://schemas.openxmlformats.org/drawingml/2006/main">
            <a:pathLst>
              <a:path w="7191375" h="666750">
                <a:moveTo>
                  <a:pt x="0" y="0"/>
                </a:moveTo>
                <a:lnTo>
                  <a:pt x="7191375" y="0"/>
                </a:lnTo>
                <a:lnTo>
                  <a:pt x="7191375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35" name="arrowhead-31">
            <a:extLst xmlns:a="http://schemas.openxmlformats.org/drawingml/2006/main">
              <a:ext uri="{FF2B5EF4-FFF2-40B4-BE49-F238E27FC236}">
                <a16:creationId xmlns:a16="http://schemas.microsoft.com/office/drawing/2014/main" id="{A866C084-904A-4C59-9A04-12CAFD49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3825" y="50292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228600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36" name="rect-32">
            <a:extLst xmlns:a="http://schemas.openxmlformats.org/drawingml/2006/main">
              <a:ext uri="{FF2B5EF4-FFF2-40B4-BE49-F238E27FC236}">
                <a16:creationId xmlns:a16="http://schemas.microsoft.com/office/drawing/2014/main" id="{6F020907-032E-4FDA-92B8-812C02BC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573" y="4314825"/>
            <a:ext cx="2546604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7" name="成衣采购计划 + BOM">
            <a:extLst xmlns:a="http://schemas.openxmlformats.org/drawingml/2006/main">
              <a:ext uri="{FF2B5EF4-FFF2-40B4-BE49-F238E27FC236}">
                <a16:creationId xmlns:a16="http://schemas.microsoft.com/office/drawing/2014/main" id="{E4A5ADE6-386E-40C4-83E1-CDFE6415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5220" y="4295394"/>
            <a:ext cx="257531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成衣采购计划 + BOM</a:t>
            </a:r>
          </a:p>
        </p:txBody>
      </p:sp>
      <p:sp>
        <p:nvSpPr>
          <p:cNvPr id="38" name="rect-34">
            <a:extLst xmlns:a="http://schemas.openxmlformats.org/drawingml/2006/main">
              <a:ext uri="{FF2B5EF4-FFF2-40B4-BE49-F238E27FC236}">
                <a16:creationId xmlns:a16="http://schemas.microsoft.com/office/drawing/2014/main" id="{00628F7B-A533-4A3F-93E3-7AE116FB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5465" y="4314825"/>
            <a:ext cx="240792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9" name="成衣采购需求 / PR">
            <a:extLst xmlns:a="http://schemas.openxmlformats.org/drawingml/2006/main">
              <a:ext uri="{FF2B5EF4-FFF2-40B4-BE49-F238E27FC236}">
                <a16:creationId xmlns:a16="http://schemas.microsoft.com/office/drawing/2014/main" id="{D3FD06AB-2662-4072-B0D1-B1E39FAF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5871" y="4295394"/>
            <a:ext cx="2287107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成衣采购需求 / PR</a:t>
            </a:r>
          </a:p>
        </p:txBody>
      </p:sp>
      <p:sp>
        <p:nvSpPr>
          <p:cNvPr id="40" name="并行承接">
            <a:extLst xmlns:a="http://schemas.openxmlformats.org/drawingml/2006/main">
              <a:ext uri="{FF2B5EF4-FFF2-40B4-BE49-F238E27FC236}">
                <a16:creationId xmlns:a16="http://schemas.microsoft.com/office/drawing/2014/main" id="{9BCD0E34-7C56-4D58-A47D-7E7860D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646676"/>
            <a:ext cx="1244346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并行承接</a:t>
            </a:r>
          </a:p>
        </p:txBody>
      </p:sp>
      <p:sp>
        <p:nvSpPr>
          <p:cNvPr id="41" name="path-37">
            <a:extLst xmlns:a="http://schemas.openxmlformats.org/drawingml/2006/main">
              <a:ext uri="{FF2B5EF4-FFF2-40B4-BE49-F238E27FC236}">
                <a16:creationId xmlns:a16="http://schemas.microsoft.com/office/drawing/2014/main" id="{8B18BC9C-3E58-41BC-8771-2FF86E9B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0275"/>
            <a:ext cx="7048500" cy="476"/>
          </a:xfrm>
          <a:custGeom xmlns:a="http://schemas.openxmlformats.org/drawingml/2006/main">
            <a:pathLst>
              <a:path w="7048500" h="476">
                <a:moveTo>
                  <a:pt x="0" y="0"/>
                </a:moveTo>
                <a:lnTo>
                  <a:pt x="704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B60A8"/>
            </a:solidFill>
            <a:prstDash val="solid"/>
          </a:ln>
        </p:spPr>
      </p:sp>
      <p:sp>
        <p:nvSpPr>
          <p:cNvPr id="42" name="arrowhead-37">
            <a:extLst xmlns:a="http://schemas.openxmlformats.org/drawingml/2006/main">
              <a:ext uri="{FF2B5EF4-FFF2-40B4-BE49-F238E27FC236}">
                <a16:creationId xmlns:a16="http://schemas.microsoft.com/office/drawing/2014/main" id="{C969267D-99D2-4E62-9997-C29BC6B2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4900" y="589597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43" name="rect-38">
            <a:extLst xmlns:a="http://schemas.openxmlformats.org/drawingml/2006/main">
              <a:ext uri="{FF2B5EF4-FFF2-40B4-BE49-F238E27FC236}">
                <a16:creationId xmlns:a16="http://schemas.microsoft.com/office/drawing/2014/main" id="{EA55778C-8B76-41AB-89DF-AE6D4C18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8016" y="5695950"/>
            <a:ext cx="298246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4" name="净缺口 → 物料采购需求">
            <a:extLst xmlns:a="http://schemas.openxmlformats.org/drawingml/2006/main">
              <a:ext uri="{FF2B5EF4-FFF2-40B4-BE49-F238E27FC236}">
                <a16:creationId xmlns:a16="http://schemas.microsoft.com/office/drawing/2014/main" id="{21AD9563-5229-408B-A6ED-2954DBED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8019" y="5676519"/>
            <a:ext cx="2842462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净缺口 → 物料采购需求</a:t>
            </a:r>
          </a:p>
        </p:txBody>
      </p:sp>
      <p:sp>
        <p:nvSpPr>
          <p:cNvPr id="45" name="rect-40">
            <a:extLst xmlns:a="http://schemas.openxmlformats.org/drawingml/2006/main">
              <a:ext uri="{FF2B5EF4-FFF2-40B4-BE49-F238E27FC236}">
                <a16:creationId xmlns:a16="http://schemas.microsoft.com/office/drawing/2014/main" id="{E8A5AC50-F5C9-4F06-AB93-4812E739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715250"/>
            <a:ext cx="5429250" cy="1466850"/>
          </a:xfrm>
          <a:prstGeom xmlns:a="http://schemas.openxmlformats.org/drawingml/2006/main" prst="roundRect">
            <a:avLst>
              <a:gd name="adj" fmla="val 3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4963C"/>
            </a:solidFill>
            <a:prstDash val="solid"/>
          </a:ln>
        </p:spPr>
      </p:sp>
      <p:sp>
        <p:nvSpPr>
          <p:cNvPr id="46" name="rect-41">
            <a:extLst xmlns:a="http://schemas.openxmlformats.org/drawingml/2006/main">
              <a:ext uri="{FF2B5EF4-FFF2-40B4-BE49-F238E27FC236}">
                <a16:creationId xmlns:a16="http://schemas.microsoft.com/office/drawing/2014/main" id="{3A4A8334-E4AA-4ECD-A515-FCCC6DA5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7152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63C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7" name="成衣工厂 / 已有MES">
            <a:extLst xmlns:a="http://schemas.openxmlformats.org/drawingml/2006/main">
              <a:ext uri="{FF2B5EF4-FFF2-40B4-BE49-F238E27FC236}">
                <a16:creationId xmlns:a16="http://schemas.microsoft.com/office/drawing/2014/main" id="{2EAD56C8-21A7-492D-93AD-5EE0132B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148" y="7816596"/>
            <a:ext cx="3248454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成衣工厂 / 已有MES</a:t>
            </a:r>
          </a:p>
        </p:txBody>
      </p:sp>
      <p:sp>
        <p:nvSpPr>
          <p:cNvPr id="48" name="生产执行、进度与延期回传">
            <a:extLst xmlns:a="http://schemas.openxmlformats.org/drawingml/2006/main">
              <a:ext uri="{FF2B5EF4-FFF2-40B4-BE49-F238E27FC236}">
                <a16:creationId xmlns:a16="http://schemas.microsoft.com/office/drawing/2014/main" id="{A6DC670D-67EE-4EC0-B851-80457328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978" y="8362188"/>
            <a:ext cx="3304794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生产执行、进度与延期回传</a:t>
            </a:r>
          </a:p>
        </p:txBody>
      </p:sp>
      <p:sp>
        <p:nvSpPr>
          <p:cNvPr id="49" name="rect-44">
            <a:extLst xmlns:a="http://schemas.openxmlformats.org/drawingml/2006/main">
              <a:ext uri="{FF2B5EF4-FFF2-40B4-BE49-F238E27FC236}">
                <a16:creationId xmlns:a16="http://schemas.microsoft.com/office/drawing/2014/main" id="{3A4C9113-826D-4FC7-ABE6-69124A24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7715250"/>
            <a:ext cx="5429250" cy="1466850"/>
          </a:xfrm>
          <a:prstGeom xmlns:a="http://schemas.openxmlformats.org/drawingml/2006/main" prst="roundRect">
            <a:avLst>
              <a:gd name="adj" fmla="val 3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50" name="rect-45">
            <a:extLst xmlns:a="http://schemas.openxmlformats.org/drawingml/2006/main">
              <a:ext uri="{FF2B5EF4-FFF2-40B4-BE49-F238E27FC236}">
                <a16:creationId xmlns:a16="http://schemas.microsoft.com/office/drawing/2014/main" id="{5173A9D0-E93C-41CA-A726-1AE7D557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77152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1" name="供应商执行">
            <a:extLst xmlns:a="http://schemas.openxmlformats.org/drawingml/2006/main">
              <a:ext uri="{FF2B5EF4-FFF2-40B4-BE49-F238E27FC236}">
                <a16:creationId xmlns:a16="http://schemas.microsoft.com/office/drawing/2014/main" id="{3E300C8C-7AE4-4BED-B958-92C90105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8490" y="7816596"/>
            <a:ext cx="1779270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供应商执行</a:t>
            </a:r>
          </a:p>
        </p:txBody>
      </p:sp>
      <p:sp>
        <p:nvSpPr>
          <p:cNvPr id="52" name="接单、交期、资料与交付协同">
            <a:extLst xmlns:a="http://schemas.openxmlformats.org/drawingml/2006/main">
              <a:ext uri="{FF2B5EF4-FFF2-40B4-BE49-F238E27FC236}">
                <a16:creationId xmlns:a16="http://schemas.microsoft.com/office/drawing/2014/main" id="{6D0AC68E-8DC2-4EDD-B94B-723E5C6C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1997" y="8362188"/>
            <a:ext cx="3572256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接单、交期、资料与交付协同</a:t>
            </a:r>
          </a:p>
        </p:txBody>
      </p:sp>
      <p:sp>
        <p:nvSpPr>
          <p:cNvPr id="53" name="path-48">
            <a:extLst xmlns:a="http://schemas.openxmlformats.org/drawingml/2006/main">
              <a:ext uri="{FF2B5EF4-FFF2-40B4-BE49-F238E27FC236}">
                <a16:creationId xmlns:a16="http://schemas.microsoft.com/office/drawing/2014/main" id="{E553C15E-EFE2-4F4A-834F-620BC37C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6724650"/>
            <a:ext cx="476" cy="990600"/>
          </a:xfrm>
          <a:custGeom xmlns:a="http://schemas.openxmlformats.org/drawingml/2006/main">
            <a:pathLst>
              <a:path w="476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B60A8"/>
            </a:solidFill>
            <a:prstDash val="solid"/>
          </a:ln>
        </p:spPr>
      </p:sp>
      <p:sp>
        <p:nvSpPr>
          <p:cNvPr id="54" name="arrowhead-48">
            <a:extLst xmlns:a="http://schemas.openxmlformats.org/drawingml/2006/main">
              <a:ext uri="{FF2B5EF4-FFF2-40B4-BE49-F238E27FC236}">
                <a16:creationId xmlns:a16="http://schemas.microsoft.com/office/drawing/2014/main" id="{8DC41A1D-82C4-4CB7-8D24-8303BB6D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74866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228600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55" name="rect-49">
            <a:extLst xmlns:a="http://schemas.openxmlformats.org/drawingml/2006/main">
              <a:ext uri="{FF2B5EF4-FFF2-40B4-BE49-F238E27FC236}">
                <a16:creationId xmlns:a16="http://schemas.microsoft.com/office/drawing/2014/main" id="{04AE7437-E0E2-4396-8CB0-01A60B10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08660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6" name="备料 / 发料支持">
            <a:extLst xmlns:a="http://schemas.openxmlformats.org/drawingml/2006/main">
              <a:ext uri="{FF2B5EF4-FFF2-40B4-BE49-F238E27FC236}">
                <a16:creationId xmlns:a16="http://schemas.microsoft.com/office/drawing/2014/main" id="{2A70C9EC-1048-455C-936A-C6344AFF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14" y="7067550"/>
            <a:ext cx="1869972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备料 / 发料支持</a:t>
            </a:r>
          </a:p>
        </p:txBody>
      </p:sp>
      <p:sp>
        <p:nvSpPr>
          <p:cNvPr id="57" name="path-51">
            <a:extLst xmlns:a="http://schemas.openxmlformats.org/drawingml/2006/main">
              <a:ext uri="{FF2B5EF4-FFF2-40B4-BE49-F238E27FC236}">
                <a16:creationId xmlns:a16="http://schemas.microsoft.com/office/drawing/2014/main" id="{540A9FBD-9133-468B-AAEB-E7531D9F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8125" y="6724650"/>
            <a:ext cx="476" cy="990600"/>
          </a:xfrm>
          <a:custGeom xmlns:a="http://schemas.openxmlformats.org/drawingml/2006/main">
            <a:pathLst>
              <a:path w="476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58" name="arrowhead-51">
            <a:extLst xmlns:a="http://schemas.openxmlformats.org/drawingml/2006/main">
              <a:ext uri="{FF2B5EF4-FFF2-40B4-BE49-F238E27FC236}">
                <a16:creationId xmlns:a16="http://schemas.microsoft.com/office/drawing/2014/main" id="{596F65CB-A555-4DFD-A5B5-2A1A7113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3825" y="74866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228600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59" name="rect-52">
            <a:extLst xmlns:a="http://schemas.openxmlformats.org/drawingml/2006/main">
              <a:ext uri="{FF2B5EF4-FFF2-40B4-BE49-F238E27FC236}">
                <a16:creationId xmlns:a16="http://schemas.microsoft.com/office/drawing/2014/main" id="{18DBF915-D611-437C-9F7C-5C916674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4838" y="7086600"/>
            <a:ext cx="12096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0" name="PO与任务">
            <a:extLst xmlns:a="http://schemas.openxmlformats.org/drawingml/2006/main">
              <a:ext uri="{FF2B5EF4-FFF2-40B4-BE49-F238E27FC236}">
                <a16:creationId xmlns:a16="http://schemas.microsoft.com/office/drawing/2014/main" id="{4DA301D9-AD68-4331-9DC5-97FAF7FC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4124" y="7067550"/>
            <a:ext cx="1191101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PO与任务</a:t>
            </a:r>
          </a:p>
        </p:txBody>
      </p:sp>
      <p:sp>
        <p:nvSpPr>
          <p:cNvPr id="61" name="path-54">
            <a:extLst xmlns:a="http://schemas.openxmlformats.org/drawingml/2006/main">
              <a:ext uri="{FF2B5EF4-FFF2-40B4-BE49-F238E27FC236}">
                <a16:creationId xmlns:a16="http://schemas.microsoft.com/office/drawing/2014/main" id="{4699A0D5-012B-42D8-B258-802559E6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448675"/>
            <a:ext cx="7048500" cy="476"/>
          </a:xfrm>
          <a:custGeom xmlns:a="http://schemas.openxmlformats.org/drawingml/2006/main">
            <a:pathLst>
              <a:path w="7048500" h="476">
                <a:moveTo>
                  <a:pt x="7048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62" name="arrowhead-54">
            <a:extLst xmlns:a="http://schemas.openxmlformats.org/drawingml/2006/main">
              <a:ext uri="{FF2B5EF4-FFF2-40B4-BE49-F238E27FC236}">
                <a16:creationId xmlns:a16="http://schemas.microsoft.com/office/drawing/2014/main" id="{6E4952A1-B32B-4E86-8068-55ADE36B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33437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114300"/>
                </a:moveTo>
                <a:lnTo>
                  <a:pt x="228600" y="0"/>
                </a:lnTo>
                <a:lnTo>
                  <a:pt x="228600" y="22860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63" name="rect-55">
            <a:extLst xmlns:a="http://schemas.openxmlformats.org/drawingml/2006/main">
              <a:ext uri="{FF2B5EF4-FFF2-40B4-BE49-F238E27FC236}">
                <a16:creationId xmlns:a16="http://schemas.microsoft.com/office/drawing/2014/main" id="{21A3D424-6A0F-41D1-897E-DFD3B58D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8124825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4" name="订单、交期与技术资料">
            <a:extLst xmlns:a="http://schemas.openxmlformats.org/drawingml/2006/main">
              <a:ext uri="{FF2B5EF4-FFF2-40B4-BE49-F238E27FC236}">
                <a16:creationId xmlns:a16="http://schemas.microsoft.com/office/drawing/2014/main" id="{07B709D6-554B-4F5F-B153-9CEF97D1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6690" y="8105013"/>
            <a:ext cx="276987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订单、交期与技术资料</a:t>
            </a:r>
          </a:p>
        </p:txBody>
      </p:sp>
      <p:sp>
        <p:nvSpPr>
          <p:cNvPr id="65" name="rect-57">
            <a:extLst xmlns:a="http://schemas.openxmlformats.org/drawingml/2006/main">
              <a:ext uri="{FF2B5EF4-FFF2-40B4-BE49-F238E27FC236}">
                <a16:creationId xmlns:a16="http://schemas.microsoft.com/office/drawing/2014/main" id="{355E59A2-0F48-429B-B86A-B7914552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306050"/>
            <a:ext cx="571500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8E99"/>
            </a:solidFill>
            <a:prstDash val="solid"/>
          </a:ln>
        </p:spPr>
      </p:sp>
      <p:sp>
        <p:nvSpPr>
          <p:cNvPr id="66" name="rect-58">
            <a:extLst xmlns:a="http://schemas.openxmlformats.org/drawingml/2006/main">
              <a:ext uri="{FF2B5EF4-FFF2-40B4-BE49-F238E27FC236}">
                <a16:creationId xmlns:a16="http://schemas.microsoft.com/office/drawing/2014/main" id="{595A1109-3BB0-49EF-8EF9-94B3AF61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3060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E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7" name="QC / 入库 / 经营事实">
            <a:extLst xmlns:a="http://schemas.openxmlformats.org/drawingml/2006/main">
              <a:ext uri="{FF2B5EF4-FFF2-40B4-BE49-F238E27FC236}">
                <a16:creationId xmlns:a16="http://schemas.microsoft.com/office/drawing/2014/main" id="{9B67C773-72B1-4CBB-9E01-C183711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942" y="10407396"/>
            <a:ext cx="3409117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QC / 入库 / 经营事实</a:t>
            </a:r>
          </a:p>
        </p:txBody>
      </p:sp>
      <p:sp>
        <p:nvSpPr>
          <p:cNvPr id="68" name="质量、交付、库存与销量结果">
            <a:extLst xmlns:a="http://schemas.openxmlformats.org/drawingml/2006/main">
              <a:ext uri="{FF2B5EF4-FFF2-40B4-BE49-F238E27FC236}">
                <a16:creationId xmlns:a16="http://schemas.microsoft.com/office/drawing/2014/main" id="{D9344E23-623C-4DC6-A780-211598B0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372" y="10952988"/>
            <a:ext cx="3572256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质量、交付、库存与销量结果</a:t>
            </a:r>
          </a:p>
        </p:txBody>
      </p:sp>
      <p:sp>
        <p:nvSpPr>
          <p:cNvPr id="69" name="协同接入，按阶段落地">
            <a:extLst xmlns:a="http://schemas.openxmlformats.org/drawingml/2006/main">
              <a:ext uri="{FF2B5EF4-FFF2-40B4-BE49-F238E27FC236}">
                <a16:creationId xmlns:a16="http://schemas.microsoft.com/office/drawing/2014/main" id="{0A2B8AB7-199A-42D4-88E7-A57BA8D3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8565" y="11324463"/>
            <a:ext cx="276987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协同接入，按阶段落地</a:t>
            </a:r>
          </a:p>
        </p:txBody>
      </p:sp>
      <p:sp>
        <p:nvSpPr>
          <p:cNvPr id="70" name="path-62">
            <a:extLst xmlns:a="http://schemas.openxmlformats.org/drawingml/2006/main">
              <a:ext uri="{FF2B5EF4-FFF2-40B4-BE49-F238E27FC236}">
                <a16:creationId xmlns:a16="http://schemas.microsoft.com/office/drawing/2014/main" id="{79829562-1DB1-4484-BC7F-00404E46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9182100"/>
            <a:ext cx="5953125" cy="1123950"/>
          </a:xfrm>
          <a:custGeom xmlns:a="http://schemas.openxmlformats.org/drawingml/2006/main">
            <a:pathLst>
              <a:path w="5953125" h="1123950">
                <a:moveTo>
                  <a:pt x="0" y="0"/>
                </a:moveTo>
                <a:lnTo>
                  <a:pt x="0" y="590550"/>
                </a:lnTo>
                <a:lnTo>
                  <a:pt x="5953125" y="590550"/>
                </a:lnTo>
                <a:lnTo>
                  <a:pt x="5953125" y="11239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4963C"/>
            </a:solidFill>
            <a:prstDash val="solid"/>
          </a:ln>
        </p:spPr>
      </p:sp>
      <p:sp>
        <p:nvSpPr>
          <p:cNvPr id="71" name="arrowhead-62">
            <a:extLst xmlns:a="http://schemas.openxmlformats.org/drawingml/2006/main">
              <a:ext uri="{FF2B5EF4-FFF2-40B4-BE49-F238E27FC236}">
                <a16:creationId xmlns:a16="http://schemas.microsoft.com/office/drawing/2014/main" id="{7C066A45-4582-4002-9637-16F346EF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00774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228600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 xmlns:a="http://schemas.openxmlformats.org/drawingml/2006/main">
            <a:srgbClr val="54963C"/>
          </a:solidFill>
          <a:ln xmlns:a="http://schemas.openxmlformats.org/drawingml/2006/main" w="0">
            <a:noFill/>
          </a:ln>
        </p:spPr>
      </p:sp>
      <p:sp>
        <p:nvSpPr>
          <p:cNvPr id="72" name="rect-63">
            <a:extLst xmlns:a="http://schemas.openxmlformats.org/drawingml/2006/main">
              <a:ext uri="{FF2B5EF4-FFF2-40B4-BE49-F238E27FC236}">
                <a16:creationId xmlns:a16="http://schemas.microsoft.com/office/drawing/2014/main" id="{7ABBEB25-3CBD-4A3E-9E44-3D6F929C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496425"/>
            <a:ext cx="22098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3" name="完工、检验与交付">
            <a:extLst xmlns:a="http://schemas.openxmlformats.org/drawingml/2006/main">
              <a:ext uri="{FF2B5EF4-FFF2-40B4-BE49-F238E27FC236}">
                <a16:creationId xmlns:a16="http://schemas.microsoft.com/office/drawing/2014/main" id="{73798DEF-3F99-401B-85A3-33340339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551" y="9476994"/>
            <a:ext cx="2155698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完工、检验与交付</a:t>
            </a:r>
          </a:p>
        </p:txBody>
      </p:sp>
      <p:sp>
        <p:nvSpPr>
          <p:cNvPr id="74" name="path-65">
            <a:extLst xmlns:a="http://schemas.openxmlformats.org/drawingml/2006/main">
              <a:ext uri="{FF2B5EF4-FFF2-40B4-BE49-F238E27FC236}">
                <a16:creationId xmlns:a16="http://schemas.microsoft.com/office/drawing/2014/main" id="{C817E88B-52BF-4DC5-BFE7-C1F24021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295650"/>
            <a:ext cx="8763000" cy="7724775"/>
          </a:xfrm>
          <a:custGeom xmlns:a="http://schemas.openxmlformats.org/drawingml/2006/main">
            <a:pathLst>
              <a:path w="8763000" h="7724775">
                <a:moveTo>
                  <a:pt x="952500" y="7724775"/>
                </a:moveTo>
                <a:lnTo>
                  <a:pt x="8763000" y="7724775"/>
                </a:lnTo>
                <a:lnTo>
                  <a:pt x="876300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78E99"/>
            </a:solidFill>
            <a:prstDash val="solid"/>
          </a:ln>
        </p:spPr>
      </p:sp>
      <p:sp>
        <p:nvSpPr>
          <p:cNvPr id="75" name="arrowhead-65">
            <a:extLst xmlns:a="http://schemas.openxmlformats.org/drawingml/2006/main">
              <a:ext uri="{FF2B5EF4-FFF2-40B4-BE49-F238E27FC236}">
                <a16:creationId xmlns:a16="http://schemas.microsoft.com/office/drawing/2014/main" id="{423D3BE5-2446-4B83-84A6-8DCCFE76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105150"/>
            <a:ext cx="381000" cy="381000"/>
          </a:xfrm>
          <a:custGeom xmlns:a="http://schemas.openxmlformats.org/drawingml/2006/main">
            <a:pathLst>
              <a:path w="381000" h="381000">
                <a:moveTo>
                  <a:pt x="0" y="190500"/>
                </a:moveTo>
                <a:lnTo>
                  <a:pt x="381000" y="0"/>
                </a:lnTo>
                <a:lnTo>
                  <a:pt x="381000" y="38100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76" name="rect-66">
            <a:extLst xmlns:a="http://schemas.openxmlformats.org/drawingml/2006/main">
              <a:ext uri="{FF2B5EF4-FFF2-40B4-BE49-F238E27FC236}">
                <a16:creationId xmlns:a16="http://schemas.microsoft.com/office/drawing/2014/main" id="{65412F55-574F-4D2C-B67A-EDA89CDC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4246" y="10582275"/>
            <a:ext cx="235000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7" name="执行结果回流PMC">
            <a:extLst xmlns:a="http://schemas.openxmlformats.org/drawingml/2006/main">
              <a:ext uri="{FF2B5EF4-FFF2-40B4-BE49-F238E27FC236}">
                <a16:creationId xmlns:a16="http://schemas.microsoft.com/office/drawing/2014/main" id="{7F671F3B-C24F-4DB4-B202-384DB760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2131" y="10561701"/>
            <a:ext cx="2474238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执行结果回流PMC</a:t>
            </a:r>
          </a:p>
        </p:txBody>
      </p:sp>
      <p:sp>
        <p:nvSpPr>
          <p:cNvPr id="78" name="rect-68">
            <a:extLst xmlns:a="http://schemas.openxmlformats.org/drawingml/2006/main">
              <a:ext uri="{FF2B5EF4-FFF2-40B4-BE49-F238E27FC236}">
                <a16:creationId xmlns:a16="http://schemas.microsoft.com/office/drawing/2014/main" id="{B2B5BA93-5CCE-4C2A-B4CC-2BA9578D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0" y="2962275"/>
            <a:ext cx="2095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9" name="下一轮滚动计划">
            <a:extLst xmlns:a="http://schemas.openxmlformats.org/drawingml/2006/main">
              <a:ext uri="{FF2B5EF4-FFF2-40B4-BE49-F238E27FC236}">
                <a16:creationId xmlns:a16="http://schemas.microsoft.com/office/drawing/2014/main" id="{B337D487-F6A4-4BA8-B059-2B8EB79D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9837" y="2942082"/>
            <a:ext cx="2036826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下一轮滚动计划</a:t>
            </a:r>
          </a:p>
        </p:txBody>
      </p:sp>
      <p:sp>
        <p:nvSpPr>
          <p:cNvPr id="80" name="rect-70">
            <a:extLst xmlns:a="http://schemas.openxmlformats.org/drawingml/2006/main">
              <a:ext uri="{FF2B5EF4-FFF2-40B4-BE49-F238E27FC236}">
                <a16:creationId xmlns:a16="http://schemas.microsoft.com/office/drawing/2014/main" id="{7977A99C-77E3-4076-886F-D96804CE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0"/>
            <a:ext cx="23164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1" name="数据基础：商品主数据 / PLM-BOM / 领星-库存-数仓 / 供应商数据；支撑各系统，不作为串行业务节点。">
            <a:extLst xmlns:a="http://schemas.openxmlformats.org/drawingml/2006/main">
              <a:ext uri="{FF2B5EF4-FFF2-40B4-BE49-F238E27FC236}">
                <a16:creationId xmlns:a16="http://schemas.microsoft.com/office/drawing/2014/main" id="{901191F1-E0CE-4666-9AB4-3BE67047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439269"/>
            <a:ext cx="12393859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数据基础：商品主数据 / PLM-BOM / 领星-库存-数仓 / 供应商数据；支撑各系统，不作为串行业务节点。</a:t>
            </a:r>
          </a:p>
        </p:txBody>
      </p:sp>
      <p:sp>
        <p:nvSpPr>
          <p:cNvPr id="82" name="path-72">
            <a:extLst xmlns:a="http://schemas.openxmlformats.org/drawingml/2006/main">
              <a:ext uri="{FF2B5EF4-FFF2-40B4-BE49-F238E27FC236}">
                <a16:creationId xmlns:a16="http://schemas.microsoft.com/office/drawing/2014/main" id="{FDC5E649-CA5B-45FC-8833-BADEC849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5E1E9"/>
            </a:solidFill>
            <a:prstDash val="solid"/>
          </a:ln>
        </p:spPr>
      </p:sp>
      <p:sp>
        <p:nvSpPr>
          <p:cNvPr id="83" name="Q4供应链产品建设方案 · 汇报分层版 · 目标业务蓝图，按P0 / P1推进">
            <a:extLst xmlns:a="http://schemas.openxmlformats.org/drawingml/2006/main">
              <a:ext uri="{FF2B5EF4-FFF2-40B4-BE49-F238E27FC236}">
                <a16:creationId xmlns:a16="http://schemas.microsoft.com/office/drawing/2014/main" id="{A589873E-2394-44A0-9CE2-F507AD8C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07568"/>
            <a:ext cx="688395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Q4供应链产品建设方案 · 汇报分层版 · 目标业务蓝图，按P0 / P1推进</a:t>
            </a:r>
          </a:p>
        </p:txBody>
      </p:sp>
      <p:sp>
        <p:nvSpPr>
          <p:cNvPr id="84" name="02 / 10">
            <a:extLst xmlns:a="http://schemas.openxmlformats.org/drawingml/2006/main">
              <a:ext uri="{FF2B5EF4-FFF2-40B4-BE49-F238E27FC236}">
                <a16:creationId xmlns:a16="http://schemas.microsoft.com/office/drawing/2014/main" id="{72D5613D-A39F-4153-8886-1362214A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3784" y="13307568"/>
            <a:ext cx="83061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02 / 10</a:t>
            </a:r>
          </a:p>
        </p:txBody>
      </p:sp>
    </p:spTree>
    <p:extLst>
      <p:ext uri="{BB962C8B-B14F-4D97-AF65-F5344CB8AC3E}">
        <p14:creationId xmlns:p14="http://schemas.microsoft.com/office/powerpoint/2010/main" val="21246675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5" name="白色画布">
            <a:extLst xmlns:a="http://schemas.openxmlformats.org/drawingml/2006/main">
              <a:ext uri="{FF2B5EF4-FFF2-40B4-BE49-F238E27FC236}">
                <a16:creationId xmlns:a16="http://schemas.microsoft.com/office/drawing/2014/main" id="{F8BC3535-66E8-4F1D-BE3E-CDC6DF64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-1">
            <a:extLst xmlns:a="http://schemas.openxmlformats.org/drawingml/2006/main">
              <a:ext uri="{FF2B5EF4-FFF2-40B4-BE49-F238E27FC236}">
                <a16:creationId xmlns:a16="http://schemas.microsoft.com/office/drawing/2014/main" id="{A9D27CA3-B0D7-42F7-8C3F-6EBFB028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" name="rect-2">
            <a:extLst xmlns:a="http://schemas.openxmlformats.org/drawingml/2006/main">
              <a:ext uri="{FF2B5EF4-FFF2-40B4-BE49-F238E27FC236}">
                <a16:creationId xmlns:a16="http://schemas.microsoft.com/office/drawing/2014/main" id="{89B0BA28-31F6-4C64-910F-ACD0F7E9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" name="核心业务泳道｜六个角色">
            <a:extLst xmlns:a="http://schemas.openxmlformats.org/drawingml/2006/main">
              <a:ext uri="{FF2B5EF4-FFF2-40B4-BE49-F238E27FC236}">
                <a16:creationId xmlns:a16="http://schemas.microsoft.com/office/drawing/2014/main" id="{3388C58F-FE56-4EC2-8DAD-8C928D94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781"/>
            <a:ext cx="5434584" cy="676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核心业务泳道｜六个角色</a:t>
            </a:r>
          </a:p>
        </p:txBody>
      </p:sp>
      <p:sp>
        <p:nvSpPr>
          <p:cNvPr id="5" name="2026 Q4 / V3.0">
            <a:extLst xmlns:a="http://schemas.openxmlformats.org/drawingml/2006/main">
              <a:ext uri="{FF2B5EF4-FFF2-40B4-BE49-F238E27FC236}">
                <a16:creationId xmlns:a16="http://schemas.microsoft.com/office/drawing/2014/main" id="{E8164166-2468-4897-8A4D-503C7339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7004" y="647700"/>
            <a:ext cx="1927396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V3.0</a:t>
            </a:r>
          </a:p>
        </p:txBody>
      </p:sp>
      <p:sp>
        <p:nvSpPr>
          <p:cNvPr id="6" name="path-5">
            <a:extLst xmlns:a="http://schemas.openxmlformats.org/drawingml/2006/main">
              <a:ext uri="{FF2B5EF4-FFF2-40B4-BE49-F238E27FC236}">
                <a16:creationId xmlns:a16="http://schemas.microsoft.com/office/drawing/2014/main" id="{64E88297-B8F9-4B5D-8774-A3DC34E6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7" name="谁发起、谁计算、谁审核、谁执行、谁反馈；PR是PMC计划与SCM采购的交接点">
            <a:extLst xmlns:a="http://schemas.openxmlformats.org/drawingml/2006/main">
              <a:ext uri="{FF2B5EF4-FFF2-40B4-BE49-F238E27FC236}">
                <a16:creationId xmlns:a16="http://schemas.microsoft.com/office/drawing/2014/main" id="{800CE86A-8251-4B0C-A832-B59836DD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0863"/>
            <a:ext cx="9673733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谁发起、谁计算、谁审核、谁执行、谁反馈；PR是PMC计划与SCM采购的交接点</a:t>
            </a:r>
          </a:p>
        </p:txBody>
      </p:sp>
      <p:sp>
        <p:nvSpPr>
          <p:cNvPr id="8" name="03 / 对齐责任">
            <a:extLst xmlns:a="http://schemas.openxmlformats.org/drawingml/2006/main">
              <a:ext uri="{FF2B5EF4-FFF2-40B4-BE49-F238E27FC236}">
                <a16:creationId xmlns:a16="http://schemas.microsoft.com/office/drawing/2014/main" id="{BC864B57-11AC-4893-A563-FECD62D7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8695" y="1610487"/>
            <a:ext cx="1545705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03 / 对齐责任</a:t>
            </a:r>
          </a:p>
        </p:txBody>
      </p:sp>
      <p:sp>
        <p:nvSpPr>
          <p:cNvPr id="9" name="rect-8">
            <a:extLst xmlns:a="http://schemas.openxmlformats.org/drawingml/2006/main">
              <a:ext uri="{FF2B5EF4-FFF2-40B4-BE49-F238E27FC236}">
                <a16:creationId xmlns:a16="http://schemas.microsoft.com/office/drawing/2014/main" id="{E5E8BDA1-1F38-41A4-BE8B-00ECDA72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09800"/>
            <a:ext cx="2628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" name="需求填报">
            <a:extLst xmlns:a="http://schemas.openxmlformats.org/drawingml/2006/main">
              <a:ext uri="{FF2B5EF4-FFF2-40B4-BE49-F238E27FC236}">
                <a16:creationId xmlns:a16="http://schemas.microsoft.com/office/drawing/2014/main" id="{9B8C6876-E3B7-43C7-B187-2733B267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47900"/>
            <a:ext cx="10858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需求填报</a:t>
            </a:r>
          </a:p>
        </p:txBody>
      </p:sp>
      <p:sp>
        <p:nvSpPr>
          <p:cNvPr id="11" name="rect-10">
            <a:extLst xmlns:a="http://schemas.openxmlformats.org/drawingml/2006/main">
              <a:ext uri="{FF2B5EF4-FFF2-40B4-BE49-F238E27FC236}">
                <a16:creationId xmlns:a16="http://schemas.microsoft.com/office/drawing/2014/main" id="{3A3121DE-281B-47A2-9BC6-64049C36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209800"/>
            <a:ext cx="2628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" name="预测审核">
            <a:extLst xmlns:a="http://schemas.openxmlformats.org/drawingml/2006/main">
              <a:ext uri="{FF2B5EF4-FFF2-40B4-BE49-F238E27FC236}">
                <a16:creationId xmlns:a16="http://schemas.microsoft.com/office/drawing/2014/main" id="{079D7773-9FC8-42D2-B3BB-63A22986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47900"/>
            <a:ext cx="10858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预测审核</a:t>
            </a:r>
          </a:p>
        </p:txBody>
      </p:sp>
      <p:sp>
        <p:nvSpPr>
          <p:cNvPr id="13" name="rect-12">
            <a:extLst xmlns:a="http://schemas.openxmlformats.org/drawingml/2006/main">
              <a:ext uri="{FF2B5EF4-FFF2-40B4-BE49-F238E27FC236}">
                <a16:creationId xmlns:a16="http://schemas.microsoft.com/office/drawing/2014/main" id="{C7226517-12E4-4897-BEC7-C82F3812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209800"/>
            <a:ext cx="2628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" name="最终计划">
            <a:extLst xmlns:a="http://schemas.openxmlformats.org/drawingml/2006/main">
              <a:ext uri="{FF2B5EF4-FFF2-40B4-BE49-F238E27FC236}">
                <a16:creationId xmlns:a16="http://schemas.microsoft.com/office/drawing/2014/main" id="{83B9FA5E-9BA8-4849-A903-B6BA1455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47900"/>
            <a:ext cx="10858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最终计划</a:t>
            </a:r>
          </a:p>
        </p:txBody>
      </p:sp>
      <p:sp>
        <p:nvSpPr>
          <p:cNvPr id="15" name="rect-14">
            <a:extLst xmlns:a="http://schemas.openxmlformats.org/drawingml/2006/main">
              <a:ext uri="{FF2B5EF4-FFF2-40B4-BE49-F238E27FC236}">
                <a16:creationId xmlns:a16="http://schemas.microsoft.com/office/drawing/2014/main" id="{AFD64FA3-CE43-45D1-A575-F642B330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209800"/>
            <a:ext cx="2628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" name="需求 / PR">
            <a:extLst xmlns:a="http://schemas.openxmlformats.org/drawingml/2006/main">
              <a:ext uri="{FF2B5EF4-FFF2-40B4-BE49-F238E27FC236}">
                <a16:creationId xmlns:a16="http://schemas.microsoft.com/office/drawing/2014/main" id="{95A7DE83-2266-428F-83F3-057FD828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693" y="2247900"/>
            <a:ext cx="1214164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需求 / PR</a:t>
            </a:r>
          </a:p>
        </p:txBody>
      </p:sp>
      <p:sp>
        <p:nvSpPr>
          <p:cNvPr id="17" name="rect-16">
            <a:extLst xmlns:a="http://schemas.openxmlformats.org/drawingml/2006/main">
              <a:ext uri="{FF2B5EF4-FFF2-40B4-BE49-F238E27FC236}">
                <a16:creationId xmlns:a16="http://schemas.microsoft.com/office/drawing/2014/main" id="{7B65D838-A670-4B4E-A68F-D587D7CE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2209800"/>
            <a:ext cx="2628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" name="供应商分配">
            <a:extLst xmlns:a="http://schemas.openxmlformats.org/drawingml/2006/main">
              <a:ext uri="{FF2B5EF4-FFF2-40B4-BE49-F238E27FC236}">
                <a16:creationId xmlns:a16="http://schemas.microsoft.com/office/drawing/2014/main" id="{C9019200-7DDA-4EDD-8080-622C7A4E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925" y="2247900"/>
            <a:ext cx="13335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供应商分配</a:t>
            </a:r>
          </a:p>
        </p:txBody>
      </p:sp>
      <p:sp>
        <p:nvSpPr>
          <p:cNvPr id="19" name="rect-18">
            <a:extLst xmlns:a="http://schemas.openxmlformats.org/drawingml/2006/main">
              <a:ext uri="{FF2B5EF4-FFF2-40B4-BE49-F238E27FC236}">
                <a16:creationId xmlns:a16="http://schemas.microsoft.com/office/drawing/2014/main" id="{A7A954B7-B9B5-48EE-B5B1-4B775BBD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25" y="2209800"/>
            <a:ext cx="2628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" name="PO / 接单">
            <a:extLst xmlns:a="http://schemas.openxmlformats.org/drawingml/2006/main">
              <a:ext uri="{FF2B5EF4-FFF2-40B4-BE49-F238E27FC236}">
                <a16:creationId xmlns:a16="http://schemas.microsoft.com/office/drawing/2014/main" id="{542C2D48-49A6-42DC-B16D-0D3B6316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5819" y="2247900"/>
            <a:ext cx="1233511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PO / 接单</a:t>
            </a:r>
          </a:p>
        </p:txBody>
      </p:sp>
      <p:sp>
        <p:nvSpPr>
          <p:cNvPr id="21" name="rect-20">
            <a:extLst xmlns:a="http://schemas.openxmlformats.org/drawingml/2006/main">
              <a:ext uri="{FF2B5EF4-FFF2-40B4-BE49-F238E27FC236}">
                <a16:creationId xmlns:a16="http://schemas.microsoft.com/office/drawing/2014/main" id="{42FE8445-4CF3-4165-A54B-4D311262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25" y="2209800"/>
            <a:ext cx="2628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" name="生产 / 交付">
            <a:extLst xmlns:a="http://schemas.openxmlformats.org/drawingml/2006/main">
              <a:ext uri="{FF2B5EF4-FFF2-40B4-BE49-F238E27FC236}">
                <a16:creationId xmlns:a16="http://schemas.microsoft.com/office/drawing/2014/main" id="{7D03E7FC-88F0-4BF9-AFAE-E9635649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4139" y="2247900"/>
            <a:ext cx="1374672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生产 / 交付</a:t>
            </a:r>
          </a:p>
        </p:txBody>
      </p:sp>
      <p:sp>
        <p:nvSpPr>
          <p:cNvPr id="23" name="rect-22">
            <a:extLst xmlns:a="http://schemas.openxmlformats.org/drawingml/2006/main">
              <a:ext uri="{FF2B5EF4-FFF2-40B4-BE49-F238E27FC236}">
                <a16:creationId xmlns:a16="http://schemas.microsoft.com/office/drawing/2014/main" id="{D87D2320-DBC7-471F-BAF5-418F4C35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5925" y="2209800"/>
            <a:ext cx="2628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" name="库存 / 回流">
            <a:extLst xmlns:a="http://schemas.openxmlformats.org/drawingml/2006/main">
              <a:ext uri="{FF2B5EF4-FFF2-40B4-BE49-F238E27FC236}">
                <a16:creationId xmlns:a16="http://schemas.microsoft.com/office/drawing/2014/main" id="{5BC3619E-91CD-4DBB-995D-69512C04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3039" y="2247900"/>
            <a:ext cx="1374672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库存 / 回流</a:t>
            </a:r>
          </a:p>
        </p:txBody>
      </p:sp>
      <p:sp>
        <p:nvSpPr>
          <p:cNvPr id="25" name="rect-24">
            <a:extLst xmlns:a="http://schemas.openxmlformats.org/drawingml/2006/main">
              <a:ext uri="{FF2B5EF4-FFF2-40B4-BE49-F238E27FC236}">
                <a16:creationId xmlns:a16="http://schemas.microsoft.com/office/drawing/2014/main" id="{281388D0-EDF0-4214-BB3B-750CEB4F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7240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" name="rect-25">
            <a:extLst xmlns:a="http://schemas.openxmlformats.org/drawingml/2006/main">
              <a:ext uri="{FF2B5EF4-FFF2-40B4-BE49-F238E27FC236}">
                <a16:creationId xmlns:a16="http://schemas.microsoft.com/office/drawing/2014/main" id="{A83FBE8C-B49F-4A37-8723-504ED143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19375"/>
            <a:ext cx="21031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" name="销售 / 运营">
            <a:extLst xmlns:a="http://schemas.openxmlformats.org/drawingml/2006/main">
              <a:ext uri="{FF2B5EF4-FFF2-40B4-BE49-F238E27FC236}">
                <a16:creationId xmlns:a16="http://schemas.microsoft.com/office/drawing/2014/main" id="{8941B23D-A2D0-44EF-AF44-57F77BF4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1374672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销售 / 运营</a:t>
            </a:r>
          </a:p>
        </p:txBody>
      </p:sp>
      <p:sp>
        <p:nvSpPr>
          <p:cNvPr id="28" name="需求填报与确认">
            <a:extLst xmlns:a="http://schemas.openxmlformats.org/drawingml/2006/main">
              <a:ext uri="{FF2B5EF4-FFF2-40B4-BE49-F238E27FC236}">
                <a16:creationId xmlns:a16="http://schemas.microsoft.com/office/drawing/2014/main" id="{6234BDF8-9823-40A4-BFD0-6AD8FF96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2617"/>
            <a:ext cx="1343406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需求填报与确认</a:t>
            </a:r>
          </a:p>
        </p:txBody>
      </p:sp>
      <p:sp>
        <p:nvSpPr>
          <p:cNvPr id="29" name="path-28">
            <a:extLst xmlns:a="http://schemas.openxmlformats.org/drawingml/2006/main">
              <a:ext uri="{FF2B5EF4-FFF2-40B4-BE49-F238E27FC236}">
                <a16:creationId xmlns:a16="http://schemas.microsoft.com/office/drawing/2014/main" id="{AB952537-B8A0-4797-889F-6A5B37E2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2755225" cy="476"/>
          </a:xfrm>
          <a:custGeom xmlns:a="http://schemas.openxmlformats.org/drawingml/2006/main">
            <a:pathLst>
              <a:path w="22755225" h="476">
                <a:moveTo>
                  <a:pt x="0" y="0"/>
                </a:moveTo>
                <a:lnTo>
                  <a:pt x="22755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30" name="rect-29">
            <a:extLst xmlns:a="http://schemas.openxmlformats.org/drawingml/2006/main">
              <a:ext uri="{FF2B5EF4-FFF2-40B4-BE49-F238E27FC236}">
                <a16:creationId xmlns:a16="http://schemas.microsoft.com/office/drawing/2014/main" id="{597F2175-DA16-4E82-B1CD-07243DD4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7240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C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1" name="rect-30">
            <a:extLst xmlns:a="http://schemas.openxmlformats.org/drawingml/2006/main">
              <a:ext uri="{FF2B5EF4-FFF2-40B4-BE49-F238E27FC236}">
                <a16:creationId xmlns:a16="http://schemas.microsoft.com/office/drawing/2014/main" id="{6483D30B-965D-4C73-924E-8C61E7C7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95750"/>
            <a:ext cx="21031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E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2" name="PMC">
            <a:extLst xmlns:a="http://schemas.openxmlformats.org/drawingml/2006/main">
              <a:ext uri="{FF2B5EF4-FFF2-40B4-BE49-F238E27FC236}">
                <a16:creationId xmlns:a16="http://schemas.microsoft.com/office/drawing/2014/main" id="{5838600D-6F57-458D-89DA-D54E7C08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662368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PMC</a:t>
            </a:r>
          </a:p>
        </p:txBody>
      </p:sp>
      <p:sp>
        <p:nvSpPr>
          <p:cNvPr id="33" name="计划决策 · P0">
            <a:extLst xmlns:a="http://schemas.openxmlformats.org/drawingml/2006/main">
              <a:ext uri="{FF2B5EF4-FFF2-40B4-BE49-F238E27FC236}">
                <a16:creationId xmlns:a16="http://schemas.microsoft.com/office/drawing/2014/main" id="{ACE9DA12-459E-48E2-BC80-B5A21BE4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8992"/>
            <a:ext cx="1238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计划决策 · P0</a:t>
            </a:r>
          </a:p>
        </p:txBody>
      </p:sp>
      <p:sp>
        <p:nvSpPr>
          <p:cNvPr id="34" name="path-33">
            <a:extLst xmlns:a="http://schemas.openxmlformats.org/drawingml/2006/main">
              <a:ext uri="{FF2B5EF4-FFF2-40B4-BE49-F238E27FC236}">
                <a16:creationId xmlns:a16="http://schemas.microsoft.com/office/drawing/2014/main" id="{F998F38E-F3DE-49D9-8C91-DFF52D59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22755225" cy="476"/>
          </a:xfrm>
          <a:custGeom xmlns:a="http://schemas.openxmlformats.org/drawingml/2006/main">
            <a:pathLst>
              <a:path w="22755225" h="476">
                <a:moveTo>
                  <a:pt x="0" y="0"/>
                </a:moveTo>
                <a:lnTo>
                  <a:pt x="22755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35" name="rect-34">
            <a:extLst xmlns:a="http://schemas.openxmlformats.org/drawingml/2006/main">
              <a:ext uri="{FF2B5EF4-FFF2-40B4-BE49-F238E27FC236}">
                <a16:creationId xmlns:a16="http://schemas.microsoft.com/office/drawing/2014/main" id="{D539AE8F-A650-458C-95C1-165F61F9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7240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6" name="rect-35">
            <a:extLst xmlns:a="http://schemas.openxmlformats.org/drawingml/2006/main">
              <a:ext uri="{FF2B5EF4-FFF2-40B4-BE49-F238E27FC236}">
                <a16:creationId xmlns:a16="http://schemas.microsoft.com/office/drawing/2014/main" id="{4F1A9A2E-1263-4848-A1E6-877DC32C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72125"/>
            <a:ext cx="21031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7" name="MRP">
            <a:extLst xmlns:a="http://schemas.openxmlformats.org/drawingml/2006/main">
              <a:ext uri="{FF2B5EF4-FFF2-40B4-BE49-F238E27FC236}">
                <a16:creationId xmlns:a16="http://schemas.microsoft.com/office/drawing/2014/main" id="{EAB485C8-AAE7-4A52-A0F1-1B68DFC6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15025"/>
            <a:ext cx="653701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MRP</a:t>
            </a:r>
          </a:p>
        </p:txBody>
      </p:sp>
      <p:sp>
        <p:nvSpPr>
          <p:cNvPr id="38" name="物料计划 · P1">
            <a:extLst xmlns:a="http://schemas.openxmlformats.org/drawingml/2006/main">
              <a:ext uri="{FF2B5EF4-FFF2-40B4-BE49-F238E27FC236}">
                <a16:creationId xmlns:a16="http://schemas.microsoft.com/office/drawing/2014/main" id="{00453AAA-502D-4EB0-9C38-1610E9C1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5367"/>
            <a:ext cx="12024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物料计划 · P1</a:t>
            </a:r>
          </a:p>
        </p:txBody>
      </p:sp>
      <p:sp>
        <p:nvSpPr>
          <p:cNvPr id="39" name="path-38">
            <a:extLst xmlns:a="http://schemas.openxmlformats.org/drawingml/2006/main">
              <a:ext uri="{FF2B5EF4-FFF2-40B4-BE49-F238E27FC236}">
                <a16:creationId xmlns:a16="http://schemas.microsoft.com/office/drawing/2014/main" id="{7BF481E2-06B0-41E3-82C2-88C75ED2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0"/>
            <a:ext cx="22755225" cy="476"/>
          </a:xfrm>
          <a:custGeom xmlns:a="http://schemas.openxmlformats.org/drawingml/2006/main">
            <a:pathLst>
              <a:path w="22755225" h="476">
                <a:moveTo>
                  <a:pt x="0" y="0"/>
                </a:moveTo>
                <a:lnTo>
                  <a:pt x="22755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40" name="rect-39">
            <a:extLst xmlns:a="http://schemas.openxmlformats.org/drawingml/2006/main">
              <a:ext uri="{FF2B5EF4-FFF2-40B4-BE49-F238E27FC236}">
                <a16:creationId xmlns:a16="http://schemas.microsoft.com/office/drawing/2014/main" id="{C18D7453-9DA3-4DE3-B91E-E335029F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0"/>
            <a:ext cx="17240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1" name="rect-40">
            <a:extLst xmlns:a="http://schemas.openxmlformats.org/drawingml/2006/main">
              <a:ext uri="{FF2B5EF4-FFF2-40B4-BE49-F238E27FC236}">
                <a16:creationId xmlns:a16="http://schemas.microsoft.com/office/drawing/2014/main" id="{C014E58C-B3E8-49B2-AFFD-B5758679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048500"/>
            <a:ext cx="21031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2" name="SCM / 采购">
            <a:extLst xmlns:a="http://schemas.openxmlformats.org/drawingml/2006/main">
              <a:ext uri="{FF2B5EF4-FFF2-40B4-BE49-F238E27FC236}">
                <a16:creationId xmlns:a16="http://schemas.microsoft.com/office/drawing/2014/main" id="{ADB5B4E6-A891-43D0-BF9B-2C67FB85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391400"/>
            <a:ext cx="1445562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SCM / 采购</a:t>
            </a:r>
          </a:p>
        </p:txBody>
      </p:sp>
      <p:sp>
        <p:nvSpPr>
          <p:cNvPr id="43" name="采购执行 · P0">
            <a:extLst xmlns:a="http://schemas.openxmlformats.org/drawingml/2006/main">
              <a:ext uri="{FF2B5EF4-FFF2-40B4-BE49-F238E27FC236}">
                <a16:creationId xmlns:a16="http://schemas.microsoft.com/office/drawing/2014/main" id="{3E18EFD9-0463-4550-80DF-98127A82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41742"/>
            <a:ext cx="1238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采购执行 · P0</a:t>
            </a:r>
          </a:p>
        </p:txBody>
      </p:sp>
      <p:sp>
        <p:nvSpPr>
          <p:cNvPr id="44" name="path-43">
            <a:extLst xmlns:a="http://schemas.openxmlformats.org/drawingml/2006/main">
              <a:ext uri="{FF2B5EF4-FFF2-40B4-BE49-F238E27FC236}">
                <a16:creationId xmlns:a16="http://schemas.microsoft.com/office/drawing/2014/main" id="{C47C437B-41CB-4BA2-AFCC-397B4522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24875"/>
            <a:ext cx="22755225" cy="476"/>
          </a:xfrm>
          <a:custGeom xmlns:a="http://schemas.openxmlformats.org/drawingml/2006/main">
            <a:pathLst>
              <a:path w="22755225" h="476">
                <a:moveTo>
                  <a:pt x="0" y="0"/>
                </a:moveTo>
                <a:lnTo>
                  <a:pt x="22755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45" name="rect-44">
            <a:extLst xmlns:a="http://schemas.openxmlformats.org/drawingml/2006/main">
              <a:ext uri="{FF2B5EF4-FFF2-40B4-BE49-F238E27FC236}">
                <a16:creationId xmlns:a16="http://schemas.microsoft.com/office/drawing/2014/main" id="{11A51228-F643-4554-A748-88276D5F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24875"/>
            <a:ext cx="17240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6" name="rect-45">
            <a:extLst xmlns:a="http://schemas.openxmlformats.org/drawingml/2006/main">
              <a:ext uri="{FF2B5EF4-FFF2-40B4-BE49-F238E27FC236}">
                <a16:creationId xmlns:a16="http://schemas.microsoft.com/office/drawing/2014/main" id="{0EC03F20-436E-4FF9-A9EA-40EFF7B0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524875"/>
            <a:ext cx="21031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7" name="供应商 / MES">
            <a:extLst xmlns:a="http://schemas.openxmlformats.org/drawingml/2006/main">
              <a:ext uri="{FF2B5EF4-FFF2-40B4-BE49-F238E27FC236}">
                <a16:creationId xmlns:a16="http://schemas.microsoft.com/office/drawing/2014/main" id="{2C8689AC-3F7B-4200-915F-B1DF50CC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867775"/>
            <a:ext cx="1670923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供应商 / MES</a:t>
            </a:r>
          </a:p>
        </p:txBody>
      </p:sp>
      <p:sp>
        <p:nvSpPr>
          <p:cNvPr id="48" name="履约与已有MES协同">
            <a:extLst xmlns:a="http://schemas.openxmlformats.org/drawingml/2006/main">
              <a:ext uri="{FF2B5EF4-FFF2-40B4-BE49-F238E27FC236}">
                <a16:creationId xmlns:a16="http://schemas.microsoft.com/office/drawing/2014/main" id="{B0D49F89-680D-41C5-9F6C-66342610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18117"/>
            <a:ext cx="1726954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履约与已有MES协同</a:t>
            </a:r>
          </a:p>
        </p:txBody>
      </p:sp>
      <p:sp>
        <p:nvSpPr>
          <p:cNvPr id="49" name="path-48">
            <a:extLst xmlns:a="http://schemas.openxmlformats.org/drawingml/2006/main">
              <a:ext uri="{FF2B5EF4-FFF2-40B4-BE49-F238E27FC236}">
                <a16:creationId xmlns:a16="http://schemas.microsoft.com/office/drawing/2014/main" id="{04442214-B260-467D-B0FC-96955A07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0"/>
            <a:ext cx="22755225" cy="476"/>
          </a:xfrm>
          <a:custGeom xmlns:a="http://schemas.openxmlformats.org/drawingml/2006/main">
            <a:pathLst>
              <a:path w="22755225" h="476">
                <a:moveTo>
                  <a:pt x="0" y="0"/>
                </a:moveTo>
                <a:lnTo>
                  <a:pt x="22755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50" name="rect-49">
            <a:extLst xmlns:a="http://schemas.openxmlformats.org/drawingml/2006/main">
              <a:ext uri="{FF2B5EF4-FFF2-40B4-BE49-F238E27FC236}">
                <a16:creationId xmlns:a16="http://schemas.microsoft.com/office/drawing/2014/main" id="{D1EB8162-E18E-4A7E-B1C9-7D49EE58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0"/>
            <a:ext cx="17240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1" name="rect-50">
            <a:extLst xmlns:a="http://schemas.openxmlformats.org/drawingml/2006/main">
              <a:ext uri="{FF2B5EF4-FFF2-40B4-BE49-F238E27FC236}">
                <a16:creationId xmlns:a16="http://schemas.microsoft.com/office/drawing/2014/main" id="{37CF35AE-F960-4CE3-9FD3-1A9B378E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0001250"/>
            <a:ext cx="21031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2" name="仓储 / 库存">
            <a:extLst xmlns:a="http://schemas.openxmlformats.org/drawingml/2006/main">
              <a:ext uri="{FF2B5EF4-FFF2-40B4-BE49-F238E27FC236}">
                <a16:creationId xmlns:a16="http://schemas.microsoft.com/office/drawing/2014/main" id="{CAE61578-5CA0-4ECE-A03F-75C15E26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344150"/>
            <a:ext cx="1374672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仓储 / 库存</a:t>
            </a:r>
          </a:p>
        </p:txBody>
      </p:sp>
      <p:sp>
        <p:nvSpPr>
          <p:cNvPr id="53" name="事实结果回传">
            <a:extLst xmlns:a="http://schemas.openxmlformats.org/drawingml/2006/main">
              <a:ext uri="{FF2B5EF4-FFF2-40B4-BE49-F238E27FC236}">
                <a16:creationId xmlns:a16="http://schemas.microsoft.com/office/drawing/2014/main" id="{7953EDF5-1E6B-443D-A0F5-D42860FB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794492"/>
            <a:ext cx="1165098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事实结果回传</a:t>
            </a:r>
          </a:p>
        </p:txBody>
      </p:sp>
      <p:sp>
        <p:nvSpPr>
          <p:cNvPr id="54" name="path-53">
            <a:extLst xmlns:a="http://schemas.openxmlformats.org/drawingml/2006/main">
              <a:ext uri="{FF2B5EF4-FFF2-40B4-BE49-F238E27FC236}">
                <a16:creationId xmlns:a16="http://schemas.microsoft.com/office/drawing/2014/main" id="{18DC554F-8990-4100-B6BA-307770C3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77625"/>
            <a:ext cx="22755225" cy="476"/>
          </a:xfrm>
          <a:custGeom xmlns:a="http://schemas.openxmlformats.org/drawingml/2006/main">
            <a:pathLst>
              <a:path w="22755225" h="476">
                <a:moveTo>
                  <a:pt x="0" y="0"/>
                </a:moveTo>
                <a:lnTo>
                  <a:pt x="22755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55" name="path-54">
            <a:extLst xmlns:a="http://schemas.openxmlformats.org/drawingml/2006/main">
              <a:ext uri="{FF2B5EF4-FFF2-40B4-BE49-F238E27FC236}">
                <a16:creationId xmlns:a16="http://schemas.microsoft.com/office/drawing/2014/main" id="{97F672A2-DB9E-4466-9A1A-A318FE97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19375"/>
            <a:ext cx="476" cy="8858250"/>
          </a:xfrm>
          <a:custGeom xmlns:a="http://schemas.openxmlformats.org/drawingml/2006/main">
            <a:pathLst>
              <a:path w="476" h="8858250">
                <a:moveTo>
                  <a:pt x="0" y="0"/>
                </a:moveTo>
                <a:lnTo>
                  <a:pt x="0" y="8858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56" name="path-55">
            <a:extLst xmlns:a="http://schemas.openxmlformats.org/drawingml/2006/main">
              <a:ext uri="{FF2B5EF4-FFF2-40B4-BE49-F238E27FC236}">
                <a16:creationId xmlns:a16="http://schemas.microsoft.com/office/drawing/2014/main" id="{5F686ACB-A38F-4F14-846D-CDB63D2D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619375"/>
            <a:ext cx="476" cy="8858250"/>
          </a:xfrm>
          <a:custGeom xmlns:a="http://schemas.openxmlformats.org/drawingml/2006/main">
            <a:pathLst>
              <a:path w="476" h="8858250">
                <a:moveTo>
                  <a:pt x="0" y="0"/>
                </a:moveTo>
                <a:lnTo>
                  <a:pt x="0" y="8858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57" name="path-56">
            <a:extLst xmlns:a="http://schemas.openxmlformats.org/drawingml/2006/main">
              <a:ext uri="{FF2B5EF4-FFF2-40B4-BE49-F238E27FC236}">
                <a16:creationId xmlns:a16="http://schemas.microsoft.com/office/drawing/2014/main" id="{23F5772C-65F7-48CA-88DE-F62750C9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19375"/>
            <a:ext cx="476" cy="8858250"/>
          </a:xfrm>
          <a:custGeom xmlns:a="http://schemas.openxmlformats.org/drawingml/2006/main">
            <a:pathLst>
              <a:path w="476" h="8858250">
                <a:moveTo>
                  <a:pt x="0" y="0"/>
                </a:moveTo>
                <a:lnTo>
                  <a:pt x="0" y="8858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58" name="path-57">
            <a:extLst xmlns:a="http://schemas.openxmlformats.org/drawingml/2006/main">
              <a:ext uri="{FF2B5EF4-FFF2-40B4-BE49-F238E27FC236}">
                <a16:creationId xmlns:a16="http://schemas.microsoft.com/office/drawing/2014/main" id="{9F7F1ED1-BA53-4372-9731-1A099C7A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619375"/>
            <a:ext cx="476" cy="8858250"/>
          </a:xfrm>
          <a:custGeom xmlns:a="http://schemas.openxmlformats.org/drawingml/2006/main">
            <a:pathLst>
              <a:path w="476" h="8858250">
                <a:moveTo>
                  <a:pt x="0" y="0"/>
                </a:moveTo>
                <a:lnTo>
                  <a:pt x="0" y="8858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59" name="path-58">
            <a:extLst xmlns:a="http://schemas.openxmlformats.org/drawingml/2006/main">
              <a:ext uri="{FF2B5EF4-FFF2-40B4-BE49-F238E27FC236}">
                <a16:creationId xmlns:a16="http://schemas.microsoft.com/office/drawing/2014/main" id="{35AF6FCD-0C50-4CDB-86E1-231112D0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2619375"/>
            <a:ext cx="476" cy="8858250"/>
          </a:xfrm>
          <a:custGeom xmlns:a="http://schemas.openxmlformats.org/drawingml/2006/main">
            <a:pathLst>
              <a:path w="476" h="8858250">
                <a:moveTo>
                  <a:pt x="0" y="0"/>
                </a:moveTo>
                <a:lnTo>
                  <a:pt x="0" y="8858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60" name="path-59">
            <a:extLst xmlns:a="http://schemas.openxmlformats.org/drawingml/2006/main">
              <a:ext uri="{FF2B5EF4-FFF2-40B4-BE49-F238E27FC236}">
                <a16:creationId xmlns:a16="http://schemas.microsoft.com/office/drawing/2014/main" id="{655BE67A-380E-4905-8140-009CA02D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25" y="2619375"/>
            <a:ext cx="476" cy="8858250"/>
          </a:xfrm>
          <a:custGeom xmlns:a="http://schemas.openxmlformats.org/drawingml/2006/main">
            <a:pathLst>
              <a:path w="476" h="8858250">
                <a:moveTo>
                  <a:pt x="0" y="0"/>
                </a:moveTo>
                <a:lnTo>
                  <a:pt x="0" y="8858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61" name="path-60">
            <a:extLst xmlns:a="http://schemas.openxmlformats.org/drawingml/2006/main">
              <a:ext uri="{FF2B5EF4-FFF2-40B4-BE49-F238E27FC236}">
                <a16:creationId xmlns:a16="http://schemas.microsoft.com/office/drawing/2014/main" id="{DB0C6FCD-A173-4863-98F0-DDCCAAD4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25" y="2619375"/>
            <a:ext cx="476" cy="8858250"/>
          </a:xfrm>
          <a:custGeom xmlns:a="http://schemas.openxmlformats.org/drawingml/2006/main">
            <a:pathLst>
              <a:path w="476" h="8858250">
                <a:moveTo>
                  <a:pt x="0" y="0"/>
                </a:moveTo>
                <a:lnTo>
                  <a:pt x="0" y="8858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62" name="path-61">
            <a:extLst xmlns:a="http://schemas.openxmlformats.org/drawingml/2006/main">
              <a:ext uri="{FF2B5EF4-FFF2-40B4-BE49-F238E27FC236}">
                <a16:creationId xmlns:a16="http://schemas.microsoft.com/office/drawing/2014/main" id="{593501EC-D5DA-4222-BA56-24EE0B64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5925" y="2619375"/>
            <a:ext cx="476" cy="8858250"/>
          </a:xfrm>
          <a:custGeom xmlns:a="http://schemas.openxmlformats.org/drawingml/2006/main">
            <a:pathLst>
              <a:path w="476" h="8858250">
                <a:moveTo>
                  <a:pt x="0" y="0"/>
                </a:moveTo>
                <a:lnTo>
                  <a:pt x="0" y="8858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63" name="path-62">
            <a:extLst xmlns:a="http://schemas.openxmlformats.org/drawingml/2006/main">
              <a:ext uri="{FF2B5EF4-FFF2-40B4-BE49-F238E27FC236}">
                <a16:creationId xmlns:a16="http://schemas.microsoft.com/office/drawing/2014/main" id="{84BA7F49-6AD3-4CEA-B80B-F8C581F4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4825" y="2619375"/>
            <a:ext cx="476" cy="8858250"/>
          </a:xfrm>
          <a:custGeom xmlns:a="http://schemas.openxmlformats.org/drawingml/2006/main">
            <a:pathLst>
              <a:path w="476" h="8858250">
                <a:moveTo>
                  <a:pt x="0" y="0"/>
                </a:moveTo>
                <a:lnTo>
                  <a:pt x="0" y="8858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64" name="rect-63">
            <a:extLst xmlns:a="http://schemas.openxmlformats.org/drawingml/2006/main">
              <a:ext uri="{FF2B5EF4-FFF2-40B4-BE49-F238E27FC236}">
                <a16:creationId xmlns:a16="http://schemas.microsoft.com/office/drawing/2014/main" id="{D30B8737-2F0E-401A-A3F8-9CBE1EA1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876550"/>
            <a:ext cx="226695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65" name="rect-64">
            <a:extLst xmlns:a="http://schemas.openxmlformats.org/drawingml/2006/main">
              <a:ext uri="{FF2B5EF4-FFF2-40B4-BE49-F238E27FC236}">
                <a16:creationId xmlns:a16="http://schemas.microsoft.com/office/drawing/2014/main" id="{07D96B6D-4B0B-477E-950F-B11E1C82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8765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6" name="日级预测与确认">
            <a:extLst xmlns:a="http://schemas.openxmlformats.org/drawingml/2006/main">
              <a:ext uri="{FF2B5EF4-FFF2-40B4-BE49-F238E27FC236}">
                <a16:creationId xmlns:a16="http://schemas.microsoft.com/office/drawing/2014/main" id="{F695A4C4-C523-4A2C-B15F-CB6BF83A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24175"/>
            <a:ext cx="18288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日级预测与确认</a:t>
            </a:r>
          </a:p>
        </p:txBody>
      </p:sp>
      <p:sp>
        <p:nvSpPr>
          <p:cNvPr id="67" name="活动预测、人工调整">
            <a:extLst xmlns:a="http://schemas.openxmlformats.org/drawingml/2006/main">
              <a:ext uri="{FF2B5EF4-FFF2-40B4-BE49-F238E27FC236}">
                <a16:creationId xmlns:a16="http://schemas.microsoft.com/office/drawing/2014/main" id="{1ADC6FBC-B8BA-4974-B28E-27E05E7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385" y="3297555"/>
            <a:ext cx="18783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活动预测、人工调整</a:t>
            </a:r>
          </a:p>
        </p:txBody>
      </p:sp>
      <p:sp>
        <p:nvSpPr>
          <p:cNvPr id="68" name="提交确认">
            <a:extLst xmlns:a="http://schemas.openxmlformats.org/drawingml/2006/main">
              <a:ext uri="{FF2B5EF4-FFF2-40B4-BE49-F238E27FC236}">
                <a16:creationId xmlns:a16="http://schemas.microsoft.com/office/drawing/2014/main" id="{50FC24B1-1A10-4BFD-9C56-C4BADA80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685" y="3564255"/>
            <a:ext cx="8877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提交确认</a:t>
            </a:r>
          </a:p>
        </p:txBody>
      </p:sp>
      <p:sp>
        <p:nvSpPr>
          <p:cNvPr id="69" name="rect-68">
            <a:extLst xmlns:a="http://schemas.openxmlformats.org/drawingml/2006/main">
              <a:ext uri="{FF2B5EF4-FFF2-40B4-BE49-F238E27FC236}">
                <a16:creationId xmlns:a16="http://schemas.microsoft.com/office/drawing/2014/main" id="{B2315CE2-D567-461D-AAB3-6D9D551A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352925"/>
            <a:ext cx="226695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70" name="rect-69">
            <a:extLst xmlns:a="http://schemas.openxmlformats.org/drawingml/2006/main">
              <a:ext uri="{FF2B5EF4-FFF2-40B4-BE49-F238E27FC236}">
                <a16:creationId xmlns:a16="http://schemas.microsoft.com/office/drawing/2014/main" id="{18BA677F-E402-460E-B93A-383A7488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352925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1" name="开启预测周期">
            <a:extLst xmlns:a="http://schemas.openxmlformats.org/drawingml/2006/main">
              <a:ext uri="{FF2B5EF4-FFF2-40B4-BE49-F238E27FC236}">
                <a16:creationId xmlns:a16="http://schemas.microsoft.com/office/drawing/2014/main" id="{D714655D-00E7-448E-B8AB-CE4026A3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400550"/>
            <a:ext cx="1581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开启预测周期</a:t>
            </a:r>
          </a:p>
        </p:txBody>
      </p:sp>
      <p:sp>
        <p:nvSpPr>
          <p:cNvPr id="72" name="月份、W周期、窗口">
            <a:extLst xmlns:a="http://schemas.openxmlformats.org/drawingml/2006/main">
              <a:ext uri="{FF2B5EF4-FFF2-40B4-BE49-F238E27FC236}">
                <a16:creationId xmlns:a16="http://schemas.microsoft.com/office/drawing/2014/main" id="{22BC1003-F71C-47B2-955A-4F7262A0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273" y="4773930"/>
            <a:ext cx="1864554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月份、W周期、窗口</a:t>
            </a:r>
          </a:p>
        </p:txBody>
      </p:sp>
      <p:sp>
        <p:nvSpPr>
          <p:cNvPr id="73" name="rect-72">
            <a:extLst xmlns:a="http://schemas.openxmlformats.org/drawingml/2006/main">
              <a:ext uri="{FF2B5EF4-FFF2-40B4-BE49-F238E27FC236}">
                <a16:creationId xmlns:a16="http://schemas.microsoft.com/office/drawing/2014/main" id="{3695D048-0AC8-4E0C-8E6D-0EFA3843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352925"/>
            <a:ext cx="226695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74" name="rect-73">
            <a:extLst xmlns:a="http://schemas.openxmlformats.org/drawingml/2006/main">
              <a:ext uri="{FF2B5EF4-FFF2-40B4-BE49-F238E27FC236}">
                <a16:creationId xmlns:a16="http://schemas.microsoft.com/office/drawing/2014/main" id="{2EE854A9-855A-4FEB-A773-815D93DA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352925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5" name="审核与校准">
            <a:extLst xmlns:a="http://schemas.openxmlformats.org/drawingml/2006/main">
              <a:ext uri="{FF2B5EF4-FFF2-40B4-BE49-F238E27FC236}">
                <a16:creationId xmlns:a16="http://schemas.microsoft.com/office/drawing/2014/main" id="{EA1CD83A-5F0D-4369-BF33-B7366025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00550"/>
            <a:ext cx="13335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审核与校准</a:t>
            </a:r>
          </a:p>
        </p:txBody>
      </p:sp>
      <p:sp>
        <p:nvSpPr>
          <p:cNvPr id="76" name="预测、库存、在途、水位">
            <a:extLst xmlns:a="http://schemas.openxmlformats.org/drawingml/2006/main">
              <a:ext uri="{FF2B5EF4-FFF2-40B4-BE49-F238E27FC236}">
                <a16:creationId xmlns:a16="http://schemas.microsoft.com/office/drawing/2014/main" id="{BACD9A7F-BA2F-428A-B5AF-C354A94D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165" y="4773930"/>
            <a:ext cx="227457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预测、库存、在途、水位</a:t>
            </a:r>
          </a:p>
        </p:txBody>
      </p:sp>
      <p:sp>
        <p:nvSpPr>
          <p:cNvPr id="77" name="rect-76">
            <a:extLst xmlns:a="http://schemas.openxmlformats.org/drawingml/2006/main">
              <a:ext uri="{FF2B5EF4-FFF2-40B4-BE49-F238E27FC236}">
                <a16:creationId xmlns:a16="http://schemas.microsoft.com/office/drawing/2014/main" id="{885E9AAA-C057-4AF6-A43C-4132339B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52925"/>
            <a:ext cx="226695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78" name="rect-77">
            <a:extLst xmlns:a="http://schemas.openxmlformats.org/drawingml/2006/main">
              <a:ext uri="{FF2B5EF4-FFF2-40B4-BE49-F238E27FC236}">
                <a16:creationId xmlns:a16="http://schemas.microsoft.com/office/drawing/2014/main" id="{9805C692-B0C0-47AA-85D6-1F3DE9D8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52925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9" name="最终采购需求">
            <a:extLst xmlns:a="http://schemas.openxmlformats.org/drawingml/2006/main">
              <a:ext uri="{FF2B5EF4-FFF2-40B4-BE49-F238E27FC236}">
                <a16:creationId xmlns:a16="http://schemas.microsoft.com/office/drawing/2014/main" id="{DCAD671E-02E7-43B1-A064-34ADBAAC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400550"/>
            <a:ext cx="1581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最终采购需求</a:t>
            </a:r>
          </a:p>
        </p:txBody>
      </p:sp>
      <p:sp>
        <p:nvSpPr>
          <p:cNvPr id="80" name="SKU版本、供货能力">
            <a:extLst xmlns:a="http://schemas.openxmlformats.org/drawingml/2006/main">
              <a:ext uri="{FF2B5EF4-FFF2-40B4-BE49-F238E27FC236}">
                <a16:creationId xmlns:a16="http://schemas.microsoft.com/office/drawing/2014/main" id="{317FB57B-1E38-4880-A01A-0A752BA9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548" y="4773930"/>
            <a:ext cx="188560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SKU版本、供货能力</a:t>
            </a:r>
          </a:p>
        </p:txBody>
      </p:sp>
      <p:sp>
        <p:nvSpPr>
          <p:cNvPr id="81" name="买什么 / 多少 / 何时要">
            <a:extLst xmlns:a="http://schemas.openxmlformats.org/drawingml/2006/main">
              <a:ext uri="{FF2B5EF4-FFF2-40B4-BE49-F238E27FC236}">
                <a16:creationId xmlns:a16="http://schemas.microsoft.com/office/drawing/2014/main" id="{CC1078F2-C9CC-48B1-8014-38B61940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234" y="5040630"/>
            <a:ext cx="214223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买什么 / 多少 / 何时要</a:t>
            </a:r>
          </a:p>
        </p:txBody>
      </p:sp>
      <p:sp>
        <p:nvSpPr>
          <p:cNvPr id="82" name="rect-81">
            <a:extLst xmlns:a="http://schemas.openxmlformats.org/drawingml/2006/main">
              <a:ext uri="{FF2B5EF4-FFF2-40B4-BE49-F238E27FC236}">
                <a16:creationId xmlns:a16="http://schemas.microsoft.com/office/drawing/2014/main" id="{DC855B1A-84F3-4036-8A8D-4E9F1C09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7375" y="4352925"/>
            <a:ext cx="226695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83" name="rect-82">
            <a:extLst xmlns:a="http://schemas.openxmlformats.org/drawingml/2006/main">
              <a:ext uri="{FF2B5EF4-FFF2-40B4-BE49-F238E27FC236}">
                <a16:creationId xmlns:a16="http://schemas.microsoft.com/office/drawing/2014/main" id="{56D93768-6891-4374-A3AA-BD8228C5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7375" y="4352925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4" name="下一轮滚动计划">
            <a:extLst xmlns:a="http://schemas.openxmlformats.org/drawingml/2006/main">
              <a:ext uri="{FF2B5EF4-FFF2-40B4-BE49-F238E27FC236}">
                <a16:creationId xmlns:a16="http://schemas.microsoft.com/office/drawing/2014/main" id="{BCA632B3-40CE-487D-A041-9E5A4115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6450" y="4400550"/>
            <a:ext cx="18288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下一轮滚动计划</a:t>
            </a:r>
          </a:p>
        </p:txBody>
      </p:sp>
      <p:sp>
        <p:nvSpPr>
          <p:cNvPr id="85" name="执行偏差反馈">
            <a:extLst xmlns:a="http://schemas.openxmlformats.org/drawingml/2006/main">
              <a:ext uri="{FF2B5EF4-FFF2-40B4-BE49-F238E27FC236}">
                <a16:creationId xmlns:a16="http://schemas.microsoft.com/office/drawing/2014/main" id="{B19B7ADE-E43F-4E75-8E9C-344FAD37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8865" y="4773930"/>
            <a:ext cx="128397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执行偏差反馈</a:t>
            </a:r>
          </a:p>
        </p:txBody>
      </p:sp>
      <p:sp>
        <p:nvSpPr>
          <p:cNvPr id="86" name="更新需求与备货判断">
            <a:extLst xmlns:a="http://schemas.openxmlformats.org/drawingml/2006/main">
              <a:ext uri="{FF2B5EF4-FFF2-40B4-BE49-F238E27FC236}">
                <a16:creationId xmlns:a16="http://schemas.microsoft.com/office/drawing/2014/main" id="{332CA40F-E7BC-4F17-91FD-423E8DD9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1685" y="5040630"/>
            <a:ext cx="18783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更新需求与备货判断</a:t>
            </a:r>
          </a:p>
        </p:txBody>
      </p:sp>
      <p:sp>
        <p:nvSpPr>
          <p:cNvPr id="87" name="rect-86">
            <a:extLst xmlns:a="http://schemas.openxmlformats.org/drawingml/2006/main">
              <a:ext uri="{FF2B5EF4-FFF2-40B4-BE49-F238E27FC236}">
                <a16:creationId xmlns:a16="http://schemas.microsoft.com/office/drawing/2014/main" id="{D23B31BD-4BD3-4F46-8922-A48F361D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829300"/>
            <a:ext cx="226695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60A8"/>
            </a:solidFill>
            <a:prstDash val="solid"/>
          </a:ln>
        </p:spPr>
      </p:sp>
      <p:sp>
        <p:nvSpPr>
          <p:cNvPr id="88" name="rect-87">
            <a:extLst xmlns:a="http://schemas.openxmlformats.org/drawingml/2006/main">
              <a:ext uri="{FF2B5EF4-FFF2-40B4-BE49-F238E27FC236}">
                <a16:creationId xmlns:a16="http://schemas.microsoft.com/office/drawing/2014/main" id="{BB36F720-889E-4EA2-BDE5-F046C144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8293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0A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9" name="物料需求计算">
            <a:extLst xmlns:a="http://schemas.openxmlformats.org/drawingml/2006/main">
              <a:ext uri="{FF2B5EF4-FFF2-40B4-BE49-F238E27FC236}">
                <a16:creationId xmlns:a16="http://schemas.microsoft.com/office/drawing/2014/main" id="{B532CE4D-0AE5-482F-94D3-CF375DA0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876925"/>
            <a:ext cx="1581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物料需求计算</a:t>
            </a:r>
          </a:p>
        </p:txBody>
      </p:sp>
      <p:sp>
        <p:nvSpPr>
          <p:cNvPr id="90" name="成衣计划 + BOM">
            <a:extLst xmlns:a="http://schemas.openxmlformats.org/drawingml/2006/main">
              <a:ext uri="{FF2B5EF4-FFF2-40B4-BE49-F238E27FC236}">
                <a16:creationId xmlns:a16="http://schemas.microsoft.com/office/drawing/2014/main" id="{D4793786-0F9E-4FF2-B583-CE8261CD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101" y="6250305"/>
            <a:ext cx="160049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成衣计划 + BOM</a:t>
            </a:r>
          </a:p>
        </p:txBody>
      </p:sp>
      <p:sp>
        <p:nvSpPr>
          <p:cNvPr id="91" name="库存 / 在途 → 净需求">
            <a:extLst xmlns:a="http://schemas.openxmlformats.org/drawingml/2006/main">
              <a:ext uri="{FF2B5EF4-FFF2-40B4-BE49-F238E27FC236}">
                <a16:creationId xmlns:a16="http://schemas.microsoft.com/office/drawing/2014/main" id="{039A0B1B-94F6-49E9-ADFA-A16B0244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764" y="6517005"/>
            <a:ext cx="204317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库存 / 在途 → 净需求</a:t>
            </a:r>
          </a:p>
        </p:txBody>
      </p:sp>
      <p:sp>
        <p:nvSpPr>
          <p:cNvPr id="92" name="rect-91">
            <a:extLst xmlns:a="http://schemas.openxmlformats.org/drawingml/2006/main">
              <a:ext uri="{FF2B5EF4-FFF2-40B4-BE49-F238E27FC236}">
                <a16:creationId xmlns:a16="http://schemas.microsoft.com/office/drawing/2014/main" id="{30018EB0-00BF-4C5E-8E34-3579A756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829300"/>
            <a:ext cx="226695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60A8"/>
            </a:solidFill>
            <a:prstDash val="solid"/>
          </a:ln>
        </p:spPr>
      </p:sp>
      <p:sp>
        <p:nvSpPr>
          <p:cNvPr id="93" name="rect-92">
            <a:extLst xmlns:a="http://schemas.openxmlformats.org/drawingml/2006/main">
              <a:ext uri="{FF2B5EF4-FFF2-40B4-BE49-F238E27FC236}">
                <a16:creationId xmlns:a16="http://schemas.microsoft.com/office/drawing/2014/main" id="{A2808D67-CD63-4D0C-B4FE-644D47F9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8293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0A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4" name="面辅料需求计划">
            <a:extLst xmlns:a="http://schemas.openxmlformats.org/drawingml/2006/main">
              <a:ext uri="{FF2B5EF4-FFF2-40B4-BE49-F238E27FC236}">
                <a16:creationId xmlns:a16="http://schemas.microsoft.com/office/drawing/2014/main" id="{0C63EDAE-9198-42B9-A908-E7D48573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876925"/>
            <a:ext cx="18288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面辅料需求计划</a:t>
            </a:r>
          </a:p>
        </p:txBody>
      </p:sp>
      <p:sp>
        <p:nvSpPr>
          <p:cNvPr id="95" name="外购 / 备料 / 发料分流">
            <a:extLst xmlns:a="http://schemas.openxmlformats.org/drawingml/2006/main">
              <a:ext uri="{FF2B5EF4-FFF2-40B4-BE49-F238E27FC236}">
                <a16:creationId xmlns:a16="http://schemas.microsoft.com/office/drawing/2014/main" id="{5559C107-ECEC-4FB7-9B8F-549F0DEB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134" y="6250305"/>
            <a:ext cx="214223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外购 / 备料 / 发料分流</a:t>
            </a:r>
          </a:p>
        </p:txBody>
      </p:sp>
      <p:sp>
        <p:nvSpPr>
          <p:cNvPr id="96" name="rect-95">
            <a:extLst xmlns:a="http://schemas.openxmlformats.org/drawingml/2006/main">
              <a:ext uri="{FF2B5EF4-FFF2-40B4-BE49-F238E27FC236}">
                <a16:creationId xmlns:a16="http://schemas.microsoft.com/office/drawing/2014/main" id="{51E2937E-C4AD-4372-8805-497BD17E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575" y="5829300"/>
            <a:ext cx="226695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60A8"/>
            </a:solidFill>
            <a:prstDash val="solid"/>
          </a:ln>
        </p:spPr>
      </p:sp>
      <p:sp>
        <p:nvSpPr>
          <p:cNvPr id="97" name="rect-96">
            <a:extLst xmlns:a="http://schemas.openxmlformats.org/drawingml/2006/main">
              <a:ext uri="{FF2B5EF4-FFF2-40B4-BE49-F238E27FC236}">
                <a16:creationId xmlns:a16="http://schemas.microsoft.com/office/drawing/2014/main" id="{8BE0B119-9E5F-4477-8475-B5D5B0F3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575" y="58293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0A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8" name="备料 / 发料">
            <a:extLst xmlns:a="http://schemas.openxmlformats.org/drawingml/2006/main">
              <a:ext uri="{FF2B5EF4-FFF2-40B4-BE49-F238E27FC236}">
                <a16:creationId xmlns:a16="http://schemas.microsoft.com/office/drawing/2014/main" id="{C4F7C55B-50D1-4758-8E4C-C2125435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5714" y="5876925"/>
            <a:ext cx="1374672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备料 / 发料</a:t>
            </a:r>
          </a:p>
        </p:txBody>
      </p:sp>
      <p:sp>
        <p:nvSpPr>
          <p:cNvPr id="99" name="现有料或到料后执行">
            <a:extLst xmlns:a="http://schemas.openxmlformats.org/drawingml/2006/main">
              <a:ext uri="{FF2B5EF4-FFF2-40B4-BE49-F238E27FC236}">
                <a16:creationId xmlns:a16="http://schemas.microsoft.com/office/drawing/2014/main" id="{F2BFB924-6A8D-463C-ABD7-EBE6D1D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3885" y="6250305"/>
            <a:ext cx="18783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现有料或到料后执行</a:t>
            </a:r>
          </a:p>
        </p:txBody>
      </p:sp>
      <p:sp>
        <p:nvSpPr>
          <p:cNvPr id="100" name="支撑齐料与开工">
            <a:extLst xmlns:a="http://schemas.openxmlformats.org/drawingml/2006/main">
              <a:ext uri="{FF2B5EF4-FFF2-40B4-BE49-F238E27FC236}">
                <a16:creationId xmlns:a16="http://schemas.microsoft.com/office/drawing/2014/main" id="{A0932E54-4287-491D-A01E-899912BD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2005" y="6517005"/>
            <a:ext cx="148209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支撑齐料与开工</a:t>
            </a:r>
          </a:p>
        </p:txBody>
      </p:sp>
      <p:sp>
        <p:nvSpPr>
          <p:cNvPr id="101" name="rect-100">
            <a:extLst xmlns:a="http://schemas.openxmlformats.org/drawingml/2006/main">
              <a:ext uri="{FF2B5EF4-FFF2-40B4-BE49-F238E27FC236}">
                <a16:creationId xmlns:a16="http://schemas.microsoft.com/office/drawing/2014/main" id="{13807BEB-92B5-4063-B8FE-80D31F8B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7305675"/>
            <a:ext cx="226695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102" name="rect-101">
            <a:extLst xmlns:a="http://schemas.openxmlformats.org/drawingml/2006/main">
              <a:ext uri="{FF2B5EF4-FFF2-40B4-BE49-F238E27FC236}">
                <a16:creationId xmlns:a16="http://schemas.microsoft.com/office/drawing/2014/main" id="{86F0FA21-1C49-4CF9-9E0A-B46C4A22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7305675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3" name="PR承接与管理">
            <a:extLst xmlns:a="http://schemas.openxmlformats.org/drawingml/2006/main">
              <a:ext uri="{FF2B5EF4-FFF2-40B4-BE49-F238E27FC236}">
                <a16:creationId xmlns:a16="http://schemas.microsoft.com/office/drawing/2014/main" id="{880EA9F0-0DA8-410A-A5F5-1A228402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1027" y="7353300"/>
            <a:ext cx="1668447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PR承接与管理</a:t>
            </a:r>
          </a:p>
        </p:txBody>
      </p:sp>
      <p:sp>
        <p:nvSpPr>
          <p:cNvPr id="104" name="PMC确认PR">
            <a:extLst xmlns:a="http://schemas.openxmlformats.org/drawingml/2006/main">
              <a:ext uri="{FF2B5EF4-FFF2-40B4-BE49-F238E27FC236}">
                <a16:creationId xmlns:a16="http://schemas.microsoft.com/office/drawing/2014/main" id="{F54756D1-F7F3-4631-BAF7-B4FAF7C6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830" y="7726680"/>
            <a:ext cx="119884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PMC确认PR</a:t>
            </a:r>
          </a:p>
        </p:txBody>
      </p:sp>
      <p:sp>
        <p:nvSpPr>
          <p:cNvPr id="105" name="SCM管理需求单据">
            <a:extLst xmlns:a="http://schemas.openxmlformats.org/drawingml/2006/main">
              <a:ext uri="{FF2B5EF4-FFF2-40B4-BE49-F238E27FC236}">
                <a16:creationId xmlns:a16="http://schemas.microsoft.com/office/drawing/2014/main" id="{2D5D1E48-E74C-45FD-ACED-C72B05C1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154" y="7993380"/>
            <a:ext cx="172819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SCM管理需求单据</a:t>
            </a:r>
          </a:p>
        </p:txBody>
      </p:sp>
      <p:sp>
        <p:nvSpPr>
          <p:cNvPr id="106" name="rect-105">
            <a:extLst xmlns:a="http://schemas.openxmlformats.org/drawingml/2006/main">
              <a:ext uri="{FF2B5EF4-FFF2-40B4-BE49-F238E27FC236}">
                <a16:creationId xmlns:a16="http://schemas.microsoft.com/office/drawing/2014/main" id="{ED96E7D5-B002-4D84-8683-3CA08985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7305675"/>
            <a:ext cx="226695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107" name="rect-106">
            <a:extLst xmlns:a="http://schemas.openxmlformats.org/drawingml/2006/main">
              <a:ext uri="{FF2B5EF4-FFF2-40B4-BE49-F238E27FC236}">
                <a16:creationId xmlns:a16="http://schemas.microsoft.com/office/drawing/2014/main" id="{092CF05C-F23B-47ED-8AF8-461D81DB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7305675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8" name="供应商分配">
            <a:extLst xmlns:a="http://schemas.openxmlformats.org/drawingml/2006/main">
              <a:ext uri="{FF2B5EF4-FFF2-40B4-BE49-F238E27FC236}">
                <a16:creationId xmlns:a16="http://schemas.microsoft.com/office/drawing/2014/main" id="{FC77EF6D-45FF-4345-83EC-2D3E6ED4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7353300"/>
            <a:ext cx="13335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供应商分配</a:t>
            </a:r>
          </a:p>
        </p:txBody>
      </p:sp>
      <p:sp>
        <p:nvSpPr>
          <p:cNvPr id="109" name="产能 / 成本 / 交期">
            <a:extLst xmlns:a="http://schemas.openxmlformats.org/drawingml/2006/main">
              <a:ext uri="{FF2B5EF4-FFF2-40B4-BE49-F238E27FC236}">
                <a16:creationId xmlns:a16="http://schemas.microsoft.com/office/drawing/2014/main" id="{BE8617A4-B305-4409-82B8-6CC801F1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1154" y="7726680"/>
            <a:ext cx="174599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产能 / 成本 / 交期</a:t>
            </a:r>
          </a:p>
        </p:txBody>
      </p:sp>
      <p:sp>
        <p:nvSpPr>
          <p:cNvPr id="110" name="决定向谁买、如何分配">
            <a:extLst xmlns:a="http://schemas.openxmlformats.org/drawingml/2006/main">
              <a:ext uri="{FF2B5EF4-FFF2-40B4-BE49-F238E27FC236}">
                <a16:creationId xmlns:a16="http://schemas.microsoft.com/office/drawing/2014/main" id="{25B7280B-A258-4041-AA2B-CE080034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7993380"/>
            <a:ext cx="2076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决定向谁买、如何分配</a:t>
            </a:r>
          </a:p>
        </p:txBody>
      </p:sp>
      <p:sp>
        <p:nvSpPr>
          <p:cNvPr id="111" name="rect-110">
            <a:extLst xmlns:a="http://schemas.openxmlformats.org/drawingml/2006/main">
              <a:ext uri="{FF2B5EF4-FFF2-40B4-BE49-F238E27FC236}">
                <a16:creationId xmlns:a16="http://schemas.microsoft.com/office/drawing/2014/main" id="{3D533F36-34D5-4BF3-8FCC-932054C6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575" y="7305675"/>
            <a:ext cx="226695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112" name="rect-111">
            <a:extLst xmlns:a="http://schemas.openxmlformats.org/drawingml/2006/main">
              <a:ext uri="{FF2B5EF4-FFF2-40B4-BE49-F238E27FC236}">
                <a16:creationId xmlns:a16="http://schemas.microsoft.com/office/drawing/2014/main" id="{4938F63C-E0CE-4894-ABFC-90A48730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575" y="7305675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3" name="PO与交期确认">
            <a:extLst xmlns:a="http://schemas.openxmlformats.org/drawingml/2006/main">
              <a:ext uri="{FF2B5EF4-FFF2-40B4-BE49-F238E27FC236}">
                <a16:creationId xmlns:a16="http://schemas.microsoft.com/office/drawing/2014/main" id="{8694D0A0-6318-4F96-826D-68E4E049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9230" y="7353300"/>
            <a:ext cx="168764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PO与交期确认</a:t>
            </a:r>
          </a:p>
        </p:txBody>
      </p:sp>
      <p:sp>
        <p:nvSpPr>
          <p:cNvPr id="114" name="以采购订单组织执行">
            <a:extLst xmlns:a="http://schemas.openxmlformats.org/drawingml/2006/main">
              <a:ext uri="{FF2B5EF4-FFF2-40B4-BE49-F238E27FC236}">
                <a16:creationId xmlns:a16="http://schemas.microsoft.com/office/drawing/2014/main" id="{3A962E98-AE90-4C36-A995-AE0F2660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3885" y="7726680"/>
            <a:ext cx="18783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以采购订单组织执行</a:t>
            </a:r>
          </a:p>
        </p:txBody>
      </p:sp>
      <p:sp>
        <p:nvSpPr>
          <p:cNvPr id="115" name="rect-114">
            <a:extLst xmlns:a="http://schemas.openxmlformats.org/drawingml/2006/main">
              <a:ext uri="{FF2B5EF4-FFF2-40B4-BE49-F238E27FC236}">
                <a16:creationId xmlns:a16="http://schemas.microsoft.com/office/drawing/2014/main" id="{115A1AFD-8A1A-439B-B209-A4528C32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575" y="8782050"/>
            <a:ext cx="226695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116" name="rect-115">
            <a:extLst xmlns:a="http://schemas.openxmlformats.org/drawingml/2006/main">
              <a:ext uri="{FF2B5EF4-FFF2-40B4-BE49-F238E27FC236}">
                <a16:creationId xmlns:a16="http://schemas.microsoft.com/office/drawing/2014/main" id="{C78D8A2E-0436-4143-8C7B-49A13145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575" y="87820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7" name="接单与货期确认">
            <a:extLst xmlns:a="http://schemas.openxmlformats.org/drawingml/2006/main">
              <a:ext uri="{FF2B5EF4-FFF2-40B4-BE49-F238E27FC236}">
                <a16:creationId xmlns:a16="http://schemas.microsoft.com/office/drawing/2014/main" id="{A98B030C-DC62-433A-83B4-76CBD04F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650" y="8829675"/>
            <a:ext cx="18288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接单与货期确认</a:t>
            </a:r>
          </a:p>
        </p:txBody>
      </p:sp>
      <p:sp>
        <p:nvSpPr>
          <p:cNvPr id="118" name="供应商承接任务与资料">
            <a:extLst xmlns:a="http://schemas.openxmlformats.org/drawingml/2006/main">
              <a:ext uri="{FF2B5EF4-FFF2-40B4-BE49-F238E27FC236}">
                <a16:creationId xmlns:a16="http://schemas.microsoft.com/office/drawing/2014/main" id="{0FB7C206-DAA8-49D1-A72A-0D709316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4825" y="9203055"/>
            <a:ext cx="2076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供应商承接任务与资料</a:t>
            </a:r>
          </a:p>
        </p:txBody>
      </p:sp>
      <p:sp>
        <p:nvSpPr>
          <p:cNvPr id="119" name="rect-118">
            <a:extLst xmlns:a="http://schemas.openxmlformats.org/drawingml/2006/main">
              <a:ext uri="{FF2B5EF4-FFF2-40B4-BE49-F238E27FC236}">
                <a16:creationId xmlns:a16="http://schemas.microsoft.com/office/drawing/2014/main" id="{02A975CA-5112-4F07-A5FD-20494810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8475" y="8782050"/>
            <a:ext cx="226695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4963C"/>
            </a:solidFill>
            <a:prstDash val="solid"/>
          </a:ln>
        </p:spPr>
      </p:sp>
      <p:sp>
        <p:nvSpPr>
          <p:cNvPr id="120" name="rect-119">
            <a:extLst xmlns:a="http://schemas.openxmlformats.org/drawingml/2006/main">
              <a:ext uri="{FF2B5EF4-FFF2-40B4-BE49-F238E27FC236}">
                <a16:creationId xmlns:a16="http://schemas.microsoft.com/office/drawing/2014/main" id="{C77B077E-1EFC-48D7-AF71-2F64ED67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8475" y="87820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63C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1" name="生产 / QC / 发货">
            <a:extLst xmlns:a="http://schemas.openxmlformats.org/drawingml/2006/main">
              <a:ext uri="{FF2B5EF4-FFF2-40B4-BE49-F238E27FC236}">
                <a16:creationId xmlns:a16="http://schemas.microsoft.com/office/drawing/2014/main" id="{245D2AAE-5A58-4A9F-9450-DFE6F06E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3614" y="8829675"/>
            <a:ext cx="2036671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生产 / QC / 发货</a:t>
            </a:r>
          </a:p>
        </p:txBody>
      </p:sp>
      <p:sp>
        <p:nvSpPr>
          <p:cNvPr id="122" name="MES进度与延期反馈">
            <a:extLst xmlns:a="http://schemas.openxmlformats.org/drawingml/2006/main">
              <a:ext uri="{FF2B5EF4-FFF2-40B4-BE49-F238E27FC236}">
                <a16:creationId xmlns:a16="http://schemas.microsoft.com/office/drawing/2014/main" id="{8EE28CDB-7246-476F-81F7-9D8AE079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7771" y="9203055"/>
            <a:ext cx="190835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MES进度与延期反馈</a:t>
            </a:r>
          </a:p>
        </p:txBody>
      </p:sp>
      <p:sp>
        <p:nvSpPr>
          <p:cNvPr id="123" name="质量放行、交付执行">
            <a:extLst xmlns:a="http://schemas.openxmlformats.org/drawingml/2006/main">
              <a:ext uri="{FF2B5EF4-FFF2-40B4-BE49-F238E27FC236}">
                <a16:creationId xmlns:a16="http://schemas.microsoft.com/office/drawing/2014/main" id="{79D0B9D4-9F03-4CDD-ADB3-662B8154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2785" y="9469755"/>
            <a:ext cx="18783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质量放行、交付执行</a:t>
            </a:r>
          </a:p>
        </p:txBody>
      </p:sp>
      <p:sp>
        <p:nvSpPr>
          <p:cNvPr id="124" name="rect-123">
            <a:extLst xmlns:a="http://schemas.openxmlformats.org/drawingml/2006/main">
              <a:ext uri="{FF2B5EF4-FFF2-40B4-BE49-F238E27FC236}">
                <a16:creationId xmlns:a16="http://schemas.microsoft.com/office/drawing/2014/main" id="{83D37B9B-08B1-4D7A-9F82-6F924C0E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7375" y="10258425"/>
            <a:ext cx="226695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8E99"/>
            </a:solidFill>
            <a:prstDash val="solid"/>
          </a:ln>
        </p:spPr>
      </p:sp>
      <p:sp>
        <p:nvSpPr>
          <p:cNvPr id="125" name="rect-124">
            <a:extLst xmlns:a="http://schemas.openxmlformats.org/drawingml/2006/main">
              <a:ext uri="{FF2B5EF4-FFF2-40B4-BE49-F238E27FC236}">
                <a16:creationId xmlns:a16="http://schemas.microsoft.com/office/drawing/2014/main" id="{DF42AEBD-51EA-44D7-BD7F-C9413DFD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7375" y="10258425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E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6" name="收货 / 入库">
            <a:extLst xmlns:a="http://schemas.openxmlformats.org/drawingml/2006/main">
              <a:ext uri="{FF2B5EF4-FFF2-40B4-BE49-F238E27FC236}">
                <a16:creationId xmlns:a16="http://schemas.microsoft.com/office/drawing/2014/main" id="{ECD40457-ED02-4326-A4F5-5DC2333F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514" y="10306050"/>
            <a:ext cx="1374672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收货 / 入库</a:t>
            </a:r>
          </a:p>
        </p:txBody>
      </p:sp>
      <p:sp>
        <p:nvSpPr>
          <p:cNvPr id="127" name="质检、库存更新">
            <a:extLst xmlns:a="http://schemas.openxmlformats.org/drawingml/2006/main">
              <a:ext uri="{FF2B5EF4-FFF2-40B4-BE49-F238E27FC236}">
                <a16:creationId xmlns:a16="http://schemas.microsoft.com/office/drawing/2014/main" id="{F5507DD8-F6A2-4B34-BA30-BC0C0571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9805" y="10679430"/>
            <a:ext cx="148209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质检、库存更新</a:t>
            </a:r>
          </a:p>
        </p:txBody>
      </p:sp>
      <p:sp>
        <p:nvSpPr>
          <p:cNvPr id="128" name="库存与到货事实回传">
            <a:extLst xmlns:a="http://schemas.openxmlformats.org/drawingml/2006/main">
              <a:ext uri="{FF2B5EF4-FFF2-40B4-BE49-F238E27FC236}">
                <a16:creationId xmlns:a16="http://schemas.microsoft.com/office/drawing/2014/main" id="{6E43390F-E3DE-4E15-8627-3F72286A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1685" y="10946130"/>
            <a:ext cx="18783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库存与到货事实回传</a:t>
            </a:r>
          </a:p>
        </p:txBody>
      </p:sp>
      <p:sp>
        <p:nvSpPr>
          <p:cNvPr id="129" name="path-128">
            <a:extLst xmlns:a="http://schemas.openxmlformats.org/drawingml/2006/main">
              <a:ext uri="{FF2B5EF4-FFF2-40B4-BE49-F238E27FC236}">
                <a16:creationId xmlns:a16="http://schemas.microsoft.com/office/drawing/2014/main" id="{0629F286-BD5D-487F-BDE3-B2F618C5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05250"/>
            <a:ext cx="476" cy="447675"/>
          </a:xfrm>
          <a:custGeom xmlns:a="http://schemas.openxmlformats.org/drawingml/2006/main">
            <a:pathLst>
              <a:path w="476" h="447675">
                <a:moveTo>
                  <a:pt x="0" y="447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130" name="arrowhead-128">
            <a:extLst xmlns:a="http://schemas.openxmlformats.org/drawingml/2006/main">
              <a:ext uri="{FF2B5EF4-FFF2-40B4-BE49-F238E27FC236}">
                <a16:creationId xmlns:a16="http://schemas.microsoft.com/office/drawing/2014/main" id="{F7F437CF-5D79-4602-B96A-57AD0367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0"/>
                </a:move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131" name="rect-129">
            <a:extLst xmlns:a="http://schemas.openxmlformats.org/drawingml/2006/main">
              <a:ext uri="{FF2B5EF4-FFF2-40B4-BE49-F238E27FC236}">
                <a16:creationId xmlns:a16="http://schemas.microsoft.com/office/drawing/2014/main" id="{D8D33B3D-58B9-4617-BFE0-8BF00D79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57650"/>
            <a:ext cx="609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2" name="发起">
            <a:extLst xmlns:a="http://schemas.openxmlformats.org/drawingml/2006/main">
              <a:ext uri="{FF2B5EF4-FFF2-40B4-BE49-F238E27FC236}">
                <a16:creationId xmlns:a16="http://schemas.microsoft.com/office/drawing/2014/main" id="{5036172B-9BF5-47B3-9FF1-6EF7250E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605" y="4040505"/>
            <a:ext cx="49149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发起</a:t>
            </a:r>
          </a:p>
        </p:txBody>
      </p:sp>
      <p:sp>
        <p:nvSpPr>
          <p:cNvPr id="133" name="path-131">
            <a:extLst xmlns:a="http://schemas.openxmlformats.org/drawingml/2006/main">
              <a:ext uri="{FF2B5EF4-FFF2-40B4-BE49-F238E27FC236}">
                <a16:creationId xmlns:a16="http://schemas.microsoft.com/office/drawing/2014/main" id="{FBBF3561-876A-4DAD-B023-2386ACFF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90900"/>
            <a:ext cx="361950" cy="1476375"/>
          </a:xfrm>
          <a:custGeom xmlns:a="http://schemas.openxmlformats.org/drawingml/2006/main">
            <a:pathLst>
              <a:path w="361950" h="1476375">
                <a:moveTo>
                  <a:pt x="0" y="0"/>
                </a:moveTo>
                <a:lnTo>
                  <a:pt x="219075" y="0"/>
                </a:lnTo>
                <a:lnTo>
                  <a:pt x="219075" y="1476375"/>
                </a:lnTo>
                <a:lnTo>
                  <a:pt x="361950" y="14763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134" name="arrowhead-131">
            <a:extLst xmlns:a="http://schemas.openxmlformats.org/drawingml/2006/main">
              <a:ext uri="{FF2B5EF4-FFF2-40B4-BE49-F238E27FC236}">
                <a16:creationId xmlns:a16="http://schemas.microsoft.com/office/drawing/2014/main" id="{04843632-A67F-44FD-8F5F-191F7646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5297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135" name="path-132">
            <a:extLst xmlns:a="http://schemas.openxmlformats.org/drawingml/2006/main">
              <a:ext uri="{FF2B5EF4-FFF2-40B4-BE49-F238E27FC236}">
                <a16:creationId xmlns:a16="http://schemas.microsoft.com/office/drawing/2014/main" id="{E9E71FE2-FA9B-4935-ABC2-B7144FF7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867275"/>
            <a:ext cx="361950" cy="476"/>
          </a:xfrm>
          <a:custGeom xmlns:a="http://schemas.openxmlformats.org/drawingml/2006/main">
            <a:pathLst>
              <a:path w="361950" h="476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136" name="arrowhead-132">
            <a:extLst xmlns:a="http://schemas.openxmlformats.org/drawingml/2006/main">
              <a:ext uri="{FF2B5EF4-FFF2-40B4-BE49-F238E27FC236}">
                <a16:creationId xmlns:a16="http://schemas.microsoft.com/office/drawing/2014/main" id="{DA8F4951-BCE0-45CC-9E95-59698422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75297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137" name="path-133">
            <a:extLst xmlns:a="http://schemas.openxmlformats.org/drawingml/2006/main">
              <a:ext uri="{FF2B5EF4-FFF2-40B4-BE49-F238E27FC236}">
                <a16:creationId xmlns:a16="http://schemas.microsoft.com/office/drawing/2014/main" id="{BA43798D-A3A6-4C7B-9EB6-F756BB3B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381625"/>
            <a:ext cx="476" cy="447675"/>
          </a:xfrm>
          <a:custGeom xmlns:a="http://schemas.openxmlformats.org/drawingml/2006/main">
            <a:pathLst>
              <a:path w="476" h="447675">
                <a:moveTo>
                  <a:pt x="0" y="0"/>
                </a:moveTo>
                <a:lnTo>
                  <a:pt x="0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B60A8"/>
            </a:solidFill>
            <a:prstDash val="solid"/>
          </a:ln>
        </p:spPr>
      </p:sp>
      <p:sp>
        <p:nvSpPr>
          <p:cNvPr id="138" name="arrowhead-133">
            <a:extLst xmlns:a="http://schemas.openxmlformats.org/drawingml/2006/main">
              <a:ext uri="{FF2B5EF4-FFF2-40B4-BE49-F238E27FC236}">
                <a16:creationId xmlns:a16="http://schemas.microsoft.com/office/drawing/2014/main" id="{622816CB-714C-4C28-A639-ACA368E5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6007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228600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139" name="rect-134">
            <a:extLst xmlns:a="http://schemas.openxmlformats.org/drawingml/2006/main">
              <a:ext uri="{FF2B5EF4-FFF2-40B4-BE49-F238E27FC236}">
                <a16:creationId xmlns:a16="http://schemas.microsoft.com/office/drawing/2014/main" id="{FB7CD437-B231-404A-98FC-BB687510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495925"/>
            <a:ext cx="990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0" name="成衣计划">
            <a:extLst xmlns:a="http://schemas.openxmlformats.org/drawingml/2006/main">
              <a:ext uri="{FF2B5EF4-FFF2-40B4-BE49-F238E27FC236}">
                <a16:creationId xmlns:a16="http://schemas.microsoft.com/office/drawing/2014/main" id="{2560EF93-4F05-4F80-B966-4DC5CE2A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910" y="5478780"/>
            <a:ext cx="8877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成衣计划</a:t>
            </a:r>
          </a:p>
        </p:txBody>
      </p:sp>
      <p:sp>
        <p:nvSpPr>
          <p:cNvPr id="141" name="path-136">
            <a:extLst xmlns:a="http://schemas.openxmlformats.org/drawingml/2006/main">
              <a:ext uri="{FF2B5EF4-FFF2-40B4-BE49-F238E27FC236}">
                <a16:creationId xmlns:a16="http://schemas.microsoft.com/office/drawing/2014/main" id="{989DA279-F55E-426F-A15C-E8DCE840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867275"/>
            <a:ext cx="361950" cy="2952750"/>
          </a:xfrm>
          <a:custGeom xmlns:a="http://schemas.openxmlformats.org/drawingml/2006/main">
            <a:pathLst>
              <a:path w="361950" h="2952750">
                <a:moveTo>
                  <a:pt x="0" y="0"/>
                </a:moveTo>
                <a:lnTo>
                  <a:pt x="180975" y="0"/>
                </a:lnTo>
                <a:lnTo>
                  <a:pt x="180975" y="2952750"/>
                </a:lnTo>
                <a:lnTo>
                  <a:pt x="361950" y="2952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142" name="arrowhead-136">
            <a:extLst xmlns:a="http://schemas.openxmlformats.org/drawingml/2006/main">
              <a:ext uri="{FF2B5EF4-FFF2-40B4-BE49-F238E27FC236}">
                <a16:creationId xmlns:a16="http://schemas.microsoft.com/office/drawing/2014/main" id="{7CCC8E64-24B8-47F5-BB69-72BE6975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77057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143" name="rect-137">
            <a:extLst xmlns:a="http://schemas.openxmlformats.org/drawingml/2006/main">
              <a:ext uri="{FF2B5EF4-FFF2-40B4-BE49-F238E27FC236}">
                <a16:creationId xmlns:a16="http://schemas.microsoft.com/office/drawing/2014/main" id="{CE0DA833-F102-43A8-9C42-EFEE18DC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6924675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4" name="成衣采购需求">
            <a:extLst xmlns:a="http://schemas.openxmlformats.org/drawingml/2006/main">
              <a:ext uri="{FF2B5EF4-FFF2-40B4-BE49-F238E27FC236}">
                <a16:creationId xmlns:a16="http://schemas.microsoft.com/office/drawing/2014/main" id="{1DA87531-F09D-4E84-B679-DA67AD9C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490" y="6907530"/>
            <a:ext cx="128397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成衣采购需求</a:t>
            </a:r>
          </a:p>
        </p:txBody>
      </p:sp>
      <p:sp>
        <p:nvSpPr>
          <p:cNvPr id="145" name="path-139">
            <a:extLst xmlns:a="http://schemas.openxmlformats.org/drawingml/2006/main">
              <a:ext uri="{FF2B5EF4-FFF2-40B4-BE49-F238E27FC236}">
                <a16:creationId xmlns:a16="http://schemas.microsoft.com/office/drawing/2014/main" id="{8AE5070D-60D1-4224-87C6-A8FC3969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343650"/>
            <a:ext cx="361950" cy="476"/>
          </a:xfrm>
          <a:custGeom xmlns:a="http://schemas.openxmlformats.org/drawingml/2006/main">
            <a:pathLst>
              <a:path w="361950" h="476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B60A8"/>
            </a:solidFill>
            <a:prstDash val="solid"/>
          </a:ln>
        </p:spPr>
      </p:sp>
      <p:sp>
        <p:nvSpPr>
          <p:cNvPr id="146" name="arrowhead-139">
            <a:extLst xmlns:a="http://schemas.openxmlformats.org/drawingml/2006/main">
              <a:ext uri="{FF2B5EF4-FFF2-40B4-BE49-F238E27FC236}">
                <a16:creationId xmlns:a16="http://schemas.microsoft.com/office/drawing/2014/main" id="{949136FC-C9AF-4A03-9A32-5D3F3A61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62293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147" name="path-140">
            <a:extLst xmlns:a="http://schemas.openxmlformats.org/drawingml/2006/main">
              <a:ext uri="{FF2B5EF4-FFF2-40B4-BE49-F238E27FC236}">
                <a16:creationId xmlns:a16="http://schemas.microsoft.com/office/drawing/2014/main" id="{C1E10B6D-3D97-43A0-B852-B5B926FC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858000"/>
            <a:ext cx="476" cy="447675"/>
          </a:xfrm>
          <a:custGeom xmlns:a="http://schemas.openxmlformats.org/drawingml/2006/main">
            <a:pathLst>
              <a:path w="476" h="447675">
                <a:moveTo>
                  <a:pt x="0" y="0"/>
                </a:moveTo>
                <a:lnTo>
                  <a:pt x="0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B60A8"/>
            </a:solidFill>
            <a:prstDash val="solid"/>
          </a:ln>
        </p:spPr>
      </p:sp>
      <p:sp>
        <p:nvSpPr>
          <p:cNvPr id="148" name="arrowhead-140">
            <a:extLst xmlns:a="http://schemas.openxmlformats.org/drawingml/2006/main">
              <a:ext uri="{FF2B5EF4-FFF2-40B4-BE49-F238E27FC236}">
                <a16:creationId xmlns:a16="http://schemas.microsoft.com/office/drawing/2014/main" id="{5E3C6B55-CC59-44D7-AEC7-D3DDF364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707707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228600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149" name="rect-141">
            <a:extLst xmlns:a="http://schemas.openxmlformats.org/drawingml/2006/main">
              <a:ext uri="{FF2B5EF4-FFF2-40B4-BE49-F238E27FC236}">
                <a16:creationId xmlns:a16="http://schemas.microsoft.com/office/drawing/2014/main" id="{ABF99EDC-0C10-4FA2-8F6A-0F39937C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6981825"/>
            <a:ext cx="1181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0" name="净缺口采购">
            <a:extLst xmlns:a="http://schemas.openxmlformats.org/drawingml/2006/main">
              <a:ext uri="{FF2B5EF4-FFF2-40B4-BE49-F238E27FC236}">
                <a16:creationId xmlns:a16="http://schemas.microsoft.com/office/drawing/2014/main" id="{7F0B4136-31C9-4CA8-ADD0-635DBEE4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964680"/>
            <a:ext cx="1085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净缺口采购</a:t>
            </a:r>
          </a:p>
        </p:txBody>
      </p:sp>
      <p:sp>
        <p:nvSpPr>
          <p:cNvPr id="151" name="path-143">
            <a:extLst xmlns:a="http://schemas.openxmlformats.org/drawingml/2006/main">
              <a:ext uri="{FF2B5EF4-FFF2-40B4-BE49-F238E27FC236}">
                <a16:creationId xmlns:a16="http://schemas.microsoft.com/office/drawing/2014/main" id="{6D2189DE-74CA-455B-A180-FDA8C208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6343650"/>
            <a:ext cx="2990850" cy="476"/>
          </a:xfrm>
          <a:custGeom xmlns:a="http://schemas.openxmlformats.org/drawingml/2006/main">
            <a:pathLst>
              <a:path w="2990850" h="476">
                <a:moveTo>
                  <a:pt x="0" y="0"/>
                </a:moveTo>
                <a:lnTo>
                  <a:pt x="2990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B60A8"/>
            </a:solidFill>
            <a:prstDash val="solid"/>
          </a:ln>
        </p:spPr>
      </p:sp>
      <p:sp>
        <p:nvSpPr>
          <p:cNvPr id="152" name="arrowhead-143">
            <a:extLst xmlns:a="http://schemas.openxmlformats.org/drawingml/2006/main">
              <a:ext uri="{FF2B5EF4-FFF2-40B4-BE49-F238E27FC236}">
                <a16:creationId xmlns:a16="http://schemas.microsoft.com/office/drawing/2014/main" id="{8C900B4E-4C5C-4F2F-9492-0AB4845E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0975" y="62293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153" name="rect-144">
            <a:extLst xmlns:a="http://schemas.openxmlformats.org/drawingml/2006/main">
              <a:ext uri="{FF2B5EF4-FFF2-40B4-BE49-F238E27FC236}">
                <a16:creationId xmlns:a16="http://schemas.microsoft.com/office/drawing/2014/main" id="{D5E05FAE-AE7B-4993-9278-5A75050E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6067425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4" name="可用料直接备料">
            <a:extLst xmlns:a="http://schemas.openxmlformats.org/drawingml/2006/main">
              <a:ext uri="{FF2B5EF4-FFF2-40B4-BE49-F238E27FC236}">
                <a16:creationId xmlns:a16="http://schemas.microsoft.com/office/drawing/2014/main" id="{F7469907-69A4-4EFC-8CD1-6DDC439E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105" y="6050280"/>
            <a:ext cx="148209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可用料直接备料</a:t>
            </a:r>
          </a:p>
        </p:txBody>
      </p:sp>
      <p:sp>
        <p:nvSpPr>
          <p:cNvPr id="155" name="path-146">
            <a:extLst xmlns:a="http://schemas.openxmlformats.org/drawingml/2006/main">
              <a:ext uri="{FF2B5EF4-FFF2-40B4-BE49-F238E27FC236}">
                <a16:creationId xmlns:a16="http://schemas.microsoft.com/office/drawing/2014/main" id="{8C2BC5B8-3138-4A8A-A766-C8B88FCC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7820025"/>
            <a:ext cx="361950" cy="476"/>
          </a:xfrm>
          <a:custGeom xmlns:a="http://schemas.openxmlformats.org/drawingml/2006/main">
            <a:pathLst>
              <a:path w="361950" h="476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156" name="arrowhead-146">
            <a:extLst xmlns:a="http://schemas.openxmlformats.org/drawingml/2006/main">
              <a:ext uri="{FF2B5EF4-FFF2-40B4-BE49-F238E27FC236}">
                <a16:creationId xmlns:a16="http://schemas.microsoft.com/office/drawing/2014/main" id="{F6169176-32FF-426F-8A98-5C20EA91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77057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157" name="path-147">
            <a:extLst xmlns:a="http://schemas.openxmlformats.org/drawingml/2006/main">
              <a:ext uri="{FF2B5EF4-FFF2-40B4-BE49-F238E27FC236}">
                <a16:creationId xmlns:a16="http://schemas.microsoft.com/office/drawing/2014/main" id="{EEFB7E44-F13E-4DB0-97CA-DDE84EA2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7820025"/>
            <a:ext cx="361950" cy="476"/>
          </a:xfrm>
          <a:custGeom xmlns:a="http://schemas.openxmlformats.org/drawingml/2006/main">
            <a:pathLst>
              <a:path w="361950" h="476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158" name="arrowhead-147">
            <a:extLst xmlns:a="http://schemas.openxmlformats.org/drawingml/2006/main">
              <a:ext uri="{FF2B5EF4-FFF2-40B4-BE49-F238E27FC236}">
                <a16:creationId xmlns:a16="http://schemas.microsoft.com/office/drawing/2014/main" id="{1D0D9B51-7459-419A-8850-7A87BE5C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0975" y="77057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159" name="path-148">
            <a:extLst xmlns:a="http://schemas.openxmlformats.org/drawingml/2006/main">
              <a:ext uri="{FF2B5EF4-FFF2-40B4-BE49-F238E27FC236}">
                <a16:creationId xmlns:a16="http://schemas.microsoft.com/office/drawing/2014/main" id="{79687791-7BF9-4E77-8732-6ED8A4CE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8334375"/>
            <a:ext cx="476" cy="447675"/>
          </a:xfrm>
          <a:custGeom xmlns:a="http://schemas.openxmlformats.org/drawingml/2006/main">
            <a:pathLst>
              <a:path w="476" h="447675">
                <a:moveTo>
                  <a:pt x="0" y="0"/>
                </a:moveTo>
                <a:lnTo>
                  <a:pt x="0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160" name="arrowhead-148">
            <a:extLst xmlns:a="http://schemas.openxmlformats.org/drawingml/2006/main">
              <a:ext uri="{FF2B5EF4-FFF2-40B4-BE49-F238E27FC236}">
                <a16:creationId xmlns:a16="http://schemas.microsoft.com/office/drawing/2014/main" id="{8024A01B-964F-4ADB-AAAC-FF54B3F3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85534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228600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161" name="path-149">
            <a:extLst xmlns:a="http://schemas.openxmlformats.org/drawingml/2006/main">
              <a:ext uri="{FF2B5EF4-FFF2-40B4-BE49-F238E27FC236}">
                <a16:creationId xmlns:a16="http://schemas.microsoft.com/office/drawing/2014/main" id="{A60944A1-5080-42AD-B13F-699A6CF5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6525" y="9296400"/>
            <a:ext cx="361950" cy="476"/>
          </a:xfrm>
          <a:custGeom xmlns:a="http://schemas.openxmlformats.org/drawingml/2006/main">
            <a:pathLst>
              <a:path w="361950" h="476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4963C"/>
            </a:solidFill>
            <a:prstDash val="solid"/>
          </a:ln>
        </p:spPr>
      </p:sp>
      <p:sp>
        <p:nvSpPr>
          <p:cNvPr id="162" name="arrowhead-149">
            <a:extLst xmlns:a="http://schemas.openxmlformats.org/drawingml/2006/main">
              <a:ext uri="{FF2B5EF4-FFF2-40B4-BE49-F238E27FC236}">
                <a16:creationId xmlns:a16="http://schemas.microsoft.com/office/drawing/2014/main" id="{77905EFF-7C93-4CD2-9C0C-7BC85440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875" y="91821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963C"/>
          </a:solidFill>
          <a:ln xmlns:a="http://schemas.openxmlformats.org/drawingml/2006/main" w="0">
            <a:noFill/>
          </a:ln>
        </p:spPr>
      </p:sp>
      <p:sp>
        <p:nvSpPr>
          <p:cNvPr id="163" name="path-150">
            <a:extLst xmlns:a="http://schemas.openxmlformats.org/drawingml/2006/main">
              <a:ext uri="{FF2B5EF4-FFF2-40B4-BE49-F238E27FC236}">
                <a16:creationId xmlns:a16="http://schemas.microsoft.com/office/drawing/2014/main" id="{20E29ECE-0A3F-49BF-BFA8-D072F668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6858000"/>
            <a:ext cx="1495425" cy="2133600"/>
          </a:xfrm>
          <a:custGeom xmlns:a="http://schemas.openxmlformats.org/drawingml/2006/main">
            <a:pathLst>
              <a:path w="1495425" h="2133600">
                <a:moveTo>
                  <a:pt x="0" y="0"/>
                </a:moveTo>
                <a:lnTo>
                  <a:pt x="0" y="209550"/>
                </a:lnTo>
                <a:lnTo>
                  <a:pt x="1276350" y="209550"/>
                </a:lnTo>
                <a:lnTo>
                  <a:pt x="1276350" y="2133600"/>
                </a:lnTo>
                <a:lnTo>
                  <a:pt x="1495425" y="21336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B60A8"/>
            </a:solidFill>
            <a:prstDash val="solid"/>
          </a:ln>
        </p:spPr>
      </p:sp>
      <p:sp>
        <p:nvSpPr>
          <p:cNvPr id="164" name="arrowhead-150">
            <a:extLst xmlns:a="http://schemas.openxmlformats.org/drawingml/2006/main">
              <a:ext uri="{FF2B5EF4-FFF2-40B4-BE49-F238E27FC236}">
                <a16:creationId xmlns:a16="http://schemas.microsoft.com/office/drawing/2014/main" id="{4D879533-8DB9-47ED-B3B8-19BDD348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875" y="88773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165" name="rect-151">
            <a:extLst xmlns:a="http://schemas.openxmlformats.org/drawingml/2006/main">
              <a:ext uri="{FF2B5EF4-FFF2-40B4-BE49-F238E27FC236}">
                <a16:creationId xmlns:a16="http://schemas.microsoft.com/office/drawing/2014/main" id="{0C40783C-3BFC-4502-BEC1-F7E1E64C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3175" y="8429625"/>
            <a:ext cx="990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6" name="齐料支持">
            <a:extLst xmlns:a="http://schemas.openxmlformats.org/drawingml/2006/main">
              <a:ext uri="{FF2B5EF4-FFF2-40B4-BE49-F238E27FC236}">
                <a16:creationId xmlns:a16="http://schemas.microsoft.com/office/drawing/2014/main" id="{0349F9A5-4857-4C23-AEC6-CA12A199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4610" y="8412480"/>
            <a:ext cx="8877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齐料支持</a:t>
            </a:r>
          </a:p>
        </p:txBody>
      </p:sp>
      <p:sp>
        <p:nvSpPr>
          <p:cNvPr id="167" name="path-153">
            <a:extLst xmlns:a="http://schemas.openxmlformats.org/drawingml/2006/main">
              <a:ext uri="{FF2B5EF4-FFF2-40B4-BE49-F238E27FC236}">
                <a16:creationId xmlns:a16="http://schemas.microsoft.com/office/drawing/2014/main" id="{C74C7641-6516-437D-B2D3-C831B183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5425" y="9296400"/>
            <a:ext cx="361950" cy="1476375"/>
          </a:xfrm>
          <a:custGeom xmlns:a="http://schemas.openxmlformats.org/drawingml/2006/main">
            <a:pathLst>
              <a:path w="361950" h="1476375">
                <a:moveTo>
                  <a:pt x="0" y="0"/>
                </a:moveTo>
                <a:lnTo>
                  <a:pt x="180975" y="0"/>
                </a:lnTo>
                <a:lnTo>
                  <a:pt x="180975" y="1476375"/>
                </a:lnTo>
                <a:lnTo>
                  <a:pt x="361950" y="14763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4963C"/>
            </a:solidFill>
            <a:prstDash val="solid"/>
          </a:ln>
        </p:spPr>
      </p:sp>
      <p:sp>
        <p:nvSpPr>
          <p:cNvPr id="168" name="arrowhead-153">
            <a:extLst xmlns:a="http://schemas.openxmlformats.org/drawingml/2006/main">
              <a:ext uri="{FF2B5EF4-FFF2-40B4-BE49-F238E27FC236}">
                <a16:creationId xmlns:a16="http://schemas.microsoft.com/office/drawing/2014/main" id="{AABBB94A-70F8-4091-B5D2-EDB012CB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8775" y="1065847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963C"/>
          </a:solidFill>
          <a:ln xmlns:a="http://schemas.openxmlformats.org/drawingml/2006/main" w="0">
            <a:noFill/>
          </a:ln>
        </p:spPr>
      </p:sp>
      <p:sp>
        <p:nvSpPr>
          <p:cNvPr id="169" name="rect-154">
            <a:extLst xmlns:a="http://schemas.openxmlformats.org/drawingml/2006/main">
              <a:ext uri="{FF2B5EF4-FFF2-40B4-BE49-F238E27FC236}">
                <a16:creationId xmlns:a16="http://schemas.microsoft.com/office/drawing/2014/main" id="{03810B8B-50DE-4222-B196-8EA47A36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7850" y="9877425"/>
            <a:ext cx="628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0" name="交付">
            <a:extLst xmlns:a="http://schemas.openxmlformats.org/drawingml/2006/main">
              <a:ext uri="{FF2B5EF4-FFF2-40B4-BE49-F238E27FC236}">
                <a16:creationId xmlns:a16="http://schemas.microsoft.com/office/drawing/2014/main" id="{4B24CC2C-26F1-4683-A972-EFD67A6B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6524" y="9859899"/>
            <a:ext cx="511302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71" name="path-156">
            <a:extLst xmlns:a="http://schemas.openxmlformats.org/drawingml/2006/main">
              <a:ext uri="{FF2B5EF4-FFF2-40B4-BE49-F238E27FC236}">
                <a16:creationId xmlns:a16="http://schemas.microsoft.com/office/drawing/2014/main" id="{D285F924-CE6D-4D61-8EBF-A7333C38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4325" y="4867275"/>
            <a:ext cx="447675" cy="5905500"/>
          </a:xfrm>
          <a:custGeom xmlns:a="http://schemas.openxmlformats.org/drawingml/2006/main">
            <a:pathLst>
              <a:path w="447675" h="5905500">
                <a:moveTo>
                  <a:pt x="0" y="5905500"/>
                </a:moveTo>
                <a:lnTo>
                  <a:pt x="447675" y="5905500"/>
                </a:lnTo>
                <a:lnTo>
                  <a:pt x="44767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78E99"/>
            </a:solidFill>
            <a:prstDash val="solid"/>
          </a:ln>
        </p:spPr>
      </p:sp>
      <p:sp>
        <p:nvSpPr>
          <p:cNvPr id="172" name="arrowhead-156">
            <a:extLst xmlns:a="http://schemas.openxmlformats.org/drawingml/2006/main">
              <a:ext uri="{FF2B5EF4-FFF2-40B4-BE49-F238E27FC236}">
                <a16:creationId xmlns:a16="http://schemas.microsoft.com/office/drawing/2014/main" id="{A5615349-7E1C-4C65-A898-D78658AC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4325" y="4676775"/>
            <a:ext cx="381000" cy="381000"/>
          </a:xfrm>
          <a:custGeom xmlns:a="http://schemas.openxmlformats.org/drawingml/2006/main">
            <a:pathLst>
              <a:path w="381000" h="381000">
                <a:moveTo>
                  <a:pt x="0" y="190500"/>
                </a:moveTo>
                <a:lnTo>
                  <a:pt x="381000" y="0"/>
                </a:lnTo>
                <a:lnTo>
                  <a:pt x="381000" y="38100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173" name="rect-157">
            <a:extLst xmlns:a="http://schemas.openxmlformats.org/drawingml/2006/main">
              <a:ext uri="{FF2B5EF4-FFF2-40B4-BE49-F238E27FC236}">
                <a16:creationId xmlns:a16="http://schemas.microsoft.com/office/drawing/2014/main" id="{86B533F9-5473-4D8A-BF97-DC3FA151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2725" y="9305925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4" name="执行结果回流">
            <a:extLst xmlns:a="http://schemas.openxmlformats.org/drawingml/2006/main">
              <a:ext uri="{FF2B5EF4-FFF2-40B4-BE49-F238E27FC236}">
                <a16:creationId xmlns:a16="http://schemas.microsoft.com/office/drawing/2014/main" id="{A9B97CD8-2129-4DA0-A4F8-824C4E38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3111" y="9287637"/>
            <a:ext cx="1462278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执行结果回流</a:t>
            </a:r>
          </a:p>
        </p:txBody>
      </p:sp>
      <p:sp>
        <p:nvSpPr>
          <p:cNvPr id="175" name="path-159">
            <a:extLst xmlns:a="http://schemas.openxmlformats.org/drawingml/2006/main">
              <a:ext uri="{FF2B5EF4-FFF2-40B4-BE49-F238E27FC236}">
                <a16:creationId xmlns:a16="http://schemas.microsoft.com/office/drawing/2014/main" id="{A97D081E-F359-4A30-8B26-B320D233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67275"/>
            <a:ext cx="14639925" cy="609600"/>
          </a:xfrm>
          <a:custGeom xmlns:a="http://schemas.openxmlformats.org/drawingml/2006/main">
            <a:pathLst>
              <a:path w="14639925" h="609600">
                <a:moveTo>
                  <a:pt x="14639925" y="0"/>
                </a:moveTo>
                <a:lnTo>
                  <a:pt x="14478000" y="0"/>
                </a:lnTo>
                <a:lnTo>
                  <a:pt x="14478000" y="609600"/>
                </a:lnTo>
                <a:lnTo>
                  <a:pt x="0" y="609600"/>
                </a:ln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78E99"/>
            </a:solidFill>
            <a:prstDash val="solid"/>
          </a:ln>
        </p:spPr>
      </p:sp>
      <p:sp>
        <p:nvSpPr>
          <p:cNvPr id="176" name="arrowhead-159">
            <a:extLst xmlns:a="http://schemas.openxmlformats.org/drawingml/2006/main">
              <a:ext uri="{FF2B5EF4-FFF2-40B4-BE49-F238E27FC236}">
                <a16:creationId xmlns:a16="http://schemas.microsoft.com/office/drawing/2014/main" id="{0ABFD5C3-75BF-4E73-BDFA-1285EC86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81625"/>
            <a:ext cx="304800" cy="304800"/>
          </a:xfrm>
          <a:custGeom xmlns:a="http://schemas.openxmlformats.org/drawingml/2006/main">
            <a:pathLst>
              <a:path w="304800" h="304800">
                <a:moveTo>
                  <a:pt x="152400" y="0"/>
                </a:move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177" name="rect-160">
            <a:extLst xmlns:a="http://schemas.openxmlformats.org/drawingml/2006/main">
              <a:ext uri="{FF2B5EF4-FFF2-40B4-BE49-F238E27FC236}">
                <a16:creationId xmlns:a16="http://schemas.microsoft.com/office/drawing/2014/main" id="{6B5AF9AB-0D5A-4D99-82EF-4F6478EE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2790" y="5257800"/>
            <a:ext cx="450342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8" name="销量 / 库存 / 在途 / 交期 / 生产 / 质量">
            <a:extLst xmlns:a="http://schemas.openxmlformats.org/drawingml/2006/main">
              <a:ext uri="{FF2B5EF4-FFF2-40B4-BE49-F238E27FC236}">
                <a16:creationId xmlns:a16="http://schemas.microsoft.com/office/drawing/2014/main" id="{ADF7E4B7-08B8-4511-B684-538379EF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983" y="5239893"/>
            <a:ext cx="3981033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销量 / 库存 / 在途 / 交期 / 生产 / 质量</a:t>
            </a:r>
          </a:p>
        </p:txBody>
      </p:sp>
      <p:sp>
        <p:nvSpPr>
          <p:cNvPr id="179" name="边界：PMC确认采购需求，SCM负责供应商分配与PR / PO执行；MRP与成衣采购并行。">
            <a:extLst xmlns:a="http://schemas.openxmlformats.org/drawingml/2006/main">
              <a:ext uri="{FF2B5EF4-FFF2-40B4-BE49-F238E27FC236}">
                <a16:creationId xmlns:a16="http://schemas.microsoft.com/office/drawing/2014/main" id="{A0B7508A-370D-4757-A309-C7D1C9F6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6794"/>
            <a:ext cx="1029115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边界：PMC确认采购需求，SCM负责供应商分配与PR / PO执行；MRP与成衣采购并行。</a:t>
            </a:r>
          </a:p>
        </p:txBody>
      </p:sp>
      <p:sp>
        <p:nvSpPr>
          <p:cNvPr id="180" name="QC为执行协同节点，汇报版合并展示；具体检验、生产及库存接口按阶段接入。">
            <a:extLst xmlns:a="http://schemas.openxmlformats.org/drawingml/2006/main">
              <a:ext uri="{FF2B5EF4-FFF2-40B4-BE49-F238E27FC236}">
                <a16:creationId xmlns:a16="http://schemas.microsoft.com/office/drawing/2014/main" id="{B9C8497E-685D-4B3A-98B1-4B86BF11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53900"/>
            <a:ext cx="8885587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QC为执行协同节点，汇报版合并展示；具体检验、生产及库存接口按阶段接入。</a:t>
            </a:r>
          </a:p>
        </p:txBody>
      </p:sp>
      <p:sp>
        <p:nvSpPr>
          <p:cNvPr id="181" name="数据基础由商品主数据、PLM / BOM、领星 / 库存 / 数仓及供应商数据提供，不另设业务泳道。">
            <a:extLst xmlns:a="http://schemas.openxmlformats.org/drawingml/2006/main">
              <a:ext uri="{FF2B5EF4-FFF2-40B4-BE49-F238E27FC236}">
                <a16:creationId xmlns:a16="http://schemas.microsoft.com/office/drawing/2014/main" id="{FAF428AD-FAF3-4880-9247-18222D6D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82525"/>
            <a:ext cx="10728412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数据基础由商品主数据、PLM / BOM、领星 / 库存 / 数仓及供应商数据提供，不另设业务泳道。</a:t>
            </a:r>
          </a:p>
        </p:txBody>
      </p:sp>
      <p:sp>
        <p:nvSpPr>
          <p:cNvPr id="182" name="path-165">
            <a:extLst xmlns:a="http://schemas.openxmlformats.org/drawingml/2006/main">
              <a:ext uri="{FF2B5EF4-FFF2-40B4-BE49-F238E27FC236}">
                <a16:creationId xmlns:a16="http://schemas.microsoft.com/office/drawing/2014/main" id="{299E3A11-C966-4028-9D53-5E5D1E60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5E1E9"/>
            </a:solidFill>
            <a:prstDash val="solid"/>
          </a:ln>
        </p:spPr>
      </p:sp>
      <p:sp>
        <p:nvSpPr>
          <p:cNvPr id="183" name="Q4供应链产品建设方案 · 汇报分层版 · 目标业务蓝图，按P0 / P1推进">
            <a:extLst xmlns:a="http://schemas.openxmlformats.org/drawingml/2006/main">
              <a:ext uri="{FF2B5EF4-FFF2-40B4-BE49-F238E27FC236}">
                <a16:creationId xmlns:a16="http://schemas.microsoft.com/office/drawing/2014/main" id="{C16D54FB-F452-4B5A-968C-AECA4DBD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07568"/>
            <a:ext cx="688395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Q4供应链产品建设方案 · 汇报分层版 · 目标业务蓝图，按P0 / P1推进</a:t>
            </a:r>
          </a:p>
        </p:txBody>
      </p:sp>
      <p:sp>
        <p:nvSpPr>
          <p:cNvPr id="184" name="03 / 10">
            <a:extLst xmlns:a="http://schemas.openxmlformats.org/drawingml/2006/main">
              <a:ext uri="{FF2B5EF4-FFF2-40B4-BE49-F238E27FC236}">
                <a16:creationId xmlns:a16="http://schemas.microsoft.com/office/drawing/2014/main" id="{26786859-7653-4266-9237-963108C1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3784" y="13307568"/>
            <a:ext cx="83061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03 / 10</a:t>
            </a:r>
          </a:p>
        </p:txBody>
      </p:sp>
    </p:spTree>
    <p:extLst>
      <p:ext uri="{BB962C8B-B14F-4D97-AF65-F5344CB8AC3E}">
        <p14:creationId xmlns:p14="http://schemas.microsoft.com/office/powerpoint/2010/main" val="1340081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白色画布">
            <a:extLst xmlns:a="http://schemas.openxmlformats.org/drawingml/2006/main">
              <a:ext uri="{FF2B5EF4-FFF2-40B4-BE49-F238E27FC236}">
                <a16:creationId xmlns:a16="http://schemas.microsoft.com/office/drawing/2014/main" id="{D13AEB32-564C-4367-B196-5E574876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-1">
            <a:extLst xmlns:a="http://schemas.openxmlformats.org/drawingml/2006/main">
              <a:ext uri="{FF2B5EF4-FFF2-40B4-BE49-F238E27FC236}">
                <a16:creationId xmlns:a16="http://schemas.microsoft.com/office/drawing/2014/main" id="{DD959B7A-40FE-43B1-B9CB-A8B06F93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" name="rect-2">
            <a:extLst xmlns:a="http://schemas.openxmlformats.org/drawingml/2006/main">
              <a:ext uri="{FF2B5EF4-FFF2-40B4-BE49-F238E27FC236}">
                <a16:creationId xmlns:a16="http://schemas.microsoft.com/office/drawing/2014/main" id="{6F0B3ACA-B5C6-449F-BBBC-7767D1E5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" name="PMC预测｜从日级填报到确认版本">
            <a:extLst xmlns:a="http://schemas.openxmlformats.org/drawingml/2006/main">
              <a:ext uri="{FF2B5EF4-FFF2-40B4-BE49-F238E27FC236}">
                <a16:creationId xmlns:a16="http://schemas.microsoft.com/office/drawing/2014/main" id="{8994FCB6-A06A-4422-96A7-1370D37F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781"/>
            <a:ext cx="7517011" cy="676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PMC预测｜从日级填报到确认版本</a:t>
            </a:r>
          </a:p>
        </p:txBody>
      </p:sp>
      <p:sp>
        <p:nvSpPr>
          <p:cNvPr id="5" name="2026 Q4 / V3.0">
            <a:extLst xmlns:a="http://schemas.openxmlformats.org/drawingml/2006/main">
              <a:ext uri="{FF2B5EF4-FFF2-40B4-BE49-F238E27FC236}">
                <a16:creationId xmlns:a16="http://schemas.microsoft.com/office/drawing/2014/main" id="{F6E9E8A8-A9EB-46FB-B8BC-BD9F9CDA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7004" y="647700"/>
            <a:ext cx="1927396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V3.0</a:t>
            </a:r>
          </a:p>
        </p:txBody>
      </p:sp>
      <p:sp>
        <p:nvSpPr>
          <p:cNvPr id="6" name="path-5">
            <a:extLst xmlns:a="http://schemas.openxmlformats.org/drawingml/2006/main">
              <a:ext uri="{FF2B5EF4-FFF2-40B4-BE49-F238E27FC236}">
                <a16:creationId xmlns:a16="http://schemas.microsoft.com/office/drawing/2014/main" id="{E77F9617-DA68-4620-A7F7-D2964EE0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7" name="W周管理任务，天是销售填报单位；系统给基准，销售补充业务判断">
            <a:extLst xmlns:a="http://schemas.openxmlformats.org/drawingml/2006/main">
              <a:ext uri="{FF2B5EF4-FFF2-40B4-BE49-F238E27FC236}">
                <a16:creationId xmlns:a16="http://schemas.microsoft.com/office/drawing/2014/main" id="{2D100922-50E9-447B-A560-183C3325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0863"/>
            <a:ext cx="8100536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W周管理任务，天是销售填报单位；系统给基准，销售补充业务判断</a:t>
            </a:r>
          </a:p>
        </p:txBody>
      </p:sp>
      <p:sp>
        <p:nvSpPr>
          <p:cNvPr id="8" name="04 / 模块展开">
            <a:extLst xmlns:a="http://schemas.openxmlformats.org/drawingml/2006/main">
              <a:ext uri="{FF2B5EF4-FFF2-40B4-BE49-F238E27FC236}">
                <a16:creationId xmlns:a16="http://schemas.microsoft.com/office/drawing/2014/main" id="{D5DFAE6F-0D73-485F-B506-B4291DCB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8695" y="1610487"/>
            <a:ext cx="1545705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04 / 模块展开</a:t>
            </a:r>
          </a:p>
        </p:txBody>
      </p:sp>
      <p:sp>
        <p:nvSpPr>
          <p:cNvPr id="9" name="业务动作">
            <a:extLst xmlns:a="http://schemas.openxmlformats.org/drawingml/2006/main">
              <a:ext uri="{FF2B5EF4-FFF2-40B4-BE49-F238E27FC236}">
                <a16:creationId xmlns:a16="http://schemas.microsoft.com/office/drawing/2014/main" id="{00A8D7A2-9152-4DB4-8292-B63565B9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8583"/>
            <a:ext cx="1363218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业务动作</a:t>
            </a:r>
          </a:p>
        </p:txBody>
      </p:sp>
      <p:sp>
        <p:nvSpPr>
          <p:cNvPr id="10" name="rect-9">
            <a:extLst xmlns:a="http://schemas.openxmlformats.org/drawingml/2006/main">
              <a:ext uri="{FF2B5EF4-FFF2-40B4-BE49-F238E27FC236}">
                <a16:creationId xmlns:a16="http://schemas.microsoft.com/office/drawing/2014/main" id="{247F0085-84FD-4DD1-8678-FC736582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11" name="rect-10">
            <a:extLst xmlns:a="http://schemas.openxmlformats.org/drawingml/2006/main">
              <a:ext uri="{FF2B5EF4-FFF2-40B4-BE49-F238E27FC236}">
                <a16:creationId xmlns:a16="http://schemas.microsoft.com/office/drawing/2014/main" id="{8F49E0DC-A45E-4E60-B5DF-57C985FB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" name="开启预测周期">
            <a:extLst xmlns:a="http://schemas.openxmlformats.org/drawingml/2006/main">
              <a:ext uri="{FF2B5EF4-FFF2-40B4-BE49-F238E27FC236}">
                <a16:creationId xmlns:a16="http://schemas.microsoft.com/office/drawing/2014/main" id="{B4F32415-0F87-49BC-B8EC-0948AB15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213" y="3416046"/>
            <a:ext cx="2116074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开启预测周期</a:t>
            </a:r>
          </a:p>
        </p:txBody>
      </p:sp>
      <p:sp>
        <p:nvSpPr>
          <p:cNvPr id="13" name="PMC确定月份、W周与窗口">
            <a:extLst xmlns:a="http://schemas.openxmlformats.org/drawingml/2006/main">
              <a:ext uri="{FF2B5EF4-FFF2-40B4-BE49-F238E27FC236}">
                <a16:creationId xmlns:a16="http://schemas.microsoft.com/office/drawing/2014/main" id="{CA531AF0-41DE-4D5A-9733-3D20227B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475" y="3961638"/>
            <a:ext cx="33535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PMC确定月份、W周与窗口</a:t>
            </a:r>
          </a:p>
        </p:txBody>
      </p:sp>
      <p:sp>
        <p:nvSpPr>
          <p:cNvPr id="14" name="日期引用计划日历">
            <a:extLst xmlns:a="http://schemas.openxmlformats.org/drawingml/2006/main">
              <a:ext uri="{FF2B5EF4-FFF2-40B4-BE49-F238E27FC236}">
                <a16:creationId xmlns:a16="http://schemas.microsoft.com/office/drawing/2014/main" id="{1C5B5CC2-3461-432A-B28A-B361023B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777" y="4333113"/>
            <a:ext cx="2234946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日期引用计划日历</a:t>
            </a:r>
          </a:p>
        </p:txBody>
      </p:sp>
      <p:sp>
        <p:nvSpPr>
          <p:cNvPr id="15" name="01">
            <a:extLst xmlns:a="http://schemas.openxmlformats.org/drawingml/2006/main">
              <a:ext uri="{FF2B5EF4-FFF2-40B4-BE49-F238E27FC236}">
                <a16:creationId xmlns:a16="http://schemas.microsoft.com/office/drawing/2014/main" id="{71BC2EB4-FAE7-489E-AAE7-C4F642FC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9306"/>
            <a:ext cx="342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path-15">
            <a:extLst xmlns:a="http://schemas.openxmlformats.org/drawingml/2006/main">
              <a:ext uri="{FF2B5EF4-FFF2-40B4-BE49-F238E27FC236}">
                <a16:creationId xmlns:a16="http://schemas.microsoft.com/office/drawing/2014/main" id="{51822128-36FD-4D04-8341-191D9A84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17" name="arrowhead-15">
            <a:extLst xmlns:a="http://schemas.openxmlformats.org/drawingml/2006/main">
              <a:ext uri="{FF2B5EF4-FFF2-40B4-BE49-F238E27FC236}">
                <a16:creationId xmlns:a16="http://schemas.microsoft.com/office/drawing/2014/main" id="{D104049A-8BE8-4841-AFBA-E3EC5251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18" name="rect-16">
            <a:extLst xmlns:a="http://schemas.openxmlformats.org/drawingml/2006/main">
              <a:ext uri="{FF2B5EF4-FFF2-40B4-BE49-F238E27FC236}">
                <a16:creationId xmlns:a16="http://schemas.microsoft.com/office/drawing/2014/main" id="{C3B30902-3A2F-40DE-84D8-7E1F5096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19" name="rect-17">
            <a:extLst xmlns:a="http://schemas.openxmlformats.org/drawingml/2006/main">
              <a:ext uri="{FF2B5EF4-FFF2-40B4-BE49-F238E27FC236}">
                <a16:creationId xmlns:a16="http://schemas.microsoft.com/office/drawing/2014/main" id="{D5BFA7E2-E176-487E-834B-D900646B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" name="维护日级预测">
            <a:extLst xmlns:a="http://schemas.openxmlformats.org/drawingml/2006/main">
              <a:ext uri="{FF2B5EF4-FFF2-40B4-BE49-F238E27FC236}">
                <a16:creationId xmlns:a16="http://schemas.microsoft.com/office/drawing/2014/main" id="{35C3B34B-3C8B-4646-8482-B9BA1942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038" y="3416046"/>
            <a:ext cx="2116074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维护日级预测</a:t>
            </a:r>
          </a:p>
        </p:txBody>
      </p:sp>
      <p:sp>
        <p:nvSpPr>
          <p:cNvPr id="21" name="系统基准只读">
            <a:extLst xmlns:a="http://schemas.openxmlformats.org/drawingml/2006/main">
              <a:ext uri="{FF2B5EF4-FFF2-40B4-BE49-F238E27FC236}">
                <a16:creationId xmlns:a16="http://schemas.microsoft.com/office/drawing/2014/main" id="{C5333CB9-3DAF-4554-AF0E-AE9A2F5C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064" y="3961638"/>
            <a:ext cx="1700022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系统基准只读</a:t>
            </a:r>
          </a:p>
        </p:txBody>
      </p:sp>
      <p:sp>
        <p:nvSpPr>
          <p:cNvPr id="22" name="人工修正、结构化活动">
            <a:extLst xmlns:a="http://schemas.openxmlformats.org/drawingml/2006/main">
              <a:ext uri="{FF2B5EF4-FFF2-40B4-BE49-F238E27FC236}">
                <a16:creationId xmlns:a16="http://schemas.microsoft.com/office/drawing/2014/main" id="{75E7A75E-6CA9-4A14-9AF7-FBD8F362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4333113"/>
            <a:ext cx="276987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人工修正、结构化活动</a:t>
            </a:r>
          </a:p>
        </p:txBody>
      </p:sp>
      <p:sp>
        <p:nvSpPr>
          <p:cNvPr id="23" name="02">
            <a:extLst xmlns:a="http://schemas.openxmlformats.org/drawingml/2006/main">
              <a:ext uri="{FF2B5EF4-FFF2-40B4-BE49-F238E27FC236}">
                <a16:creationId xmlns:a16="http://schemas.microsoft.com/office/drawing/2014/main" id="{12EB4A07-0325-4420-B99D-4D220A37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ath-22">
            <a:extLst xmlns:a="http://schemas.openxmlformats.org/drawingml/2006/main">
              <a:ext uri="{FF2B5EF4-FFF2-40B4-BE49-F238E27FC236}">
                <a16:creationId xmlns:a16="http://schemas.microsoft.com/office/drawing/2014/main" id="{15E4E3D6-F55A-4384-9CA5-DB6750A6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25" name="arrowhead-22">
            <a:extLst xmlns:a="http://schemas.openxmlformats.org/drawingml/2006/main">
              <a:ext uri="{FF2B5EF4-FFF2-40B4-BE49-F238E27FC236}">
                <a16:creationId xmlns:a16="http://schemas.microsoft.com/office/drawing/2014/main" id="{812A843B-0455-4373-A1B0-523D4380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6" name="rect-23">
            <a:extLst xmlns:a="http://schemas.openxmlformats.org/drawingml/2006/main">
              <a:ext uri="{FF2B5EF4-FFF2-40B4-BE49-F238E27FC236}">
                <a16:creationId xmlns:a16="http://schemas.microsoft.com/office/drawing/2014/main" id="{5B6EAE4C-9BAE-4C16-B370-8D14D872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27" name="rect-24">
            <a:extLst xmlns:a="http://schemas.openxmlformats.org/drawingml/2006/main">
              <a:ext uri="{FF2B5EF4-FFF2-40B4-BE49-F238E27FC236}">
                <a16:creationId xmlns:a16="http://schemas.microsoft.com/office/drawing/2014/main" id="{61BBBE4A-5AB8-43C8-9F20-17D5DCBC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" name="销售确认">
            <a:extLst xmlns:a="http://schemas.openxmlformats.org/drawingml/2006/main">
              <a:ext uri="{FF2B5EF4-FFF2-40B4-BE49-F238E27FC236}">
                <a16:creationId xmlns:a16="http://schemas.microsoft.com/office/drawing/2014/main" id="{9024A198-D545-4EC9-9D1F-5763BAEB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2667" y="3416046"/>
            <a:ext cx="1442466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销售确认</a:t>
            </a:r>
          </a:p>
        </p:txBody>
      </p:sp>
      <p:sp>
        <p:nvSpPr>
          <p:cNvPr id="29" name="逐日核对最终预测">
            <a:extLst xmlns:a="http://schemas.openxmlformats.org/drawingml/2006/main">
              <a:ext uri="{FF2B5EF4-FFF2-40B4-BE49-F238E27FC236}">
                <a16:creationId xmlns:a16="http://schemas.microsoft.com/office/drawing/2014/main" id="{928E23D8-87B3-4BC5-AA28-6044C88B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6427" y="3961638"/>
            <a:ext cx="2234946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逐日核对最终预测</a:t>
            </a:r>
          </a:p>
        </p:txBody>
      </p:sp>
      <p:sp>
        <p:nvSpPr>
          <p:cNvPr id="30" name="提交本W周期">
            <a:extLst xmlns:a="http://schemas.openxmlformats.org/drawingml/2006/main">
              <a:ext uri="{FF2B5EF4-FFF2-40B4-BE49-F238E27FC236}">
                <a16:creationId xmlns:a16="http://schemas.microsoft.com/office/drawing/2014/main" id="{4AD0ED5B-A413-4B82-B77A-A041706B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176" y="4333113"/>
            <a:ext cx="168144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提交本W周期</a:t>
            </a:r>
          </a:p>
        </p:txBody>
      </p:sp>
      <p:sp>
        <p:nvSpPr>
          <p:cNvPr id="31" name="03">
            <a:extLst xmlns:a="http://schemas.openxmlformats.org/drawingml/2006/main">
              <a:ext uri="{FF2B5EF4-FFF2-40B4-BE49-F238E27FC236}">
                <a16:creationId xmlns:a16="http://schemas.microsoft.com/office/drawing/2014/main" id="{C986D363-1518-4B1B-9385-B5BDFB5F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2" name="path-29">
            <a:extLst xmlns:a="http://schemas.openxmlformats.org/drawingml/2006/main">
              <a:ext uri="{FF2B5EF4-FFF2-40B4-BE49-F238E27FC236}">
                <a16:creationId xmlns:a16="http://schemas.microsoft.com/office/drawing/2014/main" id="{02E1F03E-2F49-4B51-B0D6-33C1DA5E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33" name="arrowhead-29">
            <a:extLst xmlns:a="http://schemas.openxmlformats.org/drawingml/2006/main">
              <a:ext uri="{FF2B5EF4-FFF2-40B4-BE49-F238E27FC236}">
                <a16:creationId xmlns:a16="http://schemas.microsoft.com/office/drawing/2014/main" id="{0C918ABA-1E01-4D58-BED9-76CBAD72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34" name="rect-30">
            <a:extLst xmlns:a="http://schemas.openxmlformats.org/drawingml/2006/main">
              <a:ext uri="{FF2B5EF4-FFF2-40B4-BE49-F238E27FC236}">
                <a16:creationId xmlns:a16="http://schemas.microsoft.com/office/drawing/2014/main" id="{9E952A0E-0546-4DF7-A955-80590AA5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35" name="rect-31">
            <a:extLst xmlns:a="http://schemas.openxmlformats.org/drawingml/2006/main">
              <a:ext uri="{FF2B5EF4-FFF2-40B4-BE49-F238E27FC236}">
                <a16:creationId xmlns:a16="http://schemas.microsoft.com/office/drawing/2014/main" id="{ACB33231-B95C-4519-A102-57BA76C5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6" name="PMC审核">
            <a:extLst xmlns:a="http://schemas.openxmlformats.org/drawingml/2006/main">
              <a:ext uri="{FF2B5EF4-FFF2-40B4-BE49-F238E27FC236}">
                <a16:creationId xmlns:a16="http://schemas.microsoft.com/office/drawing/2014/main" id="{7AE90497-4556-4368-93C9-3751AB82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581" y="3416046"/>
            <a:ext cx="1540288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PMC审核</a:t>
            </a:r>
          </a:p>
        </p:txBody>
      </p:sp>
      <p:sp>
        <p:nvSpPr>
          <p:cNvPr id="37" name="查看差异与调整原因">
            <a:extLst xmlns:a="http://schemas.openxmlformats.org/drawingml/2006/main">
              <a:ext uri="{FF2B5EF4-FFF2-40B4-BE49-F238E27FC236}">
                <a16:creationId xmlns:a16="http://schemas.microsoft.com/office/drawing/2014/main" id="{5D7E056F-7E85-45F6-BF6C-16549AFF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521" y="3961638"/>
            <a:ext cx="250240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查看差异与调整原因</a:t>
            </a:r>
          </a:p>
        </p:txBody>
      </p:sp>
      <p:sp>
        <p:nvSpPr>
          <p:cNvPr id="38" name="确认或退回销售修改">
            <a:extLst xmlns:a="http://schemas.openxmlformats.org/drawingml/2006/main">
              <a:ext uri="{FF2B5EF4-FFF2-40B4-BE49-F238E27FC236}">
                <a16:creationId xmlns:a16="http://schemas.microsoft.com/office/drawing/2014/main" id="{4C956C5D-0CBB-42BE-B483-5F4C1DF2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521" y="4333113"/>
            <a:ext cx="250240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确认或退回销售修改</a:t>
            </a:r>
          </a:p>
        </p:txBody>
      </p:sp>
      <p:sp>
        <p:nvSpPr>
          <p:cNvPr id="39" name="04">
            <a:extLst xmlns:a="http://schemas.openxmlformats.org/drawingml/2006/main">
              <a:ext uri="{FF2B5EF4-FFF2-40B4-BE49-F238E27FC236}">
                <a16:creationId xmlns:a16="http://schemas.microsoft.com/office/drawing/2014/main" id="{EF6690E8-0772-42D1-A95C-E0CA10E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0" name="path-36">
            <a:extLst xmlns:a="http://schemas.openxmlformats.org/drawingml/2006/main">
              <a:ext uri="{FF2B5EF4-FFF2-40B4-BE49-F238E27FC236}">
                <a16:creationId xmlns:a16="http://schemas.microsoft.com/office/drawing/2014/main" id="{E224F73D-85A8-4B57-A04F-1BD07520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75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41" name="arrowhead-36">
            <a:extLst xmlns:a="http://schemas.openxmlformats.org/drawingml/2006/main">
              <a:ext uri="{FF2B5EF4-FFF2-40B4-BE49-F238E27FC236}">
                <a16:creationId xmlns:a16="http://schemas.microsoft.com/office/drawing/2014/main" id="{A20AB4ED-982D-471D-9B29-C98A0A8E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0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42" name="rect-37">
            <a:extLst xmlns:a="http://schemas.openxmlformats.org/drawingml/2006/main">
              <a:ext uri="{FF2B5EF4-FFF2-40B4-BE49-F238E27FC236}">
                <a16:creationId xmlns:a16="http://schemas.microsoft.com/office/drawing/2014/main" id="{7B3659FB-DC66-474D-B517-4761D366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43" name="rect-38">
            <a:extLst xmlns:a="http://schemas.openxmlformats.org/drawingml/2006/main">
              <a:ext uri="{FF2B5EF4-FFF2-40B4-BE49-F238E27FC236}">
                <a16:creationId xmlns:a16="http://schemas.microsoft.com/office/drawing/2014/main" id="{6221772A-BE37-470D-B3F5-64121ED2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4" name="确认预测版本">
            <a:extLst xmlns:a="http://schemas.openxmlformats.org/drawingml/2006/main">
              <a:ext uri="{FF2B5EF4-FFF2-40B4-BE49-F238E27FC236}">
                <a16:creationId xmlns:a16="http://schemas.microsoft.com/office/drawing/2014/main" id="{417FCFC2-BF38-4295-8F8C-CDE1E4BE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7513" y="3416046"/>
            <a:ext cx="2116074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确认预测版本</a:t>
            </a:r>
          </a:p>
        </p:txBody>
      </p:sp>
      <p:sp>
        <p:nvSpPr>
          <p:cNvPr id="45" name="保留来源、原因与版本">
            <a:extLst xmlns:a="http://schemas.openxmlformats.org/drawingml/2006/main">
              <a:ext uri="{FF2B5EF4-FFF2-40B4-BE49-F238E27FC236}">
                <a16:creationId xmlns:a16="http://schemas.microsoft.com/office/drawing/2014/main" id="{9EE0A3A5-A807-4D43-9A12-E71D7A09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615" y="3961638"/>
            <a:ext cx="276987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保留来源、原因与版本</a:t>
            </a:r>
          </a:p>
        </p:txBody>
      </p:sp>
      <p:sp>
        <p:nvSpPr>
          <p:cNvPr id="46" name="作为备货需求输入">
            <a:extLst xmlns:a="http://schemas.openxmlformats.org/drawingml/2006/main">
              <a:ext uri="{FF2B5EF4-FFF2-40B4-BE49-F238E27FC236}">
                <a16:creationId xmlns:a16="http://schemas.microsoft.com/office/drawing/2014/main" id="{F9E9FCA5-7E6C-48C6-9E46-57A88B3F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8077" y="4333113"/>
            <a:ext cx="2234946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作为备货需求输入</a:t>
            </a:r>
          </a:p>
        </p:txBody>
      </p:sp>
      <p:sp>
        <p:nvSpPr>
          <p:cNvPr id="47" name="05">
            <a:extLst xmlns:a="http://schemas.openxmlformats.org/drawingml/2006/main">
              <a:ext uri="{FF2B5EF4-FFF2-40B4-BE49-F238E27FC236}">
                <a16:creationId xmlns:a16="http://schemas.microsoft.com/office/drawing/2014/main" id="{C6ED3AD1-728F-41CD-89DC-C21629E4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8" name="path-43">
            <a:extLst xmlns:a="http://schemas.openxmlformats.org/drawingml/2006/main">
              <a:ext uri="{FF2B5EF4-FFF2-40B4-BE49-F238E27FC236}">
                <a16:creationId xmlns:a16="http://schemas.microsoft.com/office/drawing/2014/main" id="{D4692720-8C3C-4DB0-A884-19C35B06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953000"/>
            <a:ext cx="9391650" cy="1085850"/>
          </a:xfrm>
          <a:custGeom xmlns:a="http://schemas.openxmlformats.org/drawingml/2006/main">
            <a:pathLst>
              <a:path w="9391650" h="1085850">
                <a:moveTo>
                  <a:pt x="9391650" y="0"/>
                </a:moveTo>
                <a:lnTo>
                  <a:pt x="9391650" y="1085850"/>
                </a:lnTo>
                <a:lnTo>
                  <a:pt x="0" y="10858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78E99"/>
            </a:solidFill>
            <a:prstDash val="solid"/>
          </a:ln>
        </p:spPr>
      </p:sp>
      <p:sp>
        <p:nvSpPr>
          <p:cNvPr id="49" name="arrowhead-43">
            <a:extLst xmlns:a="http://schemas.openxmlformats.org/drawingml/2006/main">
              <a:ext uri="{FF2B5EF4-FFF2-40B4-BE49-F238E27FC236}">
                <a16:creationId xmlns:a16="http://schemas.microsoft.com/office/drawing/2014/main" id="{A565372E-CAE1-479D-AA92-EC1E25A8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953000"/>
            <a:ext cx="304800" cy="304800"/>
          </a:xfrm>
          <a:custGeom xmlns:a="http://schemas.openxmlformats.org/drawingml/2006/main">
            <a:pathLst>
              <a:path w="304800" h="304800">
                <a:moveTo>
                  <a:pt x="152400" y="0"/>
                </a:move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50" name="rect-44">
            <a:extLst xmlns:a="http://schemas.openxmlformats.org/drawingml/2006/main">
              <a:ext uri="{FF2B5EF4-FFF2-40B4-BE49-F238E27FC236}">
                <a16:creationId xmlns:a16="http://schemas.microsoft.com/office/drawing/2014/main" id="{F3D7380C-E682-407B-957F-63A81408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7866" y="5734050"/>
            <a:ext cx="347776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1" name="审核退回 → 修改并重新提交">
            <a:extLst xmlns:a="http://schemas.openxmlformats.org/drawingml/2006/main">
              <a:ext uri="{FF2B5EF4-FFF2-40B4-BE49-F238E27FC236}">
                <a16:creationId xmlns:a16="http://schemas.microsoft.com/office/drawing/2014/main" id="{C8AEF136-3189-4062-81D9-50F044F7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963" y="5714619"/>
            <a:ext cx="3357574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审核退回 → 修改并重新提交</a:t>
            </a:r>
          </a:p>
        </p:txBody>
      </p:sp>
      <p:sp>
        <p:nvSpPr>
          <p:cNvPr id="52" name="path-46">
            <a:extLst xmlns:a="http://schemas.openxmlformats.org/drawingml/2006/main">
              <a:ext uri="{FF2B5EF4-FFF2-40B4-BE49-F238E27FC236}">
                <a16:creationId xmlns:a16="http://schemas.microsoft.com/office/drawing/2014/main" id="{1FB242D4-FF54-4AA9-8A6D-979EB169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0934700" cy="476"/>
          </a:xfrm>
          <a:custGeom xmlns:a="http://schemas.openxmlformats.org/drawingml/2006/main">
            <a:pathLst>
              <a:path w="10934700" h="476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53" name="path-47">
            <a:extLst xmlns:a="http://schemas.openxmlformats.org/drawingml/2006/main">
              <a:ext uri="{FF2B5EF4-FFF2-40B4-BE49-F238E27FC236}">
                <a16:creationId xmlns:a16="http://schemas.microsoft.com/office/drawing/2014/main" id="{E3E3C1F9-7F09-4BDF-9407-A63DA654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105650"/>
            <a:ext cx="11163300" cy="476"/>
          </a:xfrm>
          <a:custGeom xmlns:a="http://schemas.openxmlformats.org/drawingml/2006/main">
            <a:pathLst>
              <a:path w="11163300" h="476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54" name="三条输入与一个最终结果">
            <a:extLst xmlns:a="http://schemas.openxmlformats.org/drawingml/2006/main">
              <a:ext uri="{FF2B5EF4-FFF2-40B4-BE49-F238E27FC236}">
                <a16:creationId xmlns:a16="http://schemas.microsoft.com/office/drawing/2014/main" id="{7ACD1531-17E5-4F94-81F2-E837BE7F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3577"/>
            <a:ext cx="3691128" cy="45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三条输入与一个最终结果</a:t>
            </a:r>
          </a:p>
        </p:txBody>
      </p:sp>
      <p:sp>
        <p:nvSpPr>
          <p:cNvPr id="55" name="状态与追溯">
            <a:extLst xmlns:a="http://schemas.openxmlformats.org/drawingml/2006/main">
              <a:ext uri="{FF2B5EF4-FFF2-40B4-BE49-F238E27FC236}">
                <a16:creationId xmlns:a16="http://schemas.microsoft.com/office/drawing/2014/main" id="{1FE85EA5-722A-47EF-913C-CA57C16B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283577"/>
            <a:ext cx="1729740" cy="45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状态与追溯</a:t>
            </a:r>
          </a:p>
        </p:txBody>
      </p:sp>
      <p:sp>
        <p:nvSpPr>
          <p:cNvPr id="56" name="系统基准：引用数仓 / 预测模型结果">
            <a:extLst xmlns:a="http://schemas.openxmlformats.org/drawingml/2006/main">
              <a:ext uri="{FF2B5EF4-FFF2-40B4-BE49-F238E27FC236}">
                <a16:creationId xmlns:a16="http://schemas.microsoft.com/office/drawing/2014/main" id="{244E5574-0D5F-4E99-ABC4-DF194037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42326"/>
            <a:ext cx="4739461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系统基准：引用数仓 / 预测模型结果</a:t>
            </a:r>
          </a:p>
        </p:txBody>
      </p:sp>
      <p:sp>
        <p:nvSpPr>
          <p:cNvPr id="57" name="人工修正：未调整时沿用系统基准">
            <a:extLst xmlns:a="http://schemas.openxmlformats.org/drawingml/2006/main">
              <a:ext uri="{FF2B5EF4-FFF2-40B4-BE49-F238E27FC236}">
                <a16:creationId xmlns:a16="http://schemas.microsoft.com/office/drawing/2014/main" id="{B89149F1-0E21-41D0-9DE7-BB69241A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32876"/>
            <a:ext cx="440436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人工修正：未调整时沿用系统基准</a:t>
            </a:r>
          </a:p>
        </p:txBody>
      </p:sp>
      <p:sp>
        <p:nvSpPr>
          <p:cNvPr id="58" name="活动影响：结构化记录类型、名称与增量">
            <a:extLst xmlns:a="http://schemas.openxmlformats.org/drawingml/2006/main">
              <a:ext uri="{FF2B5EF4-FFF2-40B4-BE49-F238E27FC236}">
                <a16:creationId xmlns:a16="http://schemas.microsoft.com/office/drawing/2014/main" id="{BD4013A7-89AF-4989-B858-59244A6C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23426"/>
            <a:ext cx="5266182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活动影响：结构化记录类型、名称与增量</a:t>
            </a:r>
          </a:p>
        </p:txBody>
      </p:sp>
      <p:sp>
        <p:nvSpPr>
          <p:cNvPr id="59" name="最终预测 = 选用基准 + 活动增量">
            <a:extLst xmlns:a="http://schemas.openxmlformats.org/drawingml/2006/main">
              <a:ext uri="{FF2B5EF4-FFF2-40B4-BE49-F238E27FC236}">
                <a16:creationId xmlns:a16="http://schemas.microsoft.com/office/drawing/2014/main" id="{1B614CAC-ED5C-46C2-98BA-288BA252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3976"/>
            <a:ext cx="4272796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最终预测 = 选用基准 + 活动增量</a:t>
            </a:r>
          </a:p>
        </p:txBody>
      </p:sp>
      <p:sp>
        <p:nvSpPr>
          <p:cNvPr id="60" name="销售提交后只读，退回后恢复修改">
            <a:extLst xmlns:a="http://schemas.openxmlformats.org/drawingml/2006/main">
              <a:ext uri="{FF2B5EF4-FFF2-40B4-BE49-F238E27FC236}">
                <a16:creationId xmlns:a16="http://schemas.microsoft.com/office/drawing/2014/main" id="{59223EED-71A4-46BB-8838-19D5DA62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942326"/>
            <a:ext cx="440436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销售提交后只读，退回后恢复修改</a:t>
            </a:r>
          </a:p>
        </p:txBody>
      </p:sp>
      <p:sp>
        <p:nvSpPr>
          <p:cNvPr id="61" name="人工修改必须说明原因">
            <a:extLst xmlns:a="http://schemas.openxmlformats.org/drawingml/2006/main">
              <a:ext uri="{FF2B5EF4-FFF2-40B4-BE49-F238E27FC236}">
                <a16:creationId xmlns:a16="http://schemas.microsoft.com/office/drawing/2014/main" id="{514E0E58-9A06-4397-B415-02F4924D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8532876"/>
            <a:ext cx="296799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人工修改必须说明原因</a:t>
            </a:r>
          </a:p>
        </p:txBody>
      </p:sp>
      <p:sp>
        <p:nvSpPr>
          <p:cNvPr id="62" name="保留原值、调整值、操作人和时间">
            <a:extLst xmlns:a="http://schemas.openxmlformats.org/drawingml/2006/main">
              <a:ext uri="{FF2B5EF4-FFF2-40B4-BE49-F238E27FC236}">
                <a16:creationId xmlns:a16="http://schemas.microsoft.com/office/drawing/2014/main" id="{E02C1E55-552C-4064-82D5-497C2B1A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9123426"/>
            <a:ext cx="440436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保留原值、调整值、操作人和时间</a:t>
            </a:r>
          </a:p>
        </p:txBody>
      </p:sp>
      <p:sp>
        <p:nvSpPr>
          <p:cNvPr id="63" name="预测版本用于追溯，不新增版本菜单">
            <a:extLst xmlns:a="http://schemas.openxmlformats.org/drawingml/2006/main">
              <a:ext uri="{FF2B5EF4-FFF2-40B4-BE49-F238E27FC236}">
                <a16:creationId xmlns:a16="http://schemas.microsoft.com/office/drawing/2014/main" id="{F92A97F5-C010-40ED-889D-207C8A7E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9713976"/>
            <a:ext cx="4691634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预测版本用于追溯，不新增版本菜单</a:t>
            </a:r>
          </a:p>
        </p:txBody>
      </p:sp>
      <p:sp>
        <p:nvSpPr>
          <p:cNvPr id="64" name="rect-58">
            <a:extLst xmlns:a="http://schemas.openxmlformats.org/drawingml/2006/main">
              <a:ext uri="{FF2B5EF4-FFF2-40B4-BE49-F238E27FC236}">
                <a16:creationId xmlns:a16="http://schemas.microsoft.com/office/drawing/2014/main" id="{94741301-F5E8-4793-8EB1-CA353F62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96625"/>
            <a:ext cx="23164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5" name="交接结果">
            <a:extLst xmlns:a="http://schemas.openxmlformats.org/drawingml/2006/main">
              <a:ext uri="{FF2B5EF4-FFF2-40B4-BE49-F238E27FC236}">
                <a16:creationId xmlns:a16="http://schemas.microsoft.com/office/drawing/2014/main" id="{0C99454D-A7FC-42CB-A89C-D7A5C063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1399520"/>
            <a:ext cx="128397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交接结果</a:t>
            </a:r>
          </a:p>
        </p:txBody>
      </p:sp>
      <p:sp>
        <p:nvSpPr>
          <p:cNvPr id="66" name="确认后的日级预测及周汇总，交给PMC备货计划">
            <a:extLst xmlns:a="http://schemas.openxmlformats.org/drawingml/2006/main">
              <a:ext uri="{FF2B5EF4-FFF2-40B4-BE49-F238E27FC236}">
                <a16:creationId xmlns:a16="http://schemas.microsoft.com/office/drawing/2014/main" id="{7A20EABF-896E-4CFC-8347-F93FB2A5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09426"/>
            <a:ext cx="6211431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确认后的日级预测及周汇总，交给PMC备货计划</a:t>
            </a:r>
          </a:p>
        </p:txBody>
      </p:sp>
      <p:sp>
        <p:nvSpPr>
          <p:cNvPr id="67" name="退回沿用同一周期与商品任务；不重复创建一轮预测。">
            <a:extLst xmlns:a="http://schemas.openxmlformats.org/drawingml/2006/main">
              <a:ext uri="{FF2B5EF4-FFF2-40B4-BE49-F238E27FC236}">
                <a16:creationId xmlns:a16="http://schemas.microsoft.com/office/drawing/2014/main" id="{56FC77BE-420A-4579-B7F5-3525A83D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30125"/>
            <a:ext cx="60388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退回沿用同一周期与商品任务；不重复创建一轮预测。</a:t>
            </a:r>
          </a:p>
        </p:txBody>
      </p:sp>
      <p:sp>
        <p:nvSpPr>
          <p:cNvPr id="68" name="path-62">
            <a:extLst xmlns:a="http://schemas.openxmlformats.org/drawingml/2006/main">
              <a:ext uri="{FF2B5EF4-FFF2-40B4-BE49-F238E27FC236}">
                <a16:creationId xmlns:a16="http://schemas.microsoft.com/office/drawing/2014/main" id="{BCBE7200-C4E2-4BFC-9078-40C4801E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5E1E9"/>
            </a:solidFill>
            <a:prstDash val="solid"/>
          </a:ln>
        </p:spPr>
      </p:sp>
      <p:sp>
        <p:nvSpPr>
          <p:cNvPr id="69" name="Q4供应链产品建设方案 · 汇报分层版 · 目标业务蓝图，按P0 / P1推进">
            <a:extLst xmlns:a="http://schemas.openxmlformats.org/drawingml/2006/main">
              <a:ext uri="{FF2B5EF4-FFF2-40B4-BE49-F238E27FC236}">
                <a16:creationId xmlns:a16="http://schemas.microsoft.com/office/drawing/2014/main" id="{1F4C235F-0A86-4F58-9C78-E91DF22E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07568"/>
            <a:ext cx="688395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Q4供应链产品建设方案 · 汇报分层版 · 目标业务蓝图，按P0 / P1推进</a:t>
            </a:r>
          </a:p>
        </p:txBody>
      </p:sp>
      <p:sp>
        <p:nvSpPr>
          <p:cNvPr id="70" name="04 / 10">
            <a:extLst xmlns:a="http://schemas.openxmlformats.org/drawingml/2006/main">
              <a:ext uri="{FF2B5EF4-FFF2-40B4-BE49-F238E27FC236}">
                <a16:creationId xmlns:a16="http://schemas.microsoft.com/office/drawing/2014/main" id="{776E6584-E3E2-4429-A6A4-AA08A448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3784" y="13307568"/>
            <a:ext cx="83061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19421016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白色画布">
            <a:extLst xmlns:a="http://schemas.openxmlformats.org/drawingml/2006/main">
              <a:ext uri="{FF2B5EF4-FFF2-40B4-BE49-F238E27FC236}">
                <a16:creationId xmlns:a16="http://schemas.microsoft.com/office/drawing/2014/main" id="{D4D1E128-24CC-41D9-A296-CCFAC287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-1">
            <a:extLst xmlns:a="http://schemas.openxmlformats.org/drawingml/2006/main">
              <a:ext uri="{FF2B5EF4-FFF2-40B4-BE49-F238E27FC236}">
                <a16:creationId xmlns:a16="http://schemas.microsoft.com/office/drawing/2014/main" id="{C60A8F8C-247A-4200-B502-ECDCE9A4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" name="rect-2">
            <a:extLst xmlns:a="http://schemas.openxmlformats.org/drawingml/2006/main">
              <a:ext uri="{FF2B5EF4-FFF2-40B4-BE49-F238E27FC236}">
                <a16:creationId xmlns:a16="http://schemas.microsoft.com/office/drawing/2014/main" id="{4D0F8090-1EAC-49AD-BCD2-882A4BF8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" name="PMC备货｜从预测需求到采购需求">
            <a:extLst xmlns:a="http://schemas.openxmlformats.org/drawingml/2006/main">
              <a:ext uri="{FF2B5EF4-FFF2-40B4-BE49-F238E27FC236}">
                <a16:creationId xmlns:a16="http://schemas.microsoft.com/office/drawing/2014/main" id="{B802B304-71B7-40CD-94AA-E48BBC20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781"/>
            <a:ext cx="7517011" cy="676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PMC备货｜从预测需求到采购需求</a:t>
            </a:r>
          </a:p>
        </p:txBody>
      </p:sp>
      <p:sp>
        <p:nvSpPr>
          <p:cNvPr id="5" name="2026 Q4 / V3.0">
            <a:extLst xmlns:a="http://schemas.openxmlformats.org/drawingml/2006/main">
              <a:ext uri="{FF2B5EF4-FFF2-40B4-BE49-F238E27FC236}">
                <a16:creationId xmlns:a16="http://schemas.microsoft.com/office/drawing/2014/main" id="{89B92E22-23F4-4AAE-8F1F-7061A1F8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7004" y="647700"/>
            <a:ext cx="1927396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V3.0</a:t>
            </a:r>
          </a:p>
        </p:txBody>
      </p:sp>
      <p:sp>
        <p:nvSpPr>
          <p:cNvPr id="6" name="path-5">
            <a:extLst xmlns:a="http://schemas.openxmlformats.org/drawingml/2006/main">
              <a:ext uri="{FF2B5EF4-FFF2-40B4-BE49-F238E27FC236}">
                <a16:creationId xmlns:a16="http://schemas.microsoft.com/office/drawing/2014/main" id="{3C092EB9-C2EE-4EA7-9D87-C7138C84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7" name="PMC确定采购对象、数量与需求日期，采购部门决定最终供应商分配">
            <a:extLst xmlns:a="http://schemas.openxmlformats.org/drawingml/2006/main">
              <a:ext uri="{FF2B5EF4-FFF2-40B4-BE49-F238E27FC236}">
                <a16:creationId xmlns:a16="http://schemas.microsoft.com/office/drawing/2014/main" id="{AAB0E0AA-145D-44F7-AE06-DD6F2C1C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0863"/>
            <a:ext cx="8186595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PMC确定采购对象、数量与需求日期，采购部门决定最终供应商分配</a:t>
            </a:r>
          </a:p>
        </p:txBody>
      </p:sp>
      <p:sp>
        <p:nvSpPr>
          <p:cNvPr id="8" name="05 / 模块展开">
            <a:extLst xmlns:a="http://schemas.openxmlformats.org/drawingml/2006/main">
              <a:ext uri="{FF2B5EF4-FFF2-40B4-BE49-F238E27FC236}">
                <a16:creationId xmlns:a16="http://schemas.microsoft.com/office/drawing/2014/main" id="{2650EC9A-60E7-4847-8568-7DAD4EEF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8695" y="1610487"/>
            <a:ext cx="1545705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05 / 模块展开</a:t>
            </a:r>
          </a:p>
        </p:txBody>
      </p:sp>
      <p:sp>
        <p:nvSpPr>
          <p:cNvPr id="9" name="业务动作">
            <a:extLst xmlns:a="http://schemas.openxmlformats.org/drawingml/2006/main">
              <a:ext uri="{FF2B5EF4-FFF2-40B4-BE49-F238E27FC236}">
                <a16:creationId xmlns:a16="http://schemas.microsoft.com/office/drawing/2014/main" id="{1528B4EF-9A41-4030-BC9E-E26C54F0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8583"/>
            <a:ext cx="1363218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业务动作</a:t>
            </a:r>
          </a:p>
        </p:txBody>
      </p:sp>
      <p:sp>
        <p:nvSpPr>
          <p:cNvPr id="10" name="rect-9">
            <a:extLst xmlns:a="http://schemas.openxmlformats.org/drawingml/2006/main">
              <a:ext uri="{FF2B5EF4-FFF2-40B4-BE49-F238E27FC236}">
                <a16:creationId xmlns:a16="http://schemas.microsoft.com/office/drawing/2014/main" id="{44ECC277-DA3B-44A7-A21D-18CB2DFF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11" name="rect-10">
            <a:extLst xmlns:a="http://schemas.openxmlformats.org/drawingml/2006/main">
              <a:ext uri="{FF2B5EF4-FFF2-40B4-BE49-F238E27FC236}">
                <a16:creationId xmlns:a16="http://schemas.microsoft.com/office/drawing/2014/main" id="{B13DB2E7-903F-46A0-9CFB-DF528DED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" name="汇总确认需求">
            <a:extLst xmlns:a="http://schemas.openxmlformats.org/drawingml/2006/main">
              <a:ext uri="{FF2B5EF4-FFF2-40B4-BE49-F238E27FC236}">
                <a16:creationId xmlns:a16="http://schemas.microsoft.com/office/drawing/2014/main" id="{FF702A0C-99C0-41E5-840C-1B90B268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213" y="3416046"/>
            <a:ext cx="2116074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汇总确认需求</a:t>
            </a:r>
          </a:p>
        </p:txBody>
      </p:sp>
      <p:sp>
        <p:nvSpPr>
          <p:cNvPr id="13" name="引用预测版本">
            <a:extLst xmlns:a="http://schemas.openxmlformats.org/drawingml/2006/main">
              <a:ext uri="{FF2B5EF4-FFF2-40B4-BE49-F238E27FC236}">
                <a16:creationId xmlns:a16="http://schemas.microsoft.com/office/drawing/2014/main" id="{B38AEDBB-1505-4DB6-8B9D-E3D26598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239" y="3961638"/>
            <a:ext cx="1700022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引用预测版本</a:t>
            </a:r>
          </a:p>
        </p:txBody>
      </p:sp>
      <p:sp>
        <p:nvSpPr>
          <p:cNvPr id="14" name="明确渠道、商品与时间">
            <a:extLst xmlns:a="http://schemas.openxmlformats.org/drawingml/2006/main">
              <a:ext uri="{FF2B5EF4-FFF2-40B4-BE49-F238E27FC236}">
                <a16:creationId xmlns:a16="http://schemas.microsoft.com/office/drawing/2014/main" id="{DBFCB396-99E5-47C5-8FF7-75405ACA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" y="4333113"/>
            <a:ext cx="276987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明确渠道、商品与时间</a:t>
            </a:r>
          </a:p>
        </p:txBody>
      </p:sp>
      <p:sp>
        <p:nvSpPr>
          <p:cNvPr id="15" name="01">
            <a:extLst xmlns:a="http://schemas.openxmlformats.org/drawingml/2006/main">
              <a:ext uri="{FF2B5EF4-FFF2-40B4-BE49-F238E27FC236}">
                <a16:creationId xmlns:a16="http://schemas.microsoft.com/office/drawing/2014/main" id="{8FC22419-2C98-4963-A527-D2F9F6F1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9306"/>
            <a:ext cx="342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path-15">
            <a:extLst xmlns:a="http://schemas.openxmlformats.org/drawingml/2006/main">
              <a:ext uri="{FF2B5EF4-FFF2-40B4-BE49-F238E27FC236}">
                <a16:creationId xmlns:a16="http://schemas.microsoft.com/office/drawing/2014/main" id="{913EF95D-60F4-4C29-97B3-06300E2D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17" name="arrowhead-15">
            <a:extLst xmlns:a="http://schemas.openxmlformats.org/drawingml/2006/main">
              <a:ext uri="{FF2B5EF4-FFF2-40B4-BE49-F238E27FC236}">
                <a16:creationId xmlns:a16="http://schemas.microsoft.com/office/drawing/2014/main" id="{21489B81-31DD-4758-83C2-6476BBF5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18" name="rect-16">
            <a:extLst xmlns:a="http://schemas.openxmlformats.org/drawingml/2006/main">
              <a:ext uri="{FF2B5EF4-FFF2-40B4-BE49-F238E27FC236}">
                <a16:creationId xmlns:a16="http://schemas.microsoft.com/office/drawing/2014/main" id="{CEDBD3B0-C8FE-461F-88B3-38B1CB30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19" name="rect-17">
            <a:extLst xmlns:a="http://schemas.openxmlformats.org/drawingml/2006/main">
              <a:ext uri="{FF2B5EF4-FFF2-40B4-BE49-F238E27FC236}">
                <a16:creationId xmlns:a16="http://schemas.microsoft.com/office/drawing/2014/main" id="{B3710C4B-1A5B-4037-BCB2-8A48037D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" name="库存与时效校准">
            <a:extLst xmlns:a="http://schemas.openxmlformats.org/drawingml/2006/main">
              <a:ext uri="{FF2B5EF4-FFF2-40B4-BE49-F238E27FC236}">
                <a16:creationId xmlns:a16="http://schemas.microsoft.com/office/drawing/2014/main" id="{AE3D4F45-FF2A-4F20-9249-0B53D516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636" y="3416046"/>
            <a:ext cx="2452878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库存与时效校准</a:t>
            </a:r>
          </a:p>
        </p:txBody>
      </p:sp>
      <p:sp>
        <p:nvSpPr>
          <p:cNvPr id="21" name="库存、在途、DOI与水位">
            <a:extLst xmlns:a="http://schemas.openxmlformats.org/drawingml/2006/main">
              <a:ext uri="{FF2B5EF4-FFF2-40B4-BE49-F238E27FC236}">
                <a16:creationId xmlns:a16="http://schemas.microsoft.com/office/drawing/2014/main" id="{1C9391BC-5888-4A20-A246-59E803C1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82" y="3961638"/>
            <a:ext cx="2959787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库存、在途、DOI与水位</a:t>
            </a:r>
          </a:p>
        </p:txBody>
      </p:sp>
      <p:sp>
        <p:nvSpPr>
          <p:cNvPr id="22" name="安全库存、运输及到货期">
            <a:extLst xmlns:a="http://schemas.openxmlformats.org/drawingml/2006/main">
              <a:ext uri="{FF2B5EF4-FFF2-40B4-BE49-F238E27FC236}">
                <a16:creationId xmlns:a16="http://schemas.microsoft.com/office/drawing/2014/main" id="{4C7E1E4F-F98B-4502-8B47-C8E82A74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409" y="4333113"/>
            <a:ext cx="3037332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安全库存、运输及到货期</a:t>
            </a:r>
          </a:p>
        </p:txBody>
      </p:sp>
      <p:sp>
        <p:nvSpPr>
          <p:cNvPr id="23" name="02">
            <a:extLst xmlns:a="http://schemas.openxmlformats.org/drawingml/2006/main">
              <a:ext uri="{FF2B5EF4-FFF2-40B4-BE49-F238E27FC236}">
                <a16:creationId xmlns:a16="http://schemas.microsoft.com/office/drawing/2014/main" id="{0B39E52A-F377-419F-BFB6-E8B3284D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ath-22">
            <a:extLst xmlns:a="http://schemas.openxmlformats.org/drawingml/2006/main">
              <a:ext uri="{FF2B5EF4-FFF2-40B4-BE49-F238E27FC236}">
                <a16:creationId xmlns:a16="http://schemas.microsoft.com/office/drawing/2014/main" id="{38FD6C11-0393-4EC8-9EF1-0DC8E61B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25" name="arrowhead-22">
            <a:extLst xmlns:a="http://schemas.openxmlformats.org/drawingml/2006/main">
              <a:ext uri="{FF2B5EF4-FFF2-40B4-BE49-F238E27FC236}">
                <a16:creationId xmlns:a16="http://schemas.microsoft.com/office/drawing/2014/main" id="{D3719563-4AA4-4A92-8817-024780B0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6" name="rect-23">
            <a:extLst xmlns:a="http://schemas.openxmlformats.org/drawingml/2006/main">
              <a:ext uri="{FF2B5EF4-FFF2-40B4-BE49-F238E27FC236}">
                <a16:creationId xmlns:a16="http://schemas.microsoft.com/office/drawing/2014/main" id="{48F2BA76-D9A4-4410-BF2E-A9EB3962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27" name="rect-24">
            <a:extLst xmlns:a="http://schemas.openxmlformats.org/drawingml/2006/main">
              <a:ext uri="{FF2B5EF4-FFF2-40B4-BE49-F238E27FC236}">
                <a16:creationId xmlns:a16="http://schemas.microsoft.com/office/drawing/2014/main" id="{262BBA7B-8698-417D-BD42-3AC85897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" name="拆解SKU版本">
            <a:extLst xmlns:a="http://schemas.openxmlformats.org/drawingml/2006/main">
              <a:ext uri="{FF2B5EF4-FFF2-40B4-BE49-F238E27FC236}">
                <a16:creationId xmlns:a16="http://schemas.microsoft.com/office/drawing/2014/main" id="{785167EE-4D6E-4053-9B98-AF0D7110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9147" y="3416046"/>
            <a:ext cx="2149507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拆解SKU版本</a:t>
            </a:r>
          </a:p>
        </p:txBody>
      </p:sp>
      <p:sp>
        <p:nvSpPr>
          <p:cNvPr id="29" name="子ASIN映射至SKU版本">
            <a:extLst xmlns:a="http://schemas.openxmlformats.org/drawingml/2006/main">
              <a:ext uri="{FF2B5EF4-FFF2-40B4-BE49-F238E27FC236}">
                <a16:creationId xmlns:a16="http://schemas.microsoft.com/office/drawing/2014/main" id="{63909C84-3BF8-4F14-8B74-C504D89F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1353" y="3961638"/>
            <a:ext cx="2845094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子ASIN映射至SKU版本</a:t>
            </a:r>
          </a:p>
        </p:txBody>
      </p:sp>
      <p:sp>
        <p:nvSpPr>
          <p:cNvPr id="30" name="区分老版本库存与新版本">
            <a:extLst xmlns:a="http://schemas.openxmlformats.org/drawingml/2006/main">
              <a:ext uri="{FF2B5EF4-FFF2-40B4-BE49-F238E27FC236}">
                <a16:creationId xmlns:a16="http://schemas.microsoft.com/office/drawing/2014/main" id="{C0827662-7CD5-4E51-9A52-0F99FAF0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5234" y="4333113"/>
            <a:ext cx="3037332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区分老版本库存与新版本</a:t>
            </a:r>
          </a:p>
        </p:txBody>
      </p:sp>
      <p:sp>
        <p:nvSpPr>
          <p:cNvPr id="31" name="03">
            <a:extLst xmlns:a="http://schemas.openxmlformats.org/drawingml/2006/main">
              <a:ext uri="{FF2B5EF4-FFF2-40B4-BE49-F238E27FC236}">
                <a16:creationId xmlns:a16="http://schemas.microsoft.com/office/drawing/2014/main" id="{2726AF78-EF54-4217-BF13-4D935CB8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2" name="path-29">
            <a:extLst xmlns:a="http://schemas.openxmlformats.org/drawingml/2006/main">
              <a:ext uri="{FF2B5EF4-FFF2-40B4-BE49-F238E27FC236}">
                <a16:creationId xmlns:a16="http://schemas.microsoft.com/office/drawing/2014/main" id="{64878760-4947-49C7-B234-5149BEC7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33" name="arrowhead-29">
            <a:extLst xmlns:a="http://schemas.openxmlformats.org/drawingml/2006/main">
              <a:ext uri="{FF2B5EF4-FFF2-40B4-BE49-F238E27FC236}">
                <a16:creationId xmlns:a16="http://schemas.microsoft.com/office/drawing/2014/main" id="{39B0C972-F978-401C-A61D-67FAFC28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34" name="rect-30">
            <a:extLst xmlns:a="http://schemas.openxmlformats.org/drawingml/2006/main">
              <a:ext uri="{FF2B5EF4-FFF2-40B4-BE49-F238E27FC236}">
                <a16:creationId xmlns:a16="http://schemas.microsoft.com/office/drawing/2014/main" id="{D0044AC3-1401-4304-BDCD-0B52DB54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35" name="rect-31">
            <a:extLst xmlns:a="http://schemas.openxmlformats.org/drawingml/2006/main">
              <a:ext uri="{FF2B5EF4-FFF2-40B4-BE49-F238E27FC236}">
                <a16:creationId xmlns:a16="http://schemas.microsoft.com/office/drawing/2014/main" id="{D5A1934A-F5BB-42A6-86C9-8C82E1A0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6" name="校准供货能力">
            <a:extLst xmlns:a="http://schemas.openxmlformats.org/drawingml/2006/main">
              <a:ext uri="{FF2B5EF4-FFF2-40B4-BE49-F238E27FC236}">
                <a16:creationId xmlns:a16="http://schemas.microsoft.com/office/drawing/2014/main" id="{59177035-8954-481C-B2E6-B12F1664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1688" y="3416046"/>
            <a:ext cx="2116074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校准供货能力</a:t>
            </a:r>
          </a:p>
        </p:txBody>
      </p:sp>
      <p:sp>
        <p:nvSpPr>
          <p:cNvPr id="37" name="引用产能、交期与约束">
            <a:extLst xmlns:a="http://schemas.openxmlformats.org/drawingml/2006/main">
              <a:ext uri="{FF2B5EF4-FFF2-40B4-BE49-F238E27FC236}">
                <a16:creationId xmlns:a16="http://schemas.microsoft.com/office/drawing/2014/main" id="{004F0468-E467-4975-8C86-D8A64705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4790" y="3961638"/>
            <a:ext cx="276987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引用产能、交期与约束</a:t>
            </a:r>
          </a:p>
        </p:txBody>
      </p:sp>
      <p:sp>
        <p:nvSpPr>
          <p:cNvPr id="38" name="调整需求量和计划日期">
            <a:extLst xmlns:a="http://schemas.openxmlformats.org/drawingml/2006/main">
              <a:ext uri="{FF2B5EF4-FFF2-40B4-BE49-F238E27FC236}">
                <a16:creationId xmlns:a16="http://schemas.microsoft.com/office/drawing/2014/main" id="{5CDD7EDD-1490-45F6-AC41-744B96F1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4790" y="4333113"/>
            <a:ext cx="276987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调整需求量和计划日期</a:t>
            </a:r>
          </a:p>
        </p:txBody>
      </p:sp>
      <p:sp>
        <p:nvSpPr>
          <p:cNvPr id="39" name="04">
            <a:extLst xmlns:a="http://schemas.openxmlformats.org/drawingml/2006/main">
              <a:ext uri="{FF2B5EF4-FFF2-40B4-BE49-F238E27FC236}">
                <a16:creationId xmlns:a16="http://schemas.microsoft.com/office/drawing/2014/main" id="{5B8C24E6-A579-4563-9856-43210B92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0" name="path-36">
            <a:extLst xmlns:a="http://schemas.openxmlformats.org/drawingml/2006/main">
              <a:ext uri="{FF2B5EF4-FFF2-40B4-BE49-F238E27FC236}">
                <a16:creationId xmlns:a16="http://schemas.microsoft.com/office/drawing/2014/main" id="{1CBCD179-761B-4152-8E45-1EE1B6BA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75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41" name="arrowhead-36">
            <a:extLst xmlns:a="http://schemas.openxmlformats.org/drawingml/2006/main">
              <a:ext uri="{FF2B5EF4-FFF2-40B4-BE49-F238E27FC236}">
                <a16:creationId xmlns:a16="http://schemas.microsoft.com/office/drawing/2014/main" id="{DB826138-2D71-442F-AD6C-C29A56D1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0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42" name="rect-37">
            <a:extLst xmlns:a="http://schemas.openxmlformats.org/drawingml/2006/main">
              <a:ext uri="{FF2B5EF4-FFF2-40B4-BE49-F238E27FC236}">
                <a16:creationId xmlns:a16="http://schemas.microsoft.com/office/drawing/2014/main" id="{57B4FF10-7718-4E04-95EE-1061366A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43" name="rect-38">
            <a:extLst xmlns:a="http://schemas.openxmlformats.org/drawingml/2006/main">
              <a:ext uri="{FF2B5EF4-FFF2-40B4-BE49-F238E27FC236}">
                <a16:creationId xmlns:a16="http://schemas.microsoft.com/office/drawing/2014/main" id="{BE13B7FC-2420-4B10-822B-33E5AB9F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4" name="确认最终计划">
            <a:extLst xmlns:a="http://schemas.openxmlformats.org/drawingml/2006/main">
              <a:ext uri="{FF2B5EF4-FFF2-40B4-BE49-F238E27FC236}">
                <a16:creationId xmlns:a16="http://schemas.microsoft.com/office/drawing/2014/main" id="{00A680E6-FF4C-41BC-BACD-B08DBECE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7513" y="3416046"/>
            <a:ext cx="2116074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确认最终计划</a:t>
            </a:r>
          </a:p>
        </p:txBody>
      </p:sp>
      <p:sp>
        <p:nvSpPr>
          <p:cNvPr id="45" name="保留调整依据与审批">
            <a:extLst xmlns:a="http://schemas.openxmlformats.org/drawingml/2006/main">
              <a:ext uri="{FF2B5EF4-FFF2-40B4-BE49-F238E27FC236}">
                <a16:creationId xmlns:a16="http://schemas.microsoft.com/office/drawing/2014/main" id="{3B22675E-0C8F-4DC9-9C0C-06BDFCE2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4346" y="3961638"/>
            <a:ext cx="250240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保留调整依据与审批</a:t>
            </a:r>
          </a:p>
        </p:txBody>
      </p:sp>
      <p:sp>
        <p:nvSpPr>
          <p:cNvPr id="46" name="形成采购需求并确认PR">
            <a:extLst xmlns:a="http://schemas.openxmlformats.org/drawingml/2006/main">
              <a:ext uri="{FF2B5EF4-FFF2-40B4-BE49-F238E27FC236}">
                <a16:creationId xmlns:a16="http://schemas.microsoft.com/office/drawing/2014/main" id="{3E337F2B-424A-460A-94A2-7332CEB8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8050" y="4333113"/>
            <a:ext cx="28550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形成采购需求并确认PR</a:t>
            </a:r>
          </a:p>
        </p:txBody>
      </p:sp>
      <p:sp>
        <p:nvSpPr>
          <p:cNvPr id="47" name="05">
            <a:extLst xmlns:a="http://schemas.openxmlformats.org/drawingml/2006/main">
              <a:ext uri="{FF2B5EF4-FFF2-40B4-BE49-F238E27FC236}">
                <a16:creationId xmlns:a16="http://schemas.microsoft.com/office/drawing/2014/main" id="{A261E8A2-DD34-488B-9A10-41E1306C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8" name="path-43">
            <a:extLst xmlns:a="http://schemas.openxmlformats.org/drawingml/2006/main">
              <a:ext uri="{FF2B5EF4-FFF2-40B4-BE49-F238E27FC236}">
                <a16:creationId xmlns:a16="http://schemas.microsoft.com/office/drawing/2014/main" id="{954BFD89-8ECE-4278-BE54-45231D8D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53000"/>
            <a:ext cx="18783300" cy="1085850"/>
          </a:xfrm>
          <a:custGeom xmlns:a="http://schemas.openxmlformats.org/drawingml/2006/main">
            <a:pathLst>
              <a:path w="18783300" h="1085850">
                <a:moveTo>
                  <a:pt x="18783300" y="0"/>
                </a:moveTo>
                <a:lnTo>
                  <a:pt x="18783300" y="1085850"/>
                </a:lnTo>
                <a:lnTo>
                  <a:pt x="0" y="10858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78E99"/>
            </a:solidFill>
            <a:prstDash val="solid"/>
          </a:ln>
        </p:spPr>
      </p:sp>
      <p:sp>
        <p:nvSpPr>
          <p:cNvPr id="49" name="arrowhead-43">
            <a:extLst xmlns:a="http://schemas.openxmlformats.org/drawingml/2006/main">
              <a:ext uri="{FF2B5EF4-FFF2-40B4-BE49-F238E27FC236}">
                <a16:creationId xmlns:a16="http://schemas.microsoft.com/office/drawing/2014/main" id="{6CD2B128-F119-47CE-AB0F-425E7793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53000"/>
            <a:ext cx="304800" cy="304800"/>
          </a:xfrm>
          <a:custGeom xmlns:a="http://schemas.openxmlformats.org/drawingml/2006/main">
            <a:pathLst>
              <a:path w="304800" h="304800">
                <a:moveTo>
                  <a:pt x="152400" y="0"/>
                </a:move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50" name="rect-44">
            <a:extLst xmlns:a="http://schemas.openxmlformats.org/drawingml/2006/main">
              <a:ext uri="{FF2B5EF4-FFF2-40B4-BE49-F238E27FC236}">
                <a16:creationId xmlns:a16="http://schemas.microsoft.com/office/drawing/2014/main" id="{6F5476F9-C2AC-4146-9895-1E3ABE6E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190" y="5734050"/>
            <a:ext cx="438912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1" name="执行偏差 → PMC重新校准需求与计划">
            <a:extLst xmlns:a="http://schemas.openxmlformats.org/drawingml/2006/main">
              <a:ext uri="{FF2B5EF4-FFF2-40B4-BE49-F238E27FC236}">
                <a16:creationId xmlns:a16="http://schemas.microsoft.com/office/drawing/2014/main" id="{377B441C-0C3F-45C9-804F-99103EEA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709" y="5714619"/>
            <a:ext cx="4460081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执行偏差 → PMC重新校准需求与计划</a:t>
            </a:r>
          </a:p>
        </p:txBody>
      </p:sp>
      <p:sp>
        <p:nvSpPr>
          <p:cNvPr id="52" name="path-46">
            <a:extLst xmlns:a="http://schemas.openxmlformats.org/drawingml/2006/main">
              <a:ext uri="{FF2B5EF4-FFF2-40B4-BE49-F238E27FC236}">
                <a16:creationId xmlns:a16="http://schemas.microsoft.com/office/drawing/2014/main" id="{6E090031-D2E9-43B2-B0BD-F4FC74C3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0934700" cy="476"/>
          </a:xfrm>
          <a:custGeom xmlns:a="http://schemas.openxmlformats.org/drawingml/2006/main">
            <a:pathLst>
              <a:path w="10934700" h="476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53" name="path-47">
            <a:extLst xmlns:a="http://schemas.openxmlformats.org/drawingml/2006/main">
              <a:ext uri="{FF2B5EF4-FFF2-40B4-BE49-F238E27FC236}">
                <a16:creationId xmlns:a16="http://schemas.microsoft.com/office/drawing/2014/main" id="{DA457348-B987-4341-81D1-5F38F148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105650"/>
            <a:ext cx="11163300" cy="476"/>
          </a:xfrm>
          <a:custGeom xmlns:a="http://schemas.openxmlformats.org/drawingml/2006/main">
            <a:pathLst>
              <a:path w="11163300" h="476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54" name="商品与库存关系">
            <a:extLst xmlns:a="http://schemas.openxmlformats.org/drawingml/2006/main">
              <a:ext uri="{FF2B5EF4-FFF2-40B4-BE49-F238E27FC236}">
                <a16:creationId xmlns:a16="http://schemas.microsoft.com/office/drawing/2014/main" id="{4A9C5306-DA01-4336-9D96-CE824F75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3577"/>
            <a:ext cx="2383536" cy="45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商品与库存关系</a:t>
            </a:r>
          </a:p>
        </p:txBody>
      </p:sp>
      <p:sp>
        <p:nvSpPr>
          <p:cNvPr id="55" name="业务判断与采购边界">
            <a:extLst xmlns:a="http://schemas.openxmlformats.org/drawingml/2006/main">
              <a:ext uri="{FF2B5EF4-FFF2-40B4-BE49-F238E27FC236}">
                <a16:creationId xmlns:a16="http://schemas.microsoft.com/office/drawing/2014/main" id="{BE135E71-5966-4870-B1BA-B037AFA6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283577"/>
            <a:ext cx="3037332" cy="45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业务判断与采购边界</a:t>
            </a:r>
          </a:p>
        </p:txBody>
      </p:sp>
      <p:sp>
        <p:nvSpPr>
          <p:cNvPr id="56" name="父子ASIN及变更关系来自商品映射">
            <a:extLst xmlns:a="http://schemas.openxmlformats.org/drawingml/2006/main">
              <a:ext uri="{FF2B5EF4-FFF2-40B4-BE49-F238E27FC236}">
                <a16:creationId xmlns:a16="http://schemas.microsoft.com/office/drawing/2014/main" id="{16DEFE58-1B02-488C-8A16-06B43358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42326"/>
            <a:ext cx="4474785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父子ASIN及变更关系来自商品映射</a:t>
            </a:r>
          </a:p>
        </p:txBody>
      </p:sp>
      <p:sp>
        <p:nvSpPr>
          <p:cNvPr id="57" name="子ASIN与各SKU版本关系保留生效口径">
            <a:extLst xmlns:a="http://schemas.openxmlformats.org/drawingml/2006/main">
              <a:ext uri="{FF2B5EF4-FFF2-40B4-BE49-F238E27FC236}">
                <a16:creationId xmlns:a16="http://schemas.microsoft.com/office/drawing/2014/main" id="{B43838D8-2071-4C9F-B339-7C542306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32876"/>
            <a:ext cx="5059704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子ASIN与各SKU版本关系保留生效口径</a:t>
            </a:r>
          </a:p>
        </p:txBody>
      </p:sp>
      <p:sp>
        <p:nvSpPr>
          <p:cNvPr id="58" name="老SKU库存、新SKU供给分别识别">
            <a:extLst xmlns:a="http://schemas.openxmlformats.org/drawingml/2006/main">
              <a:ext uri="{FF2B5EF4-FFF2-40B4-BE49-F238E27FC236}">
                <a16:creationId xmlns:a16="http://schemas.microsoft.com/office/drawing/2014/main" id="{7C857FA8-C09F-4BD5-89A7-BB027ECF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23426"/>
            <a:ext cx="4425101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老SKU库存、新SKU供给分别识别</a:t>
            </a:r>
          </a:p>
        </p:txBody>
      </p:sp>
      <p:sp>
        <p:nvSpPr>
          <p:cNvPr id="59" name="库存与在途只按明确口径参与覆盖">
            <a:extLst xmlns:a="http://schemas.openxmlformats.org/drawingml/2006/main">
              <a:ext uri="{FF2B5EF4-FFF2-40B4-BE49-F238E27FC236}">
                <a16:creationId xmlns:a16="http://schemas.microsoft.com/office/drawing/2014/main" id="{8469E49C-492B-42CA-B486-B9BA6EDE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3976"/>
            <a:ext cx="440436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库存与在途只按明确口径参与覆盖</a:t>
            </a:r>
          </a:p>
        </p:txBody>
      </p:sp>
      <p:sp>
        <p:nvSpPr>
          <p:cNvPr id="60" name="系统测算需求，PMC判断是否及如何调整">
            <a:extLst xmlns:a="http://schemas.openxmlformats.org/drawingml/2006/main">
              <a:ext uri="{FF2B5EF4-FFF2-40B4-BE49-F238E27FC236}">
                <a16:creationId xmlns:a16="http://schemas.microsoft.com/office/drawing/2014/main" id="{30944DF3-B996-445D-A8B2-D32C0D19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942326"/>
            <a:ext cx="533862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系统测算需求，PMC判断是否及如何调整</a:t>
            </a:r>
          </a:p>
        </p:txBody>
      </p:sp>
      <p:sp>
        <p:nvSpPr>
          <p:cNvPr id="61" name="供货能力用于校准可执行性">
            <a:extLst xmlns:a="http://schemas.openxmlformats.org/drawingml/2006/main">
              <a:ext uri="{FF2B5EF4-FFF2-40B4-BE49-F238E27FC236}">
                <a16:creationId xmlns:a16="http://schemas.microsoft.com/office/drawing/2014/main" id="{FF75B2E1-8165-4C83-94BB-D5CFD3BF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8532876"/>
            <a:ext cx="3542538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供货能力用于校准可执行性</a:t>
            </a:r>
          </a:p>
        </p:txBody>
      </p:sp>
      <p:sp>
        <p:nvSpPr>
          <p:cNvPr id="62" name="采购负责向谁买、如何拆并及PO执行">
            <a:extLst xmlns:a="http://schemas.openxmlformats.org/drawingml/2006/main">
              <a:ext uri="{FF2B5EF4-FFF2-40B4-BE49-F238E27FC236}">
                <a16:creationId xmlns:a16="http://schemas.microsoft.com/office/drawing/2014/main" id="{B821DB2A-B9E1-45AF-9FA0-50C0650B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9123426"/>
            <a:ext cx="4809268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采购负责向谁买、如何拆并及PO执行</a:t>
            </a:r>
          </a:p>
        </p:txBody>
      </p:sp>
      <p:sp>
        <p:nvSpPr>
          <p:cNvPr id="63" name="计划变更应留痕并同步下游需求">
            <a:extLst xmlns:a="http://schemas.openxmlformats.org/drawingml/2006/main">
              <a:ext uri="{FF2B5EF4-FFF2-40B4-BE49-F238E27FC236}">
                <a16:creationId xmlns:a16="http://schemas.microsoft.com/office/drawing/2014/main" id="{179CFD0E-4645-4412-82CF-404640E3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9713976"/>
            <a:ext cx="4117086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计划变更应留痕并同步下游需求</a:t>
            </a:r>
          </a:p>
        </p:txBody>
      </p:sp>
      <p:sp>
        <p:nvSpPr>
          <p:cNvPr id="64" name="rect-58">
            <a:extLst xmlns:a="http://schemas.openxmlformats.org/drawingml/2006/main">
              <a:ext uri="{FF2B5EF4-FFF2-40B4-BE49-F238E27FC236}">
                <a16:creationId xmlns:a16="http://schemas.microsoft.com/office/drawing/2014/main" id="{997575AC-09DC-44C1-A05E-D01C27A8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96625"/>
            <a:ext cx="23164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5" name="交接结果">
            <a:extLst xmlns:a="http://schemas.openxmlformats.org/drawingml/2006/main">
              <a:ext uri="{FF2B5EF4-FFF2-40B4-BE49-F238E27FC236}">
                <a16:creationId xmlns:a16="http://schemas.microsoft.com/office/drawing/2014/main" id="{7E0A5074-5E33-4804-9216-45E0C023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1399520"/>
            <a:ext cx="128397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交接结果</a:t>
            </a:r>
          </a:p>
        </p:txBody>
      </p:sp>
      <p:sp>
        <p:nvSpPr>
          <p:cNvPr id="66" name="最终备货计划并行驱动SCM采购与MRP面辅料计划">
            <a:extLst xmlns:a="http://schemas.openxmlformats.org/drawingml/2006/main">
              <a:ext uri="{FF2B5EF4-FFF2-40B4-BE49-F238E27FC236}">
                <a16:creationId xmlns:a16="http://schemas.microsoft.com/office/drawing/2014/main" id="{00CED1E4-9D6E-4F8A-9CF5-9051E663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09426"/>
            <a:ext cx="6570833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最终备货计划并行驱动SCM采购与MRP面辅料计划</a:t>
            </a:r>
          </a:p>
        </p:txBody>
      </p:sp>
      <p:sp>
        <p:nvSpPr>
          <p:cNvPr id="67" name="MOQ、运输时效等使用配置与来源数据，不在图中新增算法或固定阈值。">
            <a:extLst xmlns:a="http://schemas.openxmlformats.org/drawingml/2006/main">
              <a:ext uri="{FF2B5EF4-FFF2-40B4-BE49-F238E27FC236}">
                <a16:creationId xmlns:a16="http://schemas.microsoft.com/office/drawing/2014/main" id="{B1A67F56-6A81-45C4-A8B6-E0275266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30125"/>
            <a:ext cx="8123134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MOQ、运输时效等使用配置与来源数据，不在图中新增算法或固定阈值。</a:t>
            </a:r>
          </a:p>
        </p:txBody>
      </p:sp>
      <p:sp>
        <p:nvSpPr>
          <p:cNvPr id="68" name="path-62">
            <a:extLst xmlns:a="http://schemas.openxmlformats.org/drawingml/2006/main">
              <a:ext uri="{FF2B5EF4-FFF2-40B4-BE49-F238E27FC236}">
                <a16:creationId xmlns:a16="http://schemas.microsoft.com/office/drawing/2014/main" id="{824D3EEE-2837-4F1A-A3C1-CB2D5A9A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5E1E9"/>
            </a:solidFill>
            <a:prstDash val="solid"/>
          </a:ln>
        </p:spPr>
      </p:sp>
      <p:sp>
        <p:nvSpPr>
          <p:cNvPr id="69" name="Q4供应链产品建设方案 · 汇报分层版 · 目标业务蓝图，按P0 / P1推进">
            <a:extLst xmlns:a="http://schemas.openxmlformats.org/drawingml/2006/main">
              <a:ext uri="{FF2B5EF4-FFF2-40B4-BE49-F238E27FC236}">
                <a16:creationId xmlns:a16="http://schemas.microsoft.com/office/drawing/2014/main" id="{7D1906E7-F36A-4181-BFF6-8804DC58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07568"/>
            <a:ext cx="688395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Q4供应链产品建设方案 · 汇报分层版 · 目标业务蓝图，按P0 / P1推进</a:t>
            </a:r>
          </a:p>
        </p:txBody>
      </p:sp>
      <p:sp>
        <p:nvSpPr>
          <p:cNvPr id="70" name="05 / 10">
            <a:extLst xmlns:a="http://schemas.openxmlformats.org/drawingml/2006/main">
              <a:ext uri="{FF2B5EF4-FFF2-40B4-BE49-F238E27FC236}">
                <a16:creationId xmlns:a16="http://schemas.microsoft.com/office/drawing/2014/main" id="{014A3B14-1B81-4DDB-AB65-D2E0437B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3784" y="13307568"/>
            <a:ext cx="83061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05 / 10</a:t>
            </a:r>
          </a:p>
        </p:txBody>
      </p:sp>
    </p:spTree>
    <p:extLst>
      <p:ext uri="{BB962C8B-B14F-4D97-AF65-F5344CB8AC3E}">
        <p14:creationId xmlns:p14="http://schemas.microsoft.com/office/powerpoint/2010/main" val="5958638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白色画布">
            <a:extLst xmlns:a="http://schemas.openxmlformats.org/drawingml/2006/main">
              <a:ext uri="{FF2B5EF4-FFF2-40B4-BE49-F238E27FC236}">
                <a16:creationId xmlns:a16="http://schemas.microsoft.com/office/drawing/2014/main" id="{B38C6AD6-5972-467D-8BDA-6EF6D79A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-1">
            <a:extLst xmlns:a="http://schemas.openxmlformats.org/drawingml/2006/main">
              <a:ext uri="{FF2B5EF4-FFF2-40B4-BE49-F238E27FC236}">
                <a16:creationId xmlns:a16="http://schemas.microsoft.com/office/drawing/2014/main" id="{FC72235E-F25D-4EA5-80ED-F833D3A3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" name="rect-2">
            <a:extLst xmlns:a="http://schemas.openxmlformats.org/drawingml/2006/main">
              <a:ext uri="{FF2B5EF4-FFF2-40B4-BE49-F238E27FC236}">
                <a16:creationId xmlns:a16="http://schemas.microsoft.com/office/drawing/2014/main" id="{CBF76D88-76CF-4E55-B697-AD0E2294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" name="MRP｜成衣计划驱动物料准备">
            <a:extLst xmlns:a="http://schemas.openxmlformats.org/drawingml/2006/main">
              <a:ext uri="{FF2B5EF4-FFF2-40B4-BE49-F238E27FC236}">
                <a16:creationId xmlns:a16="http://schemas.microsoft.com/office/drawing/2014/main" id="{7FD7BABA-0113-4FFA-9492-F6770F1C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781"/>
            <a:ext cx="6529197" cy="676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MRP｜成衣计划驱动物料准备</a:t>
            </a:r>
          </a:p>
        </p:txBody>
      </p:sp>
      <p:sp>
        <p:nvSpPr>
          <p:cNvPr id="5" name="2026 Q4 / V3.0">
            <a:extLst xmlns:a="http://schemas.openxmlformats.org/drawingml/2006/main">
              <a:ext uri="{FF2B5EF4-FFF2-40B4-BE49-F238E27FC236}">
                <a16:creationId xmlns:a16="http://schemas.microsoft.com/office/drawing/2014/main" id="{EF6D5B8F-1C52-453D-9FBD-30BE6286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7004" y="647700"/>
            <a:ext cx="1927396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V3.0</a:t>
            </a:r>
          </a:p>
        </p:txBody>
      </p:sp>
      <p:sp>
        <p:nvSpPr>
          <p:cNvPr id="6" name="path-5">
            <a:extLst xmlns:a="http://schemas.openxmlformats.org/drawingml/2006/main">
              <a:ext uri="{FF2B5EF4-FFF2-40B4-BE49-F238E27FC236}">
                <a16:creationId xmlns:a16="http://schemas.microsoft.com/office/drawing/2014/main" id="{553D3582-3537-4508-BA04-3A9FA892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7" name="P1同步建设；MRP计算需要多少面辅料，SCM负责物料采购与供应商执行">
            <a:extLst xmlns:a="http://schemas.openxmlformats.org/drawingml/2006/main">
              <a:ext uri="{FF2B5EF4-FFF2-40B4-BE49-F238E27FC236}">
                <a16:creationId xmlns:a16="http://schemas.microsoft.com/office/drawing/2014/main" id="{D5B9CC89-BEBE-4564-8382-40252682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0863"/>
            <a:ext cx="8783895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P1同步建设；MRP计算需要多少面辅料，SCM负责物料采购与供应商执行</a:t>
            </a:r>
          </a:p>
        </p:txBody>
      </p:sp>
      <p:sp>
        <p:nvSpPr>
          <p:cNvPr id="8" name="06 / 模块展开">
            <a:extLst xmlns:a="http://schemas.openxmlformats.org/drawingml/2006/main">
              <a:ext uri="{FF2B5EF4-FFF2-40B4-BE49-F238E27FC236}">
                <a16:creationId xmlns:a16="http://schemas.microsoft.com/office/drawing/2014/main" id="{5C151F76-BF5B-40D7-9CDC-4491C93C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8695" y="1610487"/>
            <a:ext cx="1545705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06 / 模块展开</a:t>
            </a:r>
          </a:p>
        </p:txBody>
      </p:sp>
      <p:sp>
        <p:nvSpPr>
          <p:cNvPr id="9" name="业务动作">
            <a:extLst xmlns:a="http://schemas.openxmlformats.org/drawingml/2006/main">
              <a:ext uri="{FF2B5EF4-FFF2-40B4-BE49-F238E27FC236}">
                <a16:creationId xmlns:a16="http://schemas.microsoft.com/office/drawing/2014/main" id="{7C3586FE-D7DC-41F0-8F4F-A4AB2DDC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8583"/>
            <a:ext cx="1363218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业务动作</a:t>
            </a:r>
          </a:p>
        </p:txBody>
      </p:sp>
      <p:sp>
        <p:nvSpPr>
          <p:cNvPr id="10" name="rect-9">
            <a:extLst xmlns:a="http://schemas.openxmlformats.org/drawingml/2006/main">
              <a:ext uri="{FF2B5EF4-FFF2-40B4-BE49-F238E27FC236}">
                <a16:creationId xmlns:a16="http://schemas.microsoft.com/office/drawing/2014/main" id="{3CBFDC68-8F6E-4CE3-9C2A-DCC84577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60A8"/>
            </a:solidFill>
            <a:prstDash val="solid"/>
          </a:ln>
        </p:spPr>
      </p:sp>
      <p:sp>
        <p:nvSpPr>
          <p:cNvPr id="11" name="rect-10">
            <a:extLst xmlns:a="http://schemas.openxmlformats.org/drawingml/2006/main">
              <a:ext uri="{FF2B5EF4-FFF2-40B4-BE49-F238E27FC236}">
                <a16:creationId xmlns:a16="http://schemas.microsoft.com/office/drawing/2014/main" id="{64CE5DF5-7FEA-4FF8-B21E-E75CC3E9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0A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" name="成衣计划与BOM">
            <a:extLst xmlns:a="http://schemas.openxmlformats.org/drawingml/2006/main">
              <a:ext uri="{FF2B5EF4-FFF2-40B4-BE49-F238E27FC236}">
                <a16:creationId xmlns:a16="http://schemas.microsoft.com/office/drawing/2014/main" id="{24FBCE7F-3CE6-418B-8640-50FD4665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821" y="3416046"/>
            <a:ext cx="2576858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成衣计划与BOM</a:t>
            </a:r>
          </a:p>
        </p:txBody>
      </p:sp>
      <p:sp>
        <p:nvSpPr>
          <p:cNvPr id="13" name="读取成衣采购计划">
            <a:extLst xmlns:a="http://schemas.openxmlformats.org/drawingml/2006/main">
              <a:ext uri="{FF2B5EF4-FFF2-40B4-BE49-F238E27FC236}">
                <a16:creationId xmlns:a16="http://schemas.microsoft.com/office/drawing/2014/main" id="{E0030FD6-F23A-4573-87AD-89A16E7B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777" y="3961638"/>
            <a:ext cx="2234946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读取成衣采购计划</a:t>
            </a:r>
          </a:p>
        </p:txBody>
      </p:sp>
      <p:sp>
        <p:nvSpPr>
          <p:cNvPr id="14" name="物料规格、用量与版本">
            <a:extLst xmlns:a="http://schemas.openxmlformats.org/drawingml/2006/main">
              <a:ext uri="{FF2B5EF4-FFF2-40B4-BE49-F238E27FC236}">
                <a16:creationId xmlns:a16="http://schemas.microsoft.com/office/drawing/2014/main" id="{2E4A00E0-EFD4-49A8-AAAE-A27303D5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" y="4333113"/>
            <a:ext cx="276987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物料规格、用量与版本</a:t>
            </a:r>
          </a:p>
        </p:txBody>
      </p:sp>
      <p:sp>
        <p:nvSpPr>
          <p:cNvPr id="15" name="01">
            <a:extLst xmlns:a="http://schemas.openxmlformats.org/drawingml/2006/main">
              <a:ext uri="{FF2B5EF4-FFF2-40B4-BE49-F238E27FC236}">
                <a16:creationId xmlns:a16="http://schemas.microsoft.com/office/drawing/2014/main" id="{84B7B888-73FC-4A4F-935B-61A4557B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9306"/>
            <a:ext cx="342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path-15">
            <a:extLst xmlns:a="http://schemas.openxmlformats.org/drawingml/2006/main">
              <a:ext uri="{FF2B5EF4-FFF2-40B4-BE49-F238E27FC236}">
                <a16:creationId xmlns:a16="http://schemas.microsoft.com/office/drawing/2014/main" id="{37E1C391-7EF5-403E-A9A7-5CBAF8C8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B60A8"/>
            </a:solidFill>
            <a:prstDash val="solid"/>
          </a:ln>
        </p:spPr>
      </p:sp>
      <p:sp>
        <p:nvSpPr>
          <p:cNvPr id="17" name="arrowhead-15">
            <a:extLst xmlns:a="http://schemas.openxmlformats.org/drawingml/2006/main">
              <a:ext uri="{FF2B5EF4-FFF2-40B4-BE49-F238E27FC236}">
                <a16:creationId xmlns:a16="http://schemas.microsoft.com/office/drawing/2014/main" id="{D6A0EBF8-FA4B-4080-876F-ED9008DA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18" name="rect-16">
            <a:extLst xmlns:a="http://schemas.openxmlformats.org/drawingml/2006/main">
              <a:ext uri="{FF2B5EF4-FFF2-40B4-BE49-F238E27FC236}">
                <a16:creationId xmlns:a16="http://schemas.microsoft.com/office/drawing/2014/main" id="{4DA9585D-B6E4-41DC-9AF4-68017FC5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60A8"/>
            </a:solidFill>
            <a:prstDash val="solid"/>
          </a:ln>
        </p:spPr>
      </p:sp>
      <p:sp>
        <p:nvSpPr>
          <p:cNvPr id="19" name="rect-17">
            <a:extLst xmlns:a="http://schemas.openxmlformats.org/drawingml/2006/main">
              <a:ext uri="{FF2B5EF4-FFF2-40B4-BE49-F238E27FC236}">
                <a16:creationId xmlns:a16="http://schemas.microsoft.com/office/drawing/2014/main" id="{9ED85FEA-FE34-4FCC-BDBF-D2553B24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0A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" name="计算物料净需求">
            <a:extLst xmlns:a="http://schemas.openxmlformats.org/drawingml/2006/main">
              <a:ext uri="{FF2B5EF4-FFF2-40B4-BE49-F238E27FC236}">
                <a16:creationId xmlns:a16="http://schemas.microsoft.com/office/drawing/2014/main" id="{1A74BD26-F2F8-49BB-989F-801101FD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636" y="3416046"/>
            <a:ext cx="2452878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计算物料净需求</a:t>
            </a:r>
          </a:p>
        </p:txBody>
      </p:sp>
      <p:sp>
        <p:nvSpPr>
          <p:cNvPr id="21" name="扣减库存及有效在途">
            <a:extLst xmlns:a="http://schemas.openxmlformats.org/drawingml/2006/main">
              <a:ext uri="{FF2B5EF4-FFF2-40B4-BE49-F238E27FC236}">
                <a16:creationId xmlns:a16="http://schemas.microsoft.com/office/drawing/2014/main" id="{5BA5DBEB-476A-4917-B23F-A37AAD68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871" y="3961638"/>
            <a:ext cx="250240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扣减库存及有效在途</a:t>
            </a:r>
          </a:p>
        </p:txBody>
      </p:sp>
      <p:sp>
        <p:nvSpPr>
          <p:cNvPr id="22" name="纳入安全库存与损耗">
            <a:extLst xmlns:a="http://schemas.openxmlformats.org/drawingml/2006/main">
              <a:ext uri="{FF2B5EF4-FFF2-40B4-BE49-F238E27FC236}">
                <a16:creationId xmlns:a16="http://schemas.microsoft.com/office/drawing/2014/main" id="{6A2DA4AB-C6BC-4960-9878-1FC92447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871" y="4333113"/>
            <a:ext cx="250240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纳入安全库存与损耗</a:t>
            </a:r>
          </a:p>
        </p:txBody>
      </p:sp>
      <p:sp>
        <p:nvSpPr>
          <p:cNvPr id="23" name="02">
            <a:extLst xmlns:a="http://schemas.openxmlformats.org/drawingml/2006/main">
              <a:ext uri="{FF2B5EF4-FFF2-40B4-BE49-F238E27FC236}">
                <a16:creationId xmlns:a16="http://schemas.microsoft.com/office/drawing/2014/main" id="{885E07EA-5DC5-4159-A34A-3898583E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ath-22">
            <a:extLst xmlns:a="http://schemas.openxmlformats.org/drawingml/2006/main">
              <a:ext uri="{FF2B5EF4-FFF2-40B4-BE49-F238E27FC236}">
                <a16:creationId xmlns:a16="http://schemas.microsoft.com/office/drawing/2014/main" id="{33DF6FB1-8EDE-4DF5-B0C0-A3EE593A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B60A8"/>
            </a:solidFill>
            <a:prstDash val="solid"/>
          </a:ln>
        </p:spPr>
      </p:sp>
      <p:sp>
        <p:nvSpPr>
          <p:cNvPr id="25" name="arrowhead-22">
            <a:extLst xmlns:a="http://schemas.openxmlformats.org/drawingml/2006/main">
              <a:ext uri="{FF2B5EF4-FFF2-40B4-BE49-F238E27FC236}">
                <a16:creationId xmlns:a16="http://schemas.microsoft.com/office/drawing/2014/main" id="{1448F0F6-9A1B-41EA-B06E-8BCDEC8F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26" name="rect-23">
            <a:extLst xmlns:a="http://schemas.openxmlformats.org/drawingml/2006/main">
              <a:ext uri="{FF2B5EF4-FFF2-40B4-BE49-F238E27FC236}">
                <a16:creationId xmlns:a16="http://schemas.microsoft.com/office/drawing/2014/main" id="{74854349-79F9-4160-BBB6-BB71106D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60A8"/>
            </a:solidFill>
            <a:prstDash val="solid"/>
          </a:ln>
        </p:spPr>
      </p:sp>
      <p:sp>
        <p:nvSpPr>
          <p:cNvPr id="27" name="rect-24">
            <a:extLst xmlns:a="http://schemas.openxmlformats.org/drawingml/2006/main">
              <a:ext uri="{FF2B5EF4-FFF2-40B4-BE49-F238E27FC236}">
                <a16:creationId xmlns:a16="http://schemas.microsoft.com/office/drawing/2014/main" id="{BC75033B-4B24-4379-B05A-A1E6DE3C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0A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" name="分流物料需求">
            <a:extLst xmlns:a="http://schemas.openxmlformats.org/drawingml/2006/main">
              <a:ext uri="{FF2B5EF4-FFF2-40B4-BE49-F238E27FC236}">
                <a16:creationId xmlns:a16="http://schemas.microsoft.com/office/drawing/2014/main" id="{3E264E3F-3543-41E4-BF80-A36AE25A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863" y="3416046"/>
            <a:ext cx="2116074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分流物料需求</a:t>
            </a:r>
          </a:p>
        </p:txBody>
      </p:sp>
      <p:sp>
        <p:nvSpPr>
          <p:cNvPr id="29" name="形成采购建议">
            <a:extLst xmlns:a="http://schemas.openxmlformats.org/drawingml/2006/main">
              <a:ext uri="{FF2B5EF4-FFF2-40B4-BE49-F238E27FC236}">
                <a16:creationId xmlns:a16="http://schemas.microsoft.com/office/drawing/2014/main" id="{45661915-2352-4703-8313-2B2A572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889" y="3961638"/>
            <a:ext cx="1700022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形成采购建议</a:t>
            </a:r>
          </a:p>
        </p:txBody>
      </p:sp>
      <p:sp>
        <p:nvSpPr>
          <p:cNvPr id="30" name="形成备料、发料需求">
            <a:extLst xmlns:a="http://schemas.openxmlformats.org/drawingml/2006/main">
              <a:ext uri="{FF2B5EF4-FFF2-40B4-BE49-F238E27FC236}">
                <a16:creationId xmlns:a16="http://schemas.microsoft.com/office/drawing/2014/main" id="{69133B39-A002-497F-AAF1-1F8A1797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696" y="4333113"/>
            <a:ext cx="250240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形成备料、发料需求</a:t>
            </a:r>
          </a:p>
        </p:txBody>
      </p:sp>
      <p:sp>
        <p:nvSpPr>
          <p:cNvPr id="31" name="03">
            <a:extLst xmlns:a="http://schemas.openxmlformats.org/drawingml/2006/main">
              <a:ext uri="{FF2B5EF4-FFF2-40B4-BE49-F238E27FC236}">
                <a16:creationId xmlns:a16="http://schemas.microsoft.com/office/drawing/2014/main" id="{79A3C597-0C65-4980-A4C0-7CB598BE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2" name="path-29">
            <a:extLst xmlns:a="http://schemas.openxmlformats.org/drawingml/2006/main">
              <a:ext uri="{FF2B5EF4-FFF2-40B4-BE49-F238E27FC236}">
                <a16:creationId xmlns:a16="http://schemas.microsoft.com/office/drawing/2014/main" id="{49F5A13E-E723-4DD5-AD0C-3B0C2171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B60A8"/>
            </a:solidFill>
            <a:prstDash val="solid"/>
          </a:ln>
        </p:spPr>
      </p:sp>
      <p:sp>
        <p:nvSpPr>
          <p:cNvPr id="33" name="arrowhead-29">
            <a:extLst xmlns:a="http://schemas.openxmlformats.org/drawingml/2006/main">
              <a:ext uri="{FF2B5EF4-FFF2-40B4-BE49-F238E27FC236}">
                <a16:creationId xmlns:a16="http://schemas.microsoft.com/office/drawing/2014/main" id="{7A2F96A9-DEB2-4FEC-A61E-D4ABFC94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34" name="rect-30">
            <a:extLst xmlns:a="http://schemas.openxmlformats.org/drawingml/2006/main">
              <a:ext uri="{FF2B5EF4-FFF2-40B4-BE49-F238E27FC236}">
                <a16:creationId xmlns:a16="http://schemas.microsoft.com/office/drawing/2014/main" id="{E0E83DB3-F9E4-41EE-8607-1F362E71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60A8"/>
            </a:solidFill>
            <a:prstDash val="solid"/>
          </a:ln>
        </p:spPr>
      </p:sp>
      <p:sp>
        <p:nvSpPr>
          <p:cNvPr id="35" name="rect-31">
            <a:extLst xmlns:a="http://schemas.openxmlformats.org/drawingml/2006/main">
              <a:ext uri="{FF2B5EF4-FFF2-40B4-BE49-F238E27FC236}">
                <a16:creationId xmlns:a16="http://schemas.microsoft.com/office/drawing/2014/main" id="{ECB6F2ED-2780-4C2A-8407-53D99155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0A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6" name="SCM物料采购">
            <a:extLst xmlns:a="http://schemas.openxmlformats.org/drawingml/2006/main">
              <a:ext uri="{FF2B5EF4-FFF2-40B4-BE49-F238E27FC236}">
                <a16:creationId xmlns:a16="http://schemas.microsoft.com/office/drawing/2014/main" id="{3A1587D8-814E-46FE-B7F0-3E2557DE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3474" y="3416046"/>
            <a:ext cx="221250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SCM物料采购</a:t>
            </a:r>
          </a:p>
        </p:txBody>
      </p:sp>
      <p:sp>
        <p:nvSpPr>
          <p:cNvPr id="37" name="按净缺口采购">
            <a:extLst xmlns:a="http://schemas.openxmlformats.org/drawingml/2006/main">
              <a:ext uri="{FF2B5EF4-FFF2-40B4-BE49-F238E27FC236}">
                <a16:creationId xmlns:a16="http://schemas.microsoft.com/office/drawing/2014/main" id="{7DE9490E-781D-47D1-B8CB-EEC1C01C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9714" y="3961638"/>
            <a:ext cx="1700022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按净缺口采购</a:t>
            </a:r>
          </a:p>
        </p:txBody>
      </p:sp>
      <p:sp>
        <p:nvSpPr>
          <p:cNvPr id="38" name="供应商、PO、交期跟进">
            <a:extLst xmlns:a="http://schemas.openxmlformats.org/drawingml/2006/main">
              <a:ext uri="{FF2B5EF4-FFF2-40B4-BE49-F238E27FC236}">
                <a16:creationId xmlns:a16="http://schemas.microsoft.com/office/drawing/2014/main" id="{3414E30F-EDF8-4022-8D15-328CB9BD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0075" y="4333113"/>
            <a:ext cx="28793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供应商、PO、交期跟进</a:t>
            </a:r>
          </a:p>
        </p:txBody>
      </p:sp>
      <p:sp>
        <p:nvSpPr>
          <p:cNvPr id="39" name="04">
            <a:extLst xmlns:a="http://schemas.openxmlformats.org/drawingml/2006/main">
              <a:ext uri="{FF2B5EF4-FFF2-40B4-BE49-F238E27FC236}">
                <a16:creationId xmlns:a16="http://schemas.microsoft.com/office/drawing/2014/main" id="{EBBF45C8-E306-4198-96EC-49F2DD3C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0" name="path-36">
            <a:extLst xmlns:a="http://schemas.openxmlformats.org/drawingml/2006/main">
              <a:ext uri="{FF2B5EF4-FFF2-40B4-BE49-F238E27FC236}">
                <a16:creationId xmlns:a16="http://schemas.microsoft.com/office/drawing/2014/main" id="{4D9B6FC9-2D8E-437A-B745-C9CC9A50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75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B60A8"/>
            </a:solidFill>
            <a:prstDash val="solid"/>
          </a:ln>
        </p:spPr>
      </p:sp>
      <p:sp>
        <p:nvSpPr>
          <p:cNvPr id="41" name="arrowhead-36">
            <a:extLst xmlns:a="http://schemas.openxmlformats.org/drawingml/2006/main">
              <a:ext uri="{FF2B5EF4-FFF2-40B4-BE49-F238E27FC236}">
                <a16:creationId xmlns:a16="http://schemas.microsoft.com/office/drawing/2014/main" id="{17A7D2EA-E596-4692-AF76-89E76106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0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42" name="rect-37">
            <a:extLst xmlns:a="http://schemas.openxmlformats.org/drawingml/2006/main">
              <a:ext uri="{FF2B5EF4-FFF2-40B4-BE49-F238E27FC236}">
                <a16:creationId xmlns:a16="http://schemas.microsoft.com/office/drawing/2014/main" id="{C7108F0F-C66D-4EAE-BE92-61607035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60A8"/>
            </a:solidFill>
            <a:prstDash val="solid"/>
          </a:ln>
        </p:spPr>
      </p:sp>
      <p:sp>
        <p:nvSpPr>
          <p:cNvPr id="43" name="rect-38">
            <a:extLst xmlns:a="http://schemas.openxmlformats.org/drawingml/2006/main">
              <a:ext uri="{FF2B5EF4-FFF2-40B4-BE49-F238E27FC236}">
                <a16:creationId xmlns:a16="http://schemas.microsoft.com/office/drawing/2014/main" id="{81A51C16-E7FC-4E24-A380-0E25B66F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0A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4" name="齐料与发料">
            <a:extLst xmlns:a="http://schemas.openxmlformats.org/drawingml/2006/main">
              <a:ext uri="{FF2B5EF4-FFF2-40B4-BE49-F238E27FC236}">
                <a16:creationId xmlns:a16="http://schemas.microsoft.com/office/drawing/2014/main" id="{5E1A8219-FF4F-4315-82AD-3AD64153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5915" y="3416046"/>
            <a:ext cx="1779270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齐料与发料</a:t>
            </a:r>
          </a:p>
        </p:txBody>
      </p:sp>
      <p:sp>
        <p:nvSpPr>
          <p:cNvPr id="45" name="预计 / 实际到料、IQC">
            <a:extLst xmlns:a="http://schemas.openxmlformats.org/drawingml/2006/main">
              <a:ext uri="{FF2B5EF4-FFF2-40B4-BE49-F238E27FC236}">
                <a16:creationId xmlns:a16="http://schemas.microsoft.com/office/drawing/2014/main" id="{0B44E9E0-D0CF-4222-BE23-8E1D957F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4236" y="3961638"/>
            <a:ext cx="2742629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预计 / 实际到料、IQC</a:t>
            </a:r>
          </a:p>
        </p:txBody>
      </p:sp>
      <p:sp>
        <p:nvSpPr>
          <p:cNvPr id="46" name="缺料预警与开工支持">
            <a:extLst xmlns:a="http://schemas.openxmlformats.org/drawingml/2006/main">
              <a:ext uri="{FF2B5EF4-FFF2-40B4-BE49-F238E27FC236}">
                <a16:creationId xmlns:a16="http://schemas.microsoft.com/office/drawing/2014/main" id="{06A093F1-D108-4077-9D5E-C69A19B4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4346" y="4333113"/>
            <a:ext cx="250240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缺料预警与开工支持</a:t>
            </a:r>
          </a:p>
        </p:txBody>
      </p:sp>
      <p:sp>
        <p:nvSpPr>
          <p:cNvPr id="47" name="05">
            <a:extLst xmlns:a="http://schemas.openxmlformats.org/drawingml/2006/main">
              <a:ext uri="{FF2B5EF4-FFF2-40B4-BE49-F238E27FC236}">
                <a16:creationId xmlns:a16="http://schemas.microsoft.com/office/drawing/2014/main" id="{4157C139-5EA6-4F3B-970F-CBE28092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8" name="path-43">
            <a:extLst xmlns:a="http://schemas.openxmlformats.org/drawingml/2006/main">
              <a:ext uri="{FF2B5EF4-FFF2-40B4-BE49-F238E27FC236}">
                <a16:creationId xmlns:a16="http://schemas.microsoft.com/office/drawing/2014/main" id="{1822292A-0C29-4DD2-A501-02C32718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953000"/>
            <a:ext cx="9391650" cy="1104900"/>
          </a:xfrm>
          <a:custGeom xmlns:a="http://schemas.openxmlformats.org/drawingml/2006/main">
            <a:pathLst>
              <a:path w="9391650" h="1104900">
                <a:moveTo>
                  <a:pt x="0" y="0"/>
                </a:moveTo>
                <a:lnTo>
                  <a:pt x="0" y="1104900"/>
                </a:lnTo>
                <a:lnTo>
                  <a:pt x="9391650" y="1104900"/>
                </a:lnTo>
                <a:lnTo>
                  <a:pt x="9391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7B60A8"/>
            </a:solidFill>
            <a:prstDash val="solid"/>
          </a:ln>
        </p:spPr>
      </p:sp>
      <p:sp>
        <p:nvSpPr>
          <p:cNvPr id="49" name="arrowhead-43">
            <a:extLst xmlns:a="http://schemas.openxmlformats.org/drawingml/2006/main">
              <a:ext uri="{FF2B5EF4-FFF2-40B4-BE49-F238E27FC236}">
                <a16:creationId xmlns:a16="http://schemas.microsoft.com/office/drawing/2014/main" id="{C0223AED-5CD4-4DE7-A319-09DD88B8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0" y="4953000"/>
            <a:ext cx="304800" cy="304800"/>
          </a:xfrm>
          <a:custGeom xmlns:a="http://schemas.openxmlformats.org/drawingml/2006/main">
            <a:pathLst>
              <a:path w="304800" h="304800">
                <a:moveTo>
                  <a:pt x="152400" y="0"/>
                </a:move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50" name="rect-44">
            <a:extLst xmlns:a="http://schemas.openxmlformats.org/drawingml/2006/main">
              <a:ext uri="{FF2B5EF4-FFF2-40B4-BE49-F238E27FC236}">
                <a16:creationId xmlns:a16="http://schemas.microsoft.com/office/drawing/2014/main" id="{884089B0-946E-463B-A2B7-B4390B50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5762625"/>
            <a:ext cx="518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1" name="现有可用物料 → 直接备料 / 发料，跳过外购">
            <a:extLst xmlns:a="http://schemas.openxmlformats.org/drawingml/2006/main">
              <a:ext uri="{FF2B5EF4-FFF2-40B4-BE49-F238E27FC236}">
                <a16:creationId xmlns:a16="http://schemas.microsoft.com/office/drawing/2014/main" id="{0E253692-AA32-46D7-8069-C199DF7D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5366" y="5743575"/>
            <a:ext cx="5006769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现有可用物料 → 直接备料 / 发料，跳过外购</a:t>
            </a:r>
          </a:p>
        </p:txBody>
      </p:sp>
      <p:sp>
        <p:nvSpPr>
          <p:cNvPr id="52" name="path-46">
            <a:extLst xmlns:a="http://schemas.openxmlformats.org/drawingml/2006/main">
              <a:ext uri="{FF2B5EF4-FFF2-40B4-BE49-F238E27FC236}">
                <a16:creationId xmlns:a16="http://schemas.microsoft.com/office/drawing/2014/main" id="{053DBD98-D7B5-40A4-8EFC-5BB8018C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0934700" cy="476"/>
          </a:xfrm>
          <a:custGeom xmlns:a="http://schemas.openxmlformats.org/drawingml/2006/main">
            <a:pathLst>
              <a:path w="10934700" h="476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B60A8"/>
            </a:solidFill>
            <a:prstDash val="solid"/>
          </a:ln>
        </p:spPr>
      </p:sp>
      <p:sp>
        <p:nvSpPr>
          <p:cNvPr id="53" name="path-47">
            <a:extLst xmlns:a="http://schemas.openxmlformats.org/drawingml/2006/main">
              <a:ext uri="{FF2B5EF4-FFF2-40B4-BE49-F238E27FC236}">
                <a16:creationId xmlns:a16="http://schemas.microsoft.com/office/drawing/2014/main" id="{EE77B54F-4967-4715-92AA-CD8BAE24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105650"/>
            <a:ext cx="11163300" cy="476"/>
          </a:xfrm>
          <a:custGeom xmlns:a="http://schemas.openxmlformats.org/drawingml/2006/main">
            <a:pathLst>
              <a:path w="11163300" h="476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B60A8"/>
            </a:solidFill>
            <a:prstDash val="solid"/>
          </a:ln>
        </p:spPr>
      </p:sp>
      <p:sp>
        <p:nvSpPr>
          <p:cNvPr id="54" name="计算所需输入">
            <a:extLst xmlns:a="http://schemas.openxmlformats.org/drawingml/2006/main">
              <a:ext uri="{FF2B5EF4-FFF2-40B4-BE49-F238E27FC236}">
                <a16:creationId xmlns:a16="http://schemas.microsoft.com/office/drawing/2014/main" id="{0D43E187-7DEF-437A-B9C4-2B7F34CA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3577"/>
            <a:ext cx="2056638" cy="45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计算所需输入</a:t>
            </a:r>
          </a:p>
        </p:txBody>
      </p:sp>
      <p:sp>
        <p:nvSpPr>
          <p:cNvPr id="55" name="并行关系与执行边界">
            <a:extLst xmlns:a="http://schemas.openxmlformats.org/drawingml/2006/main">
              <a:ext uri="{FF2B5EF4-FFF2-40B4-BE49-F238E27FC236}">
                <a16:creationId xmlns:a16="http://schemas.microsoft.com/office/drawing/2014/main" id="{1D32736D-0C7A-4263-94D8-8F9D014F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283577"/>
            <a:ext cx="3037332" cy="45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并行关系与执行边界</a:t>
            </a:r>
          </a:p>
        </p:txBody>
      </p:sp>
      <p:sp>
        <p:nvSpPr>
          <p:cNvPr id="56" name="成衣采购计划与BOM版本">
            <a:extLst xmlns:a="http://schemas.openxmlformats.org/drawingml/2006/main">
              <a:ext uri="{FF2B5EF4-FFF2-40B4-BE49-F238E27FC236}">
                <a16:creationId xmlns:a16="http://schemas.microsoft.com/office/drawing/2014/main" id="{E3363B98-854C-4024-B8E1-FBFD5B86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42326"/>
            <a:ext cx="3349061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成衣采购计划与BOM版本</a:t>
            </a:r>
          </a:p>
        </p:txBody>
      </p:sp>
      <p:sp>
        <p:nvSpPr>
          <p:cNvPr id="57" name="物料库存、在途与安全库存">
            <a:extLst xmlns:a="http://schemas.openxmlformats.org/drawingml/2006/main">
              <a:ext uri="{FF2B5EF4-FFF2-40B4-BE49-F238E27FC236}">
                <a16:creationId xmlns:a16="http://schemas.microsoft.com/office/drawing/2014/main" id="{7BA2BB38-654A-491A-A2E4-213B0C17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32876"/>
            <a:ext cx="3542538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物料库存、在途与安全库存</a:t>
            </a:r>
          </a:p>
        </p:txBody>
      </p:sp>
      <p:sp>
        <p:nvSpPr>
          <p:cNvPr id="58" name="损耗率、采购周期及备料周期">
            <a:extLst xmlns:a="http://schemas.openxmlformats.org/drawingml/2006/main">
              <a:ext uri="{FF2B5EF4-FFF2-40B4-BE49-F238E27FC236}">
                <a16:creationId xmlns:a16="http://schemas.microsoft.com/office/drawing/2014/main" id="{4BD02E2E-3BFF-4DB5-B0B9-43C12A20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23426"/>
            <a:ext cx="3829812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损耗率、采购周期及备料周期</a:t>
            </a:r>
          </a:p>
        </p:txBody>
      </p:sp>
      <p:sp>
        <p:nvSpPr>
          <p:cNvPr id="59" name="输入数据及参数有来源和责任人">
            <a:extLst xmlns:a="http://schemas.openxmlformats.org/drawingml/2006/main">
              <a:ext uri="{FF2B5EF4-FFF2-40B4-BE49-F238E27FC236}">
                <a16:creationId xmlns:a16="http://schemas.microsoft.com/office/drawing/2014/main" id="{9061F816-263F-47F4-9DC2-BFE5D02C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3976"/>
            <a:ext cx="4117086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输入数据及参数有来源和责任人</a:t>
            </a:r>
          </a:p>
        </p:txBody>
      </p:sp>
      <p:sp>
        <p:nvSpPr>
          <p:cNvPr id="60" name="成衣采购需求直接进入SCM主链">
            <a:extLst xmlns:a="http://schemas.openxmlformats.org/drawingml/2006/main">
              <a:ext uri="{FF2B5EF4-FFF2-40B4-BE49-F238E27FC236}">
                <a16:creationId xmlns:a16="http://schemas.microsoft.com/office/drawing/2014/main" id="{8103AC41-7D0F-4AD0-9C87-4807282F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942326"/>
            <a:ext cx="4186738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成衣采购需求直接进入SCM主链</a:t>
            </a:r>
          </a:p>
        </p:txBody>
      </p:sp>
      <p:sp>
        <p:nvSpPr>
          <p:cNvPr id="61" name="MRP同时形成物料需求与准备计划">
            <a:extLst xmlns:a="http://schemas.openxmlformats.org/drawingml/2006/main">
              <a:ext uri="{FF2B5EF4-FFF2-40B4-BE49-F238E27FC236}">
                <a16:creationId xmlns:a16="http://schemas.microsoft.com/office/drawing/2014/main" id="{2AC6CC15-C356-4BF3-87AF-C8D24583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8532876"/>
            <a:ext cx="4461939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MRP同时形成物料需求与准备计划</a:t>
            </a:r>
          </a:p>
        </p:txBody>
      </p:sp>
      <p:sp>
        <p:nvSpPr>
          <p:cNvPr id="62" name="可用库存覆盖部分直接备料 / 发料">
            <a:extLst xmlns:a="http://schemas.openxmlformats.org/drawingml/2006/main">
              <a:ext uri="{FF2B5EF4-FFF2-40B4-BE49-F238E27FC236}">
                <a16:creationId xmlns:a16="http://schemas.microsoft.com/office/drawing/2014/main" id="{29ED6688-8264-48BF-BA71-B35D3C3F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9123426"/>
            <a:ext cx="4452187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可用库存覆盖部分直接备料 / 发料</a:t>
            </a:r>
          </a:p>
        </p:txBody>
      </p:sp>
      <p:sp>
        <p:nvSpPr>
          <p:cNvPr id="63" name="物料采购和供应商分配由SCM执行">
            <a:extLst xmlns:a="http://schemas.openxmlformats.org/drawingml/2006/main">
              <a:ext uri="{FF2B5EF4-FFF2-40B4-BE49-F238E27FC236}">
                <a16:creationId xmlns:a16="http://schemas.microsoft.com/office/drawing/2014/main" id="{558969CD-F7E6-4748-ADB8-B0DF476B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9713976"/>
            <a:ext cx="4474012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物料采购和供应商分配由SCM执行</a:t>
            </a:r>
          </a:p>
        </p:txBody>
      </p:sp>
      <p:sp>
        <p:nvSpPr>
          <p:cNvPr id="64" name="rect-58">
            <a:extLst xmlns:a="http://schemas.openxmlformats.org/drawingml/2006/main">
              <a:ext uri="{FF2B5EF4-FFF2-40B4-BE49-F238E27FC236}">
                <a16:creationId xmlns:a16="http://schemas.microsoft.com/office/drawing/2014/main" id="{700044D3-415E-41EA-BF2E-0BB22155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96625"/>
            <a:ext cx="23164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5" name="交接结果">
            <a:extLst xmlns:a="http://schemas.openxmlformats.org/drawingml/2006/main">
              <a:ext uri="{FF2B5EF4-FFF2-40B4-BE49-F238E27FC236}">
                <a16:creationId xmlns:a16="http://schemas.microsoft.com/office/drawing/2014/main" id="{160E9B1C-6343-47FD-B078-D5B5D779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1399520"/>
            <a:ext cx="128397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交接结果</a:t>
            </a:r>
          </a:p>
        </p:txBody>
      </p:sp>
      <p:sp>
        <p:nvSpPr>
          <p:cNvPr id="66" name="面辅料需求、备料 / 发料计划及缺料状态，支撑成衣工厂生产">
            <a:extLst xmlns:a="http://schemas.openxmlformats.org/drawingml/2006/main">
              <a:ext uri="{FF2B5EF4-FFF2-40B4-BE49-F238E27FC236}">
                <a16:creationId xmlns:a16="http://schemas.microsoft.com/office/drawing/2014/main" id="{AF8A65B0-F92C-416C-9C57-27829EB9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09426"/>
            <a:ext cx="7899475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面辅料需求、备料 / 发料计划及缺料状态，支撑成衣工厂生产</a:t>
            </a:r>
          </a:p>
        </p:txBody>
      </p:sp>
      <p:sp>
        <p:nvSpPr>
          <p:cNvPr id="67" name="MRP作为明确建设域，不据此假设必须独立部署一套新系统。">
            <a:extLst xmlns:a="http://schemas.openxmlformats.org/drawingml/2006/main">
              <a:ext uri="{FF2B5EF4-FFF2-40B4-BE49-F238E27FC236}">
                <a16:creationId xmlns:a16="http://schemas.microsoft.com/office/drawing/2014/main" id="{3127F6E3-E4E6-4AE7-A021-5F61F0F0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30125"/>
            <a:ext cx="683133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MRP作为明确建设域，不据此假设必须独立部署一套新系统。</a:t>
            </a:r>
          </a:p>
        </p:txBody>
      </p:sp>
      <p:sp>
        <p:nvSpPr>
          <p:cNvPr id="68" name="path-62">
            <a:extLst xmlns:a="http://schemas.openxmlformats.org/drawingml/2006/main">
              <a:ext uri="{FF2B5EF4-FFF2-40B4-BE49-F238E27FC236}">
                <a16:creationId xmlns:a16="http://schemas.microsoft.com/office/drawing/2014/main" id="{6AA69FBB-2BEC-40BD-82AA-2AB9D31F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5E1E9"/>
            </a:solidFill>
            <a:prstDash val="solid"/>
          </a:ln>
        </p:spPr>
      </p:sp>
      <p:sp>
        <p:nvSpPr>
          <p:cNvPr id="69" name="Q4供应链产品建设方案 · 汇报分层版 · 目标业务蓝图，按P0 / P1推进">
            <a:extLst xmlns:a="http://schemas.openxmlformats.org/drawingml/2006/main">
              <a:ext uri="{FF2B5EF4-FFF2-40B4-BE49-F238E27FC236}">
                <a16:creationId xmlns:a16="http://schemas.microsoft.com/office/drawing/2014/main" id="{94A70D4D-6C5A-4BA7-9C45-64C0424B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07568"/>
            <a:ext cx="688395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Q4供应链产品建设方案 · 汇报分层版 · 目标业务蓝图，按P0 / P1推进</a:t>
            </a:r>
          </a:p>
        </p:txBody>
      </p:sp>
      <p:sp>
        <p:nvSpPr>
          <p:cNvPr id="70" name="06 / 10">
            <a:extLst xmlns:a="http://schemas.openxmlformats.org/drawingml/2006/main">
              <a:ext uri="{FF2B5EF4-FFF2-40B4-BE49-F238E27FC236}">
                <a16:creationId xmlns:a16="http://schemas.microsoft.com/office/drawing/2014/main" id="{EE0FD7A8-84B9-427A-95B8-310C1127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3784" y="13307568"/>
            <a:ext cx="83061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7510865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白色画布">
            <a:extLst xmlns:a="http://schemas.openxmlformats.org/drawingml/2006/main">
              <a:ext uri="{FF2B5EF4-FFF2-40B4-BE49-F238E27FC236}">
                <a16:creationId xmlns:a16="http://schemas.microsoft.com/office/drawing/2014/main" id="{5871DE32-F72F-42C1-8E4B-129ED771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-1">
            <a:extLst xmlns:a="http://schemas.openxmlformats.org/drawingml/2006/main">
              <a:ext uri="{FF2B5EF4-FFF2-40B4-BE49-F238E27FC236}">
                <a16:creationId xmlns:a16="http://schemas.microsoft.com/office/drawing/2014/main" id="{3229D025-B18A-4CB2-8378-B73E9736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" name="rect-2">
            <a:extLst xmlns:a="http://schemas.openxmlformats.org/drawingml/2006/main">
              <a:ext uri="{FF2B5EF4-FFF2-40B4-BE49-F238E27FC236}">
                <a16:creationId xmlns:a16="http://schemas.microsoft.com/office/drawing/2014/main" id="{426D7622-1CB2-4DFA-96D0-FD8A2A13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" name="SCM采购｜PR承接至PO执行">
            <a:extLst xmlns:a="http://schemas.openxmlformats.org/drawingml/2006/main">
              <a:ext uri="{FF2B5EF4-FFF2-40B4-BE49-F238E27FC236}">
                <a16:creationId xmlns:a16="http://schemas.microsoft.com/office/drawing/2014/main" id="{84D3531F-AC93-412D-9408-2119BB4D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781"/>
            <a:ext cx="6438495" cy="676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SCM采购｜PR承接至PO执行</a:t>
            </a:r>
          </a:p>
        </p:txBody>
      </p:sp>
      <p:sp>
        <p:nvSpPr>
          <p:cNvPr id="5" name="2026 Q4 / V3.0">
            <a:extLst xmlns:a="http://schemas.openxmlformats.org/drawingml/2006/main">
              <a:ext uri="{FF2B5EF4-FFF2-40B4-BE49-F238E27FC236}">
                <a16:creationId xmlns:a16="http://schemas.microsoft.com/office/drawing/2014/main" id="{023562EA-37BA-4A2B-BA00-6F52EBDD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7004" y="647700"/>
            <a:ext cx="1927396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V3.0</a:t>
            </a:r>
          </a:p>
        </p:txBody>
      </p:sp>
      <p:sp>
        <p:nvSpPr>
          <p:cNvPr id="6" name="path-5">
            <a:extLst xmlns:a="http://schemas.openxmlformats.org/drawingml/2006/main">
              <a:ext uri="{FF2B5EF4-FFF2-40B4-BE49-F238E27FC236}">
                <a16:creationId xmlns:a16="http://schemas.microsoft.com/office/drawing/2014/main" id="{17FDC6DD-F5F6-42F7-B472-5F95568A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7" name="P0核心链路；PMC确认PR，SCM管理单据，采购依据供应商能力组织执行">
            <a:extLst xmlns:a="http://schemas.openxmlformats.org/drawingml/2006/main">
              <a:ext uri="{FF2B5EF4-FFF2-40B4-BE49-F238E27FC236}">
                <a16:creationId xmlns:a16="http://schemas.microsoft.com/office/drawing/2014/main" id="{396E6730-06C8-42E1-AFB7-78663808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0863"/>
            <a:ext cx="8936045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P0核心链路；PMC确认PR，SCM管理单据，采购依据供应商能力组织执行</a:t>
            </a:r>
          </a:p>
        </p:txBody>
      </p:sp>
      <p:sp>
        <p:nvSpPr>
          <p:cNvPr id="8" name="07 / 模块展开">
            <a:extLst xmlns:a="http://schemas.openxmlformats.org/drawingml/2006/main">
              <a:ext uri="{FF2B5EF4-FFF2-40B4-BE49-F238E27FC236}">
                <a16:creationId xmlns:a16="http://schemas.microsoft.com/office/drawing/2014/main" id="{C0F92FF7-14BE-4632-80AE-C44C184D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0768" y="1610487"/>
            <a:ext cx="1533632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07 / 模块展开</a:t>
            </a:r>
          </a:p>
        </p:txBody>
      </p:sp>
      <p:sp>
        <p:nvSpPr>
          <p:cNvPr id="9" name="业务动作">
            <a:extLst xmlns:a="http://schemas.openxmlformats.org/drawingml/2006/main">
              <a:ext uri="{FF2B5EF4-FFF2-40B4-BE49-F238E27FC236}">
                <a16:creationId xmlns:a16="http://schemas.microsoft.com/office/drawing/2014/main" id="{20CF7969-58BB-47C7-B30E-424D02F1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8583"/>
            <a:ext cx="1363218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业务动作</a:t>
            </a:r>
          </a:p>
        </p:txBody>
      </p:sp>
      <p:sp>
        <p:nvSpPr>
          <p:cNvPr id="10" name="rect-9">
            <a:extLst xmlns:a="http://schemas.openxmlformats.org/drawingml/2006/main">
              <a:ext uri="{FF2B5EF4-FFF2-40B4-BE49-F238E27FC236}">
                <a16:creationId xmlns:a16="http://schemas.microsoft.com/office/drawing/2014/main" id="{3D47FA4E-8F06-4FD2-96C4-E93FAA74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11" name="rect-10">
            <a:extLst xmlns:a="http://schemas.openxmlformats.org/drawingml/2006/main">
              <a:ext uri="{FF2B5EF4-FFF2-40B4-BE49-F238E27FC236}">
                <a16:creationId xmlns:a16="http://schemas.microsoft.com/office/drawing/2014/main" id="{CBEA721D-5CD5-4C58-8E1C-AC9EF9B5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" name="承接采购需求">
            <a:extLst xmlns:a="http://schemas.openxmlformats.org/drawingml/2006/main">
              <a:ext uri="{FF2B5EF4-FFF2-40B4-BE49-F238E27FC236}">
                <a16:creationId xmlns:a16="http://schemas.microsoft.com/office/drawing/2014/main" id="{D9A657E3-8CCE-4B52-8107-F824AE28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213" y="3416046"/>
            <a:ext cx="2116074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承接采购需求</a:t>
            </a:r>
          </a:p>
        </p:txBody>
      </p:sp>
      <p:sp>
        <p:nvSpPr>
          <p:cNvPr id="13" name="成衣需求来自PMC">
            <a:extLst xmlns:a="http://schemas.openxmlformats.org/drawingml/2006/main">
              <a:ext uri="{FF2B5EF4-FFF2-40B4-BE49-F238E27FC236}">
                <a16:creationId xmlns:a16="http://schemas.microsoft.com/office/drawing/2014/main" id="{66C7E161-9208-423E-BAF9-267AF4FB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035" y="3961638"/>
            <a:ext cx="2302431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成衣需求来自PMC</a:t>
            </a:r>
          </a:p>
        </p:txBody>
      </p:sp>
      <p:sp>
        <p:nvSpPr>
          <p:cNvPr id="14" name="物料需求来自MRP">
            <a:extLst xmlns:a="http://schemas.openxmlformats.org/drawingml/2006/main">
              <a:ext uri="{FF2B5EF4-FFF2-40B4-BE49-F238E27FC236}">
                <a16:creationId xmlns:a16="http://schemas.microsoft.com/office/drawing/2014/main" id="{93EC2AB8-5907-4584-ACAA-7418481D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000" y="4333113"/>
            <a:ext cx="22885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物料需求来自MRP</a:t>
            </a:r>
          </a:p>
        </p:txBody>
      </p:sp>
      <p:sp>
        <p:nvSpPr>
          <p:cNvPr id="15" name="01">
            <a:extLst xmlns:a="http://schemas.openxmlformats.org/drawingml/2006/main">
              <a:ext uri="{FF2B5EF4-FFF2-40B4-BE49-F238E27FC236}">
                <a16:creationId xmlns:a16="http://schemas.microsoft.com/office/drawing/2014/main" id="{BA598BBF-2EE9-46D6-BD7B-D3F2AD89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9306"/>
            <a:ext cx="342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path-15">
            <a:extLst xmlns:a="http://schemas.openxmlformats.org/drawingml/2006/main">
              <a:ext uri="{FF2B5EF4-FFF2-40B4-BE49-F238E27FC236}">
                <a16:creationId xmlns:a16="http://schemas.microsoft.com/office/drawing/2014/main" id="{839FAA28-DD92-4B55-8A65-E4EFBDA2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17" name="arrowhead-15">
            <a:extLst xmlns:a="http://schemas.openxmlformats.org/drawingml/2006/main">
              <a:ext uri="{FF2B5EF4-FFF2-40B4-BE49-F238E27FC236}">
                <a16:creationId xmlns:a16="http://schemas.microsoft.com/office/drawing/2014/main" id="{8DFE0842-9A44-4ED9-896C-6AB135C6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18" name="rect-16">
            <a:extLst xmlns:a="http://schemas.openxmlformats.org/drawingml/2006/main">
              <a:ext uri="{FF2B5EF4-FFF2-40B4-BE49-F238E27FC236}">
                <a16:creationId xmlns:a16="http://schemas.microsoft.com/office/drawing/2014/main" id="{CACFB0C3-677E-481F-AC72-92A88E8B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19" name="rect-17">
            <a:extLst xmlns:a="http://schemas.openxmlformats.org/drawingml/2006/main">
              <a:ext uri="{FF2B5EF4-FFF2-40B4-BE49-F238E27FC236}">
                <a16:creationId xmlns:a16="http://schemas.microsoft.com/office/drawing/2014/main" id="{806ABA06-60FB-4AE3-B62A-C5ED05AA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" name="PR管理">
            <a:extLst xmlns:a="http://schemas.openxmlformats.org/drawingml/2006/main">
              <a:ext uri="{FF2B5EF4-FFF2-40B4-BE49-F238E27FC236}">
                <a16:creationId xmlns:a16="http://schemas.microsoft.com/office/drawing/2014/main" id="{C78B4A93-B0F8-4B5C-8D80-4F4E57E7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5963" y="3416046"/>
            <a:ext cx="1224224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PR管理</a:t>
            </a:r>
          </a:p>
        </p:txBody>
      </p:sp>
      <p:sp>
        <p:nvSpPr>
          <p:cNvPr id="21" name="PMC业务确认">
            <a:extLst xmlns:a="http://schemas.openxmlformats.org/drawingml/2006/main">
              <a:ext uri="{FF2B5EF4-FFF2-40B4-BE49-F238E27FC236}">
                <a16:creationId xmlns:a16="http://schemas.microsoft.com/office/drawing/2014/main" id="{38323E53-AFB5-4F44-8927-3ACE6053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322" y="3961638"/>
            <a:ext cx="1767507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PMC业务确认</a:t>
            </a:r>
          </a:p>
        </p:txBody>
      </p:sp>
      <p:sp>
        <p:nvSpPr>
          <p:cNvPr id="22" name="审核、拆并、状态追溯">
            <a:extLst xmlns:a="http://schemas.openxmlformats.org/drawingml/2006/main">
              <a:ext uri="{FF2B5EF4-FFF2-40B4-BE49-F238E27FC236}">
                <a16:creationId xmlns:a16="http://schemas.microsoft.com/office/drawing/2014/main" id="{1A624738-6192-4324-8B8A-5820BD4E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4333113"/>
            <a:ext cx="276987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审核、拆并、状态追溯</a:t>
            </a:r>
          </a:p>
        </p:txBody>
      </p:sp>
      <p:sp>
        <p:nvSpPr>
          <p:cNvPr id="23" name="02">
            <a:extLst xmlns:a="http://schemas.openxmlformats.org/drawingml/2006/main">
              <a:ext uri="{FF2B5EF4-FFF2-40B4-BE49-F238E27FC236}">
                <a16:creationId xmlns:a16="http://schemas.microsoft.com/office/drawing/2014/main" id="{685ACDA2-E6B5-4168-9633-05589F89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ath-22">
            <a:extLst xmlns:a="http://schemas.openxmlformats.org/drawingml/2006/main">
              <a:ext uri="{FF2B5EF4-FFF2-40B4-BE49-F238E27FC236}">
                <a16:creationId xmlns:a16="http://schemas.microsoft.com/office/drawing/2014/main" id="{A487F30B-F60D-4FCB-BE16-6F6A4CDD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25" name="arrowhead-22">
            <a:extLst xmlns:a="http://schemas.openxmlformats.org/drawingml/2006/main">
              <a:ext uri="{FF2B5EF4-FFF2-40B4-BE49-F238E27FC236}">
                <a16:creationId xmlns:a16="http://schemas.microsoft.com/office/drawing/2014/main" id="{64EE4561-464C-4FBB-AF38-D1864E37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26" name="rect-23">
            <a:extLst xmlns:a="http://schemas.openxmlformats.org/drawingml/2006/main">
              <a:ext uri="{FF2B5EF4-FFF2-40B4-BE49-F238E27FC236}">
                <a16:creationId xmlns:a16="http://schemas.microsoft.com/office/drawing/2014/main" id="{AA44F2D2-27F5-4745-B79B-D338D670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27" name="rect-24">
            <a:extLst xmlns:a="http://schemas.openxmlformats.org/drawingml/2006/main">
              <a:ext uri="{FF2B5EF4-FFF2-40B4-BE49-F238E27FC236}">
                <a16:creationId xmlns:a16="http://schemas.microsoft.com/office/drawing/2014/main" id="{DA85063E-0AF3-47E9-86DA-6DC0A4A4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" name="供应商分配">
            <a:extLst xmlns:a="http://schemas.openxmlformats.org/drawingml/2006/main">
              <a:ext uri="{FF2B5EF4-FFF2-40B4-BE49-F238E27FC236}">
                <a16:creationId xmlns:a16="http://schemas.microsoft.com/office/drawing/2014/main" id="{F9115EAB-4382-46AE-B7FA-9302254A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265" y="3416046"/>
            <a:ext cx="1779270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供应商分配</a:t>
            </a:r>
          </a:p>
        </p:txBody>
      </p:sp>
      <p:sp>
        <p:nvSpPr>
          <p:cNvPr id="29" name="产能、成本、交期与绩效">
            <a:extLst xmlns:a="http://schemas.openxmlformats.org/drawingml/2006/main">
              <a:ext uri="{FF2B5EF4-FFF2-40B4-BE49-F238E27FC236}">
                <a16:creationId xmlns:a16="http://schemas.microsoft.com/office/drawing/2014/main" id="{11EF8EA6-BF83-45F6-9401-40B2FEC5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5234" y="3961638"/>
            <a:ext cx="3037332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产能、成本、交期与绩效</a:t>
            </a:r>
          </a:p>
        </p:txBody>
      </p:sp>
      <p:sp>
        <p:nvSpPr>
          <p:cNvPr id="30" name="库存、商品版本、包装">
            <a:extLst xmlns:a="http://schemas.openxmlformats.org/drawingml/2006/main">
              <a:ext uri="{FF2B5EF4-FFF2-40B4-BE49-F238E27FC236}">
                <a16:creationId xmlns:a16="http://schemas.microsoft.com/office/drawing/2014/main" id="{66FA02D4-555E-45FB-A0BC-8B00DDA7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965" y="4333113"/>
            <a:ext cx="276987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库存、商品版本、包装</a:t>
            </a:r>
          </a:p>
        </p:txBody>
      </p:sp>
      <p:sp>
        <p:nvSpPr>
          <p:cNvPr id="31" name="03">
            <a:extLst xmlns:a="http://schemas.openxmlformats.org/drawingml/2006/main">
              <a:ext uri="{FF2B5EF4-FFF2-40B4-BE49-F238E27FC236}">
                <a16:creationId xmlns:a16="http://schemas.microsoft.com/office/drawing/2014/main" id="{7AEA3C21-B0A9-42CF-B432-516E83AD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2" name="path-29">
            <a:extLst xmlns:a="http://schemas.openxmlformats.org/drawingml/2006/main">
              <a:ext uri="{FF2B5EF4-FFF2-40B4-BE49-F238E27FC236}">
                <a16:creationId xmlns:a16="http://schemas.microsoft.com/office/drawing/2014/main" id="{89C18FFA-2384-44C8-895A-BE5CA9C4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33" name="arrowhead-29">
            <a:extLst xmlns:a="http://schemas.openxmlformats.org/drawingml/2006/main">
              <a:ext uri="{FF2B5EF4-FFF2-40B4-BE49-F238E27FC236}">
                <a16:creationId xmlns:a16="http://schemas.microsoft.com/office/drawing/2014/main" id="{EE2553B4-5144-494E-B33F-7F1C89D2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34" name="rect-30">
            <a:extLst xmlns:a="http://schemas.openxmlformats.org/drawingml/2006/main">
              <a:ext uri="{FF2B5EF4-FFF2-40B4-BE49-F238E27FC236}">
                <a16:creationId xmlns:a16="http://schemas.microsoft.com/office/drawing/2014/main" id="{1A793A85-C710-41B5-A3B3-2BFB864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35" name="rect-31">
            <a:extLst xmlns:a="http://schemas.openxmlformats.org/drawingml/2006/main">
              <a:ext uri="{FF2B5EF4-FFF2-40B4-BE49-F238E27FC236}">
                <a16:creationId xmlns:a16="http://schemas.microsoft.com/office/drawing/2014/main" id="{14E840FA-E1E9-4B27-9C0B-ADED1824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6" name="PO与供应商接单">
            <a:extLst xmlns:a="http://schemas.openxmlformats.org/drawingml/2006/main">
              <a:ext uri="{FF2B5EF4-FFF2-40B4-BE49-F238E27FC236}">
                <a16:creationId xmlns:a16="http://schemas.microsoft.com/office/drawing/2014/main" id="{370BE77C-A7F7-4556-A800-09C910D4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0848" y="3416046"/>
            <a:ext cx="259775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PO与供应商接单</a:t>
            </a:r>
          </a:p>
        </p:txBody>
      </p:sp>
      <p:sp>
        <p:nvSpPr>
          <p:cNvPr id="37" name="PR转PO、审批与货期">
            <a:extLst xmlns:a="http://schemas.openxmlformats.org/drawingml/2006/main">
              <a:ext uri="{FF2B5EF4-FFF2-40B4-BE49-F238E27FC236}">
                <a16:creationId xmlns:a16="http://schemas.microsoft.com/office/drawing/2014/main" id="{C0DDDAA2-7FA2-47BD-9F50-C05C3CA7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241" y="3961638"/>
            <a:ext cx="269696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PR转PO、审批与货期</a:t>
            </a:r>
          </a:p>
        </p:txBody>
      </p:sp>
      <p:sp>
        <p:nvSpPr>
          <p:cNvPr id="38" name="订单资料和任务交付">
            <a:extLst xmlns:a="http://schemas.openxmlformats.org/drawingml/2006/main">
              <a:ext uri="{FF2B5EF4-FFF2-40B4-BE49-F238E27FC236}">
                <a16:creationId xmlns:a16="http://schemas.microsoft.com/office/drawing/2014/main" id="{F420504D-3E4C-4247-8092-7E268156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521" y="4333113"/>
            <a:ext cx="250240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订单资料和任务交付</a:t>
            </a:r>
          </a:p>
        </p:txBody>
      </p:sp>
      <p:sp>
        <p:nvSpPr>
          <p:cNvPr id="39" name="04">
            <a:extLst xmlns:a="http://schemas.openxmlformats.org/drawingml/2006/main">
              <a:ext uri="{FF2B5EF4-FFF2-40B4-BE49-F238E27FC236}">
                <a16:creationId xmlns:a16="http://schemas.microsoft.com/office/drawing/2014/main" id="{DEE36248-56C1-4C0E-81C0-DBC5288F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0" name="path-36">
            <a:extLst xmlns:a="http://schemas.openxmlformats.org/drawingml/2006/main">
              <a:ext uri="{FF2B5EF4-FFF2-40B4-BE49-F238E27FC236}">
                <a16:creationId xmlns:a16="http://schemas.microsoft.com/office/drawing/2014/main" id="{43F0C2F3-D04E-403B-8056-5C4E90DD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75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41" name="arrowhead-36">
            <a:extLst xmlns:a="http://schemas.openxmlformats.org/drawingml/2006/main">
              <a:ext uri="{FF2B5EF4-FFF2-40B4-BE49-F238E27FC236}">
                <a16:creationId xmlns:a16="http://schemas.microsoft.com/office/drawing/2014/main" id="{2F94448F-198F-4A0A-A798-EBFF6DA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0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42" name="rect-37">
            <a:extLst xmlns:a="http://schemas.openxmlformats.org/drawingml/2006/main">
              <a:ext uri="{FF2B5EF4-FFF2-40B4-BE49-F238E27FC236}">
                <a16:creationId xmlns:a16="http://schemas.microsoft.com/office/drawing/2014/main" id="{07F18E6E-4C12-4843-94A7-8F46E30B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43" name="rect-38">
            <a:extLst xmlns:a="http://schemas.openxmlformats.org/drawingml/2006/main">
              <a:ext uri="{FF2B5EF4-FFF2-40B4-BE49-F238E27FC236}">
                <a16:creationId xmlns:a16="http://schemas.microsoft.com/office/drawing/2014/main" id="{8ED9BCAE-36F6-4B55-A806-60978FB9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4" name="执行与单据关闭">
            <a:extLst xmlns:a="http://schemas.openxmlformats.org/drawingml/2006/main">
              <a:ext uri="{FF2B5EF4-FFF2-40B4-BE49-F238E27FC236}">
                <a16:creationId xmlns:a16="http://schemas.microsoft.com/office/drawing/2014/main" id="{AB840A95-6FCA-431F-9BD3-54DB39CA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9111" y="3416046"/>
            <a:ext cx="2452878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执行与单据关闭</a:t>
            </a:r>
          </a:p>
        </p:txBody>
      </p:sp>
      <p:sp>
        <p:nvSpPr>
          <p:cNvPr id="45" name="执行状态和异常回传">
            <a:extLst xmlns:a="http://schemas.openxmlformats.org/drawingml/2006/main">
              <a:ext uri="{FF2B5EF4-FFF2-40B4-BE49-F238E27FC236}">
                <a16:creationId xmlns:a16="http://schemas.microsoft.com/office/drawing/2014/main" id="{8488E132-3A8D-49AD-86FC-6D363567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4346" y="3961638"/>
            <a:ext cx="250240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执行状态和异常回传</a:t>
            </a:r>
          </a:p>
        </p:txBody>
      </p:sp>
      <p:sp>
        <p:nvSpPr>
          <p:cNvPr id="46" name="整单 / SKU / 尾数关闭">
            <a:extLst xmlns:a="http://schemas.openxmlformats.org/drawingml/2006/main">
              <a:ext uri="{FF2B5EF4-FFF2-40B4-BE49-F238E27FC236}">
                <a16:creationId xmlns:a16="http://schemas.microsoft.com/office/drawing/2014/main" id="{56DE6D1E-23B5-4EC8-BF43-D6A8A5B2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1395" y="4333113"/>
            <a:ext cx="2868311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整单 / SKU / 尾数关闭</a:t>
            </a:r>
          </a:p>
        </p:txBody>
      </p:sp>
      <p:sp>
        <p:nvSpPr>
          <p:cNvPr id="47" name="05">
            <a:extLst xmlns:a="http://schemas.openxmlformats.org/drawingml/2006/main">
              <a:ext uri="{FF2B5EF4-FFF2-40B4-BE49-F238E27FC236}">
                <a16:creationId xmlns:a16="http://schemas.microsoft.com/office/drawing/2014/main" id="{84E6878F-0B0D-4C41-92E3-3432A28B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8" name="path-43">
            <a:extLst xmlns:a="http://schemas.openxmlformats.org/drawingml/2006/main">
              <a:ext uri="{FF2B5EF4-FFF2-40B4-BE49-F238E27FC236}">
                <a16:creationId xmlns:a16="http://schemas.microsoft.com/office/drawing/2014/main" id="{45946472-7D24-4584-A844-EAF260DC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53000"/>
            <a:ext cx="18783300" cy="1085850"/>
          </a:xfrm>
          <a:custGeom xmlns:a="http://schemas.openxmlformats.org/drawingml/2006/main">
            <a:pathLst>
              <a:path w="18783300" h="1085850">
                <a:moveTo>
                  <a:pt x="18783300" y="0"/>
                </a:moveTo>
                <a:lnTo>
                  <a:pt x="18783300" y="1085850"/>
                </a:lnTo>
                <a:lnTo>
                  <a:pt x="0" y="10858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78E99"/>
            </a:solidFill>
            <a:prstDash val="solid"/>
          </a:ln>
        </p:spPr>
      </p:sp>
      <p:sp>
        <p:nvSpPr>
          <p:cNvPr id="49" name="arrowhead-43">
            <a:extLst xmlns:a="http://schemas.openxmlformats.org/drawingml/2006/main">
              <a:ext uri="{FF2B5EF4-FFF2-40B4-BE49-F238E27FC236}">
                <a16:creationId xmlns:a16="http://schemas.microsoft.com/office/drawing/2014/main" id="{89003A7F-68CB-4492-B89B-55850240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53000"/>
            <a:ext cx="304800" cy="304800"/>
          </a:xfrm>
          <a:custGeom xmlns:a="http://schemas.openxmlformats.org/drawingml/2006/main">
            <a:pathLst>
              <a:path w="304800" h="304800">
                <a:moveTo>
                  <a:pt x="152400" y="0"/>
                </a:move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50" name="rect-44">
            <a:extLst xmlns:a="http://schemas.openxmlformats.org/drawingml/2006/main">
              <a:ext uri="{FF2B5EF4-FFF2-40B4-BE49-F238E27FC236}">
                <a16:creationId xmlns:a16="http://schemas.microsoft.com/office/drawing/2014/main" id="{A7744240-B52E-498B-9A6D-05AA6FF5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365" y="5734050"/>
            <a:ext cx="463677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1" name="供货或交期不满足 → 反馈PMC协调计划">
            <a:extLst xmlns:a="http://schemas.openxmlformats.org/drawingml/2006/main">
              <a:ext uri="{FF2B5EF4-FFF2-40B4-BE49-F238E27FC236}">
                <a16:creationId xmlns:a16="http://schemas.microsoft.com/office/drawing/2014/main" id="{CC2C79BA-FE6C-4EC8-AB0B-E6844B13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931" y="5714619"/>
            <a:ext cx="4717637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供货或交期不满足 → 反馈PMC协调计划</a:t>
            </a:r>
          </a:p>
        </p:txBody>
      </p:sp>
      <p:sp>
        <p:nvSpPr>
          <p:cNvPr id="52" name="path-46">
            <a:extLst xmlns:a="http://schemas.openxmlformats.org/drawingml/2006/main">
              <a:ext uri="{FF2B5EF4-FFF2-40B4-BE49-F238E27FC236}">
                <a16:creationId xmlns:a16="http://schemas.microsoft.com/office/drawing/2014/main" id="{47B051E4-9C34-41B1-9505-4A1997BB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0934700" cy="476"/>
          </a:xfrm>
          <a:custGeom xmlns:a="http://schemas.openxmlformats.org/drawingml/2006/main">
            <a:pathLst>
              <a:path w="10934700" h="476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53" name="path-47">
            <a:extLst xmlns:a="http://schemas.openxmlformats.org/drawingml/2006/main">
              <a:ext uri="{FF2B5EF4-FFF2-40B4-BE49-F238E27FC236}">
                <a16:creationId xmlns:a16="http://schemas.microsoft.com/office/drawing/2014/main" id="{98FFF3BC-C5BC-45AB-B0D9-4236DAC5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105650"/>
            <a:ext cx="11163300" cy="476"/>
          </a:xfrm>
          <a:custGeom xmlns:a="http://schemas.openxmlformats.org/drawingml/2006/main">
            <a:pathLst>
              <a:path w="11163300" h="476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54" name="PMC与采购的交接">
            <a:extLst xmlns:a="http://schemas.openxmlformats.org/drawingml/2006/main">
              <a:ext uri="{FF2B5EF4-FFF2-40B4-BE49-F238E27FC236}">
                <a16:creationId xmlns:a16="http://schemas.microsoft.com/office/drawing/2014/main" id="{B6900372-0A6F-458B-BC9B-29544178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3577"/>
            <a:ext cx="2805315" cy="45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PMC与采购的交接</a:t>
            </a:r>
          </a:p>
        </p:txBody>
      </p:sp>
      <p:sp>
        <p:nvSpPr>
          <p:cNvPr id="55" name="Q4重点治理">
            <a:extLst xmlns:a="http://schemas.openxmlformats.org/drawingml/2006/main">
              <a:ext uri="{FF2B5EF4-FFF2-40B4-BE49-F238E27FC236}">
                <a16:creationId xmlns:a16="http://schemas.microsoft.com/office/drawing/2014/main" id="{E54EBEC4-F6D0-4203-8521-E015696F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283577"/>
            <a:ext cx="1852327" cy="45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Q4重点治理</a:t>
            </a:r>
          </a:p>
        </p:txBody>
      </p:sp>
      <p:sp>
        <p:nvSpPr>
          <p:cNvPr id="56" name="PMC：买什么、买多少、什么时候要">
            <a:extLst xmlns:a="http://schemas.openxmlformats.org/drawingml/2006/main">
              <a:ext uri="{FF2B5EF4-FFF2-40B4-BE49-F238E27FC236}">
                <a16:creationId xmlns:a16="http://schemas.microsoft.com/office/drawing/2014/main" id="{D84BAF0E-0258-4105-B341-DF78A863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42326"/>
            <a:ext cx="4764072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PMC：买什么、买多少、什么时候要</a:t>
            </a:r>
          </a:p>
        </p:txBody>
      </p:sp>
      <p:sp>
        <p:nvSpPr>
          <p:cNvPr id="57" name="采购：向谁买、如何拆分和合并">
            <a:extLst xmlns:a="http://schemas.openxmlformats.org/drawingml/2006/main">
              <a:ext uri="{FF2B5EF4-FFF2-40B4-BE49-F238E27FC236}">
                <a16:creationId xmlns:a16="http://schemas.microsoft.com/office/drawing/2014/main" id="{A5C86BAF-E671-403B-9418-EC28B56C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32876"/>
            <a:ext cx="4117086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采购：向谁买、如何拆分和合并</a:t>
            </a:r>
          </a:p>
        </p:txBody>
      </p:sp>
      <p:sp>
        <p:nvSpPr>
          <p:cNvPr id="58" name="SCM：以PR / PO承载审核及执行状态">
            <a:extLst xmlns:a="http://schemas.openxmlformats.org/drawingml/2006/main">
              <a:ext uri="{FF2B5EF4-FFF2-40B4-BE49-F238E27FC236}">
                <a16:creationId xmlns:a16="http://schemas.microsoft.com/office/drawing/2014/main" id="{CB3EB13C-3975-4320-8124-E145E94E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23426"/>
            <a:ext cx="5017758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SCM：以PR / PO承载审核及执行状态</a:t>
            </a:r>
          </a:p>
        </p:txBody>
      </p:sp>
      <p:sp>
        <p:nvSpPr>
          <p:cNvPr id="59" name="需求变化返回计划侧确认，保留关联">
            <a:extLst xmlns:a="http://schemas.openxmlformats.org/drawingml/2006/main">
              <a:ext uri="{FF2B5EF4-FFF2-40B4-BE49-F238E27FC236}">
                <a16:creationId xmlns:a16="http://schemas.microsoft.com/office/drawing/2014/main" id="{C29573FE-4FBE-4B8D-A0B1-B1848B22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3976"/>
            <a:ext cx="4691634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需求变化返回计划侧确认，保留关联</a:t>
            </a:r>
          </a:p>
        </p:txBody>
      </p:sp>
      <p:sp>
        <p:nvSpPr>
          <p:cNvPr id="60" name="PO整单、SKU和尾数关闭口径">
            <a:extLst xmlns:a="http://schemas.openxmlformats.org/drawingml/2006/main">
              <a:ext uri="{FF2B5EF4-FFF2-40B4-BE49-F238E27FC236}">
                <a16:creationId xmlns:a16="http://schemas.microsoft.com/office/drawing/2014/main" id="{38DAD47D-0E56-4698-A081-23104D92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942326"/>
            <a:ext cx="3957661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PO整单、SKU和尾数关闭口径</a:t>
            </a:r>
          </a:p>
        </p:txBody>
      </p:sp>
      <p:sp>
        <p:nvSpPr>
          <p:cNvPr id="61" name="供应商接单撤销及异常流转">
            <a:extLst xmlns:a="http://schemas.openxmlformats.org/drawingml/2006/main">
              <a:ext uri="{FF2B5EF4-FFF2-40B4-BE49-F238E27FC236}">
                <a16:creationId xmlns:a16="http://schemas.microsoft.com/office/drawing/2014/main" id="{F2F9F39D-7A66-49BB-86F7-EB905DC8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8532876"/>
            <a:ext cx="3542538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供应商接单撤销及异常流转</a:t>
            </a:r>
          </a:p>
        </p:txBody>
      </p:sp>
      <p:sp>
        <p:nvSpPr>
          <p:cNvPr id="62" name="多PR合并、一PR拆多PO的关系追溯">
            <a:extLst xmlns:a="http://schemas.openxmlformats.org/drawingml/2006/main">
              <a:ext uri="{FF2B5EF4-FFF2-40B4-BE49-F238E27FC236}">
                <a16:creationId xmlns:a16="http://schemas.microsoft.com/office/drawing/2014/main" id="{B74C8DD6-6B5F-41A6-8170-2EA22E88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9123426"/>
            <a:ext cx="4704636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多PR合并、一PR拆多PO的关系追溯</a:t>
            </a:r>
          </a:p>
        </p:txBody>
      </p:sp>
      <p:sp>
        <p:nvSpPr>
          <p:cNvPr id="63" name="执行状态反馈PMC，减少重复录入">
            <a:extLst xmlns:a="http://schemas.openxmlformats.org/drawingml/2006/main">
              <a:ext uri="{FF2B5EF4-FFF2-40B4-BE49-F238E27FC236}">
                <a16:creationId xmlns:a16="http://schemas.microsoft.com/office/drawing/2014/main" id="{0F87F904-AAAF-44B5-A6F6-3FFC154B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9713976"/>
            <a:ext cx="4476798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执行状态反馈PMC，减少重复录入</a:t>
            </a:r>
          </a:p>
        </p:txBody>
      </p:sp>
      <p:sp>
        <p:nvSpPr>
          <p:cNvPr id="64" name="rect-58">
            <a:extLst xmlns:a="http://schemas.openxmlformats.org/drawingml/2006/main">
              <a:ext uri="{FF2B5EF4-FFF2-40B4-BE49-F238E27FC236}">
                <a16:creationId xmlns:a16="http://schemas.microsoft.com/office/drawing/2014/main" id="{C213EF5B-C727-4F83-AAA4-28671E03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96625"/>
            <a:ext cx="23164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5" name="交接结果">
            <a:extLst xmlns:a="http://schemas.openxmlformats.org/drawingml/2006/main">
              <a:ext uri="{FF2B5EF4-FFF2-40B4-BE49-F238E27FC236}">
                <a16:creationId xmlns:a16="http://schemas.microsoft.com/office/drawing/2014/main" id="{1BF426EB-930A-4485-954E-F3067A03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1399520"/>
            <a:ext cx="128397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交接结果</a:t>
            </a:r>
          </a:p>
        </p:txBody>
      </p:sp>
      <p:sp>
        <p:nvSpPr>
          <p:cNvPr id="66" name="供应商可执行的PO、交期与任务，并持续返回执行状态">
            <a:extLst xmlns:a="http://schemas.openxmlformats.org/drawingml/2006/main">
              <a:ext uri="{FF2B5EF4-FFF2-40B4-BE49-F238E27FC236}">
                <a16:creationId xmlns:a16="http://schemas.microsoft.com/office/drawing/2014/main" id="{23791CD9-C09F-495E-91C6-FF180240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09426"/>
            <a:ext cx="7113496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供应商可执行的PO、交期与任务，并持续返回执行状态</a:t>
            </a:r>
          </a:p>
        </p:txBody>
      </p:sp>
      <p:sp>
        <p:nvSpPr>
          <p:cNvPr id="67" name="PR生成接口、审核层级和权限在实施设计中细化，业务职责不再整体标为待定。">
            <a:extLst xmlns:a="http://schemas.openxmlformats.org/drawingml/2006/main">
              <a:ext uri="{FF2B5EF4-FFF2-40B4-BE49-F238E27FC236}">
                <a16:creationId xmlns:a16="http://schemas.microsoft.com/office/drawing/2014/main" id="{ECBFABAF-E63F-4C04-AE50-921A483E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30125"/>
            <a:ext cx="8841784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PR生成接口、审核层级和权限在实施设计中细化，业务职责不再整体标为待定。</a:t>
            </a:r>
          </a:p>
        </p:txBody>
      </p:sp>
      <p:sp>
        <p:nvSpPr>
          <p:cNvPr id="68" name="path-62">
            <a:extLst xmlns:a="http://schemas.openxmlformats.org/drawingml/2006/main">
              <a:ext uri="{FF2B5EF4-FFF2-40B4-BE49-F238E27FC236}">
                <a16:creationId xmlns:a16="http://schemas.microsoft.com/office/drawing/2014/main" id="{9789496D-9224-48E8-90B7-A7338DFB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5E1E9"/>
            </a:solidFill>
            <a:prstDash val="solid"/>
          </a:ln>
        </p:spPr>
      </p:sp>
      <p:sp>
        <p:nvSpPr>
          <p:cNvPr id="69" name="Q4供应链产品建设方案 · 汇报分层版 · 目标业务蓝图，按P0 / P1推进">
            <a:extLst xmlns:a="http://schemas.openxmlformats.org/drawingml/2006/main">
              <a:ext uri="{FF2B5EF4-FFF2-40B4-BE49-F238E27FC236}">
                <a16:creationId xmlns:a16="http://schemas.microsoft.com/office/drawing/2014/main" id="{9C9BA53C-29AB-4852-A0FB-9D8B118C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07568"/>
            <a:ext cx="688395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Q4供应链产品建设方案 · 汇报分层版 · 目标业务蓝图，按P0 / P1推进</a:t>
            </a:r>
          </a:p>
        </p:txBody>
      </p:sp>
      <p:sp>
        <p:nvSpPr>
          <p:cNvPr id="70" name="07 / 10">
            <a:extLst xmlns:a="http://schemas.openxmlformats.org/drawingml/2006/main">
              <a:ext uri="{FF2B5EF4-FFF2-40B4-BE49-F238E27FC236}">
                <a16:creationId xmlns:a16="http://schemas.microsoft.com/office/drawing/2014/main" id="{93F49EF7-058A-4964-9808-83A77079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4464" y="13307568"/>
            <a:ext cx="81993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14024419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白色画布">
            <a:extLst xmlns:a="http://schemas.openxmlformats.org/drawingml/2006/main">
              <a:ext uri="{FF2B5EF4-FFF2-40B4-BE49-F238E27FC236}">
                <a16:creationId xmlns:a16="http://schemas.microsoft.com/office/drawing/2014/main" id="{E312AB1A-475A-42E2-A5BA-DECC556B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-1">
            <a:extLst xmlns:a="http://schemas.openxmlformats.org/drawingml/2006/main">
              <a:ext uri="{FF2B5EF4-FFF2-40B4-BE49-F238E27FC236}">
                <a16:creationId xmlns:a16="http://schemas.microsoft.com/office/drawing/2014/main" id="{1D118174-A5FD-421D-A7D4-74B661CA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" name="rect-2">
            <a:extLst xmlns:a="http://schemas.openxmlformats.org/drawingml/2006/main">
              <a:ext uri="{FF2B5EF4-FFF2-40B4-BE49-F238E27FC236}">
                <a16:creationId xmlns:a16="http://schemas.microsoft.com/office/drawing/2014/main" id="{3F08A1BA-B2BA-49E5-BE3E-689E9006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" name="供应商执行｜从接单到交付">
            <a:extLst xmlns:a="http://schemas.openxmlformats.org/drawingml/2006/main">
              <a:ext uri="{FF2B5EF4-FFF2-40B4-BE49-F238E27FC236}">
                <a16:creationId xmlns:a16="http://schemas.microsoft.com/office/drawing/2014/main" id="{7E7287DC-FAA7-4644-88CB-AEFF97C4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781"/>
            <a:ext cx="5919978" cy="676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供应商执行｜从接单到交付</a:t>
            </a:r>
          </a:p>
        </p:txBody>
      </p:sp>
      <p:sp>
        <p:nvSpPr>
          <p:cNvPr id="5" name="2026 Q4 / V3.0">
            <a:extLst xmlns:a="http://schemas.openxmlformats.org/drawingml/2006/main">
              <a:ext uri="{FF2B5EF4-FFF2-40B4-BE49-F238E27FC236}">
                <a16:creationId xmlns:a16="http://schemas.microsoft.com/office/drawing/2014/main" id="{87EF9104-2DF4-4284-BE40-20BA3899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7004" y="647700"/>
            <a:ext cx="1927396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V3.0</a:t>
            </a:r>
          </a:p>
        </p:txBody>
      </p:sp>
      <p:sp>
        <p:nvSpPr>
          <p:cNvPr id="6" name="path-5">
            <a:extLst xmlns:a="http://schemas.openxmlformats.org/drawingml/2006/main">
              <a:ext uri="{FF2B5EF4-FFF2-40B4-BE49-F238E27FC236}">
                <a16:creationId xmlns:a16="http://schemas.microsoft.com/office/drawing/2014/main" id="{64818557-B36E-42E3-BCC9-323A35D1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7" name="用订单及执行状态承接采购要求，减少群聊、库存表和重复核对">
            <a:extLst xmlns:a="http://schemas.openxmlformats.org/drawingml/2006/main">
              <a:ext uri="{FF2B5EF4-FFF2-40B4-BE49-F238E27FC236}">
                <a16:creationId xmlns:a16="http://schemas.microsoft.com/office/drawing/2014/main" id="{3664B94D-78B0-4EF1-8CE1-418CE379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0863"/>
            <a:ext cx="7584186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用订单及执行状态承接采购要求，减少群聊、库存表和重复核对</a:t>
            </a:r>
          </a:p>
        </p:txBody>
      </p:sp>
      <p:sp>
        <p:nvSpPr>
          <p:cNvPr id="8" name="08 / 模块展开">
            <a:extLst xmlns:a="http://schemas.openxmlformats.org/drawingml/2006/main">
              <a:ext uri="{FF2B5EF4-FFF2-40B4-BE49-F238E27FC236}">
                <a16:creationId xmlns:a16="http://schemas.microsoft.com/office/drawing/2014/main" id="{7046EA89-AF19-4D9F-BFFA-562D29FB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8695" y="1610487"/>
            <a:ext cx="1545705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08 / 模块展开</a:t>
            </a:r>
          </a:p>
        </p:txBody>
      </p:sp>
      <p:sp>
        <p:nvSpPr>
          <p:cNvPr id="9" name="业务动作">
            <a:extLst xmlns:a="http://schemas.openxmlformats.org/drawingml/2006/main">
              <a:ext uri="{FF2B5EF4-FFF2-40B4-BE49-F238E27FC236}">
                <a16:creationId xmlns:a16="http://schemas.microsoft.com/office/drawing/2014/main" id="{CB3A1C5D-CFEB-4D10-9EE9-C8C914AE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8583"/>
            <a:ext cx="1363218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业务动作</a:t>
            </a:r>
          </a:p>
        </p:txBody>
      </p:sp>
      <p:sp>
        <p:nvSpPr>
          <p:cNvPr id="10" name="rect-9">
            <a:extLst xmlns:a="http://schemas.openxmlformats.org/drawingml/2006/main">
              <a:ext uri="{FF2B5EF4-FFF2-40B4-BE49-F238E27FC236}">
                <a16:creationId xmlns:a16="http://schemas.microsoft.com/office/drawing/2014/main" id="{FF3BEEEF-C522-41F8-82DA-8B0610FF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11" name="rect-10">
            <a:extLst xmlns:a="http://schemas.openxmlformats.org/drawingml/2006/main">
              <a:ext uri="{FF2B5EF4-FFF2-40B4-BE49-F238E27FC236}">
                <a16:creationId xmlns:a16="http://schemas.microsoft.com/office/drawing/2014/main" id="{940D0999-901E-46CA-B6F6-CA4A1144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" name="接单与货期确认">
            <a:extLst xmlns:a="http://schemas.openxmlformats.org/drawingml/2006/main">
              <a:ext uri="{FF2B5EF4-FFF2-40B4-BE49-F238E27FC236}">
                <a16:creationId xmlns:a16="http://schemas.microsoft.com/office/drawing/2014/main" id="{29476B54-889C-4D54-B945-C300F016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811" y="3416046"/>
            <a:ext cx="2452878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接单与货期确认</a:t>
            </a:r>
          </a:p>
        </p:txBody>
      </p:sp>
      <p:sp>
        <p:nvSpPr>
          <p:cNvPr id="13" name="确认PO、SKU与数量">
            <a:extLst xmlns:a="http://schemas.openxmlformats.org/drawingml/2006/main">
              <a:ext uri="{FF2B5EF4-FFF2-40B4-BE49-F238E27FC236}">
                <a16:creationId xmlns:a16="http://schemas.microsoft.com/office/drawing/2014/main" id="{1A3CF57D-1587-45D8-876A-95F45C5A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533" y="3961638"/>
            <a:ext cx="2621435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确认PO、SKU与数量</a:t>
            </a:r>
          </a:p>
        </p:txBody>
      </p:sp>
      <p:sp>
        <p:nvSpPr>
          <p:cNvPr id="14" name="确认承诺交期">
            <a:extLst xmlns:a="http://schemas.openxmlformats.org/drawingml/2006/main">
              <a:ext uri="{FF2B5EF4-FFF2-40B4-BE49-F238E27FC236}">
                <a16:creationId xmlns:a16="http://schemas.microsoft.com/office/drawing/2014/main" id="{FE0CB628-E97B-4E37-8FD0-757D6B6A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239" y="4333113"/>
            <a:ext cx="1700022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确认承诺交期</a:t>
            </a:r>
          </a:p>
        </p:txBody>
      </p:sp>
      <p:sp>
        <p:nvSpPr>
          <p:cNvPr id="15" name="01">
            <a:extLst xmlns:a="http://schemas.openxmlformats.org/drawingml/2006/main">
              <a:ext uri="{FF2B5EF4-FFF2-40B4-BE49-F238E27FC236}">
                <a16:creationId xmlns:a16="http://schemas.microsoft.com/office/drawing/2014/main" id="{B1E4DF15-1F6E-49D0-B132-7477F297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9306"/>
            <a:ext cx="342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path-15">
            <a:extLst xmlns:a="http://schemas.openxmlformats.org/drawingml/2006/main">
              <a:ext uri="{FF2B5EF4-FFF2-40B4-BE49-F238E27FC236}">
                <a16:creationId xmlns:a16="http://schemas.microsoft.com/office/drawing/2014/main" id="{F1B05041-E808-412E-8587-EE47F281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17" name="arrowhead-15">
            <a:extLst xmlns:a="http://schemas.openxmlformats.org/drawingml/2006/main">
              <a:ext uri="{FF2B5EF4-FFF2-40B4-BE49-F238E27FC236}">
                <a16:creationId xmlns:a16="http://schemas.microsoft.com/office/drawing/2014/main" id="{130132AC-14DF-4E02-926A-09B87B2B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18" name="rect-16">
            <a:extLst xmlns:a="http://schemas.openxmlformats.org/drawingml/2006/main">
              <a:ext uri="{FF2B5EF4-FFF2-40B4-BE49-F238E27FC236}">
                <a16:creationId xmlns:a16="http://schemas.microsoft.com/office/drawing/2014/main" id="{3C4EA255-C21B-476D-AEA5-1FC3E91D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19" name="rect-17">
            <a:extLst xmlns:a="http://schemas.openxmlformats.org/drawingml/2006/main">
              <a:ext uri="{FF2B5EF4-FFF2-40B4-BE49-F238E27FC236}">
                <a16:creationId xmlns:a16="http://schemas.microsoft.com/office/drawing/2014/main" id="{DE3616A4-7506-46D8-915B-AC77FF3F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" name="技术资料就绪">
            <a:extLst xmlns:a="http://schemas.openxmlformats.org/drawingml/2006/main">
              <a:ext uri="{FF2B5EF4-FFF2-40B4-BE49-F238E27FC236}">
                <a16:creationId xmlns:a16="http://schemas.microsoft.com/office/drawing/2014/main" id="{BAD9F25A-DE92-4A39-8F88-E8E267C4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038" y="3416046"/>
            <a:ext cx="2116074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技术资料就绪</a:t>
            </a:r>
          </a:p>
        </p:txBody>
      </p:sp>
      <p:sp>
        <p:nvSpPr>
          <p:cNvPr id="21" name="BOM、工艺、纸样、尺寸">
            <a:extLst xmlns:a="http://schemas.openxmlformats.org/drawingml/2006/main">
              <a:ext uri="{FF2B5EF4-FFF2-40B4-BE49-F238E27FC236}">
                <a16:creationId xmlns:a16="http://schemas.microsoft.com/office/drawing/2014/main" id="{802F8420-8911-46D1-90B0-F82B8F14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761" y="3961638"/>
            <a:ext cx="3124629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BOM、工艺、纸样、尺寸</a:t>
            </a:r>
          </a:p>
        </p:txBody>
      </p:sp>
      <p:sp>
        <p:nvSpPr>
          <p:cNvPr id="22" name="包装与发货要求">
            <a:extLst xmlns:a="http://schemas.openxmlformats.org/drawingml/2006/main">
              <a:ext uri="{FF2B5EF4-FFF2-40B4-BE49-F238E27FC236}">
                <a16:creationId xmlns:a16="http://schemas.microsoft.com/office/drawing/2014/main" id="{C3E152C9-AFC4-4EB7-8B8D-03AA0BD3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333" y="4333113"/>
            <a:ext cx="1967484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包装与发货要求</a:t>
            </a:r>
          </a:p>
        </p:txBody>
      </p:sp>
      <p:sp>
        <p:nvSpPr>
          <p:cNvPr id="23" name="02">
            <a:extLst xmlns:a="http://schemas.openxmlformats.org/drawingml/2006/main">
              <a:ext uri="{FF2B5EF4-FFF2-40B4-BE49-F238E27FC236}">
                <a16:creationId xmlns:a16="http://schemas.microsoft.com/office/drawing/2014/main" id="{BD6EC729-A850-4CF2-B9EE-49302F49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ath-22">
            <a:extLst xmlns:a="http://schemas.openxmlformats.org/drawingml/2006/main">
              <a:ext uri="{FF2B5EF4-FFF2-40B4-BE49-F238E27FC236}">
                <a16:creationId xmlns:a16="http://schemas.microsoft.com/office/drawing/2014/main" id="{82755C1E-7157-49E3-B52C-B9036EAE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25" name="arrowhead-22">
            <a:extLst xmlns:a="http://schemas.openxmlformats.org/drawingml/2006/main">
              <a:ext uri="{FF2B5EF4-FFF2-40B4-BE49-F238E27FC236}">
                <a16:creationId xmlns:a16="http://schemas.microsoft.com/office/drawing/2014/main" id="{A19856FD-4ABE-4E95-A88C-F890A58E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26" name="rect-23">
            <a:extLst xmlns:a="http://schemas.openxmlformats.org/drawingml/2006/main">
              <a:ext uri="{FF2B5EF4-FFF2-40B4-BE49-F238E27FC236}">
                <a16:creationId xmlns:a16="http://schemas.microsoft.com/office/drawing/2014/main" id="{31235CDC-E24E-42C9-824A-F508CADB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27" name="rect-24">
            <a:extLst xmlns:a="http://schemas.openxmlformats.org/drawingml/2006/main">
              <a:ext uri="{FF2B5EF4-FFF2-40B4-BE49-F238E27FC236}">
                <a16:creationId xmlns:a16="http://schemas.microsoft.com/office/drawing/2014/main" id="{CE139315-9C7F-4324-A058-9F052FDF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" name="物料与交期协同">
            <a:extLst xmlns:a="http://schemas.openxmlformats.org/drawingml/2006/main">
              <a:ext uri="{FF2B5EF4-FFF2-40B4-BE49-F238E27FC236}">
                <a16:creationId xmlns:a16="http://schemas.microsoft.com/office/drawing/2014/main" id="{58D15214-4D49-4E65-B9FE-CA852942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461" y="3416046"/>
            <a:ext cx="2452878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物料与交期协同</a:t>
            </a:r>
          </a:p>
        </p:txBody>
      </p:sp>
      <p:sp>
        <p:nvSpPr>
          <p:cNvPr id="29" name="预计 / 实际到料">
            <a:extLst xmlns:a="http://schemas.openxmlformats.org/drawingml/2006/main">
              <a:ext uri="{FF2B5EF4-FFF2-40B4-BE49-F238E27FC236}">
                <a16:creationId xmlns:a16="http://schemas.microsoft.com/office/drawing/2014/main" id="{CBD01ED3-EE1B-42D2-A591-3EBFB5D1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7947" y="3961638"/>
            <a:ext cx="2011906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预计 / 实际到料</a:t>
            </a:r>
          </a:p>
        </p:txBody>
      </p:sp>
      <p:sp>
        <p:nvSpPr>
          <p:cNvPr id="30" name="缺料与交付风险反馈">
            <a:extLst xmlns:a="http://schemas.openxmlformats.org/drawingml/2006/main">
              <a:ext uri="{FF2B5EF4-FFF2-40B4-BE49-F238E27FC236}">
                <a16:creationId xmlns:a16="http://schemas.microsoft.com/office/drawing/2014/main" id="{B84374CB-1225-4D69-8D3F-B2D0606E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696" y="4333113"/>
            <a:ext cx="250240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缺料与交付风险反馈</a:t>
            </a:r>
          </a:p>
        </p:txBody>
      </p:sp>
      <p:sp>
        <p:nvSpPr>
          <p:cNvPr id="31" name="03">
            <a:extLst xmlns:a="http://schemas.openxmlformats.org/drawingml/2006/main">
              <a:ext uri="{FF2B5EF4-FFF2-40B4-BE49-F238E27FC236}">
                <a16:creationId xmlns:a16="http://schemas.microsoft.com/office/drawing/2014/main" id="{89BC58C9-E3AF-464D-9EDB-B688BC57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2" name="path-29">
            <a:extLst xmlns:a="http://schemas.openxmlformats.org/drawingml/2006/main">
              <a:ext uri="{FF2B5EF4-FFF2-40B4-BE49-F238E27FC236}">
                <a16:creationId xmlns:a16="http://schemas.microsoft.com/office/drawing/2014/main" id="{D92878E4-27C3-4A0A-830B-7CD019B8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33" name="arrowhead-29">
            <a:extLst xmlns:a="http://schemas.openxmlformats.org/drawingml/2006/main">
              <a:ext uri="{FF2B5EF4-FFF2-40B4-BE49-F238E27FC236}">
                <a16:creationId xmlns:a16="http://schemas.microsoft.com/office/drawing/2014/main" id="{D4EADECC-721B-4393-B710-34746527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34" name="rect-30">
            <a:extLst xmlns:a="http://schemas.openxmlformats.org/drawingml/2006/main">
              <a:ext uri="{FF2B5EF4-FFF2-40B4-BE49-F238E27FC236}">
                <a16:creationId xmlns:a16="http://schemas.microsoft.com/office/drawing/2014/main" id="{77DE1209-14E9-4411-B9C6-575C8866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35" name="rect-31">
            <a:extLst xmlns:a="http://schemas.openxmlformats.org/drawingml/2006/main">
              <a:ext uri="{FF2B5EF4-FFF2-40B4-BE49-F238E27FC236}">
                <a16:creationId xmlns:a16="http://schemas.microsoft.com/office/drawing/2014/main" id="{166F1C41-3008-4B95-8B5E-6D4D54F0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6" name="生产与质量协同">
            <a:extLst xmlns:a="http://schemas.openxmlformats.org/drawingml/2006/main">
              <a:ext uri="{FF2B5EF4-FFF2-40B4-BE49-F238E27FC236}">
                <a16:creationId xmlns:a16="http://schemas.microsoft.com/office/drawing/2014/main" id="{548CB5FE-61C0-494C-A37B-7FFFB516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3286" y="3416046"/>
            <a:ext cx="2452878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生产与质量协同</a:t>
            </a:r>
          </a:p>
        </p:txBody>
      </p:sp>
      <p:sp>
        <p:nvSpPr>
          <p:cNvPr id="37" name="与MES关联生产状态">
            <a:extLst xmlns:a="http://schemas.openxmlformats.org/drawingml/2006/main">
              <a:ext uri="{FF2B5EF4-FFF2-40B4-BE49-F238E27FC236}">
                <a16:creationId xmlns:a16="http://schemas.microsoft.com/office/drawing/2014/main" id="{6C4734EF-9CA7-49E8-AAED-E113FA9F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8322" y="3961638"/>
            <a:ext cx="2542806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与MES关联生产状态</a:t>
            </a:r>
          </a:p>
        </p:txBody>
      </p:sp>
      <p:sp>
        <p:nvSpPr>
          <p:cNvPr id="38" name="按QC结果处理与放行">
            <a:extLst xmlns:a="http://schemas.openxmlformats.org/drawingml/2006/main">
              <a:ext uri="{FF2B5EF4-FFF2-40B4-BE49-F238E27FC236}">
                <a16:creationId xmlns:a16="http://schemas.microsoft.com/office/drawing/2014/main" id="{3848D86D-494F-43C3-A72A-52748386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275" y="4333113"/>
            <a:ext cx="2634901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按QC结果处理与放行</a:t>
            </a:r>
          </a:p>
        </p:txBody>
      </p:sp>
      <p:sp>
        <p:nvSpPr>
          <p:cNvPr id="39" name="04">
            <a:extLst xmlns:a="http://schemas.openxmlformats.org/drawingml/2006/main">
              <a:ext uri="{FF2B5EF4-FFF2-40B4-BE49-F238E27FC236}">
                <a16:creationId xmlns:a16="http://schemas.microsoft.com/office/drawing/2014/main" id="{28C4600D-AA82-4D09-A7E9-6A4BB4FA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0" name="path-36">
            <a:extLst xmlns:a="http://schemas.openxmlformats.org/drawingml/2006/main">
              <a:ext uri="{FF2B5EF4-FFF2-40B4-BE49-F238E27FC236}">
                <a16:creationId xmlns:a16="http://schemas.microsoft.com/office/drawing/2014/main" id="{2D5143BD-76D7-4969-8243-0CD6B48F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75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41" name="arrowhead-36">
            <a:extLst xmlns:a="http://schemas.openxmlformats.org/drawingml/2006/main">
              <a:ext uri="{FF2B5EF4-FFF2-40B4-BE49-F238E27FC236}">
                <a16:creationId xmlns:a16="http://schemas.microsoft.com/office/drawing/2014/main" id="{008CD865-A551-45C9-8D32-118AF69E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0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42" name="rect-37">
            <a:extLst xmlns:a="http://schemas.openxmlformats.org/drawingml/2006/main">
              <a:ext uri="{FF2B5EF4-FFF2-40B4-BE49-F238E27FC236}">
                <a16:creationId xmlns:a16="http://schemas.microsoft.com/office/drawing/2014/main" id="{E8695E47-FE04-4D00-A7A2-928D704E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43" name="rect-38">
            <a:extLst xmlns:a="http://schemas.openxmlformats.org/drawingml/2006/main">
              <a:ext uri="{FF2B5EF4-FFF2-40B4-BE49-F238E27FC236}">
                <a16:creationId xmlns:a16="http://schemas.microsoft.com/office/drawing/2014/main" id="{E249C48C-A661-4367-AC4A-12BFD867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4" name="发货履约">
            <a:extLst xmlns:a="http://schemas.openxmlformats.org/drawingml/2006/main">
              <a:ext uri="{FF2B5EF4-FFF2-40B4-BE49-F238E27FC236}">
                <a16:creationId xmlns:a16="http://schemas.microsoft.com/office/drawing/2014/main" id="{2547E4DA-5996-4B51-BBCA-58D08BDC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4317" y="3416046"/>
            <a:ext cx="1442466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发货履约</a:t>
            </a:r>
          </a:p>
        </p:txBody>
      </p:sp>
      <p:sp>
        <p:nvSpPr>
          <p:cNvPr id="45" name="形成发货单">
            <a:extLst xmlns:a="http://schemas.openxmlformats.org/drawingml/2006/main">
              <a:ext uri="{FF2B5EF4-FFF2-40B4-BE49-F238E27FC236}">
                <a16:creationId xmlns:a16="http://schemas.microsoft.com/office/drawing/2014/main" id="{43C90DAC-88DC-42AE-820F-E72200DC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9270" y="3961638"/>
            <a:ext cx="143256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形成发货单</a:t>
            </a:r>
          </a:p>
        </p:txBody>
      </p:sp>
      <p:sp>
        <p:nvSpPr>
          <p:cNvPr id="46" name="数量、日期与目的地">
            <a:extLst xmlns:a="http://schemas.openxmlformats.org/drawingml/2006/main">
              <a:ext uri="{FF2B5EF4-FFF2-40B4-BE49-F238E27FC236}">
                <a16:creationId xmlns:a16="http://schemas.microsoft.com/office/drawing/2014/main" id="{EBB799A0-CEFE-4FB2-AE68-6A630131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4346" y="4333113"/>
            <a:ext cx="250240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数量、日期与目的地</a:t>
            </a:r>
          </a:p>
        </p:txBody>
      </p:sp>
      <p:sp>
        <p:nvSpPr>
          <p:cNvPr id="47" name="05">
            <a:extLst xmlns:a="http://schemas.openxmlformats.org/drawingml/2006/main">
              <a:ext uri="{FF2B5EF4-FFF2-40B4-BE49-F238E27FC236}">
                <a16:creationId xmlns:a16="http://schemas.microsoft.com/office/drawing/2014/main" id="{6CAC769A-9CED-4C45-8FEB-68222BF1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8" name="path-43">
            <a:extLst xmlns:a="http://schemas.openxmlformats.org/drawingml/2006/main">
              <a:ext uri="{FF2B5EF4-FFF2-40B4-BE49-F238E27FC236}">
                <a16:creationId xmlns:a16="http://schemas.microsoft.com/office/drawing/2014/main" id="{BFC1A896-A16B-4903-9C65-9D84AE87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53000"/>
            <a:ext cx="18783300" cy="1085850"/>
          </a:xfrm>
          <a:custGeom xmlns:a="http://schemas.openxmlformats.org/drawingml/2006/main">
            <a:pathLst>
              <a:path w="18783300" h="1085850">
                <a:moveTo>
                  <a:pt x="18783300" y="0"/>
                </a:moveTo>
                <a:lnTo>
                  <a:pt x="18783300" y="1085850"/>
                </a:lnTo>
                <a:lnTo>
                  <a:pt x="0" y="10858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78E99"/>
            </a:solidFill>
            <a:prstDash val="solid"/>
          </a:ln>
        </p:spPr>
      </p:sp>
      <p:sp>
        <p:nvSpPr>
          <p:cNvPr id="49" name="arrowhead-43">
            <a:extLst xmlns:a="http://schemas.openxmlformats.org/drawingml/2006/main">
              <a:ext uri="{FF2B5EF4-FFF2-40B4-BE49-F238E27FC236}">
                <a16:creationId xmlns:a16="http://schemas.microsoft.com/office/drawing/2014/main" id="{93B69ADF-2B39-4C7A-94B9-002DCE0E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53000"/>
            <a:ext cx="304800" cy="304800"/>
          </a:xfrm>
          <a:custGeom xmlns:a="http://schemas.openxmlformats.org/drawingml/2006/main">
            <a:pathLst>
              <a:path w="304800" h="304800">
                <a:moveTo>
                  <a:pt x="152400" y="0"/>
                </a:move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50" name="rect-44">
            <a:extLst xmlns:a="http://schemas.openxmlformats.org/drawingml/2006/main">
              <a:ext uri="{FF2B5EF4-FFF2-40B4-BE49-F238E27FC236}">
                <a16:creationId xmlns:a16="http://schemas.microsoft.com/office/drawing/2014/main" id="{6D9D9BE6-AB4C-4CA6-BC2B-032E6B80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5734050"/>
            <a:ext cx="537972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1" name="延期、缺料、质量异常 → 采购协调并反馈PMC">
            <a:extLst xmlns:a="http://schemas.openxmlformats.org/drawingml/2006/main">
              <a:ext uri="{FF2B5EF4-FFF2-40B4-BE49-F238E27FC236}">
                <a16:creationId xmlns:a16="http://schemas.microsoft.com/office/drawing/2014/main" id="{9FE4F8B0-1179-46D5-ACA1-2406922F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597" y="5714619"/>
            <a:ext cx="549030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延期、缺料、质量异常 → 采购协调并反馈PMC</a:t>
            </a:r>
          </a:p>
        </p:txBody>
      </p:sp>
      <p:sp>
        <p:nvSpPr>
          <p:cNvPr id="52" name="path-46">
            <a:extLst xmlns:a="http://schemas.openxmlformats.org/drawingml/2006/main">
              <a:ext uri="{FF2B5EF4-FFF2-40B4-BE49-F238E27FC236}">
                <a16:creationId xmlns:a16="http://schemas.microsoft.com/office/drawing/2014/main" id="{B5912DD9-6A1E-4F7C-A9A5-468C56F1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0934700" cy="476"/>
          </a:xfrm>
          <a:custGeom xmlns:a="http://schemas.openxmlformats.org/drawingml/2006/main">
            <a:pathLst>
              <a:path w="10934700" h="476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53" name="path-47">
            <a:extLst xmlns:a="http://schemas.openxmlformats.org/drawingml/2006/main">
              <a:ext uri="{FF2B5EF4-FFF2-40B4-BE49-F238E27FC236}">
                <a16:creationId xmlns:a16="http://schemas.microsoft.com/office/drawing/2014/main" id="{0AC0F0EA-199D-464A-83AB-C3BB76F7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105650"/>
            <a:ext cx="11163300" cy="476"/>
          </a:xfrm>
          <a:custGeom xmlns:a="http://schemas.openxmlformats.org/drawingml/2006/main">
            <a:pathLst>
              <a:path w="11163300" h="476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C8226"/>
            </a:solidFill>
            <a:prstDash val="solid"/>
          </a:ln>
        </p:spPr>
      </p:sp>
      <p:sp>
        <p:nvSpPr>
          <p:cNvPr id="54" name="供应商需要明确的任务">
            <a:extLst xmlns:a="http://schemas.openxmlformats.org/drawingml/2006/main">
              <a:ext uri="{FF2B5EF4-FFF2-40B4-BE49-F238E27FC236}">
                <a16:creationId xmlns:a16="http://schemas.microsoft.com/office/drawing/2014/main" id="{1E556A8D-3CA9-4074-8F39-5F68321F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3577"/>
            <a:ext cx="3364230" cy="45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供应商需要明确的任务</a:t>
            </a:r>
          </a:p>
        </p:txBody>
      </p:sp>
      <p:sp>
        <p:nvSpPr>
          <p:cNvPr id="55" name="质量与异常协同">
            <a:extLst xmlns:a="http://schemas.openxmlformats.org/drawingml/2006/main">
              <a:ext uri="{FF2B5EF4-FFF2-40B4-BE49-F238E27FC236}">
                <a16:creationId xmlns:a16="http://schemas.microsoft.com/office/drawing/2014/main" id="{490D9C01-931A-469D-B5B3-03027200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283577"/>
            <a:ext cx="2383536" cy="45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质量与异常协同</a:t>
            </a:r>
          </a:p>
        </p:txBody>
      </p:sp>
      <p:sp>
        <p:nvSpPr>
          <p:cNvPr id="56" name="采购订单、商品与版本、需求数量">
            <a:extLst xmlns:a="http://schemas.openxmlformats.org/drawingml/2006/main">
              <a:ext uri="{FF2B5EF4-FFF2-40B4-BE49-F238E27FC236}">
                <a16:creationId xmlns:a16="http://schemas.microsoft.com/office/drawing/2014/main" id="{BA6C6DDA-5EF3-4C04-BDBE-64A058F0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42326"/>
            <a:ext cx="440436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采购订单、商品与版本、需求数量</a:t>
            </a:r>
          </a:p>
        </p:txBody>
      </p:sp>
      <p:sp>
        <p:nvSpPr>
          <p:cNvPr id="57" name="要求货期与供应商承诺货期">
            <a:extLst xmlns:a="http://schemas.openxmlformats.org/drawingml/2006/main">
              <a:ext uri="{FF2B5EF4-FFF2-40B4-BE49-F238E27FC236}">
                <a16:creationId xmlns:a16="http://schemas.microsoft.com/office/drawing/2014/main" id="{29676C69-CA15-405C-B50D-1B393567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32876"/>
            <a:ext cx="3542538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要求货期与供应商承诺货期</a:t>
            </a:r>
          </a:p>
        </p:txBody>
      </p:sp>
      <p:sp>
        <p:nvSpPr>
          <p:cNvPr id="58" name="有效的BOM、工艺和包装技术资料">
            <a:extLst xmlns:a="http://schemas.openxmlformats.org/drawingml/2006/main">
              <a:ext uri="{FF2B5EF4-FFF2-40B4-BE49-F238E27FC236}">
                <a16:creationId xmlns:a16="http://schemas.microsoft.com/office/drawing/2014/main" id="{00E75490-F806-4234-88F0-FF2B5CB1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23426"/>
            <a:ext cx="4498157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有效的BOM、工艺和包装技术资料</a:t>
            </a:r>
          </a:p>
        </p:txBody>
      </p:sp>
      <p:sp>
        <p:nvSpPr>
          <p:cNvPr id="59" name="发货要求及异常反馈责任">
            <a:extLst xmlns:a="http://schemas.openxmlformats.org/drawingml/2006/main">
              <a:ext uri="{FF2B5EF4-FFF2-40B4-BE49-F238E27FC236}">
                <a16:creationId xmlns:a16="http://schemas.microsoft.com/office/drawing/2014/main" id="{C896F79B-35A8-4811-8A07-FD3523B4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3976"/>
            <a:ext cx="3255264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发货要求及异常反馈责任</a:t>
            </a:r>
          </a:p>
        </p:txBody>
      </p:sp>
      <p:sp>
        <p:nvSpPr>
          <p:cNvPr id="60" name="来料、首扎、中期、尾期及成品节点">
            <a:extLst xmlns:a="http://schemas.openxmlformats.org/drawingml/2006/main">
              <a:ext uri="{FF2B5EF4-FFF2-40B4-BE49-F238E27FC236}">
                <a16:creationId xmlns:a16="http://schemas.microsoft.com/office/drawing/2014/main" id="{F07BA9F8-935F-454F-B488-2A80CDFE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942326"/>
            <a:ext cx="4691634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来料、首扎、中期、尾期及成品节点</a:t>
            </a:r>
          </a:p>
        </p:txBody>
      </p:sp>
      <p:sp>
        <p:nvSpPr>
          <p:cNvPr id="61" name="质量问题、返工、退货与放行结果">
            <a:extLst xmlns:a="http://schemas.openxmlformats.org/drawingml/2006/main">
              <a:ext uri="{FF2B5EF4-FFF2-40B4-BE49-F238E27FC236}">
                <a16:creationId xmlns:a16="http://schemas.microsoft.com/office/drawing/2014/main" id="{2605437D-6FB7-4574-BB9C-34A6F5F2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8532876"/>
            <a:ext cx="440436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质量问题、返工、退货与放行结果</a:t>
            </a:r>
          </a:p>
        </p:txBody>
      </p:sp>
      <p:sp>
        <p:nvSpPr>
          <p:cNvPr id="62" name="供应商质量档案与交付表现">
            <a:extLst xmlns:a="http://schemas.openxmlformats.org/drawingml/2006/main">
              <a:ext uri="{FF2B5EF4-FFF2-40B4-BE49-F238E27FC236}">
                <a16:creationId xmlns:a16="http://schemas.microsoft.com/office/drawing/2014/main" id="{1AD1B59F-B1C2-4DB2-AFF7-4A315EC6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9123426"/>
            <a:ext cx="3542538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供应商质量档案与交付表现</a:t>
            </a:r>
          </a:p>
        </p:txBody>
      </p:sp>
      <p:sp>
        <p:nvSpPr>
          <p:cNvPr id="63" name="具体QC系统接入节点分阶段联评">
            <a:extLst xmlns:a="http://schemas.openxmlformats.org/drawingml/2006/main">
              <a:ext uri="{FF2B5EF4-FFF2-40B4-BE49-F238E27FC236}">
                <a16:creationId xmlns:a16="http://schemas.microsoft.com/office/drawing/2014/main" id="{FAA9C518-C2EB-4FF6-951F-AC26C1D3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9713976"/>
            <a:ext cx="425933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具体QC系统接入节点分阶段联评</a:t>
            </a:r>
          </a:p>
        </p:txBody>
      </p:sp>
      <p:sp>
        <p:nvSpPr>
          <p:cNvPr id="64" name="rect-58">
            <a:extLst xmlns:a="http://schemas.openxmlformats.org/drawingml/2006/main">
              <a:ext uri="{FF2B5EF4-FFF2-40B4-BE49-F238E27FC236}">
                <a16:creationId xmlns:a16="http://schemas.microsoft.com/office/drawing/2014/main" id="{04B10CB2-6EB8-4DBE-AB9D-7ECC725D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96625"/>
            <a:ext cx="23164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5" name="交接结果">
            <a:extLst xmlns:a="http://schemas.openxmlformats.org/drawingml/2006/main">
              <a:ext uri="{FF2B5EF4-FFF2-40B4-BE49-F238E27FC236}">
                <a16:creationId xmlns:a16="http://schemas.microsoft.com/office/drawing/2014/main" id="{F0526803-AA3B-46DC-8D2C-9EC4EA3A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1399520"/>
            <a:ext cx="128397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交接结果</a:t>
            </a:r>
          </a:p>
        </p:txBody>
      </p:sp>
      <p:sp>
        <p:nvSpPr>
          <p:cNvPr id="66" name="供应商交期、到料、生产、质量与发货状态进入统一执行反馈">
            <a:extLst xmlns:a="http://schemas.openxmlformats.org/drawingml/2006/main">
              <a:ext uri="{FF2B5EF4-FFF2-40B4-BE49-F238E27FC236}">
                <a16:creationId xmlns:a16="http://schemas.microsoft.com/office/drawing/2014/main" id="{16A16C7E-7E68-4AEE-B118-70BBA24F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09426"/>
            <a:ext cx="7851648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供应商交期、到料、生产、质量与发货状态进入统一执行反馈</a:t>
            </a:r>
          </a:p>
        </p:txBody>
      </p:sp>
      <p:sp>
        <p:nvSpPr>
          <p:cNvPr id="67" name="图中QC表示业务协同，不表示本季度重建完整质量管理系统。">
            <a:extLst xmlns:a="http://schemas.openxmlformats.org/drawingml/2006/main">
              <a:ext uri="{FF2B5EF4-FFF2-40B4-BE49-F238E27FC236}">
                <a16:creationId xmlns:a16="http://schemas.microsoft.com/office/drawing/2014/main" id="{9B52007C-6C29-4FDA-85A5-2F294F9B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30125"/>
            <a:ext cx="6904387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图中QC表示业务协同，不表示本季度重建完整质量管理系统。</a:t>
            </a:r>
          </a:p>
        </p:txBody>
      </p:sp>
      <p:sp>
        <p:nvSpPr>
          <p:cNvPr id="68" name="path-62">
            <a:extLst xmlns:a="http://schemas.openxmlformats.org/drawingml/2006/main">
              <a:ext uri="{FF2B5EF4-FFF2-40B4-BE49-F238E27FC236}">
                <a16:creationId xmlns:a16="http://schemas.microsoft.com/office/drawing/2014/main" id="{197E6F30-9B08-4F4A-92EF-68B6A142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5E1E9"/>
            </a:solidFill>
            <a:prstDash val="solid"/>
          </a:ln>
        </p:spPr>
      </p:sp>
      <p:sp>
        <p:nvSpPr>
          <p:cNvPr id="69" name="Q4供应链产品建设方案 · 汇报分层版 · 目标业务蓝图，按P0 / P1推进">
            <a:extLst xmlns:a="http://schemas.openxmlformats.org/drawingml/2006/main">
              <a:ext uri="{FF2B5EF4-FFF2-40B4-BE49-F238E27FC236}">
                <a16:creationId xmlns:a16="http://schemas.microsoft.com/office/drawing/2014/main" id="{AE5D60E4-DACB-4227-B3A5-CD59DD27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07568"/>
            <a:ext cx="688395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Q4供应链产品建设方案 · 汇报分层版 · 目标业务蓝图，按P0 / P1推进</a:t>
            </a:r>
          </a:p>
        </p:txBody>
      </p:sp>
      <p:sp>
        <p:nvSpPr>
          <p:cNvPr id="70" name="08 / 10">
            <a:extLst xmlns:a="http://schemas.openxmlformats.org/drawingml/2006/main">
              <a:ext uri="{FF2B5EF4-FFF2-40B4-BE49-F238E27FC236}">
                <a16:creationId xmlns:a16="http://schemas.microsoft.com/office/drawing/2014/main" id="{94E30FBC-028F-4487-BB97-65308513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3784" y="13307568"/>
            <a:ext cx="83061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08 / 10</a:t>
            </a:r>
          </a:p>
        </p:txBody>
      </p:sp>
    </p:spTree>
    <p:extLst>
      <p:ext uri="{BB962C8B-B14F-4D97-AF65-F5344CB8AC3E}">
        <p14:creationId xmlns:p14="http://schemas.microsoft.com/office/powerpoint/2010/main" val="18400399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白色画布">
            <a:extLst xmlns:a="http://schemas.openxmlformats.org/drawingml/2006/main">
              <a:ext uri="{FF2B5EF4-FFF2-40B4-BE49-F238E27FC236}">
                <a16:creationId xmlns:a16="http://schemas.microsoft.com/office/drawing/2014/main" id="{C2C9A85E-9C51-4E37-8C10-01EE0285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-1">
            <a:extLst xmlns:a="http://schemas.openxmlformats.org/drawingml/2006/main">
              <a:ext uri="{FF2B5EF4-FFF2-40B4-BE49-F238E27FC236}">
                <a16:creationId xmlns:a16="http://schemas.microsoft.com/office/drawing/2014/main" id="{20B29992-2E57-4F7D-B43E-3CF78E21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" name="rect-2">
            <a:extLst xmlns:a="http://schemas.openxmlformats.org/drawingml/2006/main">
              <a:ext uri="{FF2B5EF4-FFF2-40B4-BE49-F238E27FC236}">
                <a16:creationId xmlns:a16="http://schemas.microsoft.com/office/drawing/2014/main" id="{C3F655FE-79D1-4C69-AE7F-490441F1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" name="MES协同｜接入已有生产执行能力">
            <a:extLst xmlns:a="http://schemas.openxmlformats.org/drawingml/2006/main">
              <a:ext uri="{FF2B5EF4-FFF2-40B4-BE49-F238E27FC236}">
                <a16:creationId xmlns:a16="http://schemas.microsoft.com/office/drawing/2014/main" id="{4B0B3E99-3F7A-4B9B-AE19-1B6DD992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781"/>
            <a:ext cx="7471350" cy="676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MES协同｜接入已有生产执行能力</a:t>
            </a:r>
          </a:p>
        </p:txBody>
      </p:sp>
      <p:sp>
        <p:nvSpPr>
          <p:cNvPr id="5" name="2026 Q4 / V3.0">
            <a:extLst xmlns:a="http://schemas.openxmlformats.org/drawingml/2006/main">
              <a:ext uri="{FF2B5EF4-FFF2-40B4-BE49-F238E27FC236}">
                <a16:creationId xmlns:a16="http://schemas.microsoft.com/office/drawing/2014/main" id="{200B6C0C-70CD-48C6-9047-95D61804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7004" y="647700"/>
            <a:ext cx="1927396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V3.0</a:t>
            </a:r>
          </a:p>
        </p:txBody>
      </p:sp>
      <p:sp>
        <p:nvSpPr>
          <p:cNvPr id="6" name="path-5">
            <a:extLst xmlns:a="http://schemas.openxmlformats.org/drawingml/2006/main">
              <a:ext uri="{FF2B5EF4-FFF2-40B4-BE49-F238E27FC236}">
                <a16:creationId xmlns:a16="http://schemas.microsoft.com/office/drawing/2014/main" id="{B951390C-40DD-4A94-8CA2-FBF3E664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7" name="P1已有系统协同；订单关联、进度同步与延期预警，同时推进推广和问题治理">
            <a:extLst xmlns:a="http://schemas.openxmlformats.org/drawingml/2006/main">
              <a:ext uri="{FF2B5EF4-FFF2-40B4-BE49-F238E27FC236}">
                <a16:creationId xmlns:a16="http://schemas.microsoft.com/office/drawing/2014/main" id="{928A9B68-F00E-412E-9E1D-E8EC16EB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0863"/>
            <a:ext cx="9200567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P1已有系统协同；订单关联、进度同步与延期预警，同时推进推广和问题治理</a:t>
            </a:r>
          </a:p>
        </p:txBody>
      </p:sp>
      <p:sp>
        <p:nvSpPr>
          <p:cNvPr id="8" name="09 / 模块展开">
            <a:extLst xmlns:a="http://schemas.openxmlformats.org/drawingml/2006/main">
              <a:ext uri="{FF2B5EF4-FFF2-40B4-BE49-F238E27FC236}">
                <a16:creationId xmlns:a16="http://schemas.microsoft.com/office/drawing/2014/main" id="{7EA6ED1F-5753-4732-B277-F8F43F56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8695" y="1610487"/>
            <a:ext cx="1545705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09 / 模块展开</a:t>
            </a:r>
          </a:p>
        </p:txBody>
      </p:sp>
      <p:sp>
        <p:nvSpPr>
          <p:cNvPr id="9" name="业务动作">
            <a:extLst xmlns:a="http://schemas.openxmlformats.org/drawingml/2006/main">
              <a:ext uri="{FF2B5EF4-FFF2-40B4-BE49-F238E27FC236}">
                <a16:creationId xmlns:a16="http://schemas.microsoft.com/office/drawing/2014/main" id="{5A45FEE5-9071-4777-9607-FC63167A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8583"/>
            <a:ext cx="1363218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业务动作</a:t>
            </a:r>
          </a:p>
        </p:txBody>
      </p:sp>
      <p:sp>
        <p:nvSpPr>
          <p:cNvPr id="10" name="rect-9">
            <a:extLst xmlns:a="http://schemas.openxmlformats.org/drawingml/2006/main">
              <a:ext uri="{FF2B5EF4-FFF2-40B4-BE49-F238E27FC236}">
                <a16:creationId xmlns:a16="http://schemas.microsoft.com/office/drawing/2014/main" id="{7574F688-9A53-43C1-86EA-3D3234D8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4963C"/>
            </a:solidFill>
            <a:prstDash val="solid"/>
          </a:ln>
        </p:spPr>
      </p:sp>
      <p:sp>
        <p:nvSpPr>
          <p:cNvPr id="11" name="rect-10">
            <a:extLst xmlns:a="http://schemas.openxmlformats.org/drawingml/2006/main">
              <a:ext uri="{FF2B5EF4-FFF2-40B4-BE49-F238E27FC236}">
                <a16:creationId xmlns:a16="http://schemas.microsoft.com/office/drawing/2014/main" id="{AB27C348-3BA9-40AB-9E94-E44F38E6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63C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" name="关联SCM订单">
            <a:extLst xmlns:a="http://schemas.openxmlformats.org/drawingml/2006/main">
              <a:ext uri="{FF2B5EF4-FFF2-40B4-BE49-F238E27FC236}">
                <a16:creationId xmlns:a16="http://schemas.microsoft.com/office/drawing/2014/main" id="{F48B157F-CEC3-4ED8-8CA9-20749706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999" y="3416046"/>
            <a:ext cx="221250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关联SCM订单</a:t>
            </a:r>
          </a:p>
        </p:txBody>
      </p:sp>
      <p:sp>
        <p:nvSpPr>
          <p:cNvPr id="13" name="明确生产任务来源">
            <a:extLst xmlns:a="http://schemas.openxmlformats.org/drawingml/2006/main">
              <a:ext uri="{FF2B5EF4-FFF2-40B4-BE49-F238E27FC236}">
                <a16:creationId xmlns:a16="http://schemas.microsoft.com/office/drawing/2014/main" id="{C33669FD-6983-47B1-85DE-35610172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777" y="3961638"/>
            <a:ext cx="2234946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明确生产任务来源</a:t>
            </a:r>
          </a:p>
        </p:txBody>
      </p:sp>
      <p:sp>
        <p:nvSpPr>
          <p:cNvPr id="14" name="建立订单与SKU对应">
            <a:extLst xmlns:a="http://schemas.openxmlformats.org/drawingml/2006/main">
              <a:ext uri="{FF2B5EF4-FFF2-40B4-BE49-F238E27FC236}">
                <a16:creationId xmlns:a16="http://schemas.microsoft.com/office/drawing/2014/main" id="{3412465F-68F6-46C9-BFDF-491648F6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170" y="4333113"/>
            <a:ext cx="2512159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建立订单与SKU对应</a:t>
            </a:r>
          </a:p>
        </p:txBody>
      </p:sp>
      <p:sp>
        <p:nvSpPr>
          <p:cNvPr id="15" name="01">
            <a:extLst xmlns:a="http://schemas.openxmlformats.org/drawingml/2006/main">
              <a:ext uri="{FF2B5EF4-FFF2-40B4-BE49-F238E27FC236}">
                <a16:creationId xmlns:a16="http://schemas.microsoft.com/office/drawing/2014/main" id="{733259EC-7AAE-472F-861B-1837CD4B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9306"/>
            <a:ext cx="342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path-15">
            <a:extLst xmlns:a="http://schemas.openxmlformats.org/drawingml/2006/main">
              <a:ext uri="{FF2B5EF4-FFF2-40B4-BE49-F238E27FC236}">
                <a16:creationId xmlns:a16="http://schemas.microsoft.com/office/drawing/2014/main" id="{B115781B-41C4-473A-BE04-B16246BE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4963C"/>
            </a:solidFill>
            <a:prstDash val="solid"/>
          </a:ln>
        </p:spPr>
      </p:sp>
      <p:sp>
        <p:nvSpPr>
          <p:cNvPr id="17" name="arrowhead-15">
            <a:extLst xmlns:a="http://schemas.openxmlformats.org/drawingml/2006/main">
              <a:ext uri="{FF2B5EF4-FFF2-40B4-BE49-F238E27FC236}">
                <a16:creationId xmlns:a16="http://schemas.microsoft.com/office/drawing/2014/main" id="{FB853500-79BF-44BC-9B33-75738E37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963C"/>
          </a:solidFill>
          <a:ln xmlns:a="http://schemas.openxmlformats.org/drawingml/2006/main" w="0">
            <a:noFill/>
          </a:ln>
        </p:spPr>
      </p:sp>
      <p:sp>
        <p:nvSpPr>
          <p:cNvPr id="18" name="rect-16">
            <a:extLst xmlns:a="http://schemas.openxmlformats.org/drawingml/2006/main">
              <a:ext uri="{FF2B5EF4-FFF2-40B4-BE49-F238E27FC236}">
                <a16:creationId xmlns:a16="http://schemas.microsoft.com/office/drawing/2014/main" id="{ABFE7349-FDD6-4B90-A79E-472E48D2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4963C"/>
            </a:solidFill>
            <a:prstDash val="solid"/>
          </a:ln>
        </p:spPr>
      </p:sp>
      <p:sp>
        <p:nvSpPr>
          <p:cNvPr id="19" name="rect-17">
            <a:extLst xmlns:a="http://schemas.openxmlformats.org/drawingml/2006/main">
              <a:ext uri="{FF2B5EF4-FFF2-40B4-BE49-F238E27FC236}">
                <a16:creationId xmlns:a16="http://schemas.microsoft.com/office/drawing/2014/main" id="{5F3F57A7-A26E-4262-8A84-209BEE60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63C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" name="下达任务与开工">
            <a:extLst xmlns:a="http://schemas.openxmlformats.org/drawingml/2006/main">
              <a:ext uri="{FF2B5EF4-FFF2-40B4-BE49-F238E27FC236}">
                <a16:creationId xmlns:a16="http://schemas.microsoft.com/office/drawing/2014/main" id="{57A365B2-EC88-403E-AD84-1F9021DE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636" y="3416046"/>
            <a:ext cx="2452878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下达任务与开工</a:t>
            </a:r>
          </a:p>
        </p:txBody>
      </p:sp>
      <p:sp>
        <p:nvSpPr>
          <p:cNvPr id="21" name="工厂承接生产要求">
            <a:extLst xmlns:a="http://schemas.openxmlformats.org/drawingml/2006/main">
              <a:ext uri="{FF2B5EF4-FFF2-40B4-BE49-F238E27FC236}">
                <a16:creationId xmlns:a16="http://schemas.microsoft.com/office/drawing/2014/main" id="{6A7B0F34-FD76-4369-B17D-3A34C311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0602" y="3961638"/>
            <a:ext cx="2234946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工厂承接生产要求</a:t>
            </a:r>
          </a:p>
        </p:txBody>
      </p:sp>
      <p:sp>
        <p:nvSpPr>
          <p:cNvPr id="22" name="结合物料准备与齐料">
            <a:extLst xmlns:a="http://schemas.openxmlformats.org/drawingml/2006/main">
              <a:ext uri="{FF2B5EF4-FFF2-40B4-BE49-F238E27FC236}">
                <a16:creationId xmlns:a16="http://schemas.microsoft.com/office/drawing/2014/main" id="{03AF641D-E188-4587-B83A-AD387E08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871" y="4333113"/>
            <a:ext cx="250240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结合物料准备与齐料</a:t>
            </a:r>
          </a:p>
        </p:txBody>
      </p:sp>
      <p:sp>
        <p:nvSpPr>
          <p:cNvPr id="23" name="02">
            <a:extLst xmlns:a="http://schemas.openxmlformats.org/drawingml/2006/main">
              <a:ext uri="{FF2B5EF4-FFF2-40B4-BE49-F238E27FC236}">
                <a16:creationId xmlns:a16="http://schemas.microsoft.com/office/drawing/2014/main" id="{0CEF6B1E-38C9-49F0-8269-DCDA5A82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ath-22">
            <a:extLst xmlns:a="http://schemas.openxmlformats.org/drawingml/2006/main">
              <a:ext uri="{FF2B5EF4-FFF2-40B4-BE49-F238E27FC236}">
                <a16:creationId xmlns:a16="http://schemas.microsoft.com/office/drawing/2014/main" id="{3BED4A50-5ADC-4C2A-A1B3-F45650A1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4963C"/>
            </a:solidFill>
            <a:prstDash val="solid"/>
          </a:ln>
        </p:spPr>
      </p:sp>
      <p:sp>
        <p:nvSpPr>
          <p:cNvPr id="25" name="arrowhead-22">
            <a:extLst xmlns:a="http://schemas.openxmlformats.org/drawingml/2006/main">
              <a:ext uri="{FF2B5EF4-FFF2-40B4-BE49-F238E27FC236}">
                <a16:creationId xmlns:a16="http://schemas.microsoft.com/office/drawing/2014/main" id="{DAC2978E-7575-4597-9913-0F71CCDA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963C"/>
          </a:solidFill>
          <a:ln xmlns:a="http://schemas.openxmlformats.org/drawingml/2006/main" w="0">
            <a:noFill/>
          </a:ln>
        </p:spPr>
      </p:sp>
      <p:sp>
        <p:nvSpPr>
          <p:cNvPr id="26" name="rect-23">
            <a:extLst xmlns:a="http://schemas.openxmlformats.org/drawingml/2006/main">
              <a:ext uri="{FF2B5EF4-FFF2-40B4-BE49-F238E27FC236}">
                <a16:creationId xmlns:a16="http://schemas.microsoft.com/office/drawing/2014/main" id="{FCB878B7-29E9-49AA-A5D8-2BA432A1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4963C"/>
            </a:solidFill>
            <a:prstDash val="solid"/>
          </a:ln>
        </p:spPr>
      </p:sp>
      <p:sp>
        <p:nvSpPr>
          <p:cNvPr id="27" name="rect-24">
            <a:extLst xmlns:a="http://schemas.openxmlformats.org/drawingml/2006/main">
              <a:ext uri="{FF2B5EF4-FFF2-40B4-BE49-F238E27FC236}">
                <a16:creationId xmlns:a16="http://schemas.microsoft.com/office/drawing/2014/main" id="{E78E4A76-CBCD-4107-805B-B30762B3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63C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" name="生产执行与扫菲">
            <a:extLst xmlns:a="http://schemas.openxmlformats.org/drawingml/2006/main">
              <a:ext uri="{FF2B5EF4-FFF2-40B4-BE49-F238E27FC236}">
                <a16:creationId xmlns:a16="http://schemas.microsoft.com/office/drawing/2014/main" id="{F9F33F3B-3287-4F21-B885-60930865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461" y="3416046"/>
            <a:ext cx="2452878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生产执行与扫菲</a:t>
            </a:r>
          </a:p>
        </p:txBody>
      </p:sp>
      <p:sp>
        <p:nvSpPr>
          <p:cNvPr id="29" name="采集工序及生产进度">
            <a:extLst xmlns:a="http://schemas.openxmlformats.org/drawingml/2006/main">
              <a:ext uri="{FF2B5EF4-FFF2-40B4-BE49-F238E27FC236}">
                <a16:creationId xmlns:a16="http://schemas.microsoft.com/office/drawing/2014/main" id="{7BB6FF0C-C5F7-4CC7-A9A0-804AA5A8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696" y="3961638"/>
            <a:ext cx="250240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采集工序及生产进度</a:t>
            </a:r>
          </a:p>
        </p:txBody>
      </p:sp>
      <p:sp>
        <p:nvSpPr>
          <p:cNvPr id="30" name="保留生产异常">
            <a:extLst xmlns:a="http://schemas.openxmlformats.org/drawingml/2006/main">
              <a:ext uri="{FF2B5EF4-FFF2-40B4-BE49-F238E27FC236}">
                <a16:creationId xmlns:a16="http://schemas.microsoft.com/office/drawing/2014/main" id="{495FE3C5-CA9E-47E3-BC99-FBA53D0D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889" y="4333113"/>
            <a:ext cx="1700022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保留生产异常</a:t>
            </a:r>
          </a:p>
        </p:txBody>
      </p:sp>
      <p:sp>
        <p:nvSpPr>
          <p:cNvPr id="31" name="03">
            <a:extLst xmlns:a="http://schemas.openxmlformats.org/drawingml/2006/main">
              <a:ext uri="{FF2B5EF4-FFF2-40B4-BE49-F238E27FC236}">
                <a16:creationId xmlns:a16="http://schemas.microsoft.com/office/drawing/2014/main" id="{4C03F6E7-C65D-41C3-AC60-F0D16858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2" name="path-29">
            <a:extLst xmlns:a="http://schemas.openxmlformats.org/drawingml/2006/main">
              <a:ext uri="{FF2B5EF4-FFF2-40B4-BE49-F238E27FC236}">
                <a16:creationId xmlns:a16="http://schemas.microsoft.com/office/drawing/2014/main" id="{F7EF3449-85B0-4CE7-9642-5281A9D3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4963C"/>
            </a:solidFill>
            <a:prstDash val="solid"/>
          </a:ln>
        </p:spPr>
      </p:sp>
      <p:sp>
        <p:nvSpPr>
          <p:cNvPr id="33" name="arrowhead-29">
            <a:extLst xmlns:a="http://schemas.openxmlformats.org/drawingml/2006/main">
              <a:ext uri="{FF2B5EF4-FFF2-40B4-BE49-F238E27FC236}">
                <a16:creationId xmlns:a16="http://schemas.microsoft.com/office/drawing/2014/main" id="{1A5C0565-1122-4389-9187-FC7AB3B7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963C"/>
          </a:solidFill>
          <a:ln xmlns:a="http://schemas.openxmlformats.org/drawingml/2006/main" w="0">
            <a:noFill/>
          </a:ln>
        </p:spPr>
      </p:sp>
      <p:sp>
        <p:nvSpPr>
          <p:cNvPr id="34" name="rect-30">
            <a:extLst xmlns:a="http://schemas.openxmlformats.org/drawingml/2006/main">
              <a:ext uri="{FF2B5EF4-FFF2-40B4-BE49-F238E27FC236}">
                <a16:creationId xmlns:a16="http://schemas.microsoft.com/office/drawing/2014/main" id="{871E3A95-1B96-4B27-82CF-CEE1745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4963C"/>
            </a:solidFill>
            <a:prstDash val="solid"/>
          </a:ln>
        </p:spPr>
      </p:sp>
      <p:sp>
        <p:nvSpPr>
          <p:cNvPr id="35" name="rect-31">
            <a:extLst xmlns:a="http://schemas.openxmlformats.org/drawingml/2006/main">
              <a:ext uri="{FF2B5EF4-FFF2-40B4-BE49-F238E27FC236}">
                <a16:creationId xmlns:a16="http://schemas.microsoft.com/office/drawing/2014/main" id="{8CD7D772-9A58-4794-89B6-55B3792E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63C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6" name="进度与延期反馈">
            <a:extLst xmlns:a="http://schemas.openxmlformats.org/drawingml/2006/main">
              <a:ext uri="{FF2B5EF4-FFF2-40B4-BE49-F238E27FC236}">
                <a16:creationId xmlns:a16="http://schemas.microsoft.com/office/drawing/2014/main" id="{30DB7616-468A-419E-A00A-29880A8B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3286" y="3416046"/>
            <a:ext cx="2452878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进度与延期反馈</a:t>
            </a:r>
          </a:p>
        </p:txBody>
      </p:sp>
      <p:sp>
        <p:nvSpPr>
          <p:cNvPr id="37" name="对比计划与实际进度">
            <a:extLst xmlns:a="http://schemas.openxmlformats.org/drawingml/2006/main">
              <a:ext uri="{FF2B5EF4-FFF2-40B4-BE49-F238E27FC236}">
                <a16:creationId xmlns:a16="http://schemas.microsoft.com/office/drawing/2014/main" id="{0EBCFAF0-DECB-42A8-8FD5-8CE4DC68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521" y="3961638"/>
            <a:ext cx="250240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对比计划与实际进度</a:t>
            </a:r>
          </a:p>
        </p:txBody>
      </p:sp>
      <p:sp>
        <p:nvSpPr>
          <p:cNvPr id="38" name="协同处理延期风险">
            <a:extLst xmlns:a="http://schemas.openxmlformats.org/drawingml/2006/main">
              <a:ext uri="{FF2B5EF4-FFF2-40B4-BE49-F238E27FC236}">
                <a16:creationId xmlns:a16="http://schemas.microsoft.com/office/drawing/2014/main" id="{C88BABC5-CD0E-4482-8286-97B2D0D0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2252" y="4333113"/>
            <a:ext cx="2234946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协同处理延期风险</a:t>
            </a:r>
          </a:p>
        </p:txBody>
      </p:sp>
      <p:sp>
        <p:nvSpPr>
          <p:cNvPr id="39" name="04">
            <a:extLst xmlns:a="http://schemas.openxmlformats.org/drawingml/2006/main">
              <a:ext uri="{FF2B5EF4-FFF2-40B4-BE49-F238E27FC236}">
                <a16:creationId xmlns:a16="http://schemas.microsoft.com/office/drawing/2014/main" id="{9F424B4C-9D62-4EAA-B7EE-F9B39EDF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0" name="path-36">
            <a:extLst xmlns:a="http://schemas.openxmlformats.org/drawingml/2006/main">
              <a:ext uri="{FF2B5EF4-FFF2-40B4-BE49-F238E27FC236}">
                <a16:creationId xmlns:a16="http://schemas.microsoft.com/office/drawing/2014/main" id="{AAF4D024-6CAB-490A-9C94-1C8E6CFC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75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4963C"/>
            </a:solidFill>
            <a:prstDash val="solid"/>
          </a:ln>
        </p:spPr>
      </p:sp>
      <p:sp>
        <p:nvSpPr>
          <p:cNvPr id="41" name="arrowhead-36">
            <a:extLst xmlns:a="http://schemas.openxmlformats.org/drawingml/2006/main">
              <a:ext uri="{FF2B5EF4-FFF2-40B4-BE49-F238E27FC236}">
                <a16:creationId xmlns:a16="http://schemas.microsoft.com/office/drawing/2014/main" id="{73BCB9B2-FE0F-4A49-86D9-3822EB34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0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963C"/>
          </a:solidFill>
          <a:ln xmlns:a="http://schemas.openxmlformats.org/drawingml/2006/main" w="0">
            <a:noFill/>
          </a:ln>
        </p:spPr>
      </p:sp>
      <p:sp>
        <p:nvSpPr>
          <p:cNvPr id="42" name="rect-37">
            <a:extLst xmlns:a="http://schemas.openxmlformats.org/drawingml/2006/main">
              <a:ext uri="{FF2B5EF4-FFF2-40B4-BE49-F238E27FC236}">
                <a16:creationId xmlns:a16="http://schemas.microsoft.com/office/drawing/2014/main" id="{80BF51A8-454D-48B2-9336-9F996668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4963C"/>
            </a:solidFill>
            <a:prstDash val="solid"/>
          </a:ln>
        </p:spPr>
      </p:sp>
      <p:sp>
        <p:nvSpPr>
          <p:cNvPr id="43" name="rect-38">
            <a:extLst xmlns:a="http://schemas.openxmlformats.org/drawingml/2006/main">
              <a:ext uri="{FF2B5EF4-FFF2-40B4-BE49-F238E27FC236}">
                <a16:creationId xmlns:a16="http://schemas.microsoft.com/office/drawing/2014/main" id="{38170910-2DC8-4E7D-B1BB-5A287284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63C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4" name="完工结果回传">
            <a:extLst xmlns:a="http://schemas.openxmlformats.org/drawingml/2006/main">
              <a:ext uri="{FF2B5EF4-FFF2-40B4-BE49-F238E27FC236}">
                <a16:creationId xmlns:a16="http://schemas.microsoft.com/office/drawing/2014/main" id="{5A0458EA-3B71-4956-BC71-7D7541E5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7513" y="3416046"/>
            <a:ext cx="2116074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完工结果回传</a:t>
            </a:r>
          </a:p>
        </p:txBody>
      </p:sp>
      <p:sp>
        <p:nvSpPr>
          <p:cNvPr id="45" name="完工数量与时间">
            <a:extLst xmlns:a="http://schemas.openxmlformats.org/drawingml/2006/main">
              <a:ext uri="{FF2B5EF4-FFF2-40B4-BE49-F238E27FC236}">
                <a16:creationId xmlns:a16="http://schemas.microsoft.com/office/drawing/2014/main" id="{F38E2942-DC10-4284-857F-C5310E83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1808" y="3961638"/>
            <a:ext cx="1967484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完工数量与时间</a:t>
            </a:r>
          </a:p>
        </p:txBody>
      </p:sp>
      <p:sp>
        <p:nvSpPr>
          <p:cNvPr id="46" name="连接QC、发货和计划反馈">
            <a:extLst xmlns:a="http://schemas.openxmlformats.org/drawingml/2006/main">
              <a:ext uri="{FF2B5EF4-FFF2-40B4-BE49-F238E27FC236}">
                <a16:creationId xmlns:a16="http://schemas.microsoft.com/office/drawing/2014/main" id="{F0FAB114-31F8-443E-A6EE-3AF2C7C7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0638" y="4333113"/>
            <a:ext cx="3169825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连接QC、发货和计划反馈</a:t>
            </a:r>
          </a:p>
        </p:txBody>
      </p:sp>
      <p:sp>
        <p:nvSpPr>
          <p:cNvPr id="47" name="05">
            <a:extLst xmlns:a="http://schemas.openxmlformats.org/drawingml/2006/main">
              <a:ext uri="{FF2B5EF4-FFF2-40B4-BE49-F238E27FC236}">
                <a16:creationId xmlns:a16="http://schemas.microsoft.com/office/drawing/2014/main" id="{AF65B175-7FB3-4C40-BFA5-BC32629E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8" name="path-43">
            <a:extLst xmlns:a="http://schemas.openxmlformats.org/drawingml/2006/main">
              <a:ext uri="{FF2B5EF4-FFF2-40B4-BE49-F238E27FC236}">
                <a16:creationId xmlns:a16="http://schemas.microsoft.com/office/drawing/2014/main" id="{002DFFF9-F1E2-4534-9A5A-582B1C63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53000"/>
            <a:ext cx="18783300" cy="1085850"/>
          </a:xfrm>
          <a:custGeom xmlns:a="http://schemas.openxmlformats.org/drawingml/2006/main">
            <a:pathLst>
              <a:path w="18783300" h="1085850">
                <a:moveTo>
                  <a:pt x="18783300" y="0"/>
                </a:moveTo>
                <a:lnTo>
                  <a:pt x="18783300" y="1085850"/>
                </a:lnTo>
                <a:lnTo>
                  <a:pt x="0" y="10858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78E99"/>
            </a:solidFill>
            <a:prstDash val="solid"/>
          </a:ln>
        </p:spPr>
      </p:sp>
      <p:sp>
        <p:nvSpPr>
          <p:cNvPr id="49" name="arrowhead-43">
            <a:extLst xmlns:a="http://schemas.openxmlformats.org/drawingml/2006/main">
              <a:ext uri="{FF2B5EF4-FFF2-40B4-BE49-F238E27FC236}">
                <a16:creationId xmlns:a16="http://schemas.microsoft.com/office/drawing/2014/main" id="{E7F98D03-0C3F-44C3-B819-6A0B907C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53000"/>
            <a:ext cx="304800" cy="304800"/>
          </a:xfrm>
          <a:custGeom xmlns:a="http://schemas.openxmlformats.org/drawingml/2006/main">
            <a:pathLst>
              <a:path w="304800" h="304800">
                <a:moveTo>
                  <a:pt x="152400" y="0"/>
                </a:move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50" name="rect-44">
            <a:extLst xmlns:a="http://schemas.openxmlformats.org/drawingml/2006/main">
              <a:ext uri="{FF2B5EF4-FFF2-40B4-BE49-F238E27FC236}">
                <a16:creationId xmlns:a16="http://schemas.microsoft.com/office/drawing/2014/main" id="{FFFFFA44-BE50-4F98-9FFE-A4C549B9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715" y="5734050"/>
            <a:ext cx="513207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1" name="生产延期与完工差异 → 采购与PMC协调交期">
            <a:extLst xmlns:a="http://schemas.openxmlformats.org/drawingml/2006/main">
              <a:ext uri="{FF2B5EF4-FFF2-40B4-BE49-F238E27FC236}">
                <a16:creationId xmlns:a16="http://schemas.microsoft.com/office/drawing/2014/main" id="{A8EAB940-FE7A-4F01-8BB4-B86009AD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375" y="5714619"/>
            <a:ext cx="5232749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生产延期与完工差异 → 采购与PMC协调交期</a:t>
            </a:r>
          </a:p>
        </p:txBody>
      </p:sp>
      <p:sp>
        <p:nvSpPr>
          <p:cNvPr id="52" name="path-46">
            <a:extLst xmlns:a="http://schemas.openxmlformats.org/drawingml/2006/main">
              <a:ext uri="{FF2B5EF4-FFF2-40B4-BE49-F238E27FC236}">
                <a16:creationId xmlns:a16="http://schemas.microsoft.com/office/drawing/2014/main" id="{385FF5C3-556A-469A-94C8-A46E9903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0934700" cy="476"/>
          </a:xfrm>
          <a:custGeom xmlns:a="http://schemas.openxmlformats.org/drawingml/2006/main">
            <a:pathLst>
              <a:path w="10934700" h="476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4963C"/>
            </a:solidFill>
            <a:prstDash val="solid"/>
          </a:ln>
        </p:spPr>
      </p:sp>
      <p:sp>
        <p:nvSpPr>
          <p:cNvPr id="53" name="path-47">
            <a:extLst xmlns:a="http://schemas.openxmlformats.org/drawingml/2006/main">
              <a:ext uri="{FF2B5EF4-FFF2-40B4-BE49-F238E27FC236}">
                <a16:creationId xmlns:a16="http://schemas.microsoft.com/office/drawing/2014/main" id="{5C251CEE-7BD4-4703-BCE8-EDF93299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105650"/>
            <a:ext cx="11163300" cy="476"/>
          </a:xfrm>
          <a:custGeom xmlns:a="http://schemas.openxmlformats.org/drawingml/2006/main">
            <a:pathLst>
              <a:path w="11163300" h="476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4963C"/>
            </a:solidFill>
            <a:prstDash val="solid"/>
          </a:ln>
        </p:spPr>
      </p:sp>
      <p:sp>
        <p:nvSpPr>
          <p:cNvPr id="54" name="Q4建设重点">
            <a:extLst xmlns:a="http://schemas.openxmlformats.org/drawingml/2006/main">
              <a:ext uri="{FF2B5EF4-FFF2-40B4-BE49-F238E27FC236}">
                <a16:creationId xmlns:a16="http://schemas.microsoft.com/office/drawing/2014/main" id="{5EBE1665-5DBF-45DB-9F4E-2DD5813A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3577"/>
            <a:ext cx="1852327" cy="45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Q4建设重点</a:t>
            </a:r>
          </a:p>
        </p:txBody>
      </p:sp>
      <p:sp>
        <p:nvSpPr>
          <p:cNvPr id="55" name="接口需落到执行口径">
            <a:extLst xmlns:a="http://schemas.openxmlformats.org/drawingml/2006/main">
              <a:ext uri="{FF2B5EF4-FFF2-40B4-BE49-F238E27FC236}">
                <a16:creationId xmlns:a16="http://schemas.microsoft.com/office/drawing/2014/main" id="{9C9FAEDF-77BB-4EF8-A181-61A93564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283577"/>
            <a:ext cx="3037332" cy="45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接口需落到执行口径</a:t>
            </a:r>
          </a:p>
        </p:txBody>
      </p:sp>
      <p:sp>
        <p:nvSpPr>
          <p:cNvPr id="56" name="复用已有MES，推进工厂使用与培训">
            <a:extLst xmlns:a="http://schemas.openxmlformats.org/drawingml/2006/main">
              <a:ext uri="{FF2B5EF4-FFF2-40B4-BE49-F238E27FC236}">
                <a16:creationId xmlns:a16="http://schemas.microsoft.com/office/drawing/2014/main" id="{A12F7B6A-1B57-43CD-B167-C925DB76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42326"/>
            <a:ext cx="4735128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复用已有MES，推进工厂使用与培训</a:t>
            </a:r>
          </a:p>
        </p:txBody>
      </p:sp>
      <p:sp>
        <p:nvSpPr>
          <p:cNvPr id="57" name="订单接入及与SCM的业务关联">
            <a:extLst xmlns:a="http://schemas.openxmlformats.org/drawingml/2006/main">
              <a:ext uri="{FF2B5EF4-FFF2-40B4-BE49-F238E27FC236}">
                <a16:creationId xmlns:a16="http://schemas.microsoft.com/office/drawing/2014/main" id="{FCA122A8-BBAF-41F6-86A1-50851972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32876"/>
            <a:ext cx="3899464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订单接入及与SCM的业务关联</a:t>
            </a:r>
          </a:p>
        </p:txBody>
      </p:sp>
      <p:sp>
        <p:nvSpPr>
          <p:cNvPr id="58" name="生产开始、进度、延期和完工状态">
            <a:extLst xmlns:a="http://schemas.openxmlformats.org/drawingml/2006/main">
              <a:ext uri="{FF2B5EF4-FFF2-40B4-BE49-F238E27FC236}">
                <a16:creationId xmlns:a16="http://schemas.microsoft.com/office/drawing/2014/main" id="{552A6E77-7F4A-4488-9049-C0D895A8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23426"/>
            <a:ext cx="440436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生产开始、进度、延期和完工状态</a:t>
            </a:r>
          </a:p>
        </p:txBody>
      </p:sp>
      <p:sp>
        <p:nvSpPr>
          <p:cNvPr id="59" name="修复现场问题，形成持续治理清单">
            <a:extLst xmlns:a="http://schemas.openxmlformats.org/drawingml/2006/main">
              <a:ext uri="{FF2B5EF4-FFF2-40B4-BE49-F238E27FC236}">
                <a16:creationId xmlns:a16="http://schemas.microsoft.com/office/drawing/2014/main" id="{85271A9E-FD0B-4C31-B31F-6DC24433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3976"/>
            <a:ext cx="440436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修复现场问题，形成持续治理清单</a:t>
            </a:r>
          </a:p>
        </p:txBody>
      </p:sp>
      <p:sp>
        <p:nvSpPr>
          <p:cNvPr id="60" name="生产任务来源及订单关联标识">
            <a:extLst xmlns:a="http://schemas.openxmlformats.org/drawingml/2006/main">
              <a:ext uri="{FF2B5EF4-FFF2-40B4-BE49-F238E27FC236}">
                <a16:creationId xmlns:a16="http://schemas.microsoft.com/office/drawing/2014/main" id="{F8F89450-E462-4DF3-8D16-5F8357F2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942326"/>
            <a:ext cx="3829812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生产任务来源及订单关联标识</a:t>
            </a:r>
          </a:p>
        </p:txBody>
      </p:sp>
      <p:sp>
        <p:nvSpPr>
          <p:cNvPr id="61" name="进度、完工和异常字段定义">
            <a:extLst xmlns:a="http://schemas.openxmlformats.org/drawingml/2006/main">
              <a:ext uri="{FF2B5EF4-FFF2-40B4-BE49-F238E27FC236}">
                <a16:creationId xmlns:a16="http://schemas.microsoft.com/office/drawing/2014/main" id="{FD52D6FF-B74D-4B4A-B8D9-EAD4F563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8532876"/>
            <a:ext cx="3542538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进度、完工和异常字段定义</a:t>
            </a:r>
          </a:p>
        </p:txBody>
      </p:sp>
      <p:sp>
        <p:nvSpPr>
          <p:cNvPr id="62" name="回传频率、责任人及异常补报">
            <a:extLst xmlns:a="http://schemas.openxmlformats.org/drawingml/2006/main">
              <a:ext uri="{FF2B5EF4-FFF2-40B4-BE49-F238E27FC236}">
                <a16:creationId xmlns:a16="http://schemas.microsoft.com/office/drawing/2014/main" id="{A3505992-BC39-485F-B428-B6C7F8A3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9123426"/>
            <a:ext cx="3829812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回传频率、责任人及异常补报</a:t>
            </a:r>
          </a:p>
        </p:txBody>
      </p:sp>
      <p:sp>
        <p:nvSpPr>
          <p:cNvPr id="63" name="QC结果与生产返工节点如何联动">
            <a:extLst xmlns:a="http://schemas.openxmlformats.org/drawingml/2006/main">
              <a:ext uri="{FF2B5EF4-FFF2-40B4-BE49-F238E27FC236}">
                <a16:creationId xmlns:a16="http://schemas.microsoft.com/office/drawing/2014/main" id="{C7689574-1628-459E-8E8D-193813C7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9713976"/>
            <a:ext cx="425933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QC结果与生产返工节点如何联动</a:t>
            </a:r>
          </a:p>
        </p:txBody>
      </p:sp>
      <p:sp>
        <p:nvSpPr>
          <p:cNvPr id="64" name="rect-58">
            <a:extLst xmlns:a="http://schemas.openxmlformats.org/drawingml/2006/main">
              <a:ext uri="{FF2B5EF4-FFF2-40B4-BE49-F238E27FC236}">
                <a16:creationId xmlns:a16="http://schemas.microsoft.com/office/drawing/2014/main" id="{2784643B-997B-4F2A-82C6-FEFA9A34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96625"/>
            <a:ext cx="23164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5" name="交接结果">
            <a:extLst xmlns:a="http://schemas.openxmlformats.org/drawingml/2006/main">
              <a:ext uri="{FF2B5EF4-FFF2-40B4-BE49-F238E27FC236}">
                <a16:creationId xmlns:a16="http://schemas.microsoft.com/office/drawing/2014/main" id="{68A4F923-C9EF-4614-9B7A-AEA4FAD1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1399520"/>
            <a:ext cx="128397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交接结果</a:t>
            </a:r>
          </a:p>
        </p:txBody>
      </p:sp>
      <p:sp>
        <p:nvSpPr>
          <p:cNvPr id="66" name="可追溯的生产进度、延期及完工数据，反馈SCM与PMC">
            <a:extLst xmlns:a="http://schemas.openxmlformats.org/drawingml/2006/main">
              <a:ext uri="{FF2B5EF4-FFF2-40B4-BE49-F238E27FC236}">
                <a16:creationId xmlns:a16="http://schemas.microsoft.com/office/drawing/2014/main" id="{8DF13032-7C70-4B24-86F5-D334065F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09426"/>
            <a:ext cx="7155442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可追溯的生产进度、延期及完工数据，反馈SCM与PMC</a:t>
            </a:r>
          </a:p>
        </p:txBody>
      </p:sp>
      <p:sp>
        <p:nvSpPr>
          <p:cNvPr id="67" name="MES属于已有能力协同，不画成必须等待PMC / MRP完工后才启动的重建项目。">
            <a:extLst xmlns:a="http://schemas.openxmlformats.org/drawingml/2006/main">
              <a:ext uri="{FF2B5EF4-FFF2-40B4-BE49-F238E27FC236}">
                <a16:creationId xmlns:a16="http://schemas.microsoft.com/office/drawing/2014/main" id="{E1B057DD-9A1D-48D1-99BD-F43D5E40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30125"/>
            <a:ext cx="8953536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MES属于已有能力协同，不画成必须等待PMC / MRP完工后才启动的重建项目。</a:t>
            </a:r>
          </a:p>
        </p:txBody>
      </p:sp>
      <p:sp>
        <p:nvSpPr>
          <p:cNvPr id="68" name="path-62">
            <a:extLst xmlns:a="http://schemas.openxmlformats.org/drawingml/2006/main">
              <a:ext uri="{FF2B5EF4-FFF2-40B4-BE49-F238E27FC236}">
                <a16:creationId xmlns:a16="http://schemas.microsoft.com/office/drawing/2014/main" id="{997A70E7-1617-40CD-96C9-AA477CB4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5E1E9"/>
            </a:solidFill>
            <a:prstDash val="solid"/>
          </a:ln>
        </p:spPr>
      </p:sp>
      <p:sp>
        <p:nvSpPr>
          <p:cNvPr id="69" name="Q4供应链产品建设方案 · 汇报分层版 · 目标业务蓝图，按P0 / P1推进">
            <a:extLst xmlns:a="http://schemas.openxmlformats.org/drawingml/2006/main">
              <a:ext uri="{FF2B5EF4-FFF2-40B4-BE49-F238E27FC236}">
                <a16:creationId xmlns:a16="http://schemas.microsoft.com/office/drawing/2014/main" id="{3A768F85-7899-49CC-A7E2-3A6D3C8C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07568"/>
            <a:ext cx="688395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Q4供应链产品建设方案 · 汇报分层版 · 目标业务蓝图，按P0 / P1推进</a:t>
            </a:r>
          </a:p>
        </p:txBody>
      </p:sp>
      <p:sp>
        <p:nvSpPr>
          <p:cNvPr id="70" name="09 / 10">
            <a:extLst xmlns:a="http://schemas.openxmlformats.org/drawingml/2006/main">
              <a:ext uri="{FF2B5EF4-FFF2-40B4-BE49-F238E27FC236}">
                <a16:creationId xmlns:a16="http://schemas.microsoft.com/office/drawing/2014/main" id="{38085741-F154-4773-9D5A-9CCD5D16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3784" y="13307568"/>
            <a:ext cx="83061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6093704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白色画布">
            <a:extLst xmlns:a="http://schemas.openxmlformats.org/drawingml/2006/main">
              <a:ext uri="{FF2B5EF4-FFF2-40B4-BE49-F238E27FC236}">
                <a16:creationId xmlns:a16="http://schemas.microsoft.com/office/drawing/2014/main" id="{4026C1C0-709E-4A29-A83A-2A1334A6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-1">
            <a:extLst xmlns:a="http://schemas.openxmlformats.org/drawingml/2006/main">
              <a:ext uri="{FF2B5EF4-FFF2-40B4-BE49-F238E27FC236}">
                <a16:creationId xmlns:a16="http://schemas.microsoft.com/office/drawing/2014/main" id="{BD2CB23C-06FB-44D1-B71E-FB005325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" name="rect-2">
            <a:extLst xmlns:a="http://schemas.openxmlformats.org/drawingml/2006/main">
              <a:ext uri="{FF2B5EF4-FFF2-40B4-BE49-F238E27FC236}">
                <a16:creationId xmlns:a16="http://schemas.microsoft.com/office/drawing/2014/main" id="{259387A3-2FF9-4EC9-9100-F1FF481A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" name="库存与执行回流｜进入下一轮计划">
            <a:extLst xmlns:a="http://schemas.openxmlformats.org/drawingml/2006/main">
              <a:ext uri="{FF2B5EF4-FFF2-40B4-BE49-F238E27FC236}">
                <a16:creationId xmlns:a16="http://schemas.microsoft.com/office/drawing/2014/main" id="{1A418CC7-8F95-4571-911A-88A6E509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781"/>
            <a:ext cx="7376160" cy="676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库存与执行回流｜进入下一轮计划</a:t>
            </a:r>
          </a:p>
        </p:txBody>
      </p:sp>
      <p:sp>
        <p:nvSpPr>
          <p:cNvPr id="5" name="2026 Q4 / V3.0">
            <a:extLst xmlns:a="http://schemas.openxmlformats.org/drawingml/2006/main">
              <a:ext uri="{FF2B5EF4-FFF2-40B4-BE49-F238E27FC236}">
                <a16:creationId xmlns:a16="http://schemas.microsoft.com/office/drawing/2014/main" id="{C280D101-E558-4555-9DF6-960F295C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7004" y="647700"/>
            <a:ext cx="1927396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V3.0</a:t>
            </a:r>
          </a:p>
        </p:txBody>
      </p:sp>
      <p:sp>
        <p:nvSpPr>
          <p:cNvPr id="6" name="path-5">
            <a:extLst xmlns:a="http://schemas.openxmlformats.org/drawingml/2006/main">
              <a:ext uri="{FF2B5EF4-FFF2-40B4-BE49-F238E27FC236}">
                <a16:creationId xmlns:a16="http://schemas.microsoft.com/office/drawing/2014/main" id="{F02DACE7-EA0E-41B3-885D-6135D110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7" name="结果回流是滚动计划体系的组成部分；库存事实和清洗由来源系统负责">
            <a:extLst xmlns:a="http://schemas.openxmlformats.org/drawingml/2006/main">
              <a:ext uri="{FF2B5EF4-FFF2-40B4-BE49-F238E27FC236}">
                <a16:creationId xmlns:a16="http://schemas.microsoft.com/office/drawing/2014/main" id="{67220A6A-85F1-4A2B-8588-EB43FA00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0863"/>
            <a:ext cx="8386572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结果回流是滚动计划体系的组成部分；库存事实和清洗由来源系统负责</a:t>
            </a:r>
          </a:p>
        </p:txBody>
      </p:sp>
      <p:sp>
        <p:nvSpPr>
          <p:cNvPr id="8" name="10 / 模块展开">
            <a:extLst xmlns:a="http://schemas.openxmlformats.org/drawingml/2006/main">
              <a:ext uri="{FF2B5EF4-FFF2-40B4-BE49-F238E27FC236}">
                <a16:creationId xmlns:a16="http://schemas.microsoft.com/office/drawing/2014/main" id="{537432F7-1821-41D4-9C94-DF963174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4046" y="1610487"/>
            <a:ext cx="1500354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10 / 模块展开</a:t>
            </a:r>
          </a:p>
        </p:txBody>
      </p:sp>
      <p:sp>
        <p:nvSpPr>
          <p:cNvPr id="9" name="业务动作">
            <a:extLst xmlns:a="http://schemas.openxmlformats.org/drawingml/2006/main">
              <a:ext uri="{FF2B5EF4-FFF2-40B4-BE49-F238E27FC236}">
                <a16:creationId xmlns:a16="http://schemas.microsoft.com/office/drawing/2014/main" id="{89CBA029-1C89-4C05-A189-A174F934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8583"/>
            <a:ext cx="1363218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业务动作</a:t>
            </a:r>
          </a:p>
        </p:txBody>
      </p:sp>
      <p:sp>
        <p:nvSpPr>
          <p:cNvPr id="10" name="rect-9">
            <a:extLst xmlns:a="http://schemas.openxmlformats.org/drawingml/2006/main">
              <a:ext uri="{FF2B5EF4-FFF2-40B4-BE49-F238E27FC236}">
                <a16:creationId xmlns:a16="http://schemas.microsoft.com/office/drawing/2014/main" id="{804BA62C-3E23-4CBF-A111-AFC73685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8E99"/>
            </a:solidFill>
            <a:prstDash val="solid"/>
          </a:ln>
        </p:spPr>
      </p:sp>
      <p:sp>
        <p:nvSpPr>
          <p:cNvPr id="11" name="rect-10">
            <a:extLst xmlns:a="http://schemas.openxmlformats.org/drawingml/2006/main">
              <a:ext uri="{FF2B5EF4-FFF2-40B4-BE49-F238E27FC236}">
                <a16:creationId xmlns:a16="http://schemas.microsoft.com/office/drawing/2014/main" id="{D6307FE5-D69E-4EC9-A1CF-0809A150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E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" name="收货与入库">
            <a:extLst xmlns:a="http://schemas.openxmlformats.org/drawingml/2006/main">
              <a:ext uri="{FF2B5EF4-FFF2-40B4-BE49-F238E27FC236}">
                <a16:creationId xmlns:a16="http://schemas.microsoft.com/office/drawing/2014/main" id="{4752C876-80B4-4EC4-9D67-EBD7CC89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" y="3416046"/>
            <a:ext cx="1779270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收货与入库</a:t>
            </a:r>
          </a:p>
        </p:txBody>
      </p:sp>
      <p:sp>
        <p:nvSpPr>
          <p:cNvPr id="13" name="按发货与订单核对">
            <a:extLst xmlns:a="http://schemas.openxmlformats.org/drawingml/2006/main">
              <a:ext uri="{FF2B5EF4-FFF2-40B4-BE49-F238E27FC236}">
                <a16:creationId xmlns:a16="http://schemas.microsoft.com/office/drawing/2014/main" id="{07FC56F8-6EC9-4755-B246-9FD15BED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777" y="3961638"/>
            <a:ext cx="2234946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按发货与订单核对</a:t>
            </a:r>
          </a:p>
        </p:txBody>
      </p:sp>
      <p:sp>
        <p:nvSpPr>
          <p:cNvPr id="14" name="质检、收货及入库结果">
            <a:extLst xmlns:a="http://schemas.openxmlformats.org/drawingml/2006/main">
              <a:ext uri="{FF2B5EF4-FFF2-40B4-BE49-F238E27FC236}">
                <a16:creationId xmlns:a16="http://schemas.microsoft.com/office/drawing/2014/main" id="{B52D5ABF-B1C9-4808-8AAD-79A7A7F6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" y="4333113"/>
            <a:ext cx="276987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质检、收货及入库结果</a:t>
            </a:r>
          </a:p>
        </p:txBody>
      </p:sp>
      <p:sp>
        <p:nvSpPr>
          <p:cNvPr id="15" name="01">
            <a:extLst xmlns:a="http://schemas.openxmlformats.org/drawingml/2006/main">
              <a:ext uri="{FF2B5EF4-FFF2-40B4-BE49-F238E27FC236}">
                <a16:creationId xmlns:a16="http://schemas.microsoft.com/office/drawing/2014/main" id="{9E1FA175-BD64-4792-BC9E-70F3F26F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9306"/>
            <a:ext cx="342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path-15">
            <a:extLst xmlns:a="http://schemas.openxmlformats.org/drawingml/2006/main">
              <a:ext uri="{FF2B5EF4-FFF2-40B4-BE49-F238E27FC236}">
                <a16:creationId xmlns:a16="http://schemas.microsoft.com/office/drawing/2014/main" id="{955B2CBD-F28A-4DDB-B6EC-5921A1E3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8E99"/>
            </a:solidFill>
            <a:prstDash val="solid"/>
          </a:ln>
        </p:spPr>
      </p:sp>
      <p:sp>
        <p:nvSpPr>
          <p:cNvPr id="17" name="arrowhead-15">
            <a:extLst xmlns:a="http://schemas.openxmlformats.org/drawingml/2006/main">
              <a:ext uri="{FF2B5EF4-FFF2-40B4-BE49-F238E27FC236}">
                <a16:creationId xmlns:a16="http://schemas.microsoft.com/office/drawing/2014/main" id="{12EAC128-D352-4B6E-98C5-6B85BB5C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18" name="rect-16">
            <a:extLst xmlns:a="http://schemas.openxmlformats.org/drawingml/2006/main">
              <a:ext uri="{FF2B5EF4-FFF2-40B4-BE49-F238E27FC236}">
                <a16:creationId xmlns:a16="http://schemas.microsoft.com/office/drawing/2014/main" id="{CD7563B0-DE93-47F0-9E0E-7FBDA681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8E99"/>
            </a:solidFill>
            <a:prstDash val="solid"/>
          </a:ln>
        </p:spPr>
      </p:sp>
      <p:sp>
        <p:nvSpPr>
          <p:cNvPr id="19" name="rect-17">
            <a:extLst xmlns:a="http://schemas.openxmlformats.org/drawingml/2006/main">
              <a:ext uri="{FF2B5EF4-FFF2-40B4-BE49-F238E27FC236}">
                <a16:creationId xmlns:a16="http://schemas.microsoft.com/office/drawing/2014/main" id="{8E138280-960A-4B72-A4EB-2C6CEFA1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E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" name="更新库存事实">
            <a:extLst xmlns:a="http://schemas.openxmlformats.org/drawingml/2006/main">
              <a:ext uri="{FF2B5EF4-FFF2-40B4-BE49-F238E27FC236}">
                <a16:creationId xmlns:a16="http://schemas.microsoft.com/office/drawing/2014/main" id="{E087095C-82D9-4E03-87E1-0F9AF0A1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038" y="3416046"/>
            <a:ext cx="2116074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更新库存事实</a:t>
            </a:r>
          </a:p>
        </p:txBody>
      </p:sp>
      <p:sp>
        <p:nvSpPr>
          <p:cNvPr id="21" name="库存、在途与到货变化">
            <a:extLst xmlns:a="http://schemas.openxmlformats.org/drawingml/2006/main">
              <a:ext uri="{FF2B5EF4-FFF2-40B4-BE49-F238E27FC236}">
                <a16:creationId xmlns:a16="http://schemas.microsoft.com/office/drawing/2014/main" id="{16FE8891-65DC-45BC-85B3-21D4E021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3961638"/>
            <a:ext cx="276987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库存、在途与到货变化</a:t>
            </a:r>
          </a:p>
        </p:txBody>
      </p:sp>
      <p:sp>
        <p:nvSpPr>
          <p:cNvPr id="22" name="保留业务来源与时间">
            <a:extLst xmlns:a="http://schemas.openxmlformats.org/drawingml/2006/main">
              <a:ext uri="{FF2B5EF4-FFF2-40B4-BE49-F238E27FC236}">
                <a16:creationId xmlns:a16="http://schemas.microsoft.com/office/drawing/2014/main" id="{4AEF9974-1DB2-463B-8E50-F5A480E0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871" y="4333113"/>
            <a:ext cx="250240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保留业务来源与时间</a:t>
            </a:r>
          </a:p>
        </p:txBody>
      </p:sp>
      <p:sp>
        <p:nvSpPr>
          <p:cNvPr id="23" name="02">
            <a:extLst xmlns:a="http://schemas.openxmlformats.org/drawingml/2006/main">
              <a:ext uri="{FF2B5EF4-FFF2-40B4-BE49-F238E27FC236}">
                <a16:creationId xmlns:a16="http://schemas.microsoft.com/office/drawing/2014/main" id="{815405C2-E616-4071-B529-1DC92385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ath-22">
            <a:extLst xmlns:a="http://schemas.openxmlformats.org/drawingml/2006/main">
              <a:ext uri="{FF2B5EF4-FFF2-40B4-BE49-F238E27FC236}">
                <a16:creationId xmlns:a16="http://schemas.microsoft.com/office/drawing/2014/main" id="{12765D16-BCBB-43B4-999F-27B977C8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8E99"/>
            </a:solidFill>
            <a:prstDash val="solid"/>
          </a:ln>
        </p:spPr>
      </p:sp>
      <p:sp>
        <p:nvSpPr>
          <p:cNvPr id="25" name="arrowhead-22">
            <a:extLst xmlns:a="http://schemas.openxmlformats.org/drawingml/2006/main">
              <a:ext uri="{FF2B5EF4-FFF2-40B4-BE49-F238E27FC236}">
                <a16:creationId xmlns:a16="http://schemas.microsoft.com/office/drawing/2014/main" id="{18B9AAD1-02A9-414B-AD6A-859FAD61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26" name="rect-23">
            <a:extLst xmlns:a="http://schemas.openxmlformats.org/drawingml/2006/main">
              <a:ext uri="{FF2B5EF4-FFF2-40B4-BE49-F238E27FC236}">
                <a16:creationId xmlns:a16="http://schemas.microsoft.com/office/drawing/2014/main" id="{10F622DD-E4BD-4B59-AB5D-3AA0BF49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8E99"/>
            </a:solidFill>
            <a:prstDash val="solid"/>
          </a:ln>
        </p:spPr>
      </p:sp>
      <p:sp>
        <p:nvSpPr>
          <p:cNvPr id="27" name="rect-24">
            <a:extLst xmlns:a="http://schemas.openxmlformats.org/drawingml/2006/main">
              <a:ext uri="{FF2B5EF4-FFF2-40B4-BE49-F238E27FC236}">
                <a16:creationId xmlns:a16="http://schemas.microsoft.com/office/drawing/2014/main" id="{DF2034F8-BD7D-4925-A661-C6356AFC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E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" name="汇集执行结果">
            <a:extLst xmlns:a="http://schemas.openxmlformats.org/drawingml/2006/main">
              <a:ext uri="{FF2B5EF4-FFF2-40B4-BE49-F238E27FC236}">
                <a16:creationId xmlns:a16="http://schemas.microsoft.com/office/drawing/2014/main" id="{D27B409F-008B-4AD2-B872-416CA6B5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863" y="3416046"/>
            <a:ext cx="2116074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汇集执行结果</a:t>
            </a:r>
          </a:p>
        </p:txBody>
      </p:sp>
      <p:sp>
        <p:nvSpPr>
          <p:cNvPr id="29" name="销量、采购与供应商状态">
            <a:extLst xmlns:a="http://schemas.openxmlformats.org/drawingml/2006/main">
              <a:ext uri="{FF2B5EF4-FFF2-40B4-BE49-F238E27FC236}">
                <a16:creationId xmlns:a16="http://schemas.microsoft.com/office/drawing/2014/main" id="{6BCABC33-C652-49AF-8084-18A2F831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5234" y="3961638"/>
            <a:ext cx="3037332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销量、采购与供应商状态</a:t>
            </a:r>
          </a:p>
        </p:txBody>
      </p:sp>
      <p:sp>
        <p:nvSpPr>
          <p:cNvPr id="30" name="生产、交期和质量结果">
            <a:extLst xmlns:a="http://schemas.openxmlformats.org/drawingml/2006/main">
              <a:ext uri="{FF2B5EF4-FFF2-40B4-BE49-F238E27FC236}">
                <a16:creationId xmlns:a16="http://schemas.microsoft.com/office/drawing/2014/main" id="{D9B48D9E-8D72-4BB8-B2A2-0E901786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965" y="4333113"/>
            <a:ext cx="276987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生产、交期和质量结果</a:t>
            </a:r>
          </a:p>
        </p:txBody>
      </p:sp>
      <p:sp>
        <p:nvSpPr>
          <p:cNvPr id="31" name="03">
            <a:extLst xmlns:a="http://schemas.openxmlformats.org/drawingml/2006/main">
              <a:ext uri="{FF2B5EF4-FFF2-40B4-BE49-F238E27FC236}">
                <a16:creationId xmlns:a16="http://schemas.microsoft.com/office/drawing/2014/main" id="{FFE8B208-7FEC-4BF7-8C05-2B5BFBC1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2" name="path-29">
            <a:extLst xmlns:a="http://schemas.openxmlformats.org/drawingml/2006/main">
              <a:ext uri="{FF2B5EF4-FFF2-40B4-BE49-F238E27FC236}">
                <a16:creationId xmlns:a16="http://schemas.microsoft.com/office/drawing/2014/main" id="{A06C0B47-680E-4376-BA08-28F4946E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8E99"/>
            </a:solidFill>
            <a:prstDash val="solid"/>
          </a:ln>
        </p:spPr>
      </p:sp>
      <p:sp>
        <p:nvSpPr>
          <p:cNvPr id="33" name="arrowhead-29">
            <a:extLst xmlns:a="http://schemas.openxmlformats.org/drawingml/2006/main">
              <a:ext uri="{FF2B5EF4-FFF2-40B4-BE49-F238E27FC236}">
                <a16:creationId xmlns:a16="http://schemas.microsoft.com/office/drawing/2014/main" id="{AE46C5FB-50DA-4B0F-A992-1EF091CF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34" name="rect-30">
            <a:extLst xmlns:a="http://schemas.openxmlformats.org/drawingml/2006/main">
              <a:ext uri="{FF2B5EF4-FFF2-40B4-BE49-F238E27FC236}">
                <a16:creationId xmlns:a16="http://schemas.microsoft.com/office/drawing/2014/main" id="{42ADEBBC-139E-4122-A6F4-4E90F81B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8E99"/>
            </a:solidFill>
            <a:prstDash val="solid"/>
          </a:ln>
        </p:spPr>
      </p:sp>
      <p:sp>
        <p:nvSpPr>
          <p:cNvPr id="35" name="rect-31">
            <a:extLst xmlns:a="http://schemas.openxmlformats.org/drawingml/2006/main">
              <a:ext uri="{FF2B5EF4-FFF2-40B4-BE49-F238E27FC236}">
                <a16:creationId xmlns:a16="http://schemas.microsoft.com/office/drawing/2014/main" id="{D9C2FCEE-576C-4701-BFC1-7F79C189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E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6" name="PMC校准偏差">
            <a:extLst xmlns:a="http://schemas.openxmlformats.org/drawingml/2006/main">
              <a:ext uri="{FF2B5EF4-FFF2-40B4-BE49-F238E27FC236}">
                <a16:creationId xmlns:a16="http://schemas.microsoft.com/office/drawing/2014/main" id="{9F0D896B-F4A3-4F5D-AC12-5A19D1DA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2777" y="3416046"/>
            <a:ext cx="2213896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PMC校准偏差</a:t>
            </a:r>
          </a:p>
        </p:txBody>
      </p:sp>
      <p:sp>
        <p:nvSpPr>
          <p:cNvPr id="37" name="对比需求、库存与供给">
            <a:extLst xmlns:a="http://schemas.openxmlformats.org/drawingml/2006/main">
              <a:ext uri="{FF2B5EF4-FFF2-40B4-BE49-F238E27FC236}">
                <a16:creationId xmlns:a16="http://schemas.microsoft.com/office/drawing/2014/main" id="{FB4FA2D4-669E-428D-B506-EE22FAA5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4790" y="3961638"/>
            <a:ext cx="276987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对比需求、库存与供给</a:t>
            </a:r>
          </a:p>
        </p:txBody>
      </p:sp>
      <p:sp>
        <p:nvSpPr>
          <p:cNvPr id="38" name="识别缺货、延期与数量差异">
            <a:extLst xmlns:a="http://schemas.openxmlformats.org/drawingml/2006/main">
              <a:ext uri="{FF2B5EF4-FFF2-40B4-BE49-F238E27FC236}">
                <a16:creationId xmlns:a16="http://schemas.microsoft.com/office/drawing/2014/main" id="{01223C85-55A1-4F33-BF0D-EB2ECB5A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328" y="4333113"/>
            <a:ext cx="3304794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识别缺货、延期与数量差异</a:t>
            </a:r>
          </a:p>
        </p:txBody>
      </p:sp>
      <p:sp>
        <p:nvSpPr>
          <p:cNvPr id="39" name="04">
            <a:extLst xmlns:a="http://schemas.openxmlformats.org/drawingml/2006/main">
              <a:ext uri="{FF2B5EF4-FFF2-40B4-BE49-F238E27FC236}">
                <a16:creationId xmlns:a16="http://schemas.microsoft.com/office/drawing/2014/main" id="{0E498B87-5409-4AE1-BD89-0507AD32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0" name="path-36">
            <a:extLst xmlns:a="http://schemas.openxmlformats.org/drawingml/2006/main">
              <a:ext uri="{FF2B5EF4-FFF2-40B4-BE49-F238E27FC236}">
                <a16:creationId xmlns:a16="http://schemas.microsoft.com/office/drawing/2014/main" id="{182310A0-F054-4549-B00A-BF1F0D93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75" y="4133850"/>
            <a:ext cx="390525" cy="476"/>
          </a:xfrm>
          <a:custGeom xmlns:a="http://schemas.openxmlformats.org/drawingml/2006/main">
            <a:pathLst>
              <a:path w="390525" h="476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8E99"/>
            </a:solidFill>
            <a:prstDash val="solid"/>
          </a:ln>
        </p:spPr>
      </p:sp>
      <p:sp>
        <p:nvSpPr>
          <p:cNvPr id="41" name="arrowhead-36">
            <a:extLst xmlns:a="http://schemas.openxmlformats.org/drawingml/2006/main">
              <a:ext uri="{FF2B5EF4-FFF2-40B4-BE49-F238E27FC236}">
                <a16:creationId xmlns:a16="http://schemas.microsoft.com/office/drawing/2014/main" id="{012F710C-CCF0-470C-AD9E-CFFF4FB7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0" y="40195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228600" y="114300"/>
                </a:move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42" name="rect-37">
            <a:extLst xmlns:a="http://schemas.openxmlformats.org/drawingml/2006/main">
              <a:ext uri="{FF2B5EF4-FFF2-40B4-BE49-F238E27FC236}">
                <a16:creationId xmlns:a16="http://schemas.microsoft.com/office/drawing/2014/main" id="{B0E76CC8-BC0A-4E90-A03C-988EB6BF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3314700"/>
            <a:ext cx="4305300" cy="16383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8E99"/>
            </a:solidFill>
            <a:prstDash val="solid"/>
          </a:ln>
        </p:spPr>
      </p:sp>
      <p:sp>
        <p:nvSpPr>
          <p:cNvPr id="43" name="rect-38">
            <a:extLst xmlns:a="http://schemas.openxmlformats.org/drawingml/2006/main">
              <a:ext uri="{FF2B5EF4-FFF2-40B4-BE49-F238E27FC236}">
                <a16:creationId xmlns:a16="http://schemas.microsoft.com/office/drawing/2014/main" id="{89EFC97B-0896-4D52-B98C-2D6EAC4A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331470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E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4" name="下一轮预测与计划">
            <a:extLst xmlns:a="http://schemas.openxmlformats.org/drawingml/2006/main">
              <a:ext uri="{FF2B5EF4-FFF2-40B4-BE49-F238E27FC236}">
                <a16:creationId xmlns:a16="http://schemas.microsoft.com/office/drawing/2014/main" id="{F441BD1D-2B35-4704-89C4-FA59EA65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0709" y="3416046"/>
            <a:ext cx="2789682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下一轮预测与计划</a:t>
            </a:r>
          </a:p>
        </p:txBody>
      </p:sp>
      <p:sp>
        <p:nvSpPr>
          <p:cNvPr id="45" name="调整销售需求判断">
            <a:extLst xmlns:a="http://schemas.openxmlformats.org/drawingml/2006/main">
              <a:ext uri="{FF2B5EF4-FFF2-40B4-BE49-F238E27FC236}">
                <a16:creationId xmlns:a16="http://schemas.microsoft.com/office/drawing/2014/main" id="{7ABF9775-D51E-4EC5-B4A3-455E2166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8077" y="3961638"/>
            <a:ext cx="2234946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调整销售需求判断</a:t>
            </a:r>
          </a:p>
        </p:txBody>
      </p:sp>
      <p:sp>
        <p:nvSpPr>
          <p:cNvPr id="46" name="更新备货和采购需求">
            <a:extLst xmlns:a="http://schemas.openxmlformats.org/drawingml/2006/main">
              <a:ext uri="{FF2B5EF4-FFF2-40B4-BE49-F238E27FC236}">
                <a16:creationId xmlns:a16="http://schemas.microsoft.com/office/drawing/2014/main" id="{9FF9A042-4485-4C3F-B1EB-31040C15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4346" y="4333113"/>
            <a:ext cx="250240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更新备货和采购需求</a:t>
            </a:r>
          </a:p>
        </p:txBody>
      </p:sp>
      <p:sp>
        <p:nvSpPr>
          <p:cNvPr id="47" name="05">
            <a:extLst xmlns:a="http://schemas.openxmlformats.org/drawingml/2006/main">
              <a:ext uri="{FF2B5EF4-FFF2-40B4-BE49-F238E27FC236}">
                <a16:creationId xmlns:a16="http://schemas.microsoft.com/office/drawing/2014/main" id="{10A5D3C3-0446-48BF-A13D-73522EA1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0" y="2829306"/>
            <a:ext cx="38066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8" name="path-43">
            <a:extLst xmlns:a="http://schemas.openxmlformats.org/drawingml/2006/main">
              <a:ext uri="{FF2B5EF4-FFF2-40B4-BE49-F238E27FC236}">
                <a16:creationId xmlns:a16="http://schemas.microsoft.com/office/drawing/2014/main" id="{EB64289A-9B70-4F40-A606-30F5B101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53000"/>
            <a:ext cx="18783300" cy="1085850"/>
          </a:xfrm>
          <a:custGeom xmlns:a="http://schemas.openxmlformats.org/drawingml/2006/main">
            <a:pathLst>
              <a:path w="18783300" h="1085850">
                <a:moveTo>
                  <a:pt x="18783300" y="0"/>
                </a:moveTo>
                <a:lnTo>
                  <a:pt x="18783300" y="1085850"/>
                </a:lnTo>
                <a:lnTo>
                  <a:pt x="0" y="10858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78E99"/>
            </a:solidFill>
            <a:prstDash val="solid"/>
          </a:ln>
        </p:spPr>
      </p:sp>
      <p:sp>
        <p:nvSpPr>
          <p:cNvPr id="49" name="arrowhead-43">
            <a:extLst xmlns:a="http://schemas.openxmlformats.org/drawingml/2006/main">
              <a:ext uri="{FF2B5EF4-FFF2-40B4-BE49-F238E27FC236}">
                <a16:creationId xmlns:a16="http://schemas.microsoft.com/office/drawing/2014/main" id="{92E441C7-1974-40BF-AFF1-1BB9554E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53000"/>
            <a:ext cx="304800" cy="304800"/>
          </a:xfrm>
          <a:custGeom xmlns:a="http://schemas.openxmlformats.org/drawingml/2006/main">
            <a:pathLst>
              <a:path w="304800" h="304800">
                <a:moveTo>
                  <a:pt x="152400" y="0"/>
                </a:move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50" name="rect-44">
            <a:extLst xmlns:a="http://schemas.openxmlformats.org/drawingml/2006/main">
              <a:ext uri="{FF2B5EF4-FFF2-40B4-BE49-F238E27FC236}">
                <a16:creationId xmlns:a16="http://schemas.microsoft.com/office/drawing/2014/main" id="{72C56E2C-C003-464F-B2F2-F47CAFA6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107" y="5734050"/>
            <a:ext cx="6479286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1" name="下一轮计划 → 采购与执行 → 新的事实结果，再次循环">
            <a:extLst xmlns:a="http://schemas.openxmlformats.org/drawingml/2006/main">
              <a:ext uri="{FF2B5EF4-FFF2-40B4-BE49-F238E27FC236}">
                <a16:creationId xmlns:a16="http://schemas.microsoft.com/office/drawing/2014/main" id="{8472B69A-5F08-4A3B-95F0-64C08D27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656" y="5714619"/>
            <a:ext cx="6362188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下一轮计划 → 采购与执行 → 新的事实结果，再次循环</a:t>
            </a:r>
          </a:p>
        </p:txBody>
      </p:sp>
      <p:sp>
        <p:nvSpPr>
          <p:cNvPr id="52" name="path-46">
            <a:extLst xmlns:a="http://schemas.openxmlformats.org/drawingml/2006/main">
              <a:ext uri="{FF2B5EF4-FFF2-40B4-BE49-F238E27FC236}">
                <a16:creationId xmlns:a16="http://schemas.microsoft.com/office/drawing/2014/main" id="{CC42B1B3-B653-4CE5-8B3D-97CCA982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0934700" cy="476"/>
          </a:xfrm>
          <a:custGeom xmlns:a="http://schemas.openxmlformats.org/drawingml/2006/main">
            <a:pathLst>
              <a:path w="10934700" h="476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8E99"/>
            </a:solidFill>
            <a:prstDash val="solid"/>
          </a:ln>
        </p:spPr>
      </p:sp>
      <p:sp>
        <p:nvSpPr>
          <p:cNvPr id="53" name="path-47">
            <a:extLst xmlns:a="http://schemas.openxmlformats.org/drawingml/2006/main">
              <a:ext uri="{FF2B5EF4-FFF2-40B4-BE49-F238E27FC236}">
                <a16:creationId xmlns:a16="http://schemas.microsoft.com/office/drawing/2014/main" id="{434DDC32-35F3-41E0-9C80-A0ADDCB6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105650"/>
            <a:ext cx="11163300" cy="476"/>
          </a:xfrm>
          <a:custGeom xmlns:a="http://schemas.openxmlformats.org/drawingml/2006/main">
            <a:pathLst>
              <a:path w="11163300" h="476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8E99"/>
            </a:solidFill>
            <a:prstDash val="solid"/>
          </a:ln>
        </p:spPr>
      </p:sp>
      <p:sp>
        <p:nvSpPr>
          <p:cNvPr id="54" name="PMC需要消费的事实">
            <a:extLst xmlns:a="http://schemas.openxmlformats.org/drawingml/2006/main">
              <a:ext uri="{FF2B5EF4-FFF2-40B4-BE49-F238E27FC236}">
                <a16:creationId xmlns:a16="http://schemas.microsoft.com/office/drawing/2014/main" id="{71E0505C-3C0C-44C6-9D99-EB306E3E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3577"/>
            <a:ext cx="3132213" cy="45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PMC需要消费的事实</a:t>
            </a:r>
          </a:p>
        </p:txBody>
      </p:sp>
      <p:sp>
        <p:nvSpPr>
          <p:cNvPr id="55" name="数据责任与计划责任">
            <a:extLst xmlns:a="http://schemas.openxmlformats.org/drawingml/2006/main">
              <a:ext uri="{FF2B5EF4-FFF2-40B4-BE49-F238E27FC236}">
                <a16:creationId xmlns:a16="http://schemas.microsoft.com/office/drawing/2014/main" id="{75D36CB1-3E76-422D-ACC9-CCFEED90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283577"/>
            <a:ext cx="3037332" cy="45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数据责任与计划责任</a:t>
            </a:r>
          </a:p>
        </p:txBody>
      </p:sp>
      <p:sp>
        <p:nvSpPr>
          <p:cNvPr id="56" name="南沙、工厂、海外仓及平台可用库存">
            <a:extLst xmlns:a="http://schemas.openxmlformats.org/drawingml/2006/main">
              <a:ext uri="{FF2B5EF4-FFF2-40B4-BE49-F238E27FC236}">
                <a16:creationId xmlns:a16="http://schemas.microsoft.com/office/drawing/2014/main" id="{4C3A9B52-9D3C-47DA-8377-934C0927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42326"/>
            <a:ext cx="4691634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南沙、工厂、海外仓及平台可用库存</a:t>
            </a:r>
          </a:p>
        </p:txBody>
      </p:sp>
      <p:sp>
        <p:nvSpPr>
          <p:cNvPr id="57" name="采购在途、头程在途与预计到货">
            <a:extLst xmlns:a="http://schemas.openxmlformats.org/drawingml/2006/main">
              <a:ext uri="{FF2B5EF4-FFF2-40B4-BE49-F238E27FC236}">
                <a16:creationId xmlns:a16="http://schemas.microsoft.com/office/drawing/2014/main" id="{7FDDC6F1-CC70-4943-AA77-DB2E9747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32876"/>
            <a:ext cx="4117086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采购在途、头程在途与预计到货</a:t>
            </a:r>
          </a:p>
        </p:txBody>
      </p:sp>
      <p:sp>
        <p:nvSpPr>
          <p:cNvPr id="58" name="供应商履约、生产进度、交期与质量">
            <a:extLst xmlns:a="http://schemas.openxmlformats.org/drawingml/2006/main">
              <a:ext uri="{FF2B5EF4-FFF2-40B4-BE49-F238E27FC236}">
                <a16:creationId xmlns:a16="http://schemas.microsoft.com/office/drawing/2014/main" id="{F70F1EB6-80B7-4530-9569-098C9D91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23426"/>
            <a:ext cx="4691634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供应商履约、生产进度、交期与质量</a:t>
            </a:r>
          </a:p>
        </p:txBody>
      </p:sp>
      <p:sp>
        <p:nvSpPr>
          <p:cNvPr id="59" name="实际销量及经营结果">
            <a:extLst xmlns:a="http://schemas.openxmlformats.org/drawingml/2006/main">
              <a:ext uri="{FF2B5EF4-FFF2-40B4-BE49-F238E27FC236}">
                <a16:creationId xmlns:a16="http://schemas.microsoft.com/office/drawing/2014/main" id="{E6EEB7C0-2CD4-48CC-90AD-CA3A7E98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3976"/>
            <a:ext cx="2680716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实际销量及经营结果</a:t>
            </a:r>
          </a:p>
        </p:txBody>
      </p:sp>
      <p:sp>
        <p:nvSpPr>
          <p:cNvPr id="60" name="领星、库存系统及数仓提供事实">
            <a:extLst xmlns:a="http://schemas.openxmlformats.org/drawingml/2006/main">
              <a:ext uri="{FF2B5EF4-FFF2-40B4-BE49-F238E27FC236}">
                <a16:creationId xmlns:a16="http://schemas.microsoft.com/office/drawing/2014/main" id="{C77C64F4-94B3-4CD5-B544-F5EB3CC7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942326"/>
            <a:ext cx="4117086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领星、库存系统及数仓提供事实</a:t>
            </a:r>
          </a:p>
        </p:txBody>
      </p:sp>
      <p:sp>
        <p:nvSpPr>
          <p:cNvPr id="61" name="商品主数据负责身份与商品关系">
            <a:extLst xmlns:a="http://schemas.openxmlformats.org/drawingml/2006/main">
              <a:ext uri="{FF2B5EF4-FFF2-40B4-BE49-F238E27FC236}">
                <a16:creationId xmlns:a16="http://schemas.microsoft.com/office/drawing/2014/main" id="{B587AEDF-7BA1-4229-8354-51C4CD75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8532876"/>
            <a:ext cx="4117086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商品主数据负责身份与商品关系</a:t>
            </a:r>
          </a:p>
        </p:txBody>
      </p:sp>
      <p:sp>
        <p:nvSpPr>
          <p:cNvPr id="62" name="PMC引用事实，形成计划判断和调整">
            <a:extLst xmlns:a="http://schemas.openxmlformats.org/drawingml/2006/main">
              <a:ext uri="{FF2B5EF4-FFF2-40B4-BE49-F238E27FC236}">
                <a16:creationId xmlns:a16="http://schemas.microsoft.com/office/drawing/2014/main" id="{71D606EB-86E8-4836-AC8B-F95D8370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9123426"/>
            <a:ext cx="4764072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PMC引用事实，形成计划判断和调整</a:t>
            </a:r>
          </a:p>
        </p:txBody>
      </p:sp>
      <p:sp>
        <p:nvSpPr>
          <p:cNvPr id="63" name="原始销售、库存及映射清洗不放在PMC">
            <a:extLst xmlns:a="http://schemas.openxmlformats.org/drawingml/2006/main">
              <a:ext uri="{FF2B5EF4-FFF2-40B4-BE49-F238E27FC236}">
                <a16:creationId xmlns:a16="http://schemas.microsoft.com/office/drawing/2014/main" id="{5D16B63C-D545-47A0-966C-C119F19A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9713976"/>
            <a:ext cx="5051346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原始销售、库存及映射清洗不放在PMC</a:t>
            </a:r>
          </a:p>
        </p:txBody>
      </p:sp>
      <p:sp>
        <p:nvSpPr>
          <p:cNvPr id="64" name="rect-58">
            <a:extLst xmlns:a="http://schemas.openxmlformats.org/drawingml/2006/main">
              <a:ext uri="{FF2B5EF4-FFF2-40B4-BE49-F238E27FC236}">
                <a16:creationId xmlns:a16="http://schemas.microsoft.com/office/drawing/2014/main" id="{9C8699BC-8A15-4B6F-842D-44B5D7FE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96625"/>
            <a:ext cx="23164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5" name="交接结果">
            <a:extLst xmlns:a="http://schemas.openxmlformats.org/drawingml/2006/main">
              <a:ext uri="{FF2B5EF4-FFF2-40B4-BE49-F238E27FC236}">
                <a16:creationId xmlns:a16="http://schemas.microsoft.com/office/drawing/2014/main" id="{80811124-C9D7-48E6-8719-734374BD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1399520"/>
            <a:ext cx="128397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交接结果</a:t>
            </a:r>
          </a:p>
        </p:txBody>
      </p:sp>
      <p:sp>
        <p:nvSpPr>
          <p:cNvPr id="66" name="实际结果持续进入下一轮预测、备货与采购计划">
            <a:extLst xmlns:a="http://schemas.openxmlformats.org/drawingml/2006/main">
              <a:ext uri="{FF2B5EF4-FFF2-40B4-BE49-F238E27FC236}">
                <a16:creationId xmlns:a16="http://schemas.microsoft.com/office/drawing/2014/main" id="{32A1066A-096D-457B-9B21-5139BC65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09426"/>
            <a:ext cx="6128004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实际结果持续进入下一轮预测、备货与采购计划</a:t>
            </a:r>
          </a:p>
        </p:txBody>
      </p:sp>
      <p:sp>
        <p:nvSpPr>
          <p:cNvPr id="67" name="Q4不重建完整WMS、OMS、PMS；接口与库存口径按来源和业务责任落实。">
            <a:extLst xmlns:a="http://schemas.openxmlformats.org/drawingml/2006/main">
              <a:ext uri="{FF2B5EF4-FFF2-40B4-BE49-F238E27FC236}">
                <a16:creationId xmlns:a16="http://schemas.microsoft.com/office/drawing/2014/main" id="{0716C8A0-9283-43DA-B09E-81864B21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30125"/>
            <a:ext cx="8576798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Q4不重建完整WMS、OMS、PMS；接口与库存口径按来源和业务责任落实。</a:t>
            </a:r>
          </a:p>
        </p:txBody>
      </p:sp>
      <p:sp>
        <p:nvSpPr>
          <p:cNvPr id="68" name="path-62">
            <a:extLst xmlns:a="http://schemas.openxmlformats.org/drawingml/2006/main">
              <a:ext uri="{FF2B5EF4-FFF2-40B4-BE49-F238E27FC236}">
                <a16:creationId xmlns:a16="http://schemas.microsoft.com/office/drawing/2014/main" id="{6E5DBA71-AB6C-4707-BAB0-A28F7440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476"/>
          </a:xfrm>
          <a:custGeom xmlns:a="http://schemas.openxmlformats.org/drawingml/2006/main">
            <a:pathLst>
              <a:path w="23164800" h="476">
                <a:moveTo>
                  <a:pt x="0" y="0"/>
                </a:moveTo>
                <a:lnTo>
                  <a:pt x="2316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5E1E9"/>
            </a:solidFill>
            <a:prstDash val="solid"/>
          </a:ln>
        </p:spPr>
      </p:sp>
      <p:sp>
        <p:nvSpPr>
          <p:cNvPr id="69" name="Q4供应链产品建设方案 · 汇报分层版 · 目标业务蓝图，按P0 / P1推进">
            <a:extLst xmlns:a="http://schemas.openxmlformats.org/drawingml/2006/main">
              <a:ext uri="{FF2B5EF4-FFF2-40B4-BE49-F238E27FC236}">
                <a16:creationId xmlns:a16="http://schemas.microsoft.com/office/drawing/2014/main" id="{819D6365-AA26-4E43-ACB7-BF963897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07568"/>
            <a:ext cx="688395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Q4供应链产品建设方案 · 汇报分层版 · 目标业务蓝图，按P0 / P1推进</a:t>
            </a:r>
          </a:p>
        </p:txBody>
      </p:sp>
      <p:sp>
        <p:nvSpPr>
          <p:cNvPr id="70" name="10 / 10">
            <a:extLst xmlns:a="http://schemas.openxmlformats.org/drawingml/2006/main">
              <a:ext uri="{FF2B5EF4-FFF2-40B4-BE49-F238E27FC236}">
                <a16:creationId xmlns:a16="http://schemas.microsoft.com/office/drawing/2014/main" id="{E5A74432-9F6E-4ED6-8C82-A3699A8A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5575" y="13307568"/>
            <a:ext cx="788825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659298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2026-09-16T07:26:17.7950000Z</dcterms:created>
  <dcterms:modified xsi:type="dcterms:W3CDTF">2026-09-16T07:26:17.7950000Z</dcterms:modified>
</coreProperties>
</file>