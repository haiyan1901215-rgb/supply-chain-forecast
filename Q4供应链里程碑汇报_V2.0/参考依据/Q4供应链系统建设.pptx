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24384000" cy="13716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Q4供应链建设全景"/>
          <p:cNvSpPr>
            <a:spLocks noGrp="1"/>
          </p:cNvSpPr>
          <p:nvPr/>
        </p:nvSpPr>
        <p:spPr>
          <a:xfrm>
            <a:off x="904875" y="533781"/>
            <a:ext cx="4160425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Q4供应链建设全景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2026 Q4 / V3.0"/>
          <p:cNvSpPr>
            <a:spLocks noGrp="1"/>
          </p:cNvSpPr>
          <p:nvPr/>
        </p:nvSpPr>
        <p:spPr>
          <a:xfrm>
            <a:off x="21847004" y="647700"/>
            <a:ext cx="1927396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2026 Q4 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以PMC计划为起点，打通需求、计划、采购、执行、交付与库存的滚动闭环"/>
          <p:cNvSpPr>
            <a:spLocks noGrp="1"/>
          </p:cNvSpPr>
          <p:nvPr/>
        </p:nvSpPr>
        <p:spPr>
          <a:xfrm>
            <a:off x="609600" y="1570863"/>
            <a:ext cx="8988981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以PMC计划为起点，打通需求、计划、采购、执行、交付与库存的滚动闭环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01 / 先看全局"/>
          <p:cNvSpPr>
            <a:spLocks noGrp="1"/>
          </p:cNvSpPr>
          <p:nvPr/>
        </p:nvSpPr>
        <p:spPr>
          <a:xfrm>
            <a:off x="22274046" y="1610487"/>
            <a:ext cx="1500354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72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01 / 先看全局</a:t>
            </a:r>
            <a:endParaRPr sz="172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th-8"/>
          <p:cNvSpPr>
            <a:spLocks noGrp="1"/>
          </p:cNvSpPr>
          <p:nvPr/>
        </p:nvSpPr>
        <p:spPr>
          <a:xfrm>
            <a:off x="762000" y="2990850"/>
            <a:ext cx="3143250" cy="1200150"/>
          </a:xfrm>
          <a:custGeom>
            <a:avLst/>
            <a:gdLst/>
            <a:ahLst/>
            <a:cxnLst/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>
            <a:srgbClr val="008DD5"/>
          </a:solidFill>
          <a:ln w="0">
            <a:noFill/>
            <a:prstDash val="solid"/>
          </a:ln>
        </p:spPr>
      </p:sp>
      <p:sp>
        <p:nvSpPr>
          <p:cNvPr id="10" name="需求预测"/>
          <p:cNvSpPr>
            <a:spLocks noGrp="1"/>
          </p:cNvSpPr>
          <p:nvPr/>
        </p:nvSpPr>
        <p:spPr>
          <a:xfrm>
            <a:off x="1580007" y="3328416"/>
            <a:ext cx="1640586" cy="5386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需求预测</a:t>
            </a:r>
            <a:endParaRPr sz="29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销售 / PMC"/>
          <p:cNvSpPr>
            <a:spLocks noGrp="1"/>
          </p:cNvSpPr>
          <p:nvPr/>
        </p:nvSpPr>
        <p:spPr>
          <a:xfrm>
            <a:off x="1503581" y="4494276"/>
            <a:ext cx="166008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销售 / PMC</a:t>
            </a:r>
            <a:endParaRPr sz="2175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path-11"/>
          <p:cNvSpPr>
            <a:spLocks noGrp="1"/>
          </p:cNvSpPr>
          <p:nvPr/>
        </p:nvSpPr>
        <p:spPr>
          <a:xfrm>
            <a:off x="4038600" y="2990850"/>
            <a:ext cx="3143250" cy="1200150"/>
          </a:xfrm>
          <a:custGeom>
            <a:avLst/>
            <a:gdLst/>
            <a:ahLst/>
            <a:cxnLst/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>
            <a:srgbClr val="008DD5"/>
          </a:solidFill>
          <a:ln w="0">
            <a:noFill/>
            <a:prstDash val="solid"/>
          </a:ln>
        </p:spPr>
      </p:sp>
      <p:sp>
        <p:nvSpPr>
          <p:cNvPr id="13" name="备货计划"/>
          <p:cNvSpPr>
            <a:spLocks noGrp="1"/>
          </p:cNvSpPr>
          <p:nvPr/>
        </p:nvSpPr>
        <p:spPr>
          <a:xfrm>
            <a:off x="4856607" y="3328416"/>
            <a:ext cx="1640586" cy="5386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备货计划</a:t>
            </a:r>
            <a:endParaRPr sz="29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PMC"/>
          <p:cNvSpPr>
            <a:spLocks noGrp="1"/>
          </p:cNvSpPr>
          <p:nvPr/>
        </p:nvSpPr>
        <p:spPr>
          <a:xfrm>
            <a:off x="5234928" y="4494276"/>
            <a:ext cx="75059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PMC</a:t>
            </a:r>
            <a:endParaRPr sz="2175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path-14"/>
          <p:cNvSpPr>
            <a:spLocks noGrp="1"/>
          </p:cNvSpPr>
          <p:nvPr/>
        </p:nvSpPr>
        <p:spPr>
          <a:xfrm>
            <a:off x="7315200" y="2990850"/>
            <a:ext cx="3143250" cy="1200150"/>
          </a:xfrm>
          <a:custGeom>
            <a:avLst/>
            <a:gdLst/>
            <a:ahLst/>
            <a:cxnLst/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>
            <a:srgbClr val="DC8226"/>
          </a:solidFill>
          <a:ln w="0">
            <a:noFill/>
            <a:prstDash val="solid"/>
          </a:ln>
        </p:spPr>
      </p:sp>
      <p:sp>
        <p:nvSpPr>
          <p:cNvPr id="16" name="采购执行"/>
          <p:cNvSpPr>
            <a:spLocks noGrp="1"/>
          </p:cNvSpPr>
          <p:nvPr/>
        </p:nvSpPr>
        <p:spPr>
          <a:xfrm>
            <a:off x="8133207" y="3328416"/>
            <a:ext cx="1640586" cy="5386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采购执行</a:t>
            </a:r>
            <a:endParaRPr sz="29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SCM"/>
          <p:cNvSpPr>
            <a:spLocks noGrp="1"/>
          </p:cNvSpPr>
          <p:nvPr/>
        </p:nvSpPr>
        <p:spPr>
          <a:xfrm>
            <a:off x="8512225" y="4494276"/>
            <a:ext cx="749201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SCM</a:t>
            </a:r>
            <a:endParaRPr sz="2175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path-17"/>
          <p:cNvSpPr>
            <a:spLocks noGrp="1"/>
          </p:cNvSpPr>
          <p:nvPr/>
        </p:nvSpPr>
        <p:spPr>
          <a:xfrm>
            <a:off x="10591800" y="2990850"/>
            <a:ext cx="3143250" cy="1200150"/>
          </a:xfrm>
          <a:custGeom>
            <a:avLst/>
            <a:gdLst/>
            <a:ahLst/>
            <a:cxnLst/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>
            <a:srgbClr val="DC8226"/>
          </a:solidFill>
          <a:ln w="0">
            <a:noFill/>
            <a:prstDash val="solid"/>
          </a:ln>
        </p:spPr>
      </p:sp>
      <p:sp>
        <p:nvSpPr>
          <p:cNvPr id="19" name="供应商协同"/>
          <p:cNvSpPr>
            <a:spLocks noGrp="1"/>
          </p:cNvSpPr>
          <p:nvPr/>
        </p:nvSpPr>
        <p:spPr>
          <a:xfrm>
            <a:off x="11216640" y="3328416"/>
            <a:ext cx="2026920" cy="5386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供应商协同</a:t>
            </a:r>
            <a:endParaRPr sz="29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CM / 供应商"/>
          <p:cNvSpPr>
            <a:spLocks noGrp="1"/>
          </p:cNvSpPr>
          <p:nvPr/>
        </p:nvSpPr>
        <p:spPr>
          <a:xfrm>
            <a:off x="11190440" y="4494276"/>
            <a:ext cx="1945969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SCM / 供应商</a:t>
            </a:r>
            <a:endParaRPr sz="2175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th-20"/>
          <p:cNvSpPr>
            <a:spLocks noGrp="1"/>
          </p:cNvSpPr>
          <p:nvPr/>
        </p:nvSpPr>
        <p:spPr>
          <a:xfrm>
            <a:off x="13868400" y="2990850"/>
            <a:ext cx="3143250" cy="1200150"/>
          </a:xfrm>
          <a:custGeom>
            <a:avLst/>
            <a:gdLst/>
            <a:ahLst/>
            <a:cxnLst/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>
            <a:srgbClr val="54963C"/>
          </a:solidFill>
          <a:ln w="0">
            <a:noFill/>
            <a:prstDash val="solid"/>
          </a:ln>
        </p:spPr>
      </p:sp>
      <p:sp>
        <p:nvSpPr>
          <p:cNvPr id="22" name="生产"/>
          <p:cNvSpPr>
            <a:spLocks noGrp="1"/>
          </p:cNvSpPr>
          <p:nvPr/>
        </p:nvSpPr>
        <p:spPr>
          <a:xfrm>
            <a:off x="15072741" y="3328416"/>
            <a:ext cx="867918" cy="5386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</a:t>
            </a:r>
            <a:endParaRPr sz="29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已有MES / 工厂"/>
          <p:cNvSpPr>
            <a:spLocks noGrp="1"/>
          </p:cNvSpPr>
          <p:nvPr/>
        </p:nvSpPr>
        <p:spPr>
          <a:xfrm>
            <a:off x="14336328" y="4494276"/>
            <a:ext cx="2207395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已有MES / 工厂</a:t>
            </a:r>
            <a:endParaRPr sz="2175" b="0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3"/>
          <p:cNvSpPr>
            <a:spLocks noGrp="1"/>
          </p:cNvSpPr>
          <p:nvPr/>
        </p:nvSpPr>
        <p:spPr>
          <a:xfrm>
            <a:off x="17145000" y="2990850"/>
            <a:ext cx="3143250" cy="1200150"/>
          </a:xfrm>
          <a:custGeom>
            <a:avLst/>
            <a:gdLst/>
            <a:ahLst/>
            <a:cxnLst/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>
            <a:srgbClr val="078E99"/>
          </a:solidFill>
          <a:ln w="0">
            <a:noFill/>
            <a:prstDash val="solid"/>
          </a:ln>
        </p:spPr>
      </p:sp>
      <p:sp>
        <p:nvSpPr>
          <p:cNvPr id="25" name="交付"/>
          <p:cNvSpPr>
            <a:spLocks noGrp="1"/>
          </p:cNvSpPr>
          <p:nvPr/>
        </p:nvSpPr>
        <p:spPr>
          <a:xfrm>
            <a:off x="18349341" y="3328416"/>
            <a:ext cx="867918" cy="5386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</a:t>
            </a:r>
            <a:endParaRPr sz="29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QC / 供应商"/>
          <p:cNvSpPr>
            <a:spLocks noGrp="1"/>
          </p:cNvSpPr>
          <p:nvPr/>
        </p:nvSpPr>
        <p:spPr>
          <a:xfrm>
            <a:off x="17854541" y="4494276"/>
            <a:ext cx="172416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QC / 供应商</a:t>
            </a:r>
            <a:endParaRPr sz="2175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path-26"/>
          <p:cNvSpPr>
            <a:spLocks noGrp="1"/>
          </p:cNvSpPr>
          <p:nvPr/>
        </p:nvSpPr>
        <p:spPr>
          <a:xfrm>
            <a:off x="20421600" y="2990850"/>
            <a:ext cx="3143250" cy="1200150"/>
          </a:xfrm>
          <a:custGeom>
            <a:avLst/>
            <a:gdLst/>
            <a:ahLst/>
            <a:cxnLst/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>
            <a:srgbClr val="078E99"/>
          </a:solidFill>
          <a:ln w="0">
            <a:noFill/>
            <a:prstDash val="solid"/>
          </a:ln>
        </p:spPr>
      </p:sp>
      <p:sp>
        <p:nvSpPr>
          <p:cNvPr id="28" name="库存"/>
          <p:cNvSpPr>
            <a:spLocks noGrp="1"/>
          </p:cNvSpPr>
          <p:nvPr/>
        </p:nvSpPr>
        <p:spPr>
          <a:xfrm>
            <a:off x="21625941" y="3328416"/>
            <a:ext cx="867918" cy="5386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</a:t>
            </a:r>
            <a:endParaRPr sz="29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仓储 / 领星"/>
          <p:cNvSpPr>
            <a:spLocks noGrp="1"/>
          </p:cNvSpPr>
          <p:nvPr/>
        </p:nvSpPr>
        <p:spPr>
          <a:xfrm>
            <a:off x="21203501" y="4494276"/>
            <a:ext cx="1579447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仓储 / 领星</a:t>
            </a:r>
            <a:endParaRPr sz="2175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path-29"/>
          <p:cNvSpPr>
            <a:spLocks noGrp="1"/>
          </p:cNvSpPr>
          <p:nvPr/>
        </p:nvSpPr>
        <p:spPr>
          <a:xfrm>
            <a:off x="762000" y="2581275"/>
            <a:ext cx="12858750" cy="476"/>
          </a:xfrm>
          <a:custGeom>
            <a:avLst/>
            <a:gdLst/>
            <a:ahLst/>
            <a:cxnLst/>
            <a:pathLst>
              <a:path w="12858750" h="476">
                <a:moveTo>
                  <a:pt x="0" y="0"/>
                </a:moveTo>
                <a:lnTo>
                  <a:pt x="12858750" y="0"/>
                </a:lnTo>
              </a:path>
            </a:pathLst>
          </a:custGeom>
          <a:noFill/>
          <a:ln w="47625">
            <a:solidFill>
              <a:srgbClr val="008DD5"/>
            </a:solidFill>
            <a:prstDash val="solid"/>
          </a:ln>
        </p:spPr>
      </p:sp>
      <p:sp>
        <p:nvSpPr>
          <p:cNvPr id="31" name="P0：计划 → 采购 → 供应商执行状态"/>
          <p:cNvSpPr>
            <a:spLocks noGrp="1"/>
          </p:cNvSpPr>
          <p:nvPr/>
        </p:nvSpPr>
        <p:spPr>
          <a:xfrm>
            <a:off x="762000" y="2132457"/>
            <a:ext cx="4695968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P0：计划 → 采购 → 供应商执行状态</a:t>
            </a:r>
            <a:endParaRPr sz="21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31"/>
          <p:cNvSpPr>
            <a:spLocks noGrp="1"/>
          </p:cNvSpPr>
          <p:nvPr/>
        </p:nvSpPr>
        <p:spPr>
          <a:xfrm>
            <a:off x="14001750" y="2581275"/>
            <a:ext cx="9620250" cy="476"/>
          </a:xfrm>
          <a:custGeom>
            <a:avLst/>
            <a:gdLst/>
            <a:ahLst/>
            <a:cxnLst/>
            <a:pathLst>
              <a:path w="9620250" h="476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47625">
            <a:solidFill>
              <a:srgbClr val="54963C"/>
            </a:solidFill>
            <a:prstDash val="solid"/>
          </a:ln>
        </p:spPr>
      </p:sp>
      <p:sp>
        <p:nvSpPr>
          <p:cNvPr id="33" name="已有能力协同接入，按阶段落地"/>
          <p:cNvSpPr>
            <a:spLocks noGrp="1"/>
          </p:cNvSpPr>
          <p:nvPr/>
        </p:nvSpPr>
        <p:spPr>
          <a:xfrm>
            <a:off x="14001750" y="2132457"/>
            <a:ext cx="3978402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已有能力协同接入，按阶段落地</a:t>
            </a:r>
            <a:endParaRPr sz="2100" b="1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ect-33"/>
          <p:cNvSpPr>
            <a:spLocks noGrp="1"/>
          </p:cNvSpPr>
          <p:nvPr/>
        </p:nvSpPr>
        <p:spPr>
          <a:xfrm>
            <a:off x="1066800" y="6181725"/>
            <a:ext cx="4286250" cy="135255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35" name="rect-34"/>
          <p:cNvSpPr>
            <a:spLocks noGrp="1"/>
          </p:cNvSpPr>
          <p:nvPr/>
        </p:nvSpPr>
        <p:spPr>
          <a:xfrm>
            <a:off x="1066800" y="6181725"/>
            <a:ext cx="47625" cy="135255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36" name="下一轮滚动计划"/>
          <p:cNvSpPr>
            <a:spLocks noGrp="1"/>
          </p:cNvSpPr>
          <p:nvPr/>
        </p:nvSpPr>
        <p:spPr>
          <a:xfrm>
            <a:off x="1983486" y="6283071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下一轮滚动计划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用实际执行结果校准需求与供给"/>
          <p:cNvSpPr>
            <a:spLocks noGrp="1"/>
          </p:cNvSpPr>
          <p:nvPr/>
        </p:nvSpPr>
        <p:spPr>
          <a:xfrm>
            <a:off x="1290066" y="6828663"/>
            <a:ext cx="383971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用实际执行结果校准需求与供给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path-37"/>
          <p:cNvSpPr>
            <a:spLocks noGrp="1"/>
          </p:cNvSpPr>
          <p:nvPr/>
        </p:nvSpPr>
        <p:spPr>
          <a:xfrm>
            <a:off x="5353050" y="4191635"/>
            <a:ext cx="17694275" cy="2666365"/>
          </a:xfrm>
          <a:custGeom>
            <a:avLst/>
            <a:gdLst/>
            <a:ahLst/>
            <a:cxnLst/>
            <a:pathLst>
              <a:path w="17887950" h="2667000">
                <a:moveTo>
                  <a:pt x="17887950" y="0"/>
                </a:moveTo>
                <a:lnTo>
                  <a:pt x="17887950" y="2667000"/>
                </a:lnTo>
                <a:lnTo>
                  <a:pt x="0" y="2667000"/>
                </a:lnTo>
              </a:path>
            </a:pathLst>
          </a:custGeom>
          <a:noFill/>
          <a:ln w="47625">
            <a:solidFill>
              <a:srgbClr val="078E99"/>
            </a:solidFill>
            <a:prstDash val="solid"/>
          </a:ln>
        </p:spPr>
      </p:sp>
      <p:sp>
        <p:nvSpPr>
          <p:cNvPr id="39" name="arrowhead-37"/>
          <p:cNvSpPr>
            <a:spLocks noGrp="1"/>
          </p:cNvSpPr>
          <p:nvPr/>
        </p:nvSpPr>
        <p:spPr>
          <a:xfrm>
            <a:off x="5353050" y="6667500"/>
            <a:ext cx="381000" cy="381000"/>
          </a:xfrm>
          <a:custGeom>
            <a:avLst/>
            <a:gdLst/>
            <a:ahLst/>
            <a:cxnLst/>
            <a:pathLst>
              <a:path w="381000" h="381000">
                <a:moveTo>
                  <a:pt x="0" y="190500"/>
                </a:moveTo>
                <a:lnTo>
                  <a:pt x="38100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40" name="rect-38"/>
          <p:cNvSpPr>
            <a:spLocks noGrp="1"/>
          </p:cNvSpPr>
          <p:nvPr/>
        </p:nvSpPr>
        <p:spPr>
          <a:xfrm>
            <a:off x="10580370" y="6660000"/>
            <a:ext cx="6842760" cy="40005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41" name="实际销量 / 库存 / 在途 / 交期 / 生产 / 质量"/>
          <p:cNvSpPr>
            <a:spLocks noGrp="1"/>
          </p:cNvSpPr>
          <p:nvPr/>
        </p:nvSpPr>
        <p:spPr>
          <a:xfrm>
            <a:off x="10909346" y="6624000"/>
            <a:ext cx="6184809" cy="4281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实际销量 / 库存 / 在途 / 交期 / 生产 / 质量</a:t>
            </a:r>
            <a:endParaRPr sz="2325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path-40"/>
          <p:cNvSpPr>
            <a:spLocks noGrp="1"/>
          </p:cNvSpPr>
          <p:nvPr/>
        </p:nvSpPr>
        <p:spPr>
          <a:xfrm>
            <a:off x="317500" y="3590925"/>
            <a:ext cx="749300" cy="3267075"/>
          </a:xfrm>
          <a:custGeom>
            <a:avLst/>
            <a:gdLst/>
            <a:ahLst/>
            <a:cxnLst/>
            <a:pathLst>
              <a:path w="457200" h="3267075">
                <a:moveTo>
                  <a:pt x="457200" y="3267075"/>
                </a:moveTo>
                <a:lnTo>
                  <a:pt x="0" y="3267075"/>
                </a:lnTo>
                <a:lnTo>
                  <a:pt x="0" y="0"/>
                </a:lnTo>
                <a:lnTo>
                  <a:pt x="152400" y="0"/>
                </a:lnTo>
              </a:path>
            </a:pathLst>
          </a:custGeom>
          <a:noFill/>
          <a:ln w="38100">
            <a:solidFill>
              <a:srgbClr val="008DD5"/>
            </a:solidFill>
            <a:prstDash val="solid"/>
          </a:ln>
        </p:spPr>
      </p:sp>
      <p:sp>
        <p:nvSpPr>
          <p:cNvPr id="43" name="arrowhead-40"/>
          <p:cNvSpPr>
            <a:spLocks noGrp="1"/>
          </p:cNvSpPr>
          <p:nvPr/>
        </p:nvSpPr>
        <p:spPr>
          <a:xfrm>
            <a:off x="569595" y="3430270"/>
            <a:ext cx="192405" cy="313055"/>
          </a:xfrm>
          <a:custGeom>
            <a:avLst/>
            <a:gdLst/>
            <a:ahLst/>
            <a:cxnLst/>
            <a:pathLst>
              <a:path w="304800" h="304800">
                <a:moveTo>
                  <a:pt x="304800" y="152400"/>
                </a:move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44" name="四个建设域，共同承接一条业务链"/>
          <p:cNvSpPr>
            <a:spLocks noGrp="1"/>
          </p:cNvSpPr>
          <p:nvPr/>
        </p:nvSpPr>
        <p:spPr>
          <a:xfrm>
            <a:off x="609600" y="8102346"/>
            <a:ext cx="5147310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四个建设域，共同承接一条业务链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path-42"/>
          <p:cNvSpPr>
            <a:spLocks noGrp="1"/>
          </p:cNvSpPr>
          <p:nvPr/>
        </p:nvSpPr>
        <p:spPr>
          <a:xfrm>
            <a:off x="609600" y="8734425"/>
            <a:ext cx="5514975" cy="476"/>
          </a:xfrm>
          <a:custGeom>
            <a:avLst/>
            <a:gdLst/>
            <a:ahLst/>
            <a:cxnLst/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/>
          <a:ln w="38100">
            <a:solidFill>
              <a:srgbClr val="008DD5"/>
            </a:solidFill>
            <a:prstDash val="solid"/>
          </a:ln>
        </p:spPr>
      </p:sp>
      <p:sp>
        <p:nvSpPr>
          <p:cNvPr id="46" name="PMC计划"/>
          <p:cNvSpPr>
            <a:spLocks noGrp="1"/>
          </p:cNvSpPr>
          <p:nvPr/>
        </p:nvSpPr>
        <p:spPr>
          <a:xfrm>
            <a:off x="609600" y="8979027"/>
            <a:ext cx="1497723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PMC计划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P0 · 需求与备货决策"/>
          <p:cNvSpPr>
            <a:spLocks noGrp="1"/>
          </p:cNvSpPr>
          <p:nvPr/>
        </p:nvSpPr>
        <p:spPr>
          <a:xfrm>
            <a:off x="609600" y="9533382"/>
            <a:ext cx="2704862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P0 · 需求与备货决策</a:t>
            </a:r>
            <a:endParaRPr sz="210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5"/>
          <p:cNvSpPr>
            <a:spLocks noGrp="1"/>
          </p:cNvSpPr>
          <p:nvPr/>
        </p:nvSpPr>
        <p:spPr>
          <a:xfrm>
            <a:off x="6477000" y="8734425"/>
            <a:ext cx="5514975" cy="476"/>
          </a:xfrm>
          <a:custGeom>
            <a:avLst/>
            <a:gdLst/>
            <a:ahLst/>
            <a:cxnLst/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/>
          <a:ln w="38100">
            <a:solidFill>
              <a:srgbClr val="7B60A8"/>
            </a:solidFill>
            <a:prstDash val="solid"/>
          </a:ln>
        </p:spPr>
      </p:sp>
      <p:sp>
        <p:nvSpPr>
          <p:cNvPr id="49" name="MRP面辅料计划"/>
          <p:cNvSpPr>
            <a:spLocks noGrp="1"/>
          </p:cNvSpPr>
          <p:nvPr/>
        </p:nvSpPr>
        <p:spPr>
          <a:xfrm>
            <a:off x="6477000" y="8979027"/>
            <a:ext cx="2466963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MRP面辅料计划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P1 · 与成衣采购并行"/>
          <p:cNvSpPr>
            <a:spLocks noGrp="1"/>
          </p:cNvSpPr>
          <p:nvPr/>
        </p:nvSpPr>
        <p:spPr>
          <a:xfrm>
            <a:off x="6477000" y="9533382"/>
            <a:ext cx="2649605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P1 · 与成衣采购并行</a:t>
            </a:r>
            <a:endParaRPr sz="210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path-48"/>
          <p:cNvSpPr>
            <a:spLocks noGrp="1"/>
          </p:cNvSpPr>
          <p:nvPr/>
        </p:nvSpPr>
        <p:spPr>
          <a:xfrm>
            <a:off x="12344400" y="8734425"/>
            <a:ext cx="5514975" cy="476"/>
          </a:xfrm>
          <a:custGeom>
            <a:avLst/>
            <a:gdLst/>
            <a:ahLst/>
            <a:cxnLst/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/>
          <a:ln w="38100">
            <a:solidFill>
              <a:srgbClr val="DC8226"/>
            </a:solidFill>
            <a:prstDash val="solid"/>
          </a:ln>
        </p:spPr>
      </p:sp>
      <p:sp>
        <p:nvSpPr>
          <p:cNvPr id="52" name="SCM采购"/>
          <p:cNvSpPr>
            <a:spLocks noGrp="1"/>
          </p:cNvSpPr>
          <p:nvPr/>
        </p:nvSpPr>
        <p:spPr>
          <a:xfrm>
            <a:off x="12344400" y="8979027"/>
            <a:ext cx="1496485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SCM采购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P0 · PR / PO与供应商协同"/>
          <p:cNvSpPr>
            <a:spLocks noGrp="1"/>
          </p:cNvSpPr>
          <p:nvPr/>
        </p:nvSpPr>
        <p:spPr>
          <a:xfrm>
            <a:off x="12344400" y="9533382"/>
            <a:ext cx="3507248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P0 · PR / PO与供应商协同</a:t>
            </a:r>
            <a:endParaRPr sz="2100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path-51"/>
          <p:cNvSpPr>
            <a:spLocks noGrp="1"/>
          </p:cNvSpPr>
          <p:nvPr/>
        </p:nvSpPr>
        <p:spPr>
          <a:xfrm>
            <a:off x="18211800" y="8734425"/>
            <a:ext cx="5514975" cy="476"/>
          </a:xfrm>
          <a:custGeom>
            <a:avLst/>
            <a:gdLst/>
            <a:ahLst/>
            <a:cxnLst/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/>
          <a:ln w="38100">
            <a:solidFill>
              <a:srgbClr val="54963C"/>
            </a:solidFill>
            <a:prstDash val="solid"/>
          </a:ln>
        </p:spPr>
      </p:sp>
      <p:sp>
        <p:nvSpPr>
          <p:cNvPr id="55" name="执行与生产协同"/>
          <p:cNvSpPr>
            <a:spLocks noGrp="1"/>
          </p:cNvSpPr>
          <p:nvPr/>
        </p:nvSpPr>
        <p:spPr>
          <a:xfrm>
            <a:off x="18211800" y="8979027"/>
            <a:ext cx="2383536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执行与生产协同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P0状态 · P1已有MES协同"/>
          <p:cNvSpPr>
            <a:spLocks noGrp="1"/>
          </p:cNvSpPr>
          <p:nvPr/>
        </p:nvSpPr>
        <p:spPr>
          <a:xfrm>
            <a:off x="18211800" y="9533382"/>
            <a:ext cx="3313307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P0状态 · P1已有MES协同</a:t>
            </a:r>
            <a:endParaRPr sz="2100" b="0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rect-54"/>
          <p:cNvSpPr>
            <a:spLocks noGrp="1"/>
          </p:cNvSpPr>
          <p:nvPr/>
        </p:nvSpPr>
        <p:spPr>
          <a:xfrm>
            <a:off x="609600" y="10668000"/>
            <a:ext cx="23164800" cy="165735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58" name="数据基础层"/>
          <p:cNvSpPr>
            <a:spLocks noGrp="1"/>
          </p:cNvSpPr>
          <p:nvPr/>
        </p:nvSpPr>
        <p:spPr>
          <a:xfrm>
            <a:off x="857250" y="10790301"/>
            <a:ext cx="153162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数据基础层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商品主数据"/>
          <p:cNvSpPr>
            <a:spLocks noGrp="1"/>
          </p:cNvSpPr>
          <p:nvPr/>
        </p:nvSpPr>
        <p:spPr>
          <a:xfrm>
            <a:off x="3390900" y="10914507"/>
            <a:ext cx="1482090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商品主数据</a:t>
            </a:r>
            <a:endParaRPr sz="21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商品身份 / SKU版本"/>
          <p:cNvSpPr>
            <a:spLocks noGrp="1"/>
          </p:cNvSpPr>
          <p:nvPr/>
        </p:nvSpPr>
        <p:spPr>
          <a:xfrm>
            <a:off x="3390900" y="11381994"/>
            <a:ext cx="2465415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商品身份 / SKU版本</a:t>
            </a:r>
            <a:endParaRPr sz="195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PLM / BOM"/>
          <p:cNvSpPr>
            <a:spLocks noGrp="1"/>
          </p:cNvSpPr>
          <p:nvPr/>
        </p:nvSpPr>
        <p:spPr>
          <a:xfrm>
            <a:off x="8448675" y="10914507"/>
            <a:ext cx="1671852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PLM / BOM</a:t>
            </a:r>
            <a:endParaRPr sz="21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技术与物料资料"/>
          <p:cNvSpPr>
            <a:spLocks noGrp="1"/>
          </p:cNvSpPr>
          <p:nvPr/>
        </p:nvSpPr>
        <p:spPr>
          <a:xfrm>
            <a:off x="8448675" y="11381994"/>
            <a:ext cx="1898142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技术与物料资料</a:t>
            </a:r>
            <a:endParaRPr sz="195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领星 / 库存 / 数仓"/>
          <p:cNvSpPr>
            <a:spLocks noGrp="1"/>
          </p:cNvSpPr>
          <p:nvPr/>
        </p:nvSpPr>
        <p:spPr>
          <a:xfrm>
            <a:off x="13506450" y="10914507"/>
            <a:ext cx="2406289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领星 / 库存 / 数仓</a:t>
            </a:r>
            <a:endParaRPr sz="21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销量 / 库存 / 在途"/>
          <p:cNvSpPr>
            <a:spLocks noGrp="1"/>
          </p:cNvSpPr>
          <p:nvPr/>
        </p:nvSpPr>
        <p:spPr>
          <a:xfrm>
            <a:off x="13506450" y="11381994"/>
            <a:ext cx="2241292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销量 / 库存 / 在途</a:t>
            </a:r>
            <a:endParaRPr sz="195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供应商数据"/>
          <p:cNvSpPr>
            <a:spLocks noGrp="1"/>
          </p:cNvSpPr>
          <p:nvPr/>
        </p:nvSpPr>
        <p:spPr>
          <a:xfrm>
            <a:off x="18564225" y="10914507"/>
            <a:ext cx="1482090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供应商数据</a:t>
            </a:r>
            <a:endParaRPr sz="21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产能 / 交期 / 成本"/>
          <p:cNvSpPr>
            <a:spLocks noGrp="1"/>
          </p:cNvSpPr>
          <p:nvPr/>
        </p:nvSpPr>
        <p:spPr>
          <a:xfrm>
            <a:off x="18564225" y="11381994"/>
            <a:ext cx="2241292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产能 / 交期 / 成本</a:t>
            </a:r>
            <a:endParaRPr sz="195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为PMC / MRP / SCM提供依据；数据正确性与清洗由来源系统及数据责任方承担。"/>
          <p:cNvSpPr>
            <a:spLocks noGrp="1"/>
          </p:cNvSpPr>
          <p:nvPr/>
        </p:nvSpPr>
        <p:spPr>
          <a:xfrm>
            <a:off x="3390900" y="11811000"/>
            <a:ext cx="9264801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为PMC / MRP / SCM提供依据；数据正确性与清洗由来源系统及数据责任方承担。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范围：不重建完整WMS、OMS、PMS；QC与入库能力按关键节点协同接入。"/>
          <p:cNvSpPr>
            <a:spLocks noGrp="1"/>
          </p:cNvSpPr>
          <p:nvPr/>
        </p:nvSpPr>
        <p:spPr>
          <a:xfrm>
            <a:off x="609600" y="12524994"/>
            <a:ext cx="8949047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范围：不重建完整WMS、OMS、PMS；QC与入库能力按关键节点协同接入。</a:t>
            </a:r>
            <a:endParaRPr sz="1950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path-66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1" name="01 / 10"/>
          <p:cNvSpPr>
            <a:spLocks noGrp="1"/>
          </p:cNvSpPr>
          <p:nvPr/>
        </p:nvSpPr>
        <p:spPr>
          <a:xfrm>
            <a:off x="22985575" y="13307568"/>
            <a:ext cx="788825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01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5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25400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系统与职责边界"/>
          <p:cNvSpPr>
            <a:spLocks noGrp="1"/>
          </p:cNvSpPr>
          <p:nvPr/>
        </p:nvSpPr>
        <p:spPr>
          <a:xfrm>
            <a:off x="904875" y="533781"/>
            <a:ext cx="3493008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系统与职责边界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PMC确定买什么、买多少、什么时候要；采购决定向谁买、如何分配及以什么PO执行"/>
          <p:cNvSpPr>
            <a:spLocks noGrp="1"/>
          </p:cNvSpPr>
          <p:nvPr/>
        </p:nvSpPr>
        <p:spPr>
          <a:xfrm>
            <a:off x="609600" y="1570863"/>
            <a:ext cx="10168259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PMC确定买什么、买多少、什么时候要；采购决定向谁买、如何分配及以什么PO执行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-8"/>
          <p:cNvSpPr>
            <a:spLocks noGrp="1"/>
          </p:cNvSpPr>
          <p:nvPr/>
        </p:nvSpPr>
        <p:spPr>
          <a:xfrm>
            <a:off x="1619250" y="2667000"/>
            <a:ext cx="4476750" cy="14287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10" name="rect-9"/>
          <p:cNvSpPr>
            <a:spLocks noGrp="1"/>
          </p:cNvSpPr>
          <p:nvPr/>
        </p:nvSpPr>
        <p:spPr>
          <a:xfrm>
            <a:off x="1619250" y="2667000"/>
            <a:ext cx="47625" cy="142875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11" name="销售 / 运营"/>
          <p:cNvSpPr>
            <a:spLocks noGrp="1"/>
          </p:cNvSpPr>
          <p:nvPr/>
        </p:nvSpPr>
        <p:spPr>
          <a:xfrm>
            <a:off x="2939975" y="2768346"/>
            <a:ext cx="1835301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销售 / 运营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提供日级需求、活动与人工判断"/>
          <p:cNvSpPr>
            <a:spLocks noGrp="1"/>
          </p:cNvSpPr>
          <p:nvPr/>
        </p:nvSpPr>
        <p:spPr>
          <a:xfrm>
            <a:off x="1937766" y="3313938"/>
            <a:ext cx="383971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提供日级需求、活动与人工判断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-12"/>
          <p:cNvSpPr>
            <a:spLocks noGrp="1"/>
          </p:cNvSpPr>
          <p:nvPr/>
        </p:nvSpPr>
        <p:spPr>
          <a:xfrm>
            <a:off x="9525000" y="2514600"/>
            <a:ext cx="5143500" cy="154305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14" name="rect-13"/>
          <p:cNvSpPr>
            <a:spLocks noGrp="1"/>
          </p:cNvSpPr>
          <p:nvPr/>
        </p:nvSpPr>
        <p:spPr>
          <a:xfrm>
            <a:off x="9525000" y="2514600"/>
            <a:ext cx="47625" cy="154305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15" name="PMC计划中枢"/>
          <p:cNvSpPr>
            <a:spLocks noGrp="1"/>
          </p:cNvSpPr>
          <p:nvPr/>
        </p:nvSpPr>
        <p:spPr>
          <a:xfrm>
            <a:off x="10989802" y="2615946"/>
            <a:ext cx="2213896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PMC计划中枢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审核需求、形成最终备货计划"/>
          <p:cNvSpPr>
            <a:spLocks noGrp="1"/>
          </p:cNvSpPr>
          <p:nvPr/>
        </p:nvSpPr>
        <p:spPr>
          <a:xfrm>
            <a:off x="10310622" y="3161538"/>
            <a:ext cx="357225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审核需求、形成最终备货计划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输出成衣采购需求"/>
          <p:cNvSpPr>
            <a:spLocks noGrp="1"/>
          </p:cNvSpPr>
          <p:nvPr/>
        </p:nvSpPr>
        <p:spPr>
          <a:xfrm>
            <a:off x="10979277" y="3533013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输出成衣采购需求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path-17"/>
          <p:cNvSpPr>
            <a:spLocks noGrp="1"/>
          </p:cNvSpPr>
          <p:nvPr/>
        </p:nvSpPr>
        <p:spPr>
          <a:xfrm>
            <a:off x="6096000" y="3381375"/>
            <a:ext cx="3429000" cy="476"/>
          </a:xfrm>
          <a:custGeom>
            <a:avLst/>
            <a:gdLst/>
            <a:ahLst/>
            <a:cxnLst/>
            <a:pathLst>
              <a:path w="3429000" h="476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19" name="arrowhead-17"/>
          <p:cNvSpPr>
            <a:spLocks noGrp="1"/>
          </p:cNvSpPr>
          <p:nvPr/>
        </p:nvSpPr>
        <p:spPr>
          <a:xfrm>
            <a:off x="9296400" y="326707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20" name="rect-18"/>
          <p:cNvSpPr>
            <a:spLocks noGrp="1"/>
          </p:cNvSpPr>
          <p:nvPr/>
        </p:nvSpPr>
        <p:spPr>
          <a:xfrm>
            <a:off x="7105650" y="3048000"/>
            <a:ext cx="1295400" cy="3714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21" name="预测需求"/>
          <p:cNvSpPr>
            <a:spLocks noGrp="1"/>
          </p:cNvSpPr>
          <p:nvPr/>
        </p:nvSpPr>
        <p:spPr>
          <a:xfrm>
            <a:off x="7150989" y="3027807"/>
            <a:ext cx="1204722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预测需求</a:t>
            </a:r>
            <a:endParaRPr sz="210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ect-20"/>
          <p:cNvSpPr>
            <a:spLocks noGrp="1"/>
          </p:cNvSpPr>
          <p:nvPr/>
        </p:nvSpPr>
        <p:spPr>
          <a:xfrm>
            <a:off x="4095750" y="5257800"/>
            <a:ext cx="5429250" cy="146685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23" name="rect-21"/>
          <p:cNvSpPr>
            <a:spLocks noGrp="1"/>
          </p:cNvSpPr>
          <p:nvPr/>
        </p:nvSpPr>
        <p:spPr>
          <a:xfrm>
            <a:off x="4095750" y="5257800"/>
            <a:ext cx="47625" cy="146685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24" name="MRP面辅料计划"/>
          <p:cNvSpPr>
            <a:spLocks noGrp="1"/>
          </p:cNvSpPr>
          <p:nvPr/>
        </p:nvSpPr>
        <p:spPr>
          <a:xfrm>
            <a:off x="5540984" y="5359146"/>
            <a:ext cx="2538782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MRP面辅料计划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需要多少面辅料"/>
          <p:cNvSpPr>
            <a:spLocks noGrp="1"/>
          </p:cNvSpPr>
          <p:nvPr/>
        </p:nvSpPr>
        <p:spPr>
          <a:xfrm>
            <a:off x="5826633" y="5904738"/>
            <a:ext cx="1967484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需要多少面辅料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净需求、备料与发料计划"/>
          <p:cNvSpPr>
            <a:spLocks noGrp="1"/>
          </p:cNvSpPr>
          <p:nvPr/>
        </p:nvSpPr>
        <p:spPr>
          <a:xfrm>
            <a:off x="5291709" y="6276213"/>
            <a:ext cx="303733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净需求、备料与发料计划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ect-25"/>
          <p:cNvSpPr>
            <a:spLocks noGrp="1"/>
          </p:cNvSpPr>
          <p:nvPr/>
        </p:nvSpPr>
        <p:spPr>
          <a:xfrm>
            <a:off x="16573500" y="5257800"/>
            <a:ext cx="5429250" cy="146685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28" name="rect-26"/>
          <p:cNvSpPr>
            <a:spLocks noGrp="1"/>
          </p:cNvSpPr>
          <p:nvPr/>
        </p:nvSpPr>
        <p:spPr>
          <a:xfrm>
            <a:off x="16573500" y="5257800"/>
            <a:ext cx="47625" cy="146685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29" name="SCM / 采购"/>
          <p:cNvSpPr>
            <a:spLocks noGrp="1"/>
          </p:cNvSpPr>
          <p:nvPr/>
        </p:nvSpPr>
        <p:spPr>
          <a:xfrm>
            <a:off x="18322338" y="5359146"/>
            <a:ext cx="1931575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SCM / 采购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PR / PO、供应商分配"/>
          <p:cNvSpPr>
            <a:spLocks noGrp="1"/>
          </p:cNvSpPr>
          <p:nvPr/>
        </p:nvSpPr>
        <p:spPr>
          <a:xfrm>
            <a:off x="17917430" y="5904738"/>
            <a:ext cx="274139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PR / PO、供应商分配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采购执行与交期协同"/>
          <p:cNvSpPr>
            <a:spLocks noGrp="1"/>
          </p:cNvSpPr>
          <p:nvPr/>
        </p:nvSpPr>
        <p:spPr>
          <a:xfrm>
            <a:off x="18036921" y="62762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采购执行与交期协同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30"/>
          <p:cNvSpPr>
            <a:spLocks noGrp="1"/>
          </p:cNvSpPr>
          <p:nvPr/>
        </p:nvSpPr>
        <p:spPr>
          <a:xfrm>
            <a:off x="6810375" y="4057650"/>
            <a:ext cx="5286375" cy="1200150"/>
          </a:xfrm>
          <a:custGeom>
            <a:avLst/>
            <a:gdLst/>
            <a:ahLst/>
            <a:cxnLst/>
            <a:pathLst>
              <a:path w="5286375" h="1200150">
                <a:moveTo>
                  <a:pt x="5286375" y="0"/>
                </a:moveTo>
                <a:lnTo>
                  <a:pt x="5286375" y="533400"/>
                </a:lnTo>
                <a:lnTo>
                  <a:pt x="0" y="533400"/>
                </a:lnTo>
                <a:lnTo>
                  <a:pt x="0" y="120015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33" name="arrowhead-30"/>
          <p:cNvSpPr>
            <a:spLocks noGrp="1"/>
          </p:cNvSpPr>
          <p:nvPr/>
        </p:nvSpPr>
        <p:spPr>
          <a:xfrm>
            <a:off x="6696075" y="502920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34" name="path-31"/>
          <p:cNvSpPr>
            <a:spLocks noGrp="1"/>
          </p:cNvSpPr>
          <p:nvPr/>
        </p:nvSpPr>
        <p:spPr>
          <a:xfrm>
            <a:off x="12096750" y="4591050"/>
            <a:ext cx="7191375" cy="666750"/>
          </a:xfrm>
          <a:custGeom>
            <a:avLst/>
            <a:gdLst/>
            <a:ahLst/>
            <a:cxnLst/>
            <a:pathLst>
              <a:path w="7191375" h="666750">
                <a:moveTo>
                  <a:pt x="0" y="0"/>
                </a:moveTo>
                <a:lnTo>
                  <a:pt x="7191375" y="0"/>
                </a:lnTo>
                <a:lnTo>
                  <a:pt x="7191375" y="66675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35" name="arrowhead-31"/>
          <p:cNvSpPr>
            <a:spLocks noGrp="1"/>
          </p:cNvSpPr>
          <p:nvPr/>
        </p:nvSpPr>
        <p:spPr>
          <a:xfrm>
            <a:off x="19173825" y="502920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36" name="rect-32"/>
          <p:cNvSpPr>
            <a:spLocks noGrp="1"/>
          </p:cNvSpPr>
          <p:nvPr/>
        </p:nvSpPr>
        <p:spPr>
          <a:xfrm>
            <a:off x="6489573" y="4314825"/>
            <a:ext cx="2546604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7" name="成衣采购计划 + BOM"/>
          <p:cNvSpPr>
            <a:spLocks noGrp="1"/>
          </p:cNvSpPr>
          <p:nvPr/>
        </p:nvSpPr>
        <p:spPr>
          <a:xfrm>
            <a:off x="6475220" y="4295394"/>
            <a:ext cx="2575310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成衣采购计划 + BOM</a:t>
            </a:r>
            <a:endParaRPr sz="195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ect-34"/>
          <p:cNvSpPr>
            <a:spLocks noGrp="1"/>
          </p:cNvSpPr>
          <p:nvPr/>
        </p:nvSpPr>
        <p:spPr>
          <a:xfrm>
            <a:off x="16166465" y="4314825"/>
            <a:ext cx="2407920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9" name="成衣采购需求 / PR"/>
          <p:cNvSpPr>
            <a:spLocks noGrp="1"/>
          </p:cNvSpPr>
          <p:nvPr/>
        </p:nvSpPr>
        <p:spPr>
          <a:xfrm>
            <a:off x="16226871" y="4295394"/>
            <a:ext cx="2287107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成衣采购需求 / PR</a:t>
            </a:r>
            <a:endParaRPr sz="1950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并行承接"/>
          <p:cNvSpPr>
            <a:spLocks noGrp="1"/>
          </p:cNvSpPr>
          <p:nvPr/>
        </p:nvSpPr>
        <p:spPr>
          <a:xfrm>
            <a:off x="10668000" y="4646676"/>
            <a:ext cx="124434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并行承接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path-37"/>
          <p:cNvSpPr>
            <a:spLocks noGrp="1"/>
          </p:cNvSpPr>
          <p:nvPr/>
        </p:nvSpPr>
        <p:spPr>
          <a:xfrm>
            <a:off x="9525000" y="6010275"/>
            <a:ext cx="7048500" cy="476"/>
          </a:xfrm>
          <a:custGeom>
            <a:avLst/>
            <a:gdLst/>
            <a:ahLst/>
            <a:cxnLst/>
            <a:pathLst>
              <a:path w="7048500" h="476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42" name="arrowhead-37"/>
          <p:cNvSpPr>
            <a:spLocks noGrp="1"/>
          </p:cNvSpPr>
          <p:nvPr/>
        </p:nvSpPr>
        <p:spPr>
          <a:xfrm>
            <a:off x="16344900" y="589597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1558016" y="5695950"/>
            <a:ext cx="2982468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44" name="净缺口 → 物料采购需求"/>
          <p:cNvSpPr>
            <a:spLocks noGrp="1"/>
          </p:cNvSpPr>
          <p:nvPr/>
        </p:nvSpPr>
        <p:spPr>
          <a:xfrm>
            <a:off x="11628019" y="5803519"/>
            <a:ext cx="2842462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净缺口 → 物料采购需求</a:t>
            </a:r>
            <a:endParaRPr sz="195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ect-40"/>
          <p:cNvSpPr>
            <a:spLocks noGrp="1"/>
          </p:cNvSpPr>
          <p:nvPr/>
        </p:nvSpPr>
        <p:spPr>
          <a:xfrm>
            <a:off x="4095750" y="7715250"/>
            <a:ext cx="5429250" cy="146685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9050">
            <a:solidFill>
              <a:srgbClr val="54963C"/>
            </a:solidFill>
            <a:prstDash val="solid"/>
          </a:ln>
        </p:spPr>
      </p:sp>
      <p:sp>
        <p:nvSpPr>
          <p:cNvPr id="46" name="rect-41"/>
          <p:cNvSpPr>
            <a:spLocks noGrp="1"/>
          </p:cNvSpPr>
          <p:nvPr/>
        </p:nvSpPr>
        <p:spPr>
          <a:xfrm>
            <a:off x="4095750" y="7715250"/>
            <a:ext cx="47625" cy="1466850"/>
          </a:xfrm>
          <a:prstGeom prst="rect">
            <a:avLst/>
          </a:prstGeom>
          <a:solidFill>
            <a:srgbClr val="54963C"/>
          </a:solidFill>
          <a:ln w="19050">
            <a:noFill/>
            <a:prstDash val="solid"/>
          </a:ln>
        </p:spPr>
      </p:sp>
      <p:sp>
        <p:nvSpPr>
          <p:cNvPr id="47" name="成衣工厂 / 已有MES"/>
          <p:cNvSpPr>
            <a:spLocks noGrp="1"/>
          </p:cNvSpPr>
          <p:nvPr/>
        </p:nvSpPr>
        <p:spPr>
          <a:xfrm>
            <a:off x="5186148" y="7816596"/>
            <a:ext cx="324845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成衣工厂 / 已有MES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生产执行、进度与延期回传"/>
          <p:cNvSpPr>
            <a:spLocks noGrp="1"/>
          </p:cNvSpPr>
          <p:nvPr/>
        </p:nvSpPr>
        <p:spPr>
          <a:xfrm>
            <a:off x="5157978" y="8362188"/>
            <a:ext cx="3304794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生产执行、进度与延期回传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rect-44"/>
          <p:cNvSpPr>
            <a:spLocks noGrp="1"/>
          </p:cNvSpPr>
          <p:nvPr/>
        </p:nvSpPr>
        <p:spPr>
          <a:xfrm>
            <a:off x="16573500" y="7715250"/>
            <a:ext cx="5429250" cy="146685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50" name="rect-45"/>
          <p:cNvSpPr>
            <a:spLocks noGrp="1"/>
          </p:cNvSpPr>
          <p:nvPr/>
        </p:nvSpPr>
        <p:spPr>
          <a:xfrm>
            <a:off x="16573500" y="7715250"/>
            <a:ext cx="47625" cy="146685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51" name="供应商执行"/>
          <p:cNvSpPr>
            <a:spLocks noGrp="1"/>
          </p:cNvSpPr>
          <p:nvPr/>
        </p:nvSpPr>
        <p:spPr>
          <a:xfrm>
            <a:off x="18398490" y="7816596"/>
            <a:ext cx="1779270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供应商执行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接单、交期、资料与交付协同"/>
          <p:cNvSpPr>
            <a:spLocks noGrp="1"/>
          </p:cNvSpPr>
          <p:nvPr/>
        </p:nvSpPr>
        <p:spPr>
          <a:xfrm>
            <a:off x="17501997" y="8362188"/>
            <a:ext cx="357225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接单、交期、资料与交付协同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path-48"/>
          <p:cNvSpPr>
            <a:spLocks noGrp="1"/>
          </p:cNvSpPr>
          <p:nvPr/>
        </p:nvSpPr>
        <p:spPr>
          <a:xfrm>
            <a:off x="6810375" y="6724650"/>
            <a:ext cx="476" cy="990600"/>
          </a:xfrm>
          <a:custGeom>
            <a:avLst/>
            <a:gdLst/>
            <a:ahLst/>
            <a:cxnLst/>
            <a:pathLst>
              <a:path w="476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54" name="arrowhead-48"/>
          <p:cNvSpPr>
            <a:spLocks noGrp="1"/>
          </p:cNvSpPr>
          <p:nvPr/>
        </p:nvSpPr>
        <p:spPr>
          <a:xfrm>
            <a:off x="6696075" y="74866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55" name="rect-49"/>
          <p:cNvSpPr>
            <a:spLocks noGrp="1"/>
          </p:cNvSpPr>
          <p:nvPr/>
        </p:nvSpPr>
        <p:spPr>
          <a:xfrm>
            <a:off x="7048500" y="7086600"/>
            <a:ext cx="2057400" cy="3429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6" name="备料 / 发料支持"/>
          <p:cNvSpPr>
            <a:spLocks noGrp="1"/>
          </p:cNvSpPr>
          <p:nvPr/>
        </p:nvSpPr>
        <p:spPr>
          <a:xfrm>
            <a:off x="7142214" y="7067550"/>
            <a:ext cx="186997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备料 / 发料支持</a:t>
            </a:r>
            <a:endParaRPr sz="1875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path-51"/>
          <p:cNvSpPr>
            <a:spLocks noGrp="1"/>
          </p:cNvSpPr>
          <p:nvPr/>
        </p:nvSpPr>
        <p:spPr>
          <a:xfrm>
            <a:off x="19288125" y="6724650"/>
            <a:ext cx="476" cy="990600"/>
          </a:xfrm>
          <a:custGeom>
            <a:avLst/>
            <a:gdLst/>
            <a:ahLst/>
            <a:cxnLst/>
            <a:pathLst>
              <a:path w="476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58" name="arrowhead-51"/>
          <p:cNvSpPr>
            <a:spLocks noGrp="1"/>
          </p:cNvSpPr>
          <p:nvPr/>
        </p:nvSpPr>
        <p:spPr>
          <a:xfrm>
            <a:off x="19173825" y="74866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59" name="rect-52"/>
          <p:cNvSpPr>
            <a:spLocks noGrp="1"/>
          </p:cNvSpPr>
          <p:nvPr/>
        </p:nvSpPr>
        <p:spPr>
          <a:xfrm>
            <a:off x="19654838" y="7086600"/>
            <a:ext cx="1209675" cy="3429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60" name="PO与任务"/>
          <p:cNvSpPr>
            <a:spLocks noGrp="1"/>
          </p:cNvSpPr>
          <p:nvPr/>
        </p:nvSpPr>
        <p:spPr>
          <a:xfrm>
            <a:off x="19664124" y="7067550"/>
            <a:ext cx="1191101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PO与任务</a:t>
            </a:r>
            <a:endParaRPr sz="1875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path-54"/>
          <p:cNvSpPr>
            <a:spLocks noGrp="1"/>
          </p:cNvSpPr>
          <p:nvPr/>
        </p:nvSpPr>
        <p:spPr>
          <a:xfrm>
            <a:off x="9525000" y="8448675"/>
            <a:ext cx="7048500" cy="476"/>
          </a:xfrm>
          <a:custGeom>
            <a:avLst/>
            <a:gdLst/>
            <a:ahLst/>
            <a:cxnLst/>
            <a:pathLst>
              <a:path w="7048500" h="476">
                <a:moveTo>
                  <a:pt x="70485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62" name="arrowhead-54"/>
          <p:cNvSpPr>
            <a:spLocks noGrp="1"/>
          </p:cNvSpPr>
          <p:nvPr/>
        </p:nvSpPr>
        <p:spPr>
          <a:xfrm>
            <a:off x="9525000" y="833437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0" y="114300"/>
                </a:moveTo>
                <a:lnTo>
                  <a:pt x="228600" y="0"/>
                </a:lnTo>
                <a:lnTo>
                  <a:pt x="228600" y="22860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63" name="rect-55"/>
          <p:cNvSpPr>
            <a:spLocks noGrp="1"/>
          </p:cNvSpPr>
          <p:nvPr/>
        </p:nvSpPr>
        <p:spPr>
          <a:xfrm>
            <a:off x="11601450" y="8124825"/>
            <a:ext cx="2800350" cy="36195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64" name="订单、交期与技术资料"/>
          <p:cNvSpPr>
            <a:spLocks noGrp="1"/>
          </p:cNvSpPr>
          <p:nvPr/>
        </p:nvSpPr>
        <p:spPr>
          <a:xfrm>
            <a:off x="11616690" y="82320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订单、交期与技术资料</a:t>
            </a:r>
            <a:endParaRPr sz="2025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rect-57"/>
          <p:cNvSpPr>
            <a:spLocks noGrp="1"/>
          </p:cNvSpPr>
          <p:nvPr/>
        </p:nvSpPr>
        <p:spPr>
          <a:xfrm>
            <a:off x="9906000" y="10306050"/>
            <a:ext cx="5715000" cy="14287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78E99"/>
            </a:solidFill>
            <a:prstDash val="solid"/>
          </a:ln>
        </p:spPr>
      </p:sp>
      <p:sp>
        <p:nvSpPr>
          <p:cNvPr id="66" name="rect-58"/>
          <p:cNvSpPr>
            <a:spLocks noGrp="1"/>
          </p:cNvSpPr>
          <p:nvPr/>
        </p:nvSpPr>
        <p:spPr>
          <a:xfrm>
            <a:off x="9906000" y="10306050"/>
            <a:ext cx="47625" cy="1428750"/>
          </a:xfrm>
          <a:prstGeom prst="rect">
            <a:avLst/>
          </a:prstGeom>
          <a:solidFill>
            <a:srgbClr val="078E99"/>
          </a:solidFill>
          <a:ln w="19050">
            <a:noFill/>
            <a:prstDash val="solid"/>
          </a:ln>
        </p:spPr>
      </p:sp>
      <p:sp>
        <p:nvSpPr>
          <p:cNvPr id="67" name="QC / 入库 / 经营事实"/>
          <p:cNvSpPr>
            <a:spLocks noGrp="1"/>
          </p:cNvSpPr>
          <p:nvPr/>
        </p:nvSpPr>
        <p:spPr>
          <a:xfrm>
            <a:off x="11058942" y="10407396"/>
            <a:ext cx="3409117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QC / 入库 / 经营事实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质量、交付、库存与销量结果"/>
          <p:cNvSpPr>
            <a:spLocks noGrp="1"/>
          </p:cNvSpPr>
          <p:nvPr/>
        </p:nvSpPr>
        <p:spPr>
          <a:xfrm>
            <a:off x="10977372" y="10952988"/>
            <a:ext cx="357225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质量、交付、库存与销量结果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协同接入，按阶段落地"/>
          <p:cNvSpPr>
            <a:spLocks noGrp="1"/>
          </p:cNvSpPr>
          <p:nvPr/>
        </p:nvSpPr>
        <p:spPr>
          <a:xfrm>
            <a:off x="11378565" y="1132446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协同接入，按阶段落地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path-62"/>
          <p:cNvSpPr>
            <a:spLocks noGrp="1"/>
          </p:cNvSpPr>
          <p:nvPr/>
        </p:nvSpPr>
        <p:spPr>
          <a:xfrm>
            <a:off x="6798945" y="9182100"/>
            <a:ext cx="2698115" cy="1838325"/>
          </a:xfrm>
          <a:custGeom>
            <a:avLst/>
            <a:gdLst>
              <a:gd name="connsiteX0" fmla="*/ 19 w 4249"/>
              <a:gd name="connsiteY0" fmla="*/ 0 h 2604"/>
              <a:gd name="connsiteX1" fmla="*/ 19 w 4249"/>
              <a:gd name="connsiteY1" fmla="*/ 976 h 2604"/>
              <a:gd name="connsiteX2" fmla="*/ 0 w 4249"/>
              <a:gd name="connsiteY2" fmla="*/ 2604 h 2604"/>
              <a:gd name="connsiteX3" fmla="*/ 4249 w 4249"/>
              <a:gd name="connsiteY3" fmla="*/ 2590 h 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pathLst>
              <a:path w="4249" h="2604">
                <a:moveTo>
                  <a:pt x="19" y="0"/>
                </a:moveTo>
                <a:lnTo>
                  <a:pt x="19" y="976"/>
                </a:lnTo>
                <a:lnTo>
                  <a:pt x="0" y="2604"/>
                </a:lnTo>
                <a:lnTo>
                  <a:pt x="4249" y="259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71" name="arrowhead-62"/>
          <p:cNvSpPr>
            <a:spLocks noGrp="1"/>
          </p:cNvSpPr>
          <p:nvPr/>
        </p:nvSpPr>
        <p:spPr>
          <a:xfrm rot="16200000">
            <a:off x="9601200" y="1090800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54963C"/>
          </a:solidFill>
          <a:ln w="0">
            <a:noFill/>
          </a:ln>
        </p:spPr>
      </p:sp>
      <p:sp>
        <p:nvSpPr>
          <p:cNvPr id="72" name="rect-63"/>
          <p:cNvSpPr>
            <a:spLocks noGrp="1"/>
          </p:cNvSpPr>
          <p:nvPr/>
        </p:nvSpPr>
        <p:spPr>
          <a:xfrm>
            <a:off x="7048500" y="10893425"/>
            <a:ext cx="2209800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73" name="完工、检验与交付"/>
          <p:cNvSpPr>
            <a:spLocks noGrp="1"/>
          </p:cNvSpPr>
          <p:nvPr/>
        </p:nvSpPr>
        <p:spPr>
          <a:xfrm>
            <a:off x="7089140" y="10873740"/>
            <a:ext cx="2142490" cy="358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完工、检验与交付</a:t>
            </a:r>
            <a:endParaRPr sz="1950" b="0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path-65"/>
          <p:cNvSpPr>
            <a:spLocks noGrp="1"/>
          </p:cNvSpPr>
          <p:nvPr/>
        </p:nvSpPr>
        <p:spPr>
          <a:xfrm>
            <a:off x="14668500" y="3295650"/>
            <a:ext cx="8763000" cy="7724775"/>
          </a:xfrm>
          <a:custGeom>
            <a:avLst/>
            <a:gdLst/>
            <a:ahLst/>
            <a:cxnLst/>
            <a:pathLst>
              <a:path w="8763000" h="7724775">
                <a:moveTo>
                  <a:pt x="952500" y="7724775"/>
                </a:moveTo>
                <a:lnTo>
                  <a:pt x="8763000" y="7724775"/>
                </a:lnTo>
                <a:lnTo>
                  <a:pt x="8763000" y="0"/>
                </a:lnTo>
                <a:lnTo>
                  <a:pt x="0" y="0"/>
                </a:lnTo>
              </a:path>
            </a:pathLst>
          </a:custGeom>
          <a:noFill/>
          <a:ln w="47625">
            <a:solidFill>
              <a:srgbClr val="078E99"/>
            </a:solidFill>
            <a:prstDash val="solid"/>
          </a:ln>
        </p:spPr>
      </p:sp>
      <p:sp>
        <p:nvSpPr>
          <p:cNvPr id="75" name="arrowhead-65"/>
          <p:cNvSpPr>
            <a:spLocks noGrp="1"/>
          </p:cNvSpPr>
          <p:nvPr/>
        </p:nvSpPr>
        <p:spPr>
          <a:xfrm>
            <a:off x="14668500" y="3105150"/>
            <a:ext cx="381000" cy="381000"/>
          </a:xfrm>
          <a:custGeom>
            <a:avLst/>
            <a:gdLst/>
            <a:ahLst/>
            <a:cxnLst/>
            <a:pathLst>
              <a:path w="381000" h="381000">
                <a:moveTo>
                  <a:pt x="0" y="190500"/>
                </a:moveTo>
                <a:lnTo>
                  <a:pt x="38100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76" name="rect-66"/>
          <p:cNvSpPr>
            <a:spLocks noGrp="1"/>
          </p:cNvSpPr>
          <p:nvPr/>
        </p:nvSpPr>
        <p:spPr>
          <a:xfrm>
            <a:off x="19494246" y="10836275"/>
            <a:ext cx="2350008" cy="381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77" name="执行结果回流PMC"/>
          <p:cNvSpPr>
            <a:spLocks noGrp="1"/>
          </p:cNvSpPr>
          <p:nvPr/>
        </p:nvSpPr>
        <p:spPr>
          <a:xfrm>
            <a:off x="19432131" y="10815701"/>
            <a:ext cx="24742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执行结果回流PMC</a:t>
            </a:r>
            <a:endParaRPr sz="2175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rect-68"/>
          <p:cNvSpPr>
            <a:spLocks noGrp="1"/>
          </p:cNvSpPr>
          <p:nvPr/>
        </p:nvSpPr>
        <p:spPr>
          <a:xfrm>
            <a:off x="19240500" y="2962275"/>
            <a:ext cx="2095500" cy="3714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79" name="下一轮滚动计划"/>
          <p:cNvSpPr>
            <a:spLocks noGrp="1"/>
          </p:cNvSpPr>
          <p:nvPr/>
        </p:nvSpPr>
        <p:spPr>
          <a:xfrm>
            <a:off x="19269837" y="2942082"/>
            <a:ext cx="2036826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下一轮滚动计划</a:t>
            </a:r>
            <a:endParaRPr sz="210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rect-70"/>
          <p:cNvSpPr>
            <a:spLocks noGrp="1"/>
          </p:cNvSpPr>
          <p:nvPr/>
        </p:nvSpPr>
        <p:spPr>
          <a:xfrm>
            <a:off x="609600" y="12287250"/>
            <a:ext cx="23164800" cy="62865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81" name="数据基础：商品主数据 / PLM-BOM / 领星-库存-数仓 / 供应商数据；支撑各系统，不作为串行业务节点。"/>
          <p:cNvSpPr>
            <a:spLocks noGrp="1"/>
          </p:cNvSpPr>
          <p:nvPr/>
        </p:nvSpPr>
        <p:spPr>
          <a:xfrm>
            <a:off x="857250" y="12439269"/>
            <a:ext cx="12393859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数据基础：商品主数据 / PLM-BOM / 领星-库存-数仓 / 供应商数据；支撑各系统，不作为串行业务节点。</a:t>
            </a:r>
            <a:endParaRPr sz="195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path-7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84" name="02 / 10"/>
          <p:cNvSpPr>
            <a:spLocks noGrp="1"/>
          </p:cNvSpPr>
          <p:nvPr/>
        </p:nvSpPr>
        <p:spPr>
          <a:xfrm>
            <a:off x="22943784" y="13307568"/>
            <a:ext cx="83061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02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5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核心业务泳道｜六个角色"/>
          <p:cNvSpPr>
            <a:spLocks noGrp="1"/>
          </p:cNvSpPr>
          <p:nvPr/>
        </p:nvSpPr>
        <p:spPr>
          <a:xfrm>
            <a:off x="904875" y="533781"/>
            <a:ext cx="5434584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核心业务泳道｜六个角色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谁发起、谁计算、谁审核、谁执行、谁反馈；PR是PMC计划与SCM采购的交接点"/>
          <p:cNvSpPr>
            <a:spLocks noGrp="1"/>
          </p:cNvSpPr>
          <p:nvPr/>
        </p:nvSpPr>
        <p:spPr>
          <a:xfrm>
            <a:off x="609600" y="1570863"/>
            <a:ext cx="9673733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谁发起、谁计算、谁审核、谁执行、谁反馈；PR是PMC计划与SCM采购的交接点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03 / 对齐责任"/>
          <p:cNvSpPr>
            <a:spLocks noGrp="1"/>
          </p:cNvSpPr>
          <p:nvPr/>
        </p:nvSpPr>
        <p:spPr>
          <a:xfrm>
            <a:off x="22228695" y="1610487"/>
            <a:ext cx="1545705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72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03 / 对齐责任</a:t>
            </a:r>
            <a:endParaRPr sz="172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-8"/>
          <p:cNvSpPr>
            <a:spLocks noGrp="1"/>
          </p:cNvSpPr>
          <p:nvPr/>
        </p:nvSpPr>
        <p:spPr>
          <a:xfrm>
            <a:off x="23336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10" name="需求填报"/>
          <p:cNvSpPr>
            <a:spLocks noGrp="1"/>
          </p:cNvSpPr>
          <p:nvPr/>
        </p:nvSpPr>
        <p:spPr>
          <a:xfrm>
            <a:off x="3105150" y="2247900"/>
            <a:ext cx="108585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需求填报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-10"/>
          <p:cNvSpPr>
            <a:spLocks noGrp="1"/>
          </p:cNvSpPr>
          <p:nvPr/>
        </p:nvSpPr>
        <p:spPr>
          <a:xfrm>
            <a:off x="49625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12" name="预测审核"/>
          <p:cNvSpPr>
            <a:spLocks noGrp="1"/>
          </p:cNvSpPr>
          <p:nvPr/>
        </p:nvSpPr>
        <p:spPr>
          <a:xfrm>
            <a:off x="5734050" y="2247900"/>
            <a:ext cx="108585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预测审核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-12"/>
          <p:cNvSpPr>
            <a:spLocks noGrp="1"/>
          </p:cNvSpPr>
          <p:nvPr/>
        </p:nvSpPr>
        <p:spPr>
          <a:xfrm>
            <a:off x="75914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14" name="最终计划"/>
          <p:cNvSpPr>
            <a:spLocks noGrp="1"/>
          </p:cNvSpPr>
          <p:nvPr/>
        </p:nvSpPr>
        <p:spPr>
          <a:xfrm>
            <a:off x="8362950" y="2247900"/>
            <a:ext cx="108585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最终计划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-14"/>
          <p:cNvSpPr>
            <a:spLocks noGrp="1"/>
          </p:cNvSpPr>
          <p:nvPr/>
        </p:nvSpPr>
        <p:spPr>
          <a:xfrm>
            <a:off x="102203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16" name="需求 / PR"/>
          <p:cNvSpPr>
            <a:spLocks noGrp="1"/>
          </p:cNvSpPr>
          <p:nvPr/>
        </p:nvSpPr>
        <p:spPr>
          <a:xfrm>
            <a:off x="10927693" y="2247900"/>
            <a:ext cx="1214164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需求 / PR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ect-16"/>
          <p:cNvSpPr>
            <a:spLocks noGrp="1"/>
          </p:cNvSpPr>
          <p:nvPr/>
        </p:nvSpPr>
        <p:spPr>
          <a:xfrm>
            <a:off x="128492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18" name="供应商分配"/>
          <p:cNvSpPr>
            <a:spLocks noGrp="1"/>
          </p:cNvSpPr>
          <p:nvPr/>
        </p:nvSpPr>
        <p:spPr>
          <a:xfrm>
            <a:off x="13496925" y="2247900"/>
            <a:ext cx="133350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供应商分配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ect-18"/>
          <p:cNvSpPr>
            <a:spLocks noGrp="1"/>
          </p:cNvSpPr>
          <p:nvPr/>
        </p:nvSpPr>
        <p:spPr>
          <a:xfrm>
            <a:off x="154781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20" name="PO / 接单"/>
          <p:cNvSpPr>
            <a:spLocks noGrp="1"/>
          </p:cNvSpPr>
          <p:nvPr/>
        </p:nvSpPr>
        <p:spPr>
          <a:xfrm>
            <a:off x="16175819" y="2247900"/>
            <a:ext cx="1233511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PO / 接单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ect-20"/>
          <p:cNvSpPr>
            <a:spLocks noGrp="1"/>
          </p:cNvSpPr>
          <p:nvPr/>
        </p:nvSpPr>
        <p:spPr>
          <a:xfrm>
            <a:off x="181070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22" name="生产 / 交付"/>
          <p:cNvSpPr>
            <a:spLocks noGrp="1"/>
          </p:cNvSpPr>
          <p:nvPr/>
        </p:nvSpPr>
        <p:spPr>
          <a:xfrm>
            <a:off x="18734139" y="2247900"/>
            <a:ext cx="137467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生产 / 交付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ect-22"/>
          <p:cNvSpPr>
            <a:spLocks noGrp="1"/>
          </p:cNvSpPr>
          <p:nvPr/>
        </p:nvSpPr>
        <p:spPr>
          <a:xfrm>
            <a:off x="20735925" y="2209800"/>
            <a:ext cx="2628900" cy="409575"/>
          </a:xfrm>
          <a:prstGeom prst="rect">
            <a:avLst/>
          </a:prstGeom>
          <a:solidFill>
            <a:srgbClr val="EDF5FA"/>
          </a:solidFill>
          <a:ln w="19050">
            <a:noFill/>
            <a:prstDash val="solid"/>
          </a:ln>
        </p:spPr>
      </p:sp>
      <p:sp>
        <p:nvSpPr>
          <p:cNvPr id="24" name="库存 / 回流"/>
          <p:cNvSpPr>
            <a:spLocks noGrp="1"/>
          </p:cNvSpPr>
          <p:nvPr/>
        </p:nvSpPr>
        <p:spPr>
          <a:xfrm>
            <a:off x="21363039" y="2247900"/>
            <a:ext cx="137467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库存 / 回流</a:t>
            </a:r>
            <a:endParaRPr sz="18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ect-24"/>
          <p:cNvSpPr>
            <a:spLocks noGrp="1"/>
          </p:cNvSpPr>
          <p:nvPr/>
        </p:nvSpPr>
        <p:spPr>
          <a:xfrm>
            <a:off x="609600" y="2619375"/>
            <a:ext cx="1724025" cy="1476375"/>
          </a:xfrm>
          <a:prstGeom prst="rect">
            <a:avLst/>
          </a:prstGeom>
          <a:solidFill>
            <a:srgbClr val="F1F6F9"/>
          </a:solidFill>
          <a:ln w="19050">
            <a:noFill/>
            <a:prstDash val="solid"/>
          </a:ln>
        </p:spPr>
      </p:sp>
      <p:sp>
        <p:nvSpPr>
          <p:cNvPr id="26" name="rect-25"/>
          <p:cNvSpPr>
            <a:spLocks noGrp="1"/>
          </p:cNvSpPr>
          <p:nvPr/>
        </p:nvSpPr>
        <p:spPr>
          <a:xfrm>
            <a:off x="2333625" y="2619375"/>
            <a:ext cx="21031200" cy="14763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27" name="销售 / 运营"/>
          <p:cNvSpPr>
            <a:spLocks noGrp="1"/>
          </p:cNvSpPr>
          <p:nvPr/>
        </p:nvSpPr>
        <p:spPr>
          <a:xfrm>
            <a:off x="781050" y="2962275"/>
            <a:ext cx="137467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销售 / 运营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需求填报与确认"/>
          <p:cNvSpPr>
            <a:spLocks noGrp="1"/>
          </p:cNvSpPr>
          <p:nvPr/>
        </p:nvSpPr>
        <p:spPr>
          <a:xfrm>
            <a:off x="781050" y="3412617"/>
            <a:ext cx="1343406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需求填报与确认</a:t>
            </a:r>
            <a:endParaRPr sz="13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path-28"/>
          <p:cNvSpPr>
            <a:spLocks noGrp="1"/>
          </p:cNvSpPr>
          <p:nvPr/>
        </p:nvSpPr>
        <p:spPr>
          <a:xfrm>
            <a:off x="609600" y="4095750"/>
            <a:ext cx="22755225" cy="476"/>
          </a:xfrm>
          <a:custGeom>
            <a:avLst/>
            <a:gdLst/>
            <a:ahLst/>
            <a:cxnLst/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/>
          <a:ln w="9525">
            <a:solidFill>
              <a:srgbClr val="D5E1E9"/>
            </a:solidFill>
            <a:prstDash val="solid"/>
          </a:ln>
        </p:spPr>
      </p:sp>
      <p:sp>
        <p:nvSpPr>
          <p:cNvPr id="30" name="rect-29"/>
          <p:cNvSpPr>
            <a:spLocks noGrp="1"/>
          </p:cNvSpPr>
          <p:nvPr/>
        </p:nvSpPr>
        <p:spPr>
          <a:xfrm>
            <a:off x="609600" y="4095750"/>
            <a:ext cx="1724025" cy="1476375"/>
          </a:xfrm>
          <a:prstGeom prst="rect">
            <a:avLst/>
          </a:prstGeom>
          <a:solidFill>
            <a:srgbClr val="E7F3FC"/>
          </a:solidFill>
          <a:ln w="19050">
            <a:noFill/>
            <a:prstDash val="solid"/>
          </a:ln>
        </p:spPr>
      </p:sp>
      <p:sp>
        <p:nvSpPr>
          <p:cNvPr id="31" name="rect-30"/>
          <p:cNvSpPr>
            <a:spLocks noGrp="1"/>
          </p:cNvSpPr>
          <p:nvPr/>
        </p:nvSpPr>
        <p:spPr>
          <a:xfrm>
            <a:off x="2333625" y="4095750"/>
            <a:ext cx="21031200" cy="1476375"/>
          </a:xfrm>
          <a:prstGeom prst="rect">
            <a:avLst/>
          </a:prstGeom>
          <a:solidFill>
            <a:srgbClr val="F4FAFE"/>
          </a:solidFill>
          <a:ln w="19050">
            <a:noFill/>
            <a:prstDash val="solid"/>
          </a:ln>
        </p:spPr>
      </p:sp>
      <p:sp>
        <p:nvSpPr>
          <p:cNvPr id="32" name="PMC"/>
          <p:cNvSpPr>
            <a:spLocks noGrp="1"/>
          </p:cNvSpPr>
          <p:nvPr/>
        </p:nvSpPr>
        <p:spPr>
          <a:xfrm>
            <a:off x="781050" y="4438650"/>
            <a:ext cx="662368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PMC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计划决策 · P0"/>
          <p:cNvSpPr>
            <a:spLocks noGrp="1"/>
          </p:cNvSpPr>
          <p:nvPr/>
        </p:nvSpPr>
        <p:spPr>
          <a:xfrm>
            <a:off x="781050" y="4888992"/>
            <a:ext cx="12380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计划决策 · P0</a:t>
            </a:r>
            <a:endParaRPr sz="13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path-33"/>
          <p:cNvSpPr>
            <a:spLocks noGrp="1"/>
          </p:cNvSpPr>
          <p:nvPr/>
        </p:nvSpPr>
        <p:spPr>
          <a:xfrm>
            <a:off x="609600" y="5572125"/>
            <a:ext cx="22755225" cy="476"/>
          </a:xfrm>
          <a:custGeom>
            <a:avLst/>
            <a:gdLst/>
            <a:ahLst/>
            <a:cxnLst/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/>
          <a:ln w="9525">
            <a:solidFill>
              <a:srgbClr val="D5E1E9"/>
            </a:solidFill>
            <a:prstDash val="solid"/>
          </a:ln>
        </p:spPr>
      </p:sp>
      <p:sp>
        <p:nvSpPr>
          <p:cNvPr id="35" name="rect-34"/>
          <p:cNvSpPr>
            <a:spLocks noGrp="1"/>
          </p:cNvSpPr>
          <p:nvPr/>
        </p:nvSpPr>
        <p:spPr>
          <a:xfrm>
            <a:off x="609600" y="5572125"/>
            <a:ext cx="1724025" cy="1476375"/>
          </a:xfrm>
          <a:prstGeom prst="rect">
            <a:avLst/>
          </a:prstGeom>
          <a:solidFill>
            <a:srgbClr val="F3EDFA"/>
          </a:solidFill>
          <a:ln w="19050">
            <a:noFill/>
            <a:prstDash val="solid"/>
          </a:ln>
        </p:spPr>
      </p:sp>
      <p:sp>
        <p:nvSpPr>
          <p:cNvPr id="36" name="rect-35"/>
          <p:cNvSpPr>
            <a:spLocks noGrp="1"/>
          </p:cNvSpPr>
          <p:nvPr/>
        </p:nvSpPr>
        <p:spPr>
          <a:xfrm>
            <a:off x="2333625" y="5572125"/>
            <a:ext cx="21031200" cy="1476375"/>
          </a:xfrm>
          <a:prstGeom prst="rect">
            <a:avLst/>
          </a:prstGeom>
          <a:solidFill>
            <a:srgbClr val="FCFAFF"/>
          </a:solidFill>
          <a:ln w="19050">
            <a:noFill/>
            <a:prstDash val="solid"/>
          </a:ln>
        </p:spPr>
      </p:sp>
      <p:sp>
        <p:nvSpPr>
          <p:cNvPr id="37" name="MRP"/>
          <p:cNvSpPr>
            <a:spLocks noGrp="1"/>
          </p:cNvSpPr>
          <p:nvPr/>
        </p:nvSpPr>
        <p:spPr>
          <a:xfrm>
            <a:off x="781050" y="5915025"/>
            <a:ext cx="653701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MRP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物料计划 · P1"/>
          <p:cNvSpPr>
            <a:spLocks noGrp="1"/>
          </p:cNvSpPr>
          <p:nvPr/>
        </p:nvSpPr>
        <p:spPr>
          <a:xfrm>
            <a:off x="781050" y="6365367"/>
            <a:ext cx="12024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物料计划 · P1</a:t>
            </a:r>
            <a:endParaRPr sz="135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path-38"/>
          <p:cNvSpPr>
            <a:spLocks noGrp="1"/>
          </p:cNvSpPr>
          <p:nvPr/>
        </p:nvSpPr>
        <p:spPr>
          <a:xfrm>
            <a:off x="609600" y="7048500"/>
            <a:ext cx="22755225" cy="476"/>
          </a:xfrm>
          <a:custGeom>
            <a:avLst/>
            <a:gdLst/>
            <a:ahLst/>
            <a:cxnLst/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/>
          <a:ln w="9525">
            <a:solidFill>
              <a:srgbClr val="D5E1E9"/>
            </a:solidFill>
            <a:prstDash val="solid"/>
          </a:ln>
        </p:spPr>
      </p:sp>
      <p:sp>
        <p:nvSpPr>
          <p:cNvPr id="40" name="rect-39"/>
          <p:cNvSpPr>
            <a:spLocks noGrp="1"/>
          </p:cNvSpPr>
          <p:nvPr/>
        </p:nvSpPr>
        <p:spPr>
          <a:xfrm>
            <a:off x="609600" y="7048500"/>
            <a:ext cx="1724025" cy="1476375"/>
          </a:xfrm>
          <a:prstGeom prst="rect">
            <a:avLst/>
          </a:prstGeom>
          <a:solidFill>
            <a:srgbClr val="F1F6F9"/>
          </a:solidFill>
          <a:ln w="19050">
            <a:noFill/>
            <a:prstDash val="solid"/>
          </a:ln>
        </p:spPr>
      </p:sp>
      <p:sp>
        <p:nvSpPr>
          <p:cNvPr id="41" name="rect-40"/>
          <p:cNvSpPr>
            <a:spLocks noGrp="1"/>
          </p:cNvSpPr>
          <p:nvPr/>
        </p:nvSpPr>
        <p:spPr>
          <a:xfrm>
            <a:off x="2333625" y="7048500"/>
            <a:ext cx="21031200" cy="1476375"/>
          </a:xfrm>
          <a:prstGeom prst="rect">
            <a:avLst/>
          </a:prstGeom>
          <a:solidFill>
            <a:srgbClr val="FAFCFD"/>
          </a:solidFill>
          <a:ln w="19050">
            <a:noFill/>
            <a:prstDash val="solid"/>
          </a:ln>
        </p:spPr>
      </p:sp>
      <p:sp>
        <p:nvSpPr>
          <p:cNvPr id="42" name="SCM / 采购"/>
          <p:cNvSpPr>
            <a:spLocks noGrp="1"/>
          </p:cNvSpPr>
          <p:nvPr/>
        </p:nvSpPr>
        <p:spPr>
          <a:xfrm>
            <a:off x="781050" y="7391400"/>
            <a:ext cx="144556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SCM / 采购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采购执行 · P0"/>
          <p:cNvSpPr>
            <a:spLocks noGrp="1"/>
          </p:cNvSpPr>
          <p:nvPr/>
        </p:nvSpPr>
        <p:spPr>
          <a:xfrm>
            <a:off x="781050" y="7841742"/>
            <a:ext cx="12380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采购执行 · P0</a:t>
            </a:r>
            <a:endParaRPr sz="1350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path-43"/>
          <p:cNvSpPr>
            <a:spLocks noGrp="1"/>
          </p:cNvSpPr>
          <p:nvPr/>
        </p:nvSpPr>
        <p:spPr>
          <a:xfrm>
            <a:off x="609600" y="8524875"/>
            <a:ext cx="22755225" cy="476"/>
          </a:xfrm>
          <a:custGeom>
            <a:avLst/>
            <a:gdLst/>
            <a:ahLst/>
            <a:cxnLst/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/>
          <a:ln w="9525">
            <a:solidFill>
              <a:srgbClr val="D5E1E9"/>
            </a:solidFill>
            <a:prstDash val="solid"/>
          </a:ln>
        </p:spPr>
      </p:sp>
      <p:sp>
        <p:nvSpPr>
          <p:cNvPr id="45" name="rect-44"/>
          <p:cNvSpPr>
            <a:spLocks noGrp="1"/>
          </p:cNvSpPr>
          <p:nvPr/>
        </p:nvSpPr>
        <p:spPr>
          <a:xfrm>
            <a:off x="609600" y="8524875"/>
            <a:ext cx="1724025" cy="1476375"/>
          </a:xfrm>
          <a:prstGeom prst="rect">
            <a:avLst/>
          </a:prstGeom>
          <a:solidFill>
            <a:srgbClr val="F1F6F9"/>
          </a:solidFill>
          <a:ln w="19050">
            <a:noFill/>
            <a:prstDash val="solid"/>
          </a:ln>
        </p:spPr>
      </p:sp>
      <p:sp>
        <p:nvSpPr>
          <p:cNvPr id="46" name="rect-45"/>
          <p:cNvSpPr>
            <a:spLocks noGrp="1"/>
          </p:cNvSpPr>
          <p:nvPr/>
        </p:nvSpPr>
        <p:spPr>
          <a:xfrm>
            <a:off x="2333625" y="8524875"/>
            <a:ext cx="21031200" cy="14763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47" name="供应商 / MES"/>
          <p:cNvSpPr>
            <a:spLocks noGrp="1"/>
          </p:cNvSpPr>
          <p:nvPr/>
        </p:nvSpPr>
        <p:spPr>
          <a:xfrm>
            <a:off x="781050" y="8867775"/>
            <a:ext cx="1670923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供应商 / MES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履约与已有MES协同"/>
          <p:cNvSpPr>
            <a:spLocks noGrp="1"/>
          </p:cNvSpPr>
          <p:nvPr/>
        </p:nvSpPr>
        <p:spPr>
          <a:xfrm>
            <a:off x="781050" y="9318117"/>
            <a:ext cx="1726954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履约与已有MES协同</a:t>
            </a:r>
            <a:endParaRPr sz="1350" b="0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path-48"/>
          <p:cNvSpPr>
            <a:spLocks noGrp="1"/>
          </p:cNvSpPr>
          <p:nvPr/>
        </p:nvSpPr>
        <p:spPr>
          <a:xfrm>
            <a:off x="609600" y="10001250"/>
            <a:ext cx="22755225" cy="476"/>
          </a:xfrm>
          <a:custGeom>
            <a:avLst/>
            <a:gdLst/>
            <a:ahLst/>
            <a:cxnLst/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/>
          <a:ln w="9525">
            <a:solidFill>
              <a:srgbClr val="D5E1E9"/>
            </a:solidFill>
            <a:prstDash val="solid"/>
          </a:ln>
        </p:spPr>
      </p:sp>
      <p:sp>
        <p:nvSpPr>
          <p:cNvPr id="50" name="rect-49"/>
          <p:cNvSpPr>
            <a:spLocks noGrp="1"/>
          </p:cNvSpPr>
          <p:nvPr/>
        </p:nvSpPr>
        <p:spPr>
          <a:xfrm>
            <a:off x="609600" y="10001250"/>
            <a:ext cx="1724025" cy="1476375"/>
          </a:xfrm>
          <a:prstGeom prst="rect">
            <a:avLst/>
          </a:prstGeom>
          <a:solidFill>
            <a:srgbClr val="F1F6F9"/>
          </a:solidFill>
          <a:ln w="19050">
            <a:noFill/>
            <a:prstDash val="solid"/>
          </a:ln>
        </p:spPr>
      </p:sp>
      <p:sp>
        <p:nvSpPr>
          <p:cNvPr id="51" name="rect-50"/>
          <p:cNvSpPr>
            <a:spLocks noGrp="1"/>
          </p:cNvSpPr>
          <p:nvPr/>
        </p:nvSpPr>
        <p:spPr>
          <a:xfrm>
            <a:off x="2333625" y="10001250"/>
            <a:ext cx="21031200" cy="1476375"/>
          </a:xfrm>
          <a:prstGeom prst="rect">
            <a:avLst/>
          </a:prstGeom>
          <a:solidFill>
            <a:srgbClr val="FAFCFD"/>
          </a:solidFill>
          <a:ln w="19050">
            <a:noFill/>
            <a:prstDash val="solid"/>
          </a:ln>
        </p:spPr>
      </p:sp>
      <p:sp>
        <p:nvSpPr>
          <p:cNvPr id="52" name="仓储 / 库存"/>
          <p:cNvSpPr>
            <a:spLocks noGrp="1"/>
          </p:cNvSpPr>
          <p:nvPr/>
        </p:nvSpPr>
        <p:spPr>
          <a:xfrm>
            <a:off x="781050" y="10344150"/>
            <a:ext cx="137467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仓储 / 库存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事实结果回传"/>
          <p:cNvSpPr>
            <a:spLocks noGrp="1"/>
          </p:cNvSpPr>
          <p:nvPr/>
        </p:nvSpPr>
        <p:spPr>
          <a:xfrm>
            <a:off x="781050" y="10794492"/>
            <a:ext cx="1165098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事实结果回传</a:t>
            </a:r>
            <a:endParaRPr sz="13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path-53"/>
          <p:cNvSpPr>
            <a:spLocks noGrp="1"/>
          </p:cNvSpPr>
          <p:nvPr/>
        </p:nvSpPr>
        <p:spPr>
          <a:xfrm>
            <a:off x="609600" y="11477625"/>
            <a:ext cx="22755225" cy="476"/>
          </a:xfrm>
          <a:custGeom>
            <a:avLst/>
            <a:gdLst/>
            <a:ahLst/>
            <a:cxnLst/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/>
          <a:ln w="9525">
            <a:solidFill>
              <a:srgbClr val="D5E1E9"/>
            </a:solidFill>
            <a:prstDash val="solid"/>
          </a:ln>
        </p:spPr>
      </p:sp>
      <p:sp>
        <p:nvSpPr>
          <p:cNvPr id="55" name="path-54"/>
          <p:cNvSpPr>
            <a:spLocks noGrp="1"/>
          </p:cNvSpPr>
          <p:nvPr/>
        </p:nvSpPr>
        <p:spPr>
          <a:xfrm>
            <a:off x="23336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56" name="path-55"/>
          <p:cNvSpPr>
            <a:spLocks noGrp="1"/>
          </p:cNvSpPr>
          <p:nvPr/>
        </p:nvSpPr>
        <p:spPr>
          <a:xfrm>
            <a:off x="49625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57" name="path-56"/>
          <p:cNvSpPr>
            <a:spLocks noGrp="1"/>
          </p:cNvSpPr>
          <p:nvPr/>
        </p:nvSpPr>
        <p:spPr>
          <a:xfrm>
            <a:off x="75914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58" name="path-57"/>
          <p:cNvSpPr>
            <a:spLocks noGrp="1"/>
          </p:cNvSpPr>
          <p:nvPr/>
        </p:nvSpPr>
        <p:spPr>
          <a:xfrm>
            <a:off x="102203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59" name="path-58"/>
          <p:cNvSpPr>
            <a:spLocks noGrp="1"/>
          </p:cNvSpPr>
          <p:nvPr/>
        </p:nvSpPr>
        <p:spPr>
          <a:xfrm>
            <a:off x="128492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60" name="path-59"/>
          <p:cNvSpPr>
            <a:spLocks noGrp="1"/>
          </p:cNvSpPr>
          <p:nvPr/>
        </p:nvSpPr>
        <p:spPr>
          <a:xfrm>
            <a:off x="154781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61" name="path-60"/>
          <p:cNvSpPr>
            <a:spLocks noGrp="1"/>
          </p:cNvSpPr>
          <p:nvPr/>
        </p:nvSpPr>
        <p:spPr>
          <a:xfrm>
            <a:off x="181070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62" name="path-61"/>
          <p:cNvSpPr>
            <a:spLocks noGrp="1"/>
          </p:cNvSpPr>
          <p:nvPr/>
        </p:nvSpPr>
        <p:spPr>
          <a:xfrm>
            <a:off x="207359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63" name="path-62"/>
          <p:cNvSpPr>
            <a:spLocks noGrp="1"/>
          </p:cNvSpPr>
          <p:nvPr/>
        </p:nvSpPr>
        <p:spPr>
          <a:xfrm>
            <a:off x="23364825" y="2619375"/>
            <a:ext cx="476" cy="8858250"/>
          </a:xfrm>
          <a:custGeom>
            <a:avLst/>
            <a:gdLst/>
            <a:ahLst/>
            <a:cxnLst/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/>
          <a:ln w="6668">
            <a:solidFill>
              <a:srgbClr val="D5E1E9"/>
            </a:solidFill>
            <a:prstDash val="solid"/>
          </a:ln>
        </p:spPr>
      </p:sp>
      <p:sp>
        <p:nvSpPr>
          <p:cNvPr id="64" name="rect-63"/>
          <p:cNvSpPr>
            <a:spLocks noGrp="1"/>
          </p:cNvSpPr>
          <p:nvPr/>
        </p:nvSpPr>
        <p:spPr>
          <a:xfrm>
            <a:off x="2505075" y="2876550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65" name="rect-64"/>
          <p:cNvSpPr>
            <a:spLocks noGrp="1"/>
          </p:cNvSpPr>
          <p:nvPr/>
        </p:nvSpPr>
        <p:spPr>
          <a:xfrm>
            <a:off x="2505075" y="2876550"/>
            <a:ext cx="47625" cy="10287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66" name="日级预测与确认"/>
          <p:cNvSpPr>
            <a:spLocks noGrp="1"/>
          </p:cNvSpPr>
          <p:nvPr/>
        </p:nvSpPr>
        <p:spPr>
          <a:xfrm>
            <a:off x="2724150" y="2924175"/>
            <a:ext cx="182880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日级预测与确认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活动预测、人工调整"/>
          <p:cNvSpPr>
            <a:spLocks noGrp="1"/>
          </p:cNvSpPr>
          <p:nvPr/>
        </p:nvSpPr>
        <p:spPr>
          <a:xfrm>
            <a:off x="2699385" y="3297555"/>
            <a:ext cx="18783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活动预测、人工调整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提交确认"/>
          <p:cNvSpPr>
            <a:spLocks noGrp="1"/>
          </p:cNvSpPr>
          <p:nvPr/>
        </p:nvSpPr>
        <p:spPr>
          <a:xfrm>
            <a:off x="3194685" y="3564255"/>
            <a:ext cx="8877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提交确认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rect-68"/>
          <p:cNvSpPr>
            <a:spLocks noGrp="1"/>
          </p:cNvSpPr>
          <p:nvPr/>
        </p:nvSpPr>
        <p:spPr>
          <a:xfrm>
            <a:off x="2505075" y="435292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70" name="rect-69"/>
          <p:cNvSpPr>
            <a:spLocks noGrp="1"/>
          </p:cNvSpPr>
          <p:nvPr/>
        </p:nvSpPr>
        <p:spPr>
          <a:xfrm>
            <a:off x="2505075" y="4352925"/>
            <a:ext cx="47625" cy="10287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71" name="开启预测周期"/>
          <p:cNvSpPr>
            <a:spLocks noGrp="1"/>
          </p:cNvSpPr>
          <p:nvPr/>
        </p:nvSpPr>
        <p:spPr>
          <a:xfrm>
            <a:off x="2847975" y="4400550"/>
            <a:ext cx="158115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开启预测周期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月份、W周期、窗口"/>
          <p:cNvSpPr>
            <a:spLocks noGrp="1"/>
          </p:cNvSpPr>
          <p:nvPr/>
        </p:nvSpPr>
        <p:spPr>
          <a:xfrm>
            <a:off x="2706273" y="4773930"/>
            <a:ext cx="186455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月份、W周期、窗口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rect-72"/>
          <p:cNvSpPr>
            <a:spLocks noGrp="1"/>
          </p:cNvSpPr>
          <p:nvPr/>
        </p:nvSpPr>
        <p:spPr>
          <a:xfrm>
            <a:off x="5133975" y="435292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74" name="rect-73"/>
          <p:cNvSpPr>
            <a:spLocks noGrp="1"/>
          </p:cNvSpPr>
          <p:nvPr/>
        </p:nvSpPr>
        <p:spPr>
          <a:xfrm>
            <a:off x="5133975" y="4352925"/>
            <a:ext cx="47625" cy="10287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75" name="审核与校准"/>
          <p:cNvSpPr>
            <a:spLocks noGrp="1"/>
          </p:cNvSpPr>
          <p:nvPr/>
        </p:nvSpPr>
        <p:spPr>
          <a:xfrm>
            <a:off x="5600700" y="4400550"/>
            <a:ext cx="133350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审核与校准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预测、库存、在途、水位"/>
          <p:cNvSpPr>
            <a:spLocks noGrp="1"/>
          </p:cNvSpPr>
          <p:nvPr/>
        </p:nvSpPr>
        <p:spPr>
          <a:xfrm>
            <a:off x="5130165" y="4773930"/>
            <a:ext cx="22745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预测、库存、在途、水位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rect-76"/>
          <p:cNvSpPr>
            <a:spLocks noGrp="1"/>
          </p:cNvSpPr>
          <p:nvPr/>
        </p:nvSpPr>
        <p:spPr>
          <a:xfrm>
            <a:off x="7762875" y="435292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78" name="rect-77"/>
          <p:cNvSpPr>
            <a:spLocks noGrp="1"/>
          </p:cNvSpPr>
          <p:nvPr/>
        </p:nvSpPr>
        <p:spPr>
          <a:xfrm>
            <a:off x="7762875" y="4352925"/>
            <a:ext cx="47625" cy="10287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79" name="最终采购需求"/>
          <p:cNvSpPr>
            <a:spLocks noGrp="1"/>
          </p:cNvSpPr>
          <p:nvPr/>
        </p:nvSpPr>
        <p:spPr>
          <a:xfrm>
            <a:off x="8105775" y="4400550"/>
            <a:ext cx="158115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最终采购需求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SKU版本、供货能力"/>
          <p:cNvSpPr>
            <a:spLocks noGrp="1"/>
          </p:cNvSpPr>
          <p:nvPr/>
        </p:nvSpPr>
        <p:spPr>
          <a:xfrm>
            <a:off x="7953548" y="4773930"/>
            <a:ext cx="188560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SKU版本、供货能力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买什么 / 多少 / 何时要"/>
          <p:cNvSpPr>
            <a:spLocks noGrp="1"/>
          </p:cNvSpPr>
          <p:nvPr/>
        </p:nvSpPr>
        <p:spPr>
          <a:xfrm>
            <a:off x="7825234" y="5040630"/>
            <a:ext cx="214223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买什么 / 多少 / 何时要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rect-81"/>
          <p:cNvSpPr>
            <a:spLocks noGrp="1"/>
          </p:cNvSpPr>
          <p:nvPr/>
        </p:nvSpPr>
        <p:spPr>
          <a:xfrm>
            <a:off x="20907375" y="435292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83" name="rect-82"/>
          <p:cNvSpPr>
            <a:spLocks noGrp="1"/>
          </p:cNvSpPr>
          <p:nvPr/>
        </p:nvSpPr>
        <p:spPr>
          <a:xfrm>
            <a:off x="20907375" y="4352925"/>
            <a:ext cx="47625" cy="10287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84" name="下一轮滚动计划"/>
          <p:cNvSpPr>
            <a:spLocks noGrp="1"/>
          </p:cNvSpPr>
          <p:nvPr/>
        </p:nvSpPr>
        <p:spPr>
          <a:xfrm>
            <a:off x="21126450" y="4400550"/>
            <a:ext cx="182880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下一轮滚动计划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执行偏差反馈"/>
          <p:cNvSpPr>
            <a:spLocks noGrp="1"/>
          </p:cNvSpPr>
          <p:nvPr/>
        </p:nvSpPr>
        <p:spPr>
          <a:xfrm>
            <a:off x="21398865" y="4773930"/>
            <a:ext cx="128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执行偏差反馈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更新需求与备货判断"/>
          <p:cNvSpPr>
            <a:spLocks noGrp="1"/>
          </p:cNvSpPr>
          <p:nvPr/>
        </p:nvSpPr>
        <p:spPr>
          <a:xfrm>
            <a:off x="21101685" y="5040630"/>
            <a:ext cx="18783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更新需求与备货判断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rect-86"/>
          <p:cNvSpPr>
            <a:spLocks noGrp="1"/>
          </p:cNvSpPr>
          <p:nvPr/>
        </p:nvSpPr>
        <p:spPr>
          <a:xfrm>
            <a:off x="7762875" y="5829300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88" name="rect-87"/>
          <p:cNvSpPr>
            <a:spLocks noGrp="1"/>
          </p:cNvSpPr>
          <p:nvPr/>
        </p:nvSpPr>
        <p:spPr>
          <a:xfrm>
            <a:off x="7762875" y="5829300"/>
            <a:ext cx="47625" cy="10287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89" name="物料需求计算"/>
          <p:cNvSpPr>
            <a:spLocks noGrp="1"/>
          </p:cNvSpPr>
          <p:nvPr/>
        </p:nvSpPr>
        <p:spPr>
          <a:xfrm>
            <a:off x="8105775" y="5876925"/>
            <a:ext cx="158115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物料需求计算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成衣计划 + BOM"/>
          <p:cNvSpPr>
            <a:spLocks noGrp="1"/>
          </p:cNvSpPr>
          <p:nvPr/>
        </p:nvSpPr>
        <p:spPr>
          <a:xfrm>
            <a:off x="8096101" y="6250305"/>
            <a:ext cx="160049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成衣计划 + BOM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" name="库存 / 在途 → 净需求"/>
          <p:cNvSpPr>
            <a:spLocks noGrp="1"/>
          </p:cNvSpPr>
          <p:nvPr/>
        </p:nvSpPr>
        <p:spPr>
          <a:xfrm>
            <a:off x="7874764" y="6517005"/>
            <a:ext cx="20431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库存 / 在途 → 净需求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rect-91"/>
          <p:cNvSpPr>
            <a:spLocks noGrp="1"/>
          </p:cNvSpPr>
          <p:nvPr/>
        </p:nvSpPr>
        <p:spPr>
          <a:xfrm>
            <a:off x="10391775" y="5829300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93" name="rect-92"/>
          <p:cNvSpPr>
            <a:spLocks noGrp="1"/>
          </p:cNvSpPr>
          <p:nvPr/>
        </p:nvSpPr>
        <p:spPr>
          <a:xfrm>
            <a:off x="10391775" y="5829300"/>
            <a:ext cx="47625" cy="10287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94" name="面辅料需求计划"/>
          <p:cNvSpPr>
            <a:spLocks noGrp="1"/>
          </p:cNvSpPr>
          <p:nvPr/>
        </p:nvSpPr>
        <p:spPr>
          <a:xfrm>
            <a:off x="10610850" y="5876925"/>
            <a:ext cx="182880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面辅料需求计划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外购 / 备料 / 发料分流"/>
          <p:cNvSpPr>
            <a:spLocks noGrp="1"/>
          </p:cNvSpPr>
          <p:nvPr/>
        </p:nvSpPr>
        <p:spPr>
          <a:xfrm>
            <a:off x="10454134" y="6250305"/>
            <a:ext cx="214223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外购 / 备料 / 发料分流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rect-95"/>
          <p:cNvSpPr>
            <a:spLocks noGrp="1"/>
          </p:cNvSpPr>
          <p:nvPr/>
        </p:nvSpPr>
        <p:spPr>
          <a:xfrm>
            <a:off x="15649575" y="5829300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97" name="rect-96"/>
          <p:cNvSpPr>
            <a:spLocks noGrp="1"/>
          </p:cNvSpPr>
          <p:nvPr/>
        </p:nvSpPr>
        <p:spPr>
          <a:xfrm>
            <a:off x="15649575" y="5829300"/>
            <a:ext cx="47625" cy="10287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98" name="备料 / 发料"/>
          <p:cNvSpPr>
            <a:spLocks noGrp="1"/>
          </p:cNvSpPr>
          <p:nvPr/>
        </p:nvSpPr>
        <p:spPr>
          <a:xfrm>
            <a:off x="16095714" y="5876925"/>
            <a:ext cx="137467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备料 / 发料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9" name="现有料或到料后执行"/>
          <p:cNvSpPr>
            <a:spLocks noGrp="1"/>
          </p:cNvSpPr>
          <p:nvPr/>
        </p:nvSpPr>
        <p:spPr>
          <a:xfrm>
            <a:off x="15843885" y="6250305"/>
            <a:ext cx="18783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现有料或到料后执行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" name="支撑齐料与开工"/>
          <p:cNvSpPr>
            <a:spLocks noGrp="1"/>
          </p:cNvSpPr>
          <p:nvPr/>
        </p:nvSpPr>
        <p:spPr>
          <a:xfrm>
            <a:off x="16042005" y="6517005"/>
            <a:ext cx="14820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支撑齐料与开工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1" name="rect-100"/>
          <p:cNvSpPr>
            <a:spLocks noGrp="1"/>
          </p:cNvSpPr>
          <p:nvPr/>
        </p:nvSpPr>
        <p:spPr>
          <a:xfrm>
            <a:off x="10391775" y="730567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02" name="rect-101"/>
          <p:cNvSpPr>
            <a:spLocks noGrp="1"/>
          </p:cNvSpPr>
          <p:nvPr/>
        </p:nvSpPr>
        <p:spPr>
          <a:xfrm>
            <a:off x="10391775" y="7305675"/>
            <a:ext cx="47625" cy="10287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103" name="PR承接与管理"/>
          <p:cNvSpPr>
            <a:spLocks noGrp="1"/>
          </p:cNvSpPr>
          <p:nvPr/>
        </p:nvSpPr>
        <p:spPr>
          <a:xfrm>
            <a:off x="10691027" y="7353300"/>
            <a:ext cx="1668447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PR承接与管理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" name="PMC确认PR"/>
          <p:cNvSpPr>
            <a:spLocks noGrp="1"/>
          </p:cNvSpPr>
          <p:nvPr/>
        </p:nvSpPr>
        <p:spPr>
          <a:xfrm>
            <a:off x="10925830" y="7726680"/>
            <a:ext cx="11988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PMC确认PR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" name="SCM管理需求单据"/>
          <p:cNvSpPr>
            <a:spLocks noGrp="1"/>
          </p:cNvSpPr>
          <p:nvPr/>
        </p:nvSpPr>
        <p:spPr>
          <a:xfrm>
            <a:off x="10661154" y="7993380"/>
            <a:ext cx="172819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SCM管理需求单据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" name="rect-105"/>
          <p:cNvSpPr>
            <a:spLocks noGrp="1"/>
          </p:cNvSpPr>
          <p:nvPr/>
        </p:nvSpPr>
        <p:spPr>
          <a:xfrm>
            <a:off x="13020675" y="730567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07" name="rect-106"/>
          <p:cNvSpPr>
            <a:spLocks noGrp="1"/>
          </p:cNvSpPr>
          <p:nvPr/>
        </p:nvSpPr>
        <p:spPr>
          <a:xfrm>
            <a:off x="13020675" y="7305675"/>
            <a:ext cx="47625" cy="10287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108" name="供应商分配"/>
          <p:cNvSpPr>
            <a:spLocks noGrp="1"/>
          </p:cNvSpPr>
          <p:nvPr/>
        </p:nvSpPr>
        <p:spPr>
          <a:xfrm>
            <a:off x="13487400" y="7353300"/>
            <a:ext cx="133350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供应商分配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9" name="产能 / 成本 / 交期"/>
          <p:cNvSpPr>
            <a:spLocks noGrp="1"/>
          </p:cNvSpPr>
          <p:nvPr/>
        </p:nvSpPr>
        <p:spPr>
          <a:xfrm>
            <a:off x="13281154" y="7726680"/>
            <a:ext cx="174599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产能 / 成本 / 交期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0" name="决定向谁买、如何分配"/>
          <p:cNvSpPr>
            <a:spLocks noGrp="1"/>
          </p:cNvSpPr>
          <p:nvPr/>
        </p:nvSpPr>
        <p:spPr>
          <a:xfrm>
            <a:off x="13115925" y="7993380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决定向谁买、如何分配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1" name="rect-110"/>
          <p:cNvSpPr>
            <a:spLocks noGrp="1"/>
          </p:cNvSpPr>
          <p:nvPr/>
        </p:nvSpPr>
        <p:spPr>
          <a:xfrm>
            <a:off x="15649575" y="730567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12" name="rect-111"/>
          <p:cNvSpPr>
            <a:spLocks noGrp="1"/>
          </p:cNvSpPr>
          <p:nvPr/>
        </p:nvSpPr>
        <p:spPr>
          <a:xfrm>
            <a:off x="15649575" y="7305675"/>
            <a:ext cx="47625" cy="10287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113" name="PO与交期确认"/>
          <p:cNvSpPr>
            <a:spLocks noGrp="1"/>
          </p:cNvSpPr>
          <p:nvPr/>
        </p:nvSpPr>
        <p:spPr>
          <a:xfrm>
            <a:off x="15939230" y="7353300"/>
            <a:ext cx="168764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PO与交期确认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4" name="以采购订单组织执行"/>
          <p:cNvSpPr>
            <a:spLocks noGrp="1"/>
          </p:cNvSpPr>
          <p:nvPr/>
        </p:nvSpPr>
        <p:spPr>
          <a:xfrm>
            <a:off x="15843885" y="7726680"/>
            <a:ext cx="18783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以采购订单组织执行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5" name="rect-114"/>
          <p:cNvSpPr>
            <a:spLocks noGrp="1"/>
          </p:cNvSpPr>
          <p:nvPr/>
        </p:nvSpPr>
        <p:spPr>
          <a:xfrm>
            <a:off x="15649575" y="8782050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16" name="rect-115"/>
          <p:cNvSpPr>
            <a:spLocks noGrp="1"/>
          </p:cNvSpPr>
          <p:nvPr/>
        </p:nvSpPr>
        <p:spPr>
          <a:xfrm>
            <a:off x="15649575" y="8782050"/>
            <a:ext cx="47625" cy="10287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117" name="接单与货期确认"/>
          <p:cNvSpPr>
            <a:spLocks noGrp="1"/>
          </p:cNvSpPr>
          <p:nvPr/>
        </p:nvSpPr>
        <p:spPr>
          <a:xfrm>
            <a:off x="15868650" y="8829675"/>
            <a:ext cx="182880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接单与货期确认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8" name="供应商承接任务与资料"/>
          <p:cNvSpPr>
            <a:spLocks noGrp="1"/>
          </p:cNvSpPr>
          <p:nvPr/>
        </p:nvSpPr>
        <p:spPr>
          <a:xfrm>
            <a:off x="15744825" y="9203055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供应商承接任务与资料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9" name="rect-118"/>
          <p:cNvSpPr>
            <a:spLocks noGrp="1"/>
          </p:cNvSpPr>
          <p:nvPr/>
        </p:nvSpPr>
        <p:spPr>
          <a:xfrm>
            <a:off x="18278475" y="8782050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54963C"/>
            </a:solidFill>
            <a:prstDash val="solid"/>
          </a:ln>
        </p:spPr>
      </p:sp>
      <p:sp>
        <p:nvSpPr>
          <p:cNvPr id="120" name="rect-119"/>
          <p:cNvSpPr>
            <a:spLocks noGrp="1"/>
          </p:cNvSpPr>
          <p:nvPr/>
        </p:nvSpPr>
        <p:spPr>
          <a:xfrm>
            <a:off x="18278475" y="8782050"/>
            <a:ext cx="47625" cy="1028700"/>
          </a:xfrm>
          <a:prstGeom prst="rect">
            <a:avLst/>
          </a:prstGeom>
          <a:solidFill>
            <a:srgbClr val="54963C"/>
          </a:solidFill>
          <a:ln w="19050">
            <a:noFill/>
            <a:prstDash val="solid"/>
          </a:ln>
        </p:spPr>
      </p:sp>
      <p:sp>
        <p:nvSpPr>
          <p:cNvPr id="121" name="生产 / QC / 发货"/>
          <p:cNvSpPr>
            <a:spLocks noGrp="1"/>
          </p:cNvSpPr>
          <p:nvPr/>
        </p:nvSpPr>
        <p:spPr>
          <a:xfrm>
            <a:off x="18393614" y="8829675"/>
            <a:ext cx="2036671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生产 / QC / 发货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2" name="MES进度与延期反馈"/>
          <p:cNvSpPr>
            <a:spLocks noGrp="1"/>
          </p:cNvSpPr>
          <p:nvPr/>
        </p:nvSpPr>
        <p:spPr>
          <a:xfrm>
            <a:off x="18457771" y="9203055"/>
            <a:ext cx="190835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MES进度与延期反馈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3" name="质量放行、交付执行"/>
          <p:cNvSpPr>
            <a:spLocks noGrp="1"/>
          </p:cNvSpPr>
          <p:nvPr/>
        </p:nvSpPr>
        <p:spPr>
          <a:xfrm>
            <a:off x="18472785" y="9469755"/>
            <a:ext cx="18783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质量放行、交付执行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rect-123"/>
          <p:cNvSpPr>
            <a:spLocks noGrp="1"/>
          </p:cNvSpPr>
          <p:nvPr/>
        </p:nvSpPr>
        <p:spPr>
          <a:xfrm>
            <a:off x="20907375" y="10258425"/>
            <a:ext cx="226695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9050">
            <a:solidFill>
              <a:srgbClr val="078E99"/>
            </a:solidFill>
            <a:prstDash val="solid"/>
          </a:ln>
        </p:spPr>
      </p:sp>
      <p:sp>
        <p:nvSpPr>
          <p:cNvPr id="125" name="rect-124"/>
          <p:cNvSpPr>
            <a:spLocks noGrp="1"/>
          </p:cNvSpPr>
          <p:nvPr/>
        </p:nvSpPr>
        <p:spPr>
          <a:xfrm>
            <a:off x="20907375" y="10258425"/>
            <a:ext cx="47625" cy="1028700"/>
          </a:xfrm>
          <a:prstGeom prst="rect">
            <a:avLst/>
          </a:prstGeom>
          <a:solidFill>
            <a:srgbClr val="078E99"/>
          </a:solidFill>
          <a:ln w="19050">
            <a:noFill/>
            <a:prstDash val="solid"/>
          </a:ln>
        </p:spPr>
      </p:sp>
      <p:sp>
        <p:nvSpPr>
          <p:cNvPr id="126" name="收货 / 入库"/>
          <p:cNvSpPr>
            <a:spLocks noGrp="1"/>
          </p:cNvSpPr>
          <p:nvPr/>
        </p:nvSpPr>
        <p:spPr>
          <a:xfrm>
            <a:off x="21353514" y="10306050"/>
            <a:ext cx="137467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收货 / 入库</a:t>
            </a:r>
            <a:endParaRPr sz="18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7" name="质检、库存更新"/>
          <p:cNvSpPr>
            <a:spLocks noGrp="1"/>
          </p:cNvSpPr>
          <p:nvPr/>
        </p:nvSpPr>
        <p:spPr>
          <a:xfrm>
            <a:off x="21299805" y="10679430"/>
            <a:ext cx="14820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质检、库存更新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8" name="库存与到货事实回传"/>
          <p:cNvSpPr>
            <a:spLocks noGrp="1"/>
          </p:cNvSpPr>
          <p:nvPr/>
        </p:nvSpPr>
        <p:spPr>
          <a:xfrm>
            <a:off x="21101685" y="10946130"/>
            <a:ext cx="18783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库存与到货事实回传</a:t>
            </a:r>
            <a:endParaRPr sz="150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9" name="path-128"/>
          <p:cNvSpPr>
            <a:spLocks noGrp="1"/>
          </p:cNvSpPr>
          <p:nvPr/>
        </p:nvSpPr>
        <p:spPr>
          <a:xfrm>
            <a:off x="3638550" y="3905250"/>
            <a:ext cx="476" cy="447675"/>
          </a:xfrm>
          <a:custGeom>
            <a:avLst/>
            <a:gdLst/>
            <a:ahLst/>
            <a:cxnLst/>
            <a:pathLst>
              <a:path w="476" h="447675">
                <a:moveTo>
                  <a:pt x="0" y="44767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130" name="arrowhead-128"/>
          <p:cNvSpPr>
            <a:spLocks noGrp="1"/>
          </p:cNvSpPr>
          <p:nvPr/>
        </p:nvSpPr>
        <p:spPr>
          <a:xfrm>
            <a:off x="3524250" y="39052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0"/>
                </a:move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131" name="rect-129"/>
          <p:cNvSpPr>
            <a:spLocks noGrp="1"/>
          </p:cNvSpPr>
          <p:nvPr/>
        </p:nvSpPr>
        <p:spPr>
          <a:xfrm>
            <a:off x="4019550" y="4057650"/>
            <a:ext cx="609600" cy="2952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32" name="发起"/>
          <p:cNvSpPr>
            <a:spLocks noGrp="1"/>
          </p:cNvSpPr>
          <p:nvPr/>
        </p:nvSpPr>
        <p:spPr>
          <a:xfrm>
            <a:off x="4078605" y="4040505"/>
            <a:ext cx="4914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发起</a:t>
            </a:r>
            <a:endParaRPr sz="150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3" name="path-131"/>
          <p:cNvSpPr>
            <a:spLocks noGrp="1"/>
          </p:cNvSpPr>
          <p:nvPr/>
        </p:nvSpPr>
        <p:spPr>
          <a:xfrm>
            <a:off x="4772025" y="3390900"/>
            <a:ext cx="361950" cy="1476375"/>
          </a:xfrm>
          <a:custGeom>
            <a:avLst/>
            <a:gdLst/>
            <a:ahLst/>
            <a:cxnLst/>
            <a:pathLst>
              <a:path w="361950" h="1476375">
                <a:moveTo>
                  <a:pt x="0" y="0"/>
                </a:moveTo>
                <a:lnTo>
                  <a:pt x="219075" y="0"/>
                </a:lnTo>
                <a:lnTo>
                  <a:pt x="219075" y="1476375"/>
                </a:lnTo>
                <a:lnTo>
                  <a:pt x="361950" y="1476375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134" name="arrowhead-131"/>
          <p:cNvSpPr>
            <a:spLocks noGrp="1"/>
          </p:cNvSpPr>
          <p:nvPr/>
        </p:nvSpPr>
        <p:spPr>
          <a:xfrm>
            <a:off x="4905375" y="475297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135" name="path-132"/>
          <p:cNvSpPr>
            <a:spLocks noGrp="1"/>
          </p:cNvSpPr>
          <p:nvPr/>
        </p:nvSpPr>
        <p:spPr>
          <a:xfrm>
            <a:off x="7400925" y="4867275"/>
            <a:ext cx="361950" cy="476"/>
          </a:xfrm>
          <a:custGeom>
            <a:avLst/>
            <a:gdLst/>
            <a:ahLst/>
            <a:cxnLst/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136" name="arrowhead-132"/>
          <p:cNvSpPr>
            <a:spLocks noGrp="1"/>
          </p:cNvSpPr>
          <p:nvPr/>
        </p:nvSpPr>
        <p:spPr>
          <a:xfrm>
            <a:off x="7534275" y="475297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137" name="path-133"/>
          <p:cNvSpPr>
            <a:spLocks noGrp="1"/>
          </p:cNvSpPr>
          <p:nvPr/>
        </p:nvSpPr>
        <p:spPr>
          <a:xfrm>
            <a:off x="8896350" y="5381625"/>
            <a:ext cx="476" cy="447675"/>
          </a:xfrm>
          <a:custGeom>
            <a:avLst/>
            <a:gdLst/>
            <a:ahLst/>
            <a:cxnLst/>
            <a:pathLst>
              <a:path w="476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138" name="arrowhead-133"/>
          <p:cNvSpPr>
            <a:spLocks noGrp="1"/>
          </p:cNvSpPr>
          <p:nvPr/>
        </p:nvSpPr>
        <p:spPr>
          <a:xfrm>
            <a:off x="8782050" y="560070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139" name="rect-134"/>
          <p:cNvSpPr>
            <a:spLocks noGrp="1"/>
          </p:cNvSpPr>
          <p:nvPr/>
        </p:nvSpPr>
        <p:spPr>
          <a:xfrm>
            <a:off x="9134475" y="5495925"/>
            <a:ext cx="990600" cy="2952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40" name="成衣计划"/>
          <p:cNvSpPr>
            <a:spLocks noGrp="1"/>
          </p:cNvSpPr>
          <p:nvPr/>
        </p:nvSpPr>
        <p:spPr>
          <a:xfrm>
            <a:off x="9185910" y="5478780"/>
            <a:ext cx="8877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成衣计划</a:t>
            </a:r>
            <a:endParaRPr sz="150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1" name="path-136"/>
          <p:cNvSpPr>
            <a:spLocks noGrp="1"/>
          </p:cNvSpPr>
          <p:nvPr/>
        </p:nvSpPr>
        <p:spPr>
          <a:xfrm rot="16200000" flipV="1">
            <a:off x="7395845" y="5145405"/>
            <a:ext cx="2802255" cy="2646045"/>
          </a:xfrm>
          <a:custGeom>
            <a:avLst/>
            <a:gdLst>
              <a:gd name="connsiteX0" fmla="*/ 0 w 4413"/>
              <a:gd name="connsiteY0" fmla="*/ 0 h 4167"/>
              <a:gd name="connsiteX1" fmla="*/ 0 w 4413"/>
              <a:gd name="connsiteY1" fmla="*/ 4167 h 4167"/>
              <a:gd name="connsiteX2" fmla="*/ 4413 w 4413"/>
              <a:gd name="connsiteY2" fmla="*/ 4140 h 4167"/>
              <a:gd name="connsiteX3" fmla="*/ 4413 w 4413"/>
              <a:gd name="connsiteY3" fmla="*/ 3786 h 4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pathLst>
              <a:path w="4413" h="4167">
                <a:moveTo>
                  <a:pt x="0" y="0"/>
                </a:moveTo>
                <a:lnTo>
                  <a:pt x="0" y="4167"/>
                </a:lnTo>
                <a:lnTo>
                  <a:pt x="4413" y="4140"/>
                </a:lnTo>
                <a:lnTo>
                  <a:pt x="4413" y="3786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142" name="arrowhead-136"/>
          <p:cNvSpPr>
            <a:spLocks noGrp="1"/>
          </p:cNvSpPr>
          <p:nvPr/>
        </p:nvSpPr>
        <p:spPr>
          <a:xfrm>
            <a:off x="10163175" y="774000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143" name="rect-137"/>
          <p:cNvSpPr>
            <a:spLocks noGrp="1"/>
          </p:cNvSpPr>
          <p:nvPr/>
        </p:nvSpPr>
        <p:spPr>
          <a:xfrm>
            <a:off x="6924675" y="7178675"/>
            <a:ext cx="1356360" cy="27686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44" name="成衣采购需求"/>
          <p:cNvSpPr>
            <a:spLocks noGrp="1"/>
          </p:cNvSpPr>
          <p:nvPr/>
        </p:nvSpPr>
        <p:spPr>
          <a:xfrm>
            <a:off x="6968490" y="7161530"/>
            <a:ext cx="128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成衣采购需求</a:t>
            </a:r>
            <a:endParaRPr sz="1500" b="0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5" name="path-139"/>
          <p:cNvSpPr>
            <a:spLocks noGrp="1"/>
          </p:cNvSpPr>
          <p:nvPr/>
        </p:nvSpPr>
        <p:spPr>
          <a:xfrm>
            <a:off x="10029825" y="6343650"/>
            <a:ext cx="361950" cy="476"/>
          </a:xfrm>
          <a:custGeom>
            <a:avLst/>
            <a:gdLst/>
            <a:ahLst/>
            <a:cxnLst/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146" name="arrowhead-139"/>
          <p:cNvSpPr>
            <a:spLocks noGrp="1"/>
          </p:cNvSpPr>
          <p:nvPr/>
        </p:nvSpPr>
        <p:spPr>
          <a:xfrm>
            <a:off x="10163175" y="62293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147" name="path-140"/>
          <p:cNvSpPr>
            <a:spLocks noGrp="1"/>
          </p:cNvSpPr>
          <p:nvPr/>
        </p:nvSpPr>
        <p:spPr>
          <a:xfrm>
            <a:off x="11525250" y="6858000"/>
            <a:ext cx="476" cy="447675"/>
          </a:xfrm>
          <a:custGeom>
            <a:avLst/>
            <a:gdLst/>
            <a:ahLst/>
            <a:cxnLst/>
            <a:pathLst>
              <a:path w="476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148" name="arrowhead-140"/>
          <p:cNvSpPr>
            <a:spLocks noGrp="1"/>
          </p:cNvSpPr>
          <p:nvPr/>
        </p:nvSpPr>
        <p:spPr>
          <a:xfrm>
            <a:off x="11410950" y="707707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149" name="rect-141"/>
          <p:cNvSpPr>
            <a:spLocks noGrp="1"/>
          </p:cNvSpPr>
          <p:nvPr/>
        </p:nvSpPr>
        <p:spPr>
          <a:xfrm>
            <a:off x="11649075" y="6981825"/>
            <a:ext cx="1181100" cy="2952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50" name="净缺口采购"/>
          <p:cNvSpPr>
            <a:spLocks noGrp="1"/>
          </p:cNvSpPr>
          <p:nvPr/>
        </p:nvSpPr>
        <p:spPr>
          <a:xfrm>
            <a:off x="11696700" y="6964680"/>
            <a:ext cx="10858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净缺口采购</a:t>
            </a:r>
            <a:endParaRPr sz="150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path-143"/>
          <p:cNvSpPr>
            <a:spLocks noGrp="1"/>
          </p:cNvSpPr>
          <p:nvPr/>
        </p:nvSpPr>
        <p:spPr>
          <a:xfrm>
            <a:off x="12658725" y="6343650"/>
            <a:ext cx="2990850" cy="476"/>
          </a:xfrm>
          <a:custGeom>
            <a:avLst/>
            <a:gdLst/>
            <a:ahLst/>
            <a:cxnLst/>
            <a:pathLst>
              <a:path w="2990850" h="476">
                <a:moveTo>
                  <a:pt x="0" y="0"/>
                </a:moveTo>
                <a:lnTo>
                  <a:pt x="2990850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152" name="arrowhead-143"/>
          <p:cNvSpPr>
            <a:spLocks noGrp="1"/>
          </p:cNvSpPr>
          <p:nvPr/>
        </p:nvSpPr>
        <p:spPr>
          <a:xfrm>
            <a:off x="15420975" y="62293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153" name="rect-144"/>
          <p:cNvSpPr>
            <a:spLocks noGrp="1"/>
          </p:cNvSpPr>
          <p:nvPr/>
        </p:nvSpPr>
        <p:spPr>
          <a:xfrm>
            <a:off x="13373100" y="6108700"/>
            <a:ext cx="1562100" cy="381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54" name="可用料直接备料"/>
          <p:cNvSpPr>
            <a:spLocks noGrp="1"/>
          </p:cNvSpPr>
          <p:nvPr/>
        </p:nvSpPr>
        <p:spPr>
          <a:xfrm>
            <a:off x="13413105" y="6177280"/>
            <a:ext cx="14820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可用料直接备料</a:t>
            </a:r>
            <a:endParaRPr sz="150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5" name="path-146"/>
          <p:cNvSpPr>
            <a:spLocks noGrp="1"/>
          </p:cNvSpPr>
          <p:nvPr/>
        </p:nvSpPr>
        <p:spPr>
          <a:xfrm>
            <a:off x="12658725" y="7820025"/>
            <a:ext cx="361950" cy="476"/>
          </a:xfrm>
          <a:custGeom>
            <a:avLst/>
            <a:gdLst/>
            <a:ahLst/>
            <a:cxnLst/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156" name="arrowhead-146"/>
          <p:cNvSpPr>
            <a:spLocks noGrp="1"/>
          </p:cNvSpPr>
          <p:nvPr/>
        </p:nvSpPr>
        <p:spPr>
          <a:xfrm>
            <a:off x="12792075" y="770572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157" name="path-147"/>
          <p:cNvSpPr>
            <a:spLocks noGrp="1"/>
          </p:cNvSpPr>
          <p:nvPr/>
        </p:nvSpPr>
        <p:spPr>
          <a:xfrm>
            <a:off x="15287625" y="7820025"/>
            <a:ext cx="361950" cy="476"/>
          </a:xfrm>
          <a:custGeom>
            <a:avLst/>
            <a:gdLst/>
            <a:ahLst/>
            <a:cxnLst/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158" name="arrowhead-147"/>
          <p:cNvSpPr>
            <a:spLocks noGrp="1"/>
          </p:cNvSpPr>
          <p:nvPr/>
        </p:nvSpPr>
        <p:spPr>
          <a:xfrm>
            <a:off x="15420975" y="7705725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159" name="path-148"/>
          <p:cNvSpPr>
            <a:spLocks noGrp="1"/>
          </p:cNvSpPr>
          <p:nvPr/>
        </p:nvSpPr>
        <p:spPr>
          <a:xfrm>
            <a:off x="16783050" y="8334375"/>
            <a:ext cx="476" cy="447675"/>
          </a:xfrm>
          <a:custGeom>
            <a:avLst/>
            <a:gdLst/>
            <a:ahLst/>
            <a:cxnLst/>
            <a:pathLst>
              <a:path w="476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160" name="arrowhead-148"/>
          <p:cNvSpPr>
            <a:spLocks noGrp="1"/>
          </p:cNvSpPr>
          <p:nvPr/>
        </p:nvSpPr>
        <p:spPr>
          <a:xfrm>
            <a:off x="16668750" y="85534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161" name="path-149"/>
          <p:cNvSpPr>
            <a:spLocks noGrp="1"/>
          </p:cNvSpPr>
          <p:nvPr/>
        </p:nvSpPr>
        <p:spPr>
          <a:xfrm>
            <a:off x="17916525" y="9296400"/>
            <a:ext cx="361950" cy="476"/>
          </a:xfrm>
          <a:custGeom>
            <a:avLst/>
            <a:gdLst/>
            <a:ahLst/>
            <a:cxnLst/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162" name="arrowhead-149"/>
          <p:cNvSpPr>
            <a:spLocks noGrp="1"/>
          </p:cNvSpPr>
          <p:nvPr/>
        </p:nvSpPr>
        <p:spPr>
          <a:xfrm>
            <a:off x="18049875" y="918210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4963C"/>
          </a:solidFill>
          <a:ln w="0">
            <a:noFill/>
          </a:ln>
        </p:spPr>
      </p:sp>
      <p:sp>
        <p:nvSpPr>
          <p:cNvPr id="163" name="path-150"/>
          <p:cNvSpPr>
            <a:spLocks noGrp="1"/>
          </p:cNvSpPr>
          <p:nvPr/>
        </p:nvSpPr>
        <p:spPr>
          <a:xfrm>
            <a:off x="17936845" y="6318250"/>
            <a:ext cx="1620520" cy="2019935"/>
          </a:xfrm>
          <a:custGeom>
            <a:avLst/>
            <a:gdLst>
              <a:gd name="connsiteX0" fmla="*/ 0 w 2552"/>
              <a:gd name="connsiteY0" fmla="*/ 0 h 3181"/>
              <a:gd name="connsiteX1" fmla="*/ 2530 w 2552"/>
              <a:gd name="connsiteY1" fmla="*/ 0 h 3181"/>
              <a:gd name="connsiteX2" fmla="*/ 2530 w 2552"/>
              <a:gd name="connsiteY2" fmla="*/ 1377 h 3181"/>
              <a:gd name="connsiteX3" fmla="*/ 2552 w 2552"/>
              <a:gd name="connsiteY3" fmla="*/ 3119 h 3181"/>
              <a:gd name="connsiteX4" fmla="*/ 2521 w 2552"/>
              <a:gd name="connsiteY4" fmla="*/ 3181 h 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pathLst>
              <a:path w="2552" h="3181">
                <a:moveTo>
                  <a:pt x="0" y="0"/>
                </a:moveTo>
                <a:lnTo>
                  <a:pt x="2530" y="0"/>
                </a:lnTo>
                <a:lnTo>
                  <a:pt x="2530" y="1377"/>
                </a:lnTo>
                <a:lnTo>
                  <a:pt x="2552" y="3119"/>
                </a:lnTo>
                <a:lnTo>
                  <a:pt x="2521" y="3181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164" name="arrowhead-150"/>
          <p:cNvSpPr>
            <a:spLocks noGrp="1"/>
          </p:cNvSpPr>
          <p:nvPr/>
        </p:nvSpPr>
        <p:spPr>
          <a:xfrm rot="5220000">
            <a:off x="19404000" y="846000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165" name="rect-151"/>
          <p:cNvSpPr>
            <a:spLocks noGrp="1"/>
          </p:cNvSpPr>
          <p:nvPr/>
        </p:nvSpPr>
        <p:spPr>
          <a:xfrm>
            <a:off x="19053175" y="7667625"/>
            <a:ext cx="990600" cy="29527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66" name="齐料支持"/>
          <p:cNvSpPr>
            <a:spLocks noGrp="1"/>
          </p:cNvSpPr>
          <p:nvPr/>
        </p:nvSpPr>
        <p:spPr>
          <a:xfrm>
            <a:off x="19104610" y="7632000"/>
            <a:ext cx="8877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齐料支持</a:t>
            </a:r>
            <a:endParaRPr sz="1500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7" name="path-153"/>
          <p:cNvSpPr>
            <a:spLocks noGrp="1"/>
          </p:cNvSpPr>
          <p:nvPr/>
        </p:nvSpPr>
        <p:spPr>
          <a:xfrm>
            <a:off x="19563715" y="9824085"/>
            <a:ext cx="1020445" cy="1002665"/>
          </a:xfrm>
          <a:custGeom>
            <a:avLst/>
            <a:gdLst>
              <a:gd name="connsiteX0" fmla="*/ 0 w 1607"/>
              <a:gd name="connsiteY0" fmla="*/ 0 h 1579"/>
              <a:gd name="connsiteX1" fmla="*/ 0 w 1607"/>
              <a:gd name="connsiteY1" fmla="*/ 531 h 1579"/>
              <a:gd name="connsiteX2" fmla="*/ 27 w 1607"/>
              <a:gd name="connsiteY2" fmla="*/ 1579 h 1579"/>
              <a:gd name="connsiteX3" fmla="*/ 1607 w 1607"/>
              <a:gd name="connsiteY3" fmla="*/ 1552 h 1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pathLst>
              <a:path w="1607" h="1579">
                <a:moveTo>
                  <a:pt x="0" y="0"/>
                </a:moveTo>
                <a:lnTo>
                  <a:pt x="0" y="531"/>
                </a:lnTo>
                <a:lnTo>
                  <a:pt x="27" y="1579"/>
                </a:lnTo>
                <a:lnTo>
                  <a:pt x="1607" y="1552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168" name="arrowhead-153"/>
          <p:cNvSpPr>
            <a:spLocks noGrp="1"/>
          </p:cNvSpPr>
          <p:nvPr/>
        </p:nvSpPr>
        <p:spPr>
          <a:xfrm>
            <a:off x="20678775" y="10727999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4963C"/>
          </a:solidFill>
          <a:ln w="0">
            <a:noFill/>
          </a:ln>
        </p:spPr>
      </p:sp>
      <p:sp>
        <p:nvSpPr>
          <p:cNvPr id="169" name="rect-154"/>
          <p:cNvSpPr>
            <a:spLocks noGrp="1"/>
          </p:cNvSpPr>
          <p:nvPr/>
        </p:nvSpPr>
        <p:spPr>
          <a:xfrm>
            <a:off x="20897850" y="9877425"/>
            <a:ext cx="628650" cy="3048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70" name="交付"/>
          <p:cNvSpPr>
            <a:spLocks noGrp="1"/>
          </p:cNvSpPr>
          <p:nvPr/>
        </p:nvSpPr>
        <p:spPr>
          <a:xfrm>
            <a:off x="20956524" y="9859899"/>
            <a:ext cx="511302" cy="2900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交付</a:t>
            </a:r>
            <a:endParaRPr sz="1575" b="0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1" name="path-156"/>
          <p:cNvSpPr>
            <a:spLocks noGrp="1"/>
          </p:cNvSpPr>
          <p:nvPr/>
        </p:nvSpPr>
        <p:spPr>
          <a:xfrm>
            <a:off x="23174325" y="4867275"/>
            <a:ext cx="447675" cy="5905500"/>
          </a:xfrm>
          <a:custGeom>
            <a:avLst/>
            <a:gdLst/>
            <a:ahLst/>
            <a:cxnLst/>
            <a:pathLst>
              <a:path w="447675" h="5905500">
                <a:moveTo>
                  <a:pt x="0" y="5905500"/>
                </a:moveTo>
                <a:lnTo>
                  <a:pt x="447675" y="5905500"/>
                </a:lnTo>
                <a:lnTo>
                  <a:pt x="447675" y="0"/>
                </a:lnTo>
                <a:lnTo>
                  <a:pt x="0" y="0"/>
                </a:lnTo>
              </a:path>
            </a:pathLst>
          </a:custGeom>
          <a:noFill/>
          <a:ln w="47625">
            <a:solidFill>
              <a:srgbClr val="078E99"/>
            </a:solidFill>
            <a:prstDash val="solid"/>
          </a:ln>
        </p:spPr>
      </p:sp>
      <p:sp>
        <p:nvSpPr>
          <p:cNvPr id="172" name="arrowhead-156"/>
          <p:cNvSpPr>
            <a:spLocks noGrp="1"/>
          </p:cNvSpPr>
          <p:nvPr/>
        </p:nvSpPr>
        <p:spPr>
          <a:xfrm>
            <a:off x="23174325" y="4676775"/>
            <a:ext cx="381000" cy="381000"/>
          </a:xfrm>
          <a:custGeom>
            <a:avLst/>
            <a:gdLst/>
            <a:ahLst/>
            <a:cxnLst/>
            <a:pathLst>
              <a:path w="381000" h="381000">
                <a:moveTo>
                  <a:pt x="0" y="190500"/>
                </a:moveTo>
                <a:lnTo>
                  <a:pt x="38100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173" name="rect-157"/>
          <p:cNvSpPr>
            <a:spLocks noGrp="1"/>
          </p:cNvSpPr>
          <p:nvPr/>
        </p:nvSpPr>
        <p:spPr>
          <a:xfrm>
            <a:off x="21929725" y="8162925"/>
            <a:ext cx="1543050" cy="32385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74" name="执行结果回流"/>
          <p:cNvSpPr>
            <a:spLocks noGrp="1"/>
          </p:cNvSpPr>
          <p:nvPr/>
        </p:nvSpPr>
        <p:spPr>
          <a:xfrm>
            <a:off x="21970111" y="8144637"/>
            <a:ext cx="1462278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执行结果回流</a:t>
            </a:r>
            <a:endParaRPr sz="1725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5" name="path-159"/>
          <p:cNvSpPr>
            <a:spLocks noGrp="1"/>
          </p:cNvSpPr>
          <p:nvPr/>
        </p:nvSpPr>
        <p:spPr>
          <a:xfrm flipV="1">
            <a:off x="6263005" y="3572510"/>
            <a:ext cx="15801975" cy="752475"/>
          </a:xfrm>
          <a:custGeom>
            <a:avLst/>
            <a:gdLst>
              <a:gd name="connsiteX0" fmla="*/ 24885 w 24885"/>
              <a:gd name="connsiteY0" fmla="*/ 0 h 1185"/>
              <a:gd name="connsiteX1" fmla="*/ 24885 w 24885"/>
              <a:gd name="connsiteY1" fmla="*/ 352 h 1185"/>
              <a:gd name="connsiteX2" fmla="*/ 24885 w 24885"/>
              <a:gd name="connsiteY2" fmla="*/ 1153 h 1185"/>
              <a:gd name="connsiteX3" fmla="*/ 24885 w 24885"/>
              <a:gd name="connsiteY3" fmla="*/ 1185 h 1185"/>
              <a:gd name="connsiteX4" fmla="*/ 0 w 24885"/>
              <a:gd name="connsiteY4" fmla="*/ 1121 h 1185"/>
              <a:gd name="connsiteX5" fmla="*/ 0 w 24885"/>
              <a:gd name="connsiteY5" fmla="*/ 712 h 1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pathLst>
              <a:path w="24885" h="1185">
                <a:moveTo>
                  <a:pt x="24885" y="0"/>
                </a:moveTo>
                <a:lnTo>
                  <a:pt x="24885" y="352"/>
                </a:lnTo>
                <a:lnTo>
                  <a:pt x="24885" y="1153"/>
                </a:lnTo>
                <a:lnTo>
                  <a:pt x="24885" y="1185"/>
                </a:lnTo>
                <a:lnTo>
                  <a:pt x="0" y="1121"/>
                </a:lnTo>
                <a:lnTo>
                  <a:pt x="0" y="712"/>
                </a:lnTo>
              </a:path>
            </a:pathLst>
          </a:custGeom>
          <a:noFill/>
          <a:ln w="38100">
            <a:solidFill>
              <a:srgbClr val="078E99"/>
            </a:solidFill>
            <a:prstDash val="solid"/>
          </a:ln>
        </p:spPr>
      </p:sp>
      <p:sp>
        <p:nvSpPr>
          <p:cNvPr id="176" name="arrowhead-159"/>
          <p:cNvSpPr>
            <a:spLocks noGrp="1"/>
          </p:cNvSpPr>
          <p:nvPr/>
        </p:nvSpPr>
        <p:spPr>
          <a:xfrm rot="10800000">
            <a:off x="6115050" y="3984625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177" name="rect-160"/>
          <p:cNvSpPr>
            <a:spLocks noGrp="1"/>
          </p:cNvSpPr>
          <p:nvPr/>
        </p:nvSpPr>
        <p:spPr>
          <a:xfrm>
            <a:off x="14702790" y="3479800"/>
            <a:ext cx="4503420" cy="3143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178" name="销量 / 库存 / 在途 / 交期 / 生产 / 质量"/>
          <p:cNvSpPr>
            <a:spLocks noGrp="1"/>
          </p:cNvSpPr>
          <p:nvPr/>
        </p:nvSpPr>
        <p:spPr>
          <a:xfrm>
            <a:off x="14963983" y="3461893"/>
            <a:ext cx="3981033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销量 / 库存 / 在途 / 交期 / 生产 / 质量</a:t>
            </a:r>
            <a:endParaRPr sz="16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9" name="边界：PMC确认采购需求，SCM负责供应商分配与PR / PO执行；MRP与成衣采购并行。"/>
          <p:cNvSpPr>
            <a:spLocks noGrp="1"/>
          </p:cNvSpPr>
          <p:nvPr/>
        </p:nvSpPr>
        <p:spPr>
          <a:xfrm>
            <a:off x="609600" y="11686794"/>
            <a:ext cx="10291155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边界：PMC确认采购需求，SCM负责供应商分配与PR / PO执行；MRP与成衣采购并行。</a:t>
            </a:r>
            <a:endParaRPr sz="1950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0" name="QC为执行协同节点，汇报版合并展示；具体检验、生产及库存接口按阶段接入。"/>
          <p:cNvSpPr>
            <a:spLocks noGrp="1"/>
          </p:cNvSpPr>
          <p:nvPr/>
        </p:nvSpPr>
        <p:spPr>
          <a:xfrm>
            <a:off x="609600" y="12153900"/>
            <a:ext cx="8885587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QC为执行协同节点；具体检验、生产及库存接口按阶段接入。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1" name="数据基础由商品主数据、PLM / BOM、领星 / 库存 / 数仓及供应商数据提供，不另设业务泳道。"/>
          <p:cNvSpPr>
            <a:spLocks noGrp="1"/>
          </p:cNvSpPr>
          <p:nvPr/>
        </p:nvSpPr>
        <p:spPr>
          <a:xfrm>
            <a:off x="609600" y="12582525"/>
            <a:ext cx="10728412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数据基础由商品主数据、PLM / BOM、领星 / 库存 / 数仓及供应商数据提供，不另设业务泳道。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2" name="path-165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184" name="03 / 10"/>
          <p:cNvSpPr>
            <a:spLocks noGrp="1"/>
          </p:cNvSpPr>
          <p:nvPr/>
        </p:nvSpPr>
        <p:spPr>
          <a:xfrm>
            <a:off x="22943784" y="13307568"/>
            <a:ext cx="83061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03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PMC预测｜从日级填报到确认版本"/>
          <p:cNvSpPr>
            <a:spLocks noGrp="1"/>
          </p:cNvSpPr>
          <p:nvPr/>
        </p:nvSpPr>
        <p:spPr>
          <a:xfrm>
            <a:off x="904875" y="533781"/>
            <a:ext cx="7517011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PMC预测｜从日级填报到确认版本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W周管理任务，天是销售填报单位；系统给基准，销售补充业务判断"/>
          <p:cNvSpPr>
            <a:spLocks noGrp="1"/>
          </p:cNvSpPr>
          <p:nvPr/>
        </p:nvSpPr>
        <p:spPr>
          <a:xfrm>
            <a:off x="609600" y="1570863"/>
            <a:ext cx="810053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W周管理任务，天是销售填报单位；系统给基准，销售补充业务判断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业务动作"/>
          <p:cNvSpPr>
            <a:spLocks noGrp="1"/>
          </p:cNvSpPr>
          <p:nvPr/>
        </p:nvSpPr>
        <p:spPr>
          <a:xfrm>
            <a:off x="609600" y="2378583"/>
            <a:ext cx="1363218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业务动作</a:t>
            </a:r>
            <a:endParaRPr sz="240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-9"/>
          <p:cNvSpPr>
            <a:spLocks noGrp="1"/>
          </p:cNvSpPr>
          <p:nvPr/>
        </p:nvSpPr>
        <p:spPr>
          <a:xfrm>
            <a:off x="6096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11" name="rect-10"/>
          <p:cNvSpPr>
            <a:spLocks noGrp="1"/>
          </p:cNvSpPr>
          <p:nvPr/>
        </p:nvSpPr>
        <p:spPr>
          <a:xfrm>
            <a:off x="609600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12" name="开启预测周期"/>
          <p:cNvSpPr>
            <a:spLocks noGrp="1"/>
          </p:cNvSpPr>
          <p:nvPr/>
        </p:nvSpPr>
        <p:spPr>
          <a:xfrm>
            <a:off x="170421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开启预测周期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PMC确定月份、W周与窗口"/>
          <p:cNvSpPr>
            <a:spLocks noGrp="1"/>
          </p:cNvSpPr>
          <p:nvPr/>
        </p:nvSpPr>
        <p:spPr>
          <a:xfrm>
            <a:off x="1085475" y="3961638"/>
            <a:ext cx="335355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PMC确定月份、W周与窗口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日期引用计划日历"/>
          <p:cNvSpPr>
            <a:spLocks noGrp="1"/>
          </p:cNvSpPr>
          <p:nvPr/>
        </p:nvSpPr>
        <p:spPr>
          <a:xfrm>
            <a:off x="1644777" y="4333113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日期引用计划日历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1"/>
          <p:cNvSpPr>
            <a:spLocks noGrp="1"/>
          </p:cNvSpPr>
          <p:nvPr/>
        </p:nvSpPr>
        <p:spPr>
          <a:xfrm>
            <a:off x="609600" y="2829306"/>
            <a:ext cx="342900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path-15"/>
          <p:cNvSpPr>
            <a:spLocks noGrp="1"/>
          </p:cNvSpPr>
          <p:nvPr/>
        </p:nvSpPr>
        <p:spPr>
          <a:xfrm>
            <a:off x="491490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17" name="arrowhead-15"/>
          <p:cNvSpPr>
            <a:spLocks noGrp="1"/>
          </p:cNvSpPr>
          <p:nvPr/>
        </p:nvSpPr>
        <p:spPr>
          <a:xfrm>
            <a:off x="507682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18" name="rect-16"/>
          <p:cNvSpPr>
            <a:spLocks noGrp="1"/>
          </p:cNvSpPr>
          <p:nvPr/>
        </p:nvSpPr>
        <p:spPr>
          <a:xfrm>
            <a:off x="530542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19" name="rect-17"/>
          <p:cNvSpPr>
            <a:spLocks noGrp="1"/>
          </p:cNvSpPr>
          <p:nvPr/>
        </p:nvSpPr>
        <p:spPr>
          <a:xfrm>
            <a:off x="5305425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20" name="维护日级预测"/>
          <p:cNvSpPr>
            <a:spLocks noGrp="1"/>
          </p:cNvSpPr>
          <p:nvPr/>
        </p:nvSpPr>
        <p:spPr>
          <a:xfrm>
            <a:off x="6400038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维护日级预测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系统基准只读"/>
          <p:cNvSpPr>
            <a:spLocks noGrp="1"/>
          </p:cNvSpPr>
          <p:nvPr/>
        </p:nvSpPr>
        <p:spPr>
          <a:xfrm>
            <a:off x="6608064" y="3961638"/>
            <a:ext cx="170002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系统基准只读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人工修正、结构化活动"/>
          <p:cNvSpPr>
            <a:spLocks noGrp="1"/>
          </p:cNvSpPr>
          <p:nvPr/>
        </p:nvSpPr>
        <p:spPr>
          <a:xfrm>
            <a:off x="6073140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人工修正、结构化活动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02"/>
          <p:cNvSpPr>
            <a:spLocks noGrp="1"/>
          </p:cNvSpPr>
          <p:nvPr/>
        </p:nvSpPr>
        <p:spPr>
          <a:xfrm>
            <a:off x="530542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2"/>
          <p:cNvSpPr>
            <a:spLocks noGrp="1"/>
          </p:cNvSpPr>
          <p:nvPr/>
        </p:nvSpPr>
        <p:spPr>
          <a:xfrm>
            <a:off x="961072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25" name="arrowhead-22"/>
          <p:cNvSpPr>
            <a:spLocks noGrp="1"/>
          </p:cNvSpPr>
          <p:nvPr/>
        </p:nvSpPr>
        <p:spPr>
          <a:xfrm>
            <a:off x="977265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26" name="rect-23"/>
          <p:cNvSpPr>
            <a:spLocks noGrp="1"/>
          </p:cNvSpPr>
          <p:nvPr/>
        </p:nvSpPr>
        <p:spPr>
          <a:xfrm>
            <a:off x="1000125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27" name="rect-24"/>
          <p:cNvSpPr>
            <a:spLocks noGrp="1"/>
          </p:cNvSpPr>
          <p:nvPr/>
        </p:nvSpPr>
        <p:spPr>
          <a:xfrm>
            <a:off x="10001250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28" name="销售确认"/>
          <p:cNvSpPr>
            <a:spLocks noGrp="1"/>
          </p:cNvSpPr>
          <p:nvPr/>
        </p:nvSpPr>
        <p:spPr>
          <a:xfrm>
            <a:off x="11432667" y="3416046"/>
            <a:ext cx="1442466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销售确认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逐日核对最终预测"/>
          <p:cNvSpPr>
            <a:spLocks noGrp="1"/>
          </p:cNvSpPr>
          <p:nvPr/>
        </p:nvSpPr>
        <p:spPr>
          <a:xfrm>
            <a:off x="11036427" y="3961638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逐日核对最终预测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提交本W周期"/>
          <p:cNvSpPr>
            <a:spLocks noGrp="1"/>
          </p:cNvSpPr>
          <p:nvPr/>
        </p:nvSpPr>
        <p:spPr>
          <a:xfrm>
            <a:off x="11313176" y="4333113"/>
            <a:ext cx="168144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提交本W周期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"/>
          <p:cNvSpPr>
            <a:spLocks noGrp="1"/>
          </p:cNvSpPr>
          <p:nvPr/>
        </p:nvSpPr>
        <p:spPr>
          <a:xfrm>
            <a:off x="1000125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29"/>
          <p:cNvSpPr>
            <a:spLocks noGrp="1"/>
          </p:cNvSpPr>
          <p:nvPr/>
        </p:nvSpPr>
        <p:spPr>
          <a:xfrm>
            <a:off x="1430655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33" name="arrowhead-29"/>
          <p:cNvSpPr>
            <a:spLocks noGrp="1"/>
          </p:cNvSpPr>
          <p:nvPr/>
        </p:nvSpPr>
        <p:spPr>
          <a:xfrm>
            <a:off x="1446847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34" name="rect-30"/>
          <p:cNvSpPr>
            <a:spLocks noGrp="1"/>
          </p:cNvSpPr>
          <p:nvPr/>
        </p:nvSpPr>
        <p:spPr>
          <a:xfrm>
            <a:off x="1469707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35" name="rect-31"/>
          <p:cNvSpPr>
            <a:spLocks noGrp="1"/>
          </p:cNvSpPr>
          <p:nvPr/>
        </p:nvSpPr>
        <p:spPr>
          <a:xfrm>
            <a:off x="14697075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36" name="PMC审核"/>
          <p:cNvSpPr>
            <a:spLocks noGrp="1"/>
          </p:cNvSpPr>
          <p:nvPr/>
        </p:nvSpPr>
        <p:spPr>
          <a:xfrm>
            <a:off x="16079581" y="3416046"/>
            <a:ext cx="154028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PMC审核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查看差异与调整原因"/>
          <p:cNvSpPr>
            <a:spLocks noGrp="1"/>
          </p:cNvSpPr>
          <p:nvPr/>
        </p:nvSpPr>
        <p:spPr>
          <a:xfrm>
            <a:off x="15598521" y="3961638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查看差异与调整原因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确认或退回销售修改"/>
          <p:cNvSpPr>
            <a:spLocks noGrp="1"/>
          </p:cNvSpPr>
          <p:nvPr/>
        </p:nvSpPr>
        <p:spPr>
          <a:xfrm>
            <a:off x="15598521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确认或退回销售修改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04"/>
          <p:cNvSpPr>
            <a:spLocks noGrp="1"/>
          </p:cNvSpPr>
          <p:nvPr/>
        </p:nvSpPr>
        <p:spPr>
          <a:xfrm>
            <a:off x="1469707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path-36"/>
          <p:cNvSpPr>
            <a:spLocks noGrp="1"/>
          </p:cNvSpPr>
          <p:nvPr/>
        </p:nvSpPr>
        <p:spPr>
          <a:xfrm>
            <a:off x="1900237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41" name="arrowhead-36"/>
          <p:cNvSpPr>
            <a:spLocks noGrp="1"/>
          </p:cNvSpPr>
          <p:nvPr/>
        </p:nvSpPr>
        <p:spPr>
          <a:xfrm>
            <a:off x="1916430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42" name="rect-37"/>
          <p:cNvSpPr>
            <a:spLocks noGrp="1"/>
          </p:cNvSpPr>
          <p:nvPr/>
        </p:nvSpPr>
        <p:spPr>
          <a:xfrm>
            <a:off x="193929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9392900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4" name="确认预测版本"/>
          <p:cNvSpPr>
            <a:spLocks noGrp="1"/>
          </p:cNvSpPr>
          <p:nvPr/>
        </p:nvSpPr>
        <p:spPr>
          <a:xfrm>
            <a:off x="2048751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确认预测版本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保留来源、原因与版本"/>
          <p:cNvSpPr>
            <a:spLocks noGrp="1"/>
          </p:cNvSpPr>
          <p:nvPr/>
        </p:nvSpPr>
        <p:spPr>
          <a:xfrm>
            <a:off x="20160615" y="3961638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保留来源、原因与版本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作为备货需求输入"/>
          <p:cNvSpPr>
            <a:spLocks noGrp="1"/>
          </p:cNvSpPr>
          <p:nvPr/>
        </p:nvSpPr>
        <p:spPr>
          <a:xfrm>
            <a:off x="20428077" y="4333113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作为备货需求输入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05"/>
          <p:cNvSpPr>
            <a:spLocks noGrp="1"/>
          </p:cNvSpPr>
          <p:nvPr/>
        </p:nvSpPr>
        <p:spPr>
          <a:xfrm>
            <a:off x="1939290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3"/>
          <p:cNvSpPr>
            <a:spLocks noGrp="1"/>
          </p:cNvSpPr>
          <p:nvPr/>
        </p:nvSpPr>
        <p:spPr>
          <a:xfrm>
            <a:off x="7458075" y="4953000"/>
            <a:ext cx="9391650" cy="1085850"/>
          </a:xfrm>
          <a:custGeom>
            <a:avLst/>
            <a:gdLst/>
            <a:ahLst/>
            <a:cxnLst/>
            <a:pathLst>
              <a:path w="9391650" h="1085850">
                <a:moveTo>
                  <a:pt x="9391650" y="0"/>
                </a:moveTo>
                <a:lnTo>
                  <a:pt x="939165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78E99"/>
            </a:solidFill>
            <a:prstDash val="solid"/>
          </a:ln>
        </p:spPr>
      </p:sp>
      <p:sp>
        <p:nvSpPr>
          <p:cNvPr id="49" name="arrowhead-43"/>
          <p:cNvSpPr>
            <a:spLocks noGrp="1"/>
          </p:cNvSpPr>
          <p:nvPr/>
        </p:nvSpPr>
        <p:spPr>
          <a:xfrm>
            <a:off x="7305675" y="4953000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50" name="rect-44"/>
          <p:cNvSpPr>
            <a:spLocks noGrp="1"/>
          </p:cNvSpPr>
          <p:nvPr/>
        </p:nvSpPr>
        <p:spPr>
          <a:xfrm>
            <a:off x="10357866" y="5734050"/>
            <a:ext cx="3477768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1" name="审核退回 → 修改并重新提交"/>
          <p:cNvSpPr>
            <a:spLocks noGrp="1"/>
          </p:cNvSpPr>
          <p:nvPr/>
        </p:nvSpPr>
        <p:spPr>
          <a:xfrm>
            <a:off x="10417963" y="5714619"/>
            <a:ext cx="3357574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审核退回 → 修改并重新提交</a:t>
            </a:r>
            <a:endParaRPr sz="19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path-46"/>
          <p:cNvSpPr>
            <a:spLocks noGrp="1"/>
          </p:cNvSpPr>
          <p:nvPr/>
        </p:nvSpPr>
        <p:spPr>
          <a:xfrm>
            <a:off x="609600" y="7105650"/>
            <a:ext cx="10934700" cy="476"/>
          </a:xfrm>
          <a:custGeom>
            <a:avLst/>
            <a:gdLst/>
            <a:ahLst/>
            <a:cxnLst/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53" name="path-47"/>
          <p:cNvSpPr>
            <a:spLocks noGrp="1"/>
          </p:cNvSpPr>
          <p:nvPr/>
        </p:nvSpPr>
        <p:spPr>
          <a:xfrm>
            <a:off x="12611100" y="7105650"/>
            <a:ext cx="11163300" cy="476"/>
          </a:xfrm>
          <a:custGeom>
            <a:avLst/>
            <a:gdLst/>
            <a:ahLst/>
            <a:cxnLst/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54" name="三条输入与一个最终结果"/>
          <p:cNvSpPr>
            <a:spLocks noGrp="1"/>
          </p:cNvSpPr>
          <p:nvPr/>
        </p:nvSpPr>
        <p:spPr>
          <a:xfrm>
            <a:off x="609600" y="7283577"/>
            <a:ext cx="3691128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三条输入与一个最终结果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状态与追溯"/>
          <p:cNvSpPr>
            <a:spLocks noGrp="1"/>
          </p:cNvSpPr>
          <p:nvPr/>
        </p:nvSpPr>
        <p:spPr>
          <a:xfrm>
            <a:off x="12611100" y="7283577"/>
            <a:ext cx="1729740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状态与追溯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系统基准：引用数仓 / 预测模型结果"/>
          <p:cNvSpPr>
            <a:spLocks noGrp="1"/>
          </p:cNvSpPr>
          <p:nvPr/>
        </p:nvSpPr>
        <p:spPr>
          <a:xfrm>
            <a:off x="609600" y="7942326"/>
            <a:ext cx="4739461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系统基准：引用数仓 / 预测模型结果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人工修正：未调整时沿用系统基准"/>
          <p:cNvSpPr>
            <a:spLocks noGrp="1"/>
          </p:cNvSpPr>
          <p:nvPr/>
        </p:nvSpPr>
        <p:spPr>
          <a:xfrm>
            <a:off x="609600" y="853287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人工修正：未调整时沿用系统基准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活动影响：结构化记录类型、名称与增量"/>
          <p:cNvSpPr>
            <a:spLocks noGrp="1"/>
          </p:cNvSpPr>
          <p:nvPr/>
        </p:nvSpPr>
        <p:spPr>
          <a:xfrm>
            <a:off x="609600" y="9123426"/>
            <a:ext cx="526618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活动影响：结构化记录类型、名称与增量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最终预测 = 选用基准 + 活动增量"/>
          <p:cNvSpPr>
            <a:spLocks noGrp="1"/>
          </p:cNvSpPr>
          <p:nvPr/>
        </p:nvSpPr>
        <p:spPr>
          <a:xfrm>
            <a:off x="609600" y="9713976"/>
            <a:ext cx="427279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最终预测 = 选用基准 + 活动增量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销售提交后只读，退回后恢复修改"/>
          <p:cNvSpPr>
            <a:spLocks noGrp="1"/>
          </p:cNvSpPr>
          <p:nvPr/>
        </p:nvSpPr>
        <p:spPr>
          <a:xfrm>
            <a:off x="12611100" y="794232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销售提交后只读，退回后恢复修改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人工修改必须说明原因"/>
          <p:cNvSpPr>
            <a:spLocks noGrp="1"/>
          </p:cNvSpPr>
          <p:nvPr/>
        </p:nvSpPr>
        <p:spPr>
          <a:xfrm>
            <a:off x="12611100" y="8532876"/>
            <a:ext cx="296799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人工修改必须说明原因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保留原值、调整值、操作人和时间"/>
          <p:cNvSpPr>
            <a:spLocks noGrp="1"/>
          </p:cNvSpPr>
          <p:nvPr/>
        </p:nvSpPr>
        <p:spPr>
          <a:xfrm>
            <a:off x="12611100" y="912342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保留原值、调整值、操作人和时间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预测版本用于追溯，不新增版本菜单"/>
          <p:cNvSpPr>
            <a:spLocks noGrp="1"/>
          </p:cNvSpPr>
          <p:nvPr/>
        </p:nvSpPr>
        <p:spPr>
          <a:xfrm>
            <a:off x="12611100" y="9713976"/>
            <a:ext cx="469163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预测版本用于追溯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ect-58"/>
          <p:cNvSpPr>
            <a:spLocks noGrp="1"/>
          </p:cNvSpPr>
          <p:nvPr/>
        </p:nvSpPr>
        <p:spPr>
          <a:xfrm>
            <a:off x="609600" y="11096625"/>
            <a:ext cx="23164800" cy="95250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65" name="交接结果"/>
          <p:cNvSpPr>
            <a:spLocks noGrp="1"/>
          </p:cNvSpPr>
          <p:nvPr/>
        </p:nvSpPr>
        <p:spPr>
          <a:xfrm>
            <a:off x="866775" y="11399520"/>
            <a:ext cx="1283970" cy="414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交接结果</a:t>
            </a:r>
            <a:endParaRPr sz="225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确认后的日级预测及周汇总，交给PMC备货计划"/>
          <p:cNvSpPr>
            <a:spLocks noGrp="1"/>
          </p:cNvSpPr>
          <p:nvPr/>
        </p:nvSpPr>
        <p:spPr>
          <a:xfrm>
            <a:off x="2857500" y="11409426"/>
            <a:ext cx="6211431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确认后的日级预测及周汇总，交给PMC备货计划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退回沿用同一周期与商品任务；不重复创建一轮预测。"/>
          <p:cNvSpPr>
            <a:spLocks noGrp="1"/>
          </p:cNvSpPr>
          <p:nvPr/>
        </p:nvSpPr>
        <p:spPr>
          <a:xfrm>
            <a:off x="609600" y="12430125"/>
            <a:ext cx="603885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退回沿用同一周期与商品任务；不重复创建一轮预测。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path-6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0" name="04 / 10"/>
          <p:cNvSpPr>
            <a:spLocks noGrp="1"/>
          </p:cNvSpPr>
          <p:nvPr/>
        </p:nvSpPr>
        <p:spPr>
          <a:xfrm>
            <a:off x="22943784" y="13307568"/>
            <a:ext cx="83061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04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PMC备货｜从预测需求到采购需求"/>
          <p:cNvSpPr>
            <a:spLocks noGrp="1"/>
          </p:cNvSpPr>
          <p:nvPr/>
        </p:nvSpPr>
        <p:spPr>
          <a:xfrm>
            <a:off x="904875" y="533781"/>
            <a:ext cx="7517011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PMC备货｜从预测需求到采购需求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PMC确定采购对象、数量与需求日期，采购部门决定最终供应商分配"/>
          <p:cNvSpPr>
            <a:spLocks noGrp="1"/>
          </p:cNvSpPr>
          <p:nvPr/>
        </p:nvSpPr>
        <p:spPr>
          <a:xfrm>
            <a:off x="609600" y="1570863"/>
            <a:ext cx="8186595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PMC确定采购对象、数量与需求日期，采购部门决定最终供应商分配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业务动作"/>
          <p:cNvSpPr>
            <a:spLocks noGrp="1"/>
          </p:cNvSpPr>
          <p:nvPr/>
        </p:nvSpPr>
        <p:spPr>
          <a:xfrm>
            <a:off x="609600" y="2378583"/>
            <a:ext cx="1363218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业务动作</a:t>
            </a:r>
            <a:endParaRPr sz="240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-9"/>
          <p:cNvSpPr>
            <a:spLocks noGrp="1"/>
          </p:cNvSpPr>
          <p:nvPr/>
        </p:nvSpPr>
        <p:spPr>
          <a:xfrm>
            <a:off x="6096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11" name="rect-10"/>
          <p:cNvSpPr>
            <a:spLocks noGrp="1"/>
          </p:cNvSpPr>
          <p:nvPr/>
        </p:nvSpPr>
        <p:spPr>
          <a:xfrm>
            <a:off x="609600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12" name="汇总确认需求"/>
          <p:cNvSpPr>
            <a:spLocks noGrp="1"/>
          </p:cNvSpPr>
          <p:nvPr/>
        </p:nvSpPr>
        <p:spPr>
          <a:xfrm>
            <a:off x="170421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汇总确认需求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引用预测版本"/>
          <p:cNvSpPr>
            <a:spLocks noGrp="1"/>
          </p:cNvSpPr>
          <p:nvPr/>
        </p:nvSpPr>
        <p:spPr>
          <a:xfrm>
            <a:off x="1912239" y="3961638"/>
            <a:ext cx="170002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引用预测版本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明确渠道、商品与时间"/>
          <p:cNvSpPr>
            <a:spLocks noGrp="1"/>
          </p:cNvSpPr>
          <p:nvPr/>
        </p:nvSpPr>
        <p:spPr>
          <a:xfrm>
            <a:off x="1377315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明确渠道、商品与时间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1"/>
          <p:cNvSpPr>
            <a:spLocks noGrp="1"/>
          </p:cNvSpPr>
          <p:nvPr/>
        </p:nvSpPr>
        <p:spPr>
          <a:xfrm>
            <a:off x="609600" y="2829306"/>
            <a:ext cx="342900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path-15"/>
          <p:cNvSpPr>
            <a:spLocks noGrp="1"/>
          </p:cNvSpPr>
          <p:nvPr/>
        </p:nvSpPr>
        <p:spPr>
          <a:xfrm>
            <a:off x="491490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17" name="arrowhead-15"/>
          <p:cNvSpPr>
            <a:spLocks noGrp="1"/>
          </p:cNvSpPr>
          <p:nvPr/>
        </p:nvSpPr>
        <p:spPr>
          <a:xfrm>
            <a:off x="507682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18" name="rect-16"/>
          <p:cNvSpPr>
            <a:spLocks noGrp="1"/>
          </p:cNvSpPr>
          <p:nvPr/>
        </p:nvSpPr>
        <p:spPr>
          <a:xfrm>
            <a:off x="530542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19" name="rect-17"/>
          <p:cNvSpPr>
            <a:spLocks noGrp="1"/>
          </p:cNvSpPr>
          <p:nvPr/>
        </p:nvSpPr>
        <p:spPr>
          <a:xfrm>
            <a:off x="5305425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20" name="库存与时效校准"/>
          <p:cNvSpPr>
            <a:spLocks noGrp="1"/>
          </p:cNvSpPr>
          <p:nvPr/>
        </p:nvSpPr>
        <p:spPr>
          <a:xfrm>
            <a:off x="6231636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库存与时效校准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库存、在途、DOI与水位"/>
          <p:cNvSpPr>
            <a:spLocks noGrp="1"/>
          </p:cNvSpPr>
          <p:nvPr/>
        </p:nvSpPr>
        <p:spPr>
          <a:xfrm>
            <a:off x="5978182" y="3961638"/>
            <a:ext cx="2959787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库存、在途、DOI与水位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安全库存、运输及到货期"/>
          <p:cNvSpPr>
            <a:spLocks noGrp="1"/>
          </p:cNvSpPr>
          <p:nvPr/>
        </p:nvSpPr>
        <p:spPr>
          <a:xfrm>
            <a:off x="5939409" y="4333113"/>
            <a:ext cx="303733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安全库存、运输及到货期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02"/>
          <p:cNvSpPr>
            <a:spLocks noGrp="1"/>
          </p:cNvSpPr>
          <p:nvPr/>
        </p:nvSpPr>
        <p:spPr>
          <a:xfrm>
            <a:off x="530542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2"/>
          <p:cNvSpPr>
            <a:spLocks noGrp="1"/>
          </p:cNvSpPr>
          <p:nvPr/>
        </p:nvSpPr>
        <p:spPr>
          <a:xfrm>
            <a:off x="961072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25" name="arrowhead-22"/>
          <p:cNvSpPr>
            <a:spLocks noGrp="1"/>
          </p:cNvSpPr>
          <p:nvPr/>
        </p:nvSpPr>
        <p:spPr>
          <a:xfrm>
            <a:off x="977265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26" name="rect-23"/>
          <p:cNvSpPr>
            <a:spLocks noGrp="1"/>
          </p:cNvSpPr>
          <p:nvPr/>
        </p:nvSpPr>
        <p:spPr>
          <a:xfrm>
            <a:off x="1000125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27" name="rect-24"/>
          <p:cNvSpPr>
            <a:spLocks noGrp="1"/>
          </p:cNvSpPr>
          <p:nvPr/>
        </p:nvSpPr>
        <p:spPr>
          <a:xfrm>
            <a:off x="10001250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28" name="拆解SKU版本"/>
          <p:cNvSpPr>
            <a:spLocks noGrp="1"/>
          </p:cNvSpPr>
          <p:nvPr/>
        </p:nvSpPr>
        <p:spPr>
          <a:xfrm>
            <a:off x="11079147" y="3416046"/>
            <a:ext cx="2149507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拆解SKU版本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子ASIN映射至SKU版本"/>
          <p:cNvSpPr>
            <a:spLocks noGrp="1"/>
          </p:cNvSpPr>
          <p:nvPr/>
        </p:nvSpPr>
        <p:spPr>
          <a:xfrm>
            <a:off x="10731353" y="3961638"/>
            <a:ext cx="2845094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子ASIN映射至SKU版本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区分老版本库存与新版本"/>
          <p:cNvSpPr>
            <a:spLocks noGrp="1"/>
          </p:cNvSpPr>
          <p:nvPr/>
        </p:nvSpPr>
        <p:spPr>
          <a:xfrm>
            <a:off x="10635234" y="4333113"/>
            <a:ext cx="303733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区分老版本库存与新版本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"/>
          <p:cNvSpPr>
            <a:spLocks noGrp="1"/>
          </p:cNvSpPr>
          <p:nvPr/>
        </p:nvSpPr>
        <p:spPr>
          <a:xfrm>
            <a:off x="1000125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29"/>
          <p:cNvSpPr>
            <a:spLocks noGrp="1"/>
          </p:cNvSpPr>
          <p:nvPr/>
        </p:nvSpPr>
        <p:spPr>
          <a:xfrm>
            <a:off x="1430655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33" name="arrowhead-29"/>
          <p:cNvSpPr>
            <a:spLocks noGrp="1"/>
          </p:cNvSpPr>
          <p:nvPr/>
        </p:nvSpPr>
        <p:spPr>
          <a:xfrm>
            <a:off x="1446847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34" name="rect-30"/>
          <p:cNvSpPr>
            <a:spLocks noGrp="1"/>
          </p:cNvSpPr>
          <p:nvPr/>
        </p:nvSpPr>
        <p:spPr>
          <a:xfrm>
            <a:off x="1469707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35" name="rect-31"/>
          <p:cNvSpPr>
            <a:spLocks noGrp="1"/>
          </p:cNvSpPr>
          <p:nvPr/>
        </p:nvSpPr>
        <p:spPr>
          <a:xfrm>
            <a:off x="14697075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36" name="校准供货能力"/>
          <p:cNvSpPr>
            <a:spLocks noGrp="1"/>
          </p:cNvSpPr>
          <p:nvPr/>
        </p:nvSpPr>
        <p:spPr>
          <a:xfrm>
            <a:off x="15791688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校准供货能力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引用产能、交期与约束"/>
          <p:cNvSpPr>
            <a:spLocks noGrp="1"/>
          </p:cNvSpPr>
          <p:nvPr/>
        </p:nvSpPr>
        <p:spPr>
          <a:xfrm>
            <a:off x="15464790" y="3961638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引用产能、交期与约束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调整需求量和计划日期"/>
          <p:cNvSpPr>
            <a:spLocks noGrp="1"/>
          </p:cNvSpPr>
          <p:nvPr/>
        </p:nvSpPr>
        <p:spPr>
          <a:xfrm>
            <a:off x="15464790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调整需求量和计划日期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04"/>
          <p:cNvSpPr>
            <a:spLocks noGrp="1"/>
          </p:cNvSpPr>
          <p:nvPr/>
        </p:nvSpPr>
        <p:spPr>
          <a:xfrm>
            <a:off x="1469707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path-36"/>
          <p:cNvSpPr>
            <a:spLocks noGrp="1"/>
          </p:cNvSpPr>
          <p:nvPr/>
        </p:nvSpPr>
        <p:spPr>
          <a:xfrm>
            <a:off x="1900237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41" name="arrowhead-36"/>
          <p:cNvSpPr>
            <a:spLocks noGrp="1"/>
          </p:cNvSpPr>
          <p:nvPr/>
        </p:nvSpPr>
        <p:spPr>
          <a:xfrm>
            <a:off x="1916430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8DD5"/>
          </a:solidFill>
          <a:ln w="0">
            <a:noFill/>
          </a:ln>
        </p:spPr>
      </p:sp>
      <p:sp>
        <p:nvSpPr>
          <p:cNvPr id="42" name="rect-37"/>
          <p:cNvSpPr>
            <a:spLocks noGrp="1"/>
          </p:cNvSpPr>
          <p:nvPr/>
        </p:nvSpPr>
        <p:spPr>
          <a:xfrm>
            <a:off x="193929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08DD5"/>
            </a:solidFill>
            <a:prstDash val="solid"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9392900" y="3314700"/>
            <a:ext cx="47625" cy="16383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4" name="确认最终计划"/>
          <p:cNvSpPr>
            <a:spLocks noGrp="1"/>
          </p:cNvSpPr>
          <p:nvPr/>
        </p:nvSpPr>
        <p:spPr>
          <a:xfrm>
            <a:off x="2048751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确认最终计划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保留调整依据与审批"/>
          <p:cNvSpPr>
            <a:spLocks noGrp="1"/>
          </p:cNvSpPr>
          <p:nvPr/>
        </p:nvSpPr>
        <p:spPr>
          <a:xfrm>
            <a:off x="20294346" y="3961638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保留调整依据与审批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形成采购需求并确认PR"/>
          <p:cNvSpPr>
            <a:spLocks noGrp="1"/>
          </p:cNvSpPr>
          <p:nvPr/>
        </p:nvSpPr>
        <p:spPr>
          <a:xfrm>
            <a:off x="20118050" y="4333113"/>
            <a:ext cx="285500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形成采购需求并确认PR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05"/>
          <p:cNvSpPr>
            <a:spLocks noGrp="1"/>
          </p:cNvSpPr>
          <p:nvPr/>
        </p:nvSpPr>
        <p:spPr>
          <a:xfrm>
            <a:off x="1939290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3"/>
          <p:cNvSpPr>
            <a:spLocks noGrp="1"/>
          </p:cNvSpPr>
          <p:nvPr/>
        </p:nvSpPr>
        <p:spPr>
          <a:xfrm>
            <a:off x="2762250" y="4953000"/>
            <a:ext cx="18783300" cy="1085850"/>
          </a:xfrm>
          <a:custGeom>
            <a:avLst/>
            <a:gdLst/>
            <a:ahLst/>
            <a:cxnLst/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78E99"/>
            </a:solidFill>
            <a:prstDash val="solid"/>
          </a:ln>
        </p:spPr>
      </p:sp>
      <p:sp>
        <p:nvSpPr>
          <p:cNvPr id="49" name="arrowhead-43"/>
          <p:cNvSpPr>
            <a:spLocks noGrp="1"/>
          </p:cNvSpPr>
          <p:nvPr/>
        </p:nvSpPr>
        <p:spPr>
          <a:xfrm>
            <a:off x="2609850" y="4953000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50" name="rect-44"/>
          <p:cNvSpPr>
            <a:spLocks noGrp="1"/>
          </p:cNvSpPr>
          <p:nvPr/>
        </p:nvSpPr>
        <p:spPr>
          <a:xfrm>
            <a:off x="9902190" y="5734050"/>
            <a:ext cx="4389120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1" name="执行偏差 → PMC重新校准需求与计划"/>
          <p:cNvSpPr>
            <a:spLocks noGrp="1"/>
          </p:cNvSpPr>
          <p:nvPr/>
        </p:nvSpPr>
        <p:spPr>
          <a:xfrm>
            <a:off x="9866709" y="5868000"/>
            <a:ext cx="4460081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执行偏差 → PMC重新校准需求与计划</a:t>
            </a:r>
            <a:endParaRPr sz="19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path-46"/>
          <p:cNvSpPr>
            <a:spLocks noGrp="1"/>
          </p:cNvSpPr>
          <p:nvPr/>
        </p:nvSpPr>
        <p:spPr>
          <a:xfrm>
            <a:off x="609600" y="7105650"/>
            <a:ext cx="10934700" cy="476"/>
          </a:xfrm>
          <a:custGeom>
            <a:avLst/>
            <a:gdLst/>
            <a:ahLst/>
            <a:cxnLst/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53" name="path-47"/>
          <p:cNvSpPr>
            <a:spLocks noGrp="1"/>
          </p:cNvSpPr>
          <p:nvPr/>
        </p:nvSpPr>
        <p:spPr>
          <a:xfrm>
            <a:off x="12611100" y="7105650"/>
            <a:ext cx="11163300" cy="476"/>
          </a:xfrm>
          <a:custGeom>
            <a:avLst/>
            <a:gdLst/>
            <a:ahLst/>
            <a:cxnLst/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54" name="商品与库存关系"/>
          <p:cNvSpPr>
            <a:spLocks noGrp="1"/>
          </p:cNvSpPr>
          <p:nvPr/>
        </p:nvSpPr>
        <p:spPr>
          <a:xfrm>
            <a:off x="609600" y="7283577"/>
            <a:ext cx="2383536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商品与库存关系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业务判断与采购边界"/>
          <p:cNvSpPr>
            <a:spLocks noGrp="1"/>
          </p:cNvSpPr>
          <p:nvPr/>
        </p:nvSpPr>
        <p:spPr>
          <a:xfrm>
            <a:off x="12611100" y="7283577"/>
            <a:ext cx="3037332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业务判断与采购边界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父子ASIN及变更关系来自商品映射"/>
          <p:cNvSpPr>
            <a:spLocks noGrp="1"/>
          </p:cNvSpPr>
          <p:nvPr/>
        </p:nvSpPr>
        <p:spPr>
          <a:xfrm>
            <a:off x="609600" y="7942326"/>
            <a:ext cx="4474785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父子ASIN及变更关系来自商品映射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子ASIN与各SKU版本关系保留生效口径"/>
          <p:cNvSpPr>
            <a:spLocks noGrp="1"/>
          </p:cNvSpPr>
          <p:nvPr/>
        </p:nvSpPr>
        <p:spPr>
          <a:xfrm>
            <a:off x="609600" y="8532876"/>
            <a:ext cx="505970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子ASIN与各SKU版本关系保留生效口径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老SKU库存、新SKU供给分别识别"/>
          <p:cNvSpPr>
            <a:spLocks noGrp="1"/>
          </p:cNvSpPr>
          <p:nvPr/>
        </p:nvSpPr>
        <p:spPr>
          <a:xfrm>
            <a:off x="609600" y="9123426"/>
            <a:ext cx="4425101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老SKU库存、新SKU供给分别识别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库存与在途只按明确口径参与覆盖"/>
          <p:cNvSpPr>
            <a:spLocks noGrp="1"/>
          </p:cNvSpPr>
          <p:nvPr/>
        </p:nvSpPr>
        <p:spPr>
          <a:xfrm>
            <a:off x="609600" y="971397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库存与在途只按明确口径参与覆盖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系统测算需求，PMC判断是否及如何调整"/>
          <p:cNvSpPr>
            <a:spLocks noGrp="1"/>
          </p:cNvSpPr>
          <p:nvPr/>
        </p:nvSpPr>
        <p:spPr>
          <a:xfrm>
            <a:off x="12611100" y="7942326"/>
            <a:ext cx="533862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系统测算需求，PMC判断是否及如何调整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供货能力用于校准可执行性"/>
          <p:cNvSpPr>
            <a:spLocks noGrp="1"/>
          </p:cNvSpPr>
          <p:nvPr/>
        </p:nvSpPr>
        <p:spPr>
          <a:xfrm>
            <a:off x="12611100" y="8532876"/>
            <a:ext cx="35425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供货能力用于校准可执行性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采购负责向谁买、如何拆并及PO执行"/>
          <p:cNvSpPr>
            <a:spLocks noGrp="1"/>
          </p:cNvSpPr>
          <p:nvPr/>
        </p:nvSpPr>
        <p:spPr>
          <a:xfrm>
            <a:off x="12611100" y="9123426"/>
            <a:ext cx="480926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采购负责向谁买、如何拆并及PO执行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计划变更应留痕并同步下游需求"/>
          <p:cNvSpPr>
            <a:spLocks noGrp="1"/>
          </p:cNvSpPr>
          <p:nvPr/>
        </p:nvSpPr>
        <p:spPr>
          <a:xfrm>
            <a:off x="12611100" y="9713976"/>
            <a:ext cx="411708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计划变更应留痕并同步下游需求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ect-58"/>
          <p:cNvSpPr>
            <a:spLocks noGrp="1"/>
          </p:cNvSpPr>
          <p:nvPr/>
        </p:nvSpPr>
        <p:spPr>
          <a:xfrm>
            <a:off x="609600" y="11096625"/>
            <a:ext cx="23164800" cy="95250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65" name="交接结果"/>
          <p:cNvSpPr>
            <a:spLocks noGrp="1"/>
          </p:cNvSpPr>
          <p:nvPr/>
        </p:nvSpPr>
        <p:spPr>
          <a:xfrm>
            <a:off x="866775" y="11399520"/>
            <a:ext cx="1283970" cy="414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交接结果</a:t>
            </a:r>
            <a:endParaRPr sz="2250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最终备货计划并行驱动SCM采购与MRP面辅料计划"/>
          <p:cNvSpPr>
            <a:spLocks noGrp="1"/>
          </p:cNvSpPr>
          <p:nvPr/>
        </p:nvSpPr>
        <p:spPr>
          <a:xfrm>
            <a:off x="2857500" y="11409426"/>
            <a:ext cx="6570833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最终备货计划并行驱动SCM采购与MRP面辅料计划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MOQ、运输时效等使用配置与来源数据，不在图中新增算法或固定阈值。"/>
          <p:cNvSpPr>
            <a:spLocks noGrp="1"/>
          </p:cNvSpPr>
          <p:nvPr/>
        </p:nvSpPr>
        <p:spPr>
          <a:xfrm>
            <a:off x="609600" y="12430125"/>
            <a:ext cx="8123134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MOQ、运输时效等使用配置与来源数据，不在图中新增算法或固定阈值。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path-6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0" name="05 / 10"/>
          <p:cNvSpPr>
            <a:spLocks noGrp="1"/>
          </p:cNvSpPr>
          <p:nvPr/>
        </p:nvSpPr>
        <p:spPr>
          <a:xfrm>
            <a:off x="22943784" y="13307568"/>
            <a:ext cx="83061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05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MRP｜成衣计划驱动物料准备"/>
          <p:cNvSpPr>
            <a:spLocks noGrp="1"/>
          </p:cNvSpPr>
          <p:nvPr/>
        </p:nvSpPr>
        <p:spPr>
          <a:xfrm>
            <a:off x="904875" y="533781"/>
            <a:ext cx="6529197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MRP｜成衣计划驱动物料准备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P1同步建设；MRP计算需要多少面辅料，SCM负责物料采购与供应商执行"/>
          <p:cNvSpPr>
            <a:spLocks noGrp="1"/>
          </p:cNvSpPr>
          <p:nvPr/>
        </p:nvSpPr>
        <p:spPr>
          <a:xfrm>
            <a:off x="609600" y="1570863"/>
            <a:ext cx="8783895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P1同步建设；MRP计算需要多少面辅料，SCM负责物料采购与供应商执行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业务动作"/>
          <p:cNvSpPr>
            <a:spLocks noGrp="1"/>
          </p:cNvSpPr>
          <p:nvPr/>
        </p:nvSpPr>
        <p:spPr>
          <a:xfrm>
            <a:off x="609600" y="2378583"/>
            <a:ext cx="1363218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业务动作</a:t>
            </a:r>
            <a:endParaRPr sz="240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-9"/>
          <p:cNvSpPr>
            <a:spLocks noGrp="1"/>
          </p:cNvSpPr>
          <p:nvPr/>
        </p:nvSpPr>
        <p:spPr>
          <a:xfrm>
            <a:off x="6096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11" name="rect-10"/>
          <p:cNvSpPr>
            <a:spLocks noGrp="1"/>
          </p:cNvSpPr>
          <p:nvPr/>
        </p:nvSpPr>
        <p:spPr>
          <a:xfrm>
            <a:off x="609600" y="3314700"/>
            <a:ext cx="47625" cy="16383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12" name="成衣计划与BOM"/>
          <p:cNvSpPr>
            <a:spLocks noGrp="1"/>
          </p:cNvSpPr>
          <p:nvPr/>
        </p:nvSpPr>
        <p:spPr>
          <a:xfrm>
            <a:off x="1473821" y="3416046"/>
            <a:ext cx="257685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成衣计划与BOM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读取成衣采购计划"/>
          <p:cNvSpPr>
            <a:spLocks noGrp="1"/>
          </p:cNvSpPr>
          <p:nvPr/>
        </p:nvSpPr>
        <p:spPr>
          <a:xfrm>
            <a:off x="1644777" y="3961638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读取成衣采购计划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物料规格、用量与版本"/>
          <p:cNvSpPr>
            <a:spLocks noGrp="1"/>
          </p:cNvSpPr>
          <p:nvPr/>
        </p:nvSpPr>
        <p:spPr>
          <a:xfrm>
            <a:off x="1377315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物料规格、用量与版本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1"/>
          <p:cNvSpPr>
            <a:spLocks noGrp="1"/>
          </p:cNvSpPr>
          <p:nvPr/>
        </p:nvSpPr>
        <p:spPr>
          <a:xfrm>
            <a:off x="609600" y="2829306"/>
            <a:ext cx="342900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path-15"/>
          <p:cNvSpPr>
            <a:spLocks noGrp="1"/>
          </p:cNvSpPr>
          <p:nvPr/>
        </p:nvSpPr>
        <p:spPr>
          <a:xfrm>
            <a:off x="491490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17" name="arrowhead-15"/>
          <p:cNvSpPr>
            <a:spLocks noGrp="1"/>
          </p:cNvSpPr>
          <p:nvPr/>
        </p:nvSpPr>
        <p:spPr>
          <a:xfrm>
            <a:off x="507682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18" name="rect-16"/>
          <p:cNvSpPr>
            <a:spLocks noGrp="1"/>
          </p:cNvSpPr>
          <p:nvPr/>
        </p:nvSpPr>
        <p:spPr>
          <a:xfrm>
            <a:off x="530542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19" name="rect-17"/>
          <p:cNvSpPr>
            <a:spLocks noGrp="1"/>
          </p:cNvSpPr>
          <p:nvPr/>
        </p:nvSpPr>
        <p:spPr>
          <a:xfrm>
            <a:off x="5305425" y="3314700"/>
            <a:ext cx="47625" cy="16383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20" name="计算物料净需求"/>
          <p:cNvSpPr>
            <a:spLocks noGrp="1"/>
          </p:cNvSpPr>
          <p:nvPr/>
        </p:nvSpPr>
        <p:spPr>
          <a:xfrm>
            <a:off x="6231636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计算物料净需求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扣减库存及有效在途"/>
          <p:cNvSpPr>
            <a:spLocks noGrp="1"/>
          </p:cNvSpPr>
          <p:nvPr/>
        </p:nvSpPr>
        <p:spPr>
          <a:xfrm>
            <a:off x="6206871" y="3961638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扣减库存及有效在途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纳入安全库存与损耗"/>
          <p:cNvSpPr>
            <a:spLocks noGrp="1"/>
          </p:cNvSpPr>
          <p:nvPr/>
        </p:nvSpPr>
        <p:spPr>
          <a:xfrm>
            <a:off x="6206871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纳入安全库存与损耗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02"/>
          <p:cNvSpPr>
            <a:spLocks noGrp="1"/>
          </p:cNvSpPr>
          <p:nvPr/>
        </p:nvSpPr>
        <p:spPr>
          <a:xfrm>
            <a:off x="530542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2"/>
          <p:cNvSpPr>
            <a:spLocks noGrp="1"/>
          </p:cNvSpPr>
          <p:nvPr/>
        </p:nvSpPr>
        <p:spPr>
          <a:xfrm>
            <a:off x="961072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25" name="arrowhead-22"/>
          <p:cNvSpPr>
            <a:spLocks noGrp="1"/>
          </p:cNvSpPr>
          <p:nvPr/>
        </p:nvSpPr>
        <p:spPr>
          <a:xfrm>
            <a:off x="977265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26" name="rect-23"/>
          <p:cNvSpPr>
            <a:spLocks noGrp="1"/>
          </p:cNvSpPr>
          <p:nvPr/>
        </p:nvSpPr>
        <p:spPr>
          <a:xfrm>
            <a:off x="1000125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27" name="rect-24"/>
          <p:cNvSpPr>
            <a:spLocks noGrp="1"/>
          </p:cNvSpPr>
          <p:nvPr/>
        </p:nvSpPr>
        <p:spPr>
          <a:xfrm>
            <a:off x="10001250" y="3314700"/>
            <a:ext cx="47625" cy="16383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28" name="分流物料需求"/>
          <p:cNvSpPr>
            <a:spLocks noGrp="1"/>
          </p:cNvSpPr>
          <p:nvPr/>
        </p:nvSpPr>
        <p:spPr>
          <a:xfrm>
            <a:off x="1109586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分流物料需求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形成采购建议"/>
          <p:cNvSpPr>
            <a:spLocks noGrp="1"/>
          </p:cNvSpPr>
          <p:nvPr/>
        </p:nvSpPr>
        <p:spPr>
          <a:xfrm>
            <a:off x="11303889" y="3961638"/>
            <a:ext cx="170002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形成采购建议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形成备料、发料需求"/>
          <p:cNvSpPr>
            <a:spLocks noGrp="1"/>
          </p:cNvSpPr>
          <p:nvPr/>
        </p:nvSpPr>
        <p:spPr>
          <a:xfrm>
            <a:off x="10902696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形成备料、发料需求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"/>
          <p:cNvSpPr>
            <a:spLocks noGrp="1"/>
          </p:cNvSpPr>
          <p:nvPr/>
        </p:nvSpPr>
        <p:spPr>
          <a:xfrm>
            <a:off x="1000125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29"/>
          <p:cNvSpPr>
            <a:spLocks noGrp="1"/>
          </p:cNvSpPr>
          <p:nvPr/>
        </p:nvSpPr>
        <p:spPr>
          <a:xfrm>
            <a:off x="1430655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33" name="arrowhead-29"/>
          <p:cNvSpPr>
            <a:spLocks noGrp="1"/>
          </p:cNvSpPr>
          <p:nvPr/>
        </p:nvSpPr>
        <p:spPr>
          <a:xfrm>
            <a:off x="1446847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34" name="rect-30"/>
          <p:cNvSpPr>
            <a:spLocks noGrp="1"/>
          </p:cNvSpPr>
          <p:nvPr/>
        </p:nvSpPr>
        <p:spPr>
          <a:xfrm>
            <a:off x="1469707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35" name="rect-31"/>
          <p:cNvSpPr>
            <a:spLocks noGrp="1"/>
          </p:cNvSpPr>
          <p:nvPr/>
        </p:nvSpPr>
        <p:spPr>
          <a:xfrm>
            <a:off x="14697075" y="3314700"/>
            <a:ext cx="47625" cy="16383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36" name="SCM物料采购"/>
          <p:cNvSpPr>
            <a:spLocks noGrp="1"/>
          </p:cNvSpPr>
          <p:nvPr/>
        </p:nvSpPr>
        <p:spPr>
          <a:xfrm>
            <a:off x="15743474" y="3416046"/>
            <a:ext cx="2212503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SCM物料采购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按净缺口采购"/>
          <p:cNvSpPr>
            <a:spLocks noGrp="1"/>
          </p:cNvSpPr>
          <p:nvPr/>
        </p:nvSpPr>
        <p:spPr>
          <a:xfrm>
            <a:off x="15999714" y="3961638"/>
            <a:ext cx="170002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按净缺口采购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供应商、PO、交期跟进"/>
          <p:cNvSpPr>
            <a:spLocks noGrp="1"/>
          </p:cNvSpPr>
          <p:nvPr/>
        </p:nvSpPr>
        <p:spPr>
          <a:xfrm>
            <a:off x="15410075" y="4333113"/>
            <a:ext cx="287930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供应商、PO、交期跟进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04"/>
          <p:cNvSpPr>
            <a:spLocks noGrp="1"/>
          </p:cNvSpPr>
          <p:nvPr/>
        </p:nvSpPr>
        <p:spPr>
          <a:xfrm>
            <a:off x="1469707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path-36"/>
          <p:cNvSpPr>
            <a:spLocks noGrp="1"/>
          </p:cNvSpPr>
          <p:nvPr/>
        </p:nvSpPr>
        <p:spPr>
          <a:xfrm>
            <a:off x="1900237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41" name="arrowhead-36"/>
          <p:cNvSpPr>
            <a:spLocks noGrp="1"/>
          </p:cNvSpPr>
          <p:nvPr/>
        </p:nvSpPr>
        <p:spPr>
          <a:xfrm>
            <a:off x="1916430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42" name="rect-37"/>
          <p:cNvSpPr>
            <a:spLocks noGrp="1"/>
          </p:cNvSpPr>
          <p:nvPr/>
        </p:nvSpPr>
        <p:spPr>
          <a:xfrm>
            <a:off x="193929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7B60A8"/>
            </a:solidFill>
            <a:prstDash val="solid"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9392900" y="3314700"/>
            <a:ext cx="47625" cy="1638300"/>
          </a:xfrm>
          <a:prstGeom prst="rect">
            <a:avLst/>
          </a:prstGeom>
          <a:solidFill>
            <a:srgbClr val="7B60A8"/>
          </a:solidFill>
          <a:ln w="19050">
            <a:noFill/>
            <a:prstDash val="solid"/>
          </a:ln>
        </p:spPr>
      </p:sp>
      <p:sp>
        <p:nvSpPr>
          <p:cNvPr id="44" name="齐料与发料"/>
          <p:cNvSpPr>
            <a:spLocks noGrp="1"/>
          </p:cNvSpPr>
          <p:nvPr/>
        </p:nvSpPr>
        <p:spPr>
          <a:xfrm>
            <a:off x="20655915" y="3416046"/>
            <a:ext cx="1779270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齐料与发料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预计 / 实际到料、IQC"/>
          <p:cNvSpPr>
            <a:spLocks noGrp="1"/>
          </p:cNvSpPr>
          <p:nvPr/>
        </p:nvSpPr>
        <p:spPr>
          <a:xfrm>
            <a:off x="20174236" y="3961638"/>
            <a:ext cx="2742629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预计 / 实际到料、IQC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缺料预警与开工支持"/>
          <p:cNvSpPr>
            <a:spLocks noGrp="1"/>
          </p:cNvSpPr>
          <p:nvPr/>
        </p:nvSpPr>
        <p:spPr>
          <a:xfrm>
            <a:off x="20294346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缺料预警与开工支持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05"/>
          <p:cNvSpPr>
            <a:spLocks noGrp="1"/>
          </p:cNvSpPr>
          <p:nvPr/>
        </p:nvSpPr>
        <p:spPr>
          <a:xfrm>
            <a:off x="1939290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3"/>
          <p:cNvSpPr>
            <a:spLocks noGrp="1"/>
          </p:cNvSpPr>
          <p:nvPr/>
        </p:nvSpPr>
        <p:spPr>
          <a:xfrm>
            <a:off x="12153900" y="4953000"/>
            <a:ext cx="9391650" cy="1104900"/>
          </a:xfrm>
          <a:custGeom>
            <a:avLst/>
            <a:gdLst/>
            <a:ahLst/>
            <a:cxnLst/>
            <a:pathLst>
              <a:path w="9391650" h="1104900">
                <a:moveTo>
                  <a:pt x="0" y="0"/>
                </a:moveTo>
                <a:lnTo>
                  <a:pt x="0" y="1104900"/>
                </a:lnTo>
                <a:lnTo>
                  <a:pt x="9391650" y="1104900"/>
                </a:lnTo>
                <a:lnTo>
                  <a:pt x="9391650" y="0"/>
                </a:lnTo>
              </a:path>
            </a:pathLst>
          </a:custGeom>
          <a:noFill/>
          <a:ln w="38100">
            <a:solidFill>
              <a:srgbClr val="7B60A8"/>
            </a:solidFill>
            <a:prstDash val="solid"/>
          </a:ln>
        </p:spPr>
      </p:sp>
      <p:sp>
        <p:nvSpPr>
          <p:cNvPr id="49" name="arrowhead-43"/>
          <p:cNvSpPr>
            <a:spLocks noGrp="1"/>
          </p:cNvSpPr>
          <p:nvPr/>
        </p:nvSpPr>
        <p:spPr>
          <a:xfrm>
            <a:off x="21393150" y="4953000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7B60A8"/>
          </a:solidFill>
          <a:ln w="0">
            <a:noFill/>
          </a:ln>
        </p:spPr>
      </p:sp>
      <p:sp>
        <p:nvSpPr>
          <p:cNvPr id="50" name="rect-44"/>
          <p:cNvSpPr>
            <a:spLocks noGrp="1"/>
          </p:cNvSpPr>
          <p:nvPr/>
        </p:nvSpPr>
        <p:spPr>
          <a:xfrm>
            <a:off x="14077950" y="5762625"/>
            <a:ext cx="5181600" cy="3429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1" name="现有可用物料 → 直接备料 / 发料，跳过外购"/>
          <p:cNvSpPr>
            <a:spLocks noGrp="1"/>
          </p:cNvSpPr>
          <p:nvPr/>
        </p:nvSpPr>
        <p:spPr>
          <a:xfrm>
            <a:off x="14165366" y="5743575"/>
            <a:ext cx="5006769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现有可用物料 → 直接备料 / 发料，跳过外购</a:t>
            </a:r>
            <a:endParaRPr sz="1875" b="0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path-46"/>
          <p:cNvSpPr>
            <a:spLocks noGrp="1"/>
          </p:cNvSpPr>
          <p:nvPr/>
        </p:nvSpPr>
        <p:spPr>
          <a:xfrm>
            <a:off x="609600" y="7105650"/>
            <a:ext cx="10934700" cy="476"/>
          </a:xfrm>
          <a:custGeom>
            <a:avLst/>
            <a:gdLst/>
            <a:ahLst/>
            <a:cxnLst/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53" name="path-47"/>
          <p:cNvSpPr>
            <a:spLocks noGrp="1"/>
          </p:cNvSpPr>
          <p:nvPr/>
        </p:nvSpPr>
        <p:spPr>
          <a:xfrm>
            <a:off x="12611100" y="7105650"/>
            <a:ext cx="11163300" cy="476"/>
          </a:xfrm>
          <a:custGeom>
            <a:avLst/>
            <a:gdLst/>
            <a:ahLst/>
            <a:cxnLst/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28575">
            <a:solidFill>
              <a:srgbClr val="7B60A8"/>
            </a:solidFill>
            <a:prstDash val="solid"/>
          </a:ln>
        </p:spPr>
      </p:sp>
      <p:sp>
        <p:nvSpPr>
          <p:cNvPr id="54" name="计算所需输入"/>
          <p:cNvSpPr>
            <a:spLocks noGrp="1"/>
          </p:cNvSpPr>
          <p:nvPr/>
        </p:nvSpPr>
        <p:spPr>
          <a:xfrm>
            <a:off x="609600" y="7283577"/>
            <a:ext cx="2056638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计算所需输入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并行关系与执行边界"/>
          <p:cNvSpPr>
            <a:spLocks noGrp="1"/>
          </p:cNvSpPr>
          <p:nvPr/>
        </p:nvSpPr>
        <p:spPr>
          <a:xfrm>
            <a:off x="12611100" y="7283577"/>
            <a:ext cx="3037332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并行关系与执行边界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成衣采购计划与BOM版本"/>
          <p:cNvSpPr>
            <a:spLocks noGrp="1"/>
          </p:cNvSpPr>
          <p:nvPr/>
        </p:nvSpPr>
        <p:spPr>
          <a:xfrm>
            <a:off x="609600" y="7942326"/>
            <a:ext cx="3349061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成衣采购计划与BOM版本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物料库存、在途与安全库存"/>
          <p:cNvSpPr>
            <a:spLocks noGrp="1"/>
          </p:cNvSpPr>
          <p:nvPr/>
        </p:nvSpPr>
        <p:spPr>
          <a:xfrm>
            <a:off x="609600" y="8532876"/>
            <a:ext cx="35425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物料库存、在途与安全库存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损耗率、采购周期及备料周期"/>
          <p:cNvSpPr>
            <a:spLocks noGrp="1"/>
          </p:cNvSpPr>
          <p:nvPr/>
        </p:nvSpPr>
        <p:spPr>
          <a:xfrm>
            <a:off x="609600" y="9123426"/>
            <a:ext cx="382981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损耗率、采购周期及备料周期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输入数据及参数有来源和责任人"/>
          <p:cNvSpPr>
            <a:spLocks noGrp="1"/>
          </p:cNvSpPr>
          <p:nvPr/>
        </p:nvSpPr>
        <p:spPr>
          <a:xfrm>
            <a:off x="609600" y="9713976"/>
            <a:ext cx="411708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输入数据及参数有来源和责任人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成衣采购需求直接进入SCM主链"/>
          <p:cNvSpPr>
            <a:spLocks noGrp="1"/>
          </p:cNvSpPr>
          <p:nvPr/>
        </p:nvSpPr>
        <p:spPr>
          <a:xfrm>
            <a:off x="12611100" y="7942326"/>
            <a:ext cx="41867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成衣采购需求直接进入SCM主链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MRP同时形成物料需求与准备计划"/>
          <p:cNvSpPr>
            <a:spLocks noGrp="1"/>
          </p:cNvSpPr>
          <p:nvPr/>
        </p:nvSpPr>
        <p:spPr>
          <a:xfrm>
            <a:off x="12611100" y="8532876"/>
            <a:ext cx="4461939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MRP同时形成物料需求与准备计划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可用库存覆盖部分直接备料 / 发料"/>
          <p:cNvSpPr>
            <a:spLocks noGrp="1"/>
          </p:cNvSpPr>
          <p:nvPr/>
        </p:nvSpPr>
        <p:spPr>
          <a:xfrm>
            <a:off x="12611100" y="9123426"/>
            <a:ext cx="4452187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可用库存覆盖部分直接备料 / 发料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物料采购和供应商分配由SCM执行"/>
          <p:cNvSpPr>
            <a:spLocks noGrp="1"/>
          </p:cNvSpPr>
          <p:nvPr/>
        </p:nvSpPr>
        <p:spPr>
          <a:xfrm>
            <a:off x="12611100" y="9713976"/>
            <a:ext cx="447401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物料采购和供应商分配由SCM执行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ect-58"/>
          <p:cNvSpPr>
            <a:spLocks noGrp="1"/>
          </p:cNvSpPr>
          <p:nvPr/>
        </p:nvSpPr>
        <p:spPr>
          <a:xfrm>
            <a:off x="609600" y="11096625"/>
            <a:ext cx="23164800" cy="95250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65" name="交接结果"/>
          <p:cNvSpPr>
            <a:spLocks noGrp="1"/>
          </p:cNvSpPr>
          <p:nvPr/>
        </p:nvSpPr>
        <p:spPr>
          <a:xfrm>
            <a:off x="866775" y="11399520"/>
            <a:ext cx="1283970" cy="414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B60A8"/>
                </a:solidFill>
                <a:latin typeface="微软雅黑"/>
                <a:ea typeface="微软雅黑"/>
                <a:cs typeface="微软雅黑"/>
              </a:rPr>
              <a:t>交接结果</a:t>
            </a:r>
            <a:endParaRPr sz="2250" b="1">
              <a:solidFill>
                <a:srgbClr val="7B60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面辅料需求、备料 / 发料计划及缺料状态，支撑成衣工厂生产"/>
          <p:cNvSpPr>
            <a:spLocks noGrp="1"/>
          </p:cNvSpPr>
          <p:nvPr/>
        </p:nvSpPr>
        <p:spPr>
          <a:xfrm>
            <a:off x="2857500" y="11409426"/>
            <a:ext cx="7899475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面辅料需求、备料 / 发料计划及缺料状态，支撑成衣工厂生产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MRP作为明确建设域，不据此假设必须独立部署一套新系统。"/>
          <p:cNvSpPr>
            <a:spLocks noGrp="1"/>
          </p:cNvSpPr>
          <p:nvPr/>
        </p:nvSpPr>
        <p:spPr>
          <a:xfrm>
            <a:off x="609600" y="12430125"/>
            <a:ext cx="6831330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MRP作为明确建设域，不据此假设必须独立部署一套新系统。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path-6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0" name="06 / 10"/>
          <p:cNvSpPr>
            <a:spLocks noGrp="1"/>
          </p:cNvSpPr>
          <p:nvPr/>
        </p:nvSpPr>
        <p:spPr>
          <a:xfrm>
            <a:off x="22943784" y="13307568"/>
            <a:ext cx="83061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06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SCM采购｜PR承接至PO执行"/>
          <p:cNvSpPr>
            <a:spLocks noGrp="1"/>
          </p:cNvSpPr>
          <p:nvPr/>
        </p:nvSpPr>
        <p:spPr>
          <a:xfrm>
            <a:off x="904875" y="533781"/>
            <a:ext cx="6438495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SCM采购｜PR承接至PO执行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P0核心链路；PMC确认PR，SCM管理单据，采购依据供应商能力组织执行"/>
          <p:cNvSpPr>
            <a:spLocks noGrp="1"/>
          </p:cNvSpPr>
          <p:nvPr/>
        </p:nvSpPr>
        <p:spPr>
          <a:xfrm>
            <a:off x="609600" y="1570863"/>
            <a:ext cx="8936045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P0核心链路；PMC确认PR，SCM管理单据，采购依据供应商能力组织执行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业务动作"/>
          <p:cNvSpPr>
            <a:spLocks noGrp="1"/>
          </p:cNvSpPr>
          <p:nvPr/>
        </p:nvSpPr>
        <p:spPr>
          <a:xfrm>
            <a:off x="609600" y="2378583"/>
            <a:ext cx="1363218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业务动作</a:t>
            </a:r>
            <a:endParaRPr sz="240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-9"/>
          <p:cNvSpPr>
            <a:spLocks noGrp="1"/>
          </p:cNvSpPr>
          <p:nvPr/>
        </p:nvSpPr>
        <p:spPr>
          <a:xfrm>
            <a:off x="6096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1" name="rect-10"/>
          <p:cNvSpPr>
            <a:spLocks noGrp="1"/>
          </p:cNvSpPr>
          <p:nvPr/>
        </p:nvSpPr>
        <p:spPr>
          <a:xfrm>
            <a:off x="609600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12" name="承接采购需求"/>
          <p:cNvSpPr>
            <a:spLocks noGrp="1"/>
          </p:cNvSpPr>
          <p:nvPr/>
        </p:nvSpPr>
        <p:spPr>
          <a:xfrm>
            <a:off x="170421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承接采购需求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成衣需求来自PMC"/>
          <p:cNvSpPr>
            <a:spLocks noGrp="1"/>
          </p:cNvSpPr>
          <p:nvPr/>
        </p:nvSpPr>
        <p:spPr>
          <a:xfrm>
            <a:off x="1611035" y="3961638"/>
            <a:ext cx="2302431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成衣需求来自PMC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物料需求来自MRP"/>
          <p:cNvSpPr>
            <a:spLocks noGrp="1"/>
          </p:cNvSpPr>
          <p:nvPr/>
        </p:nvSpPr>
        <p:spPr>
          <a:xfrm>
            <a:off x="1618000" y="4333113"/>
            <a:ext cx="228850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物料需求来自MRP</a:t>
            </a:r>
            <a:r>
              <a:rPr lang="en-US"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+SCM</a:t>
            </a:r>
            <a:endParaRPr lang="en-US"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1"/>
          <p:cNvSpPr>
            <a:spLocks noGrp="1"/>
          </p:cNvSpPr>
          <p:nvPr/>
        </p:nvSpPr>
        <p:spPr>
          <a:xfrm>
            <a:off x="609600" y="2829306"/>
            <a:ext cx="342900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path-15"/>
          <p:cNvSpPr>
            <a:spLocks noGrp="1"/>
          </p:cNvSpPr>
          <p:nvPr/>
        </p:nvSpPr>
        <p:spPr>
          <a:xfrm>
            <a:off x="491490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17" name="arrowhead-15"/>
          <p:cNvSpPr>
            <a:spLocks noGrp="1"/>
          </p:cNvSpPr>
          <p:nvPr/>
        </p:nvSpPr>
        <p:spPr>
          <a:xfrm>
            <a:off x="507682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18" name="rect-16"/>
          <p:cNvSpPr>
            <a:spLocks noGrp="1"/>
          </p:cNvSpPr>
          <p:nvPr/>
        </p:nvSpPr>
        <p:spPr>
          <a:xfrm>
            <a:off x="530542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9" name="rect-17"/>
          <p:cNvSpPr>
            <a:spLocks noGrp="1"/>
          </p:cNvSpPr>
          <p:nvPr/>
        </p:nvSpPr>
        <p:spPr>
          <a:xfrm>
            <a:off x="5305425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20" name="PR管理"/>
          <p:cNvSpPr>
            <a:spLocks noGrp="1"/>
          </p:cNvSpPr>
          <p:nvPr/>
        </p:nvSpPr>
        <p:spPr>
          <a:xfrm>
            <a:off x="6845963" y="3416046"/>
            <a:ext cx="122422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PR管理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MC业务确认"/>
          <p:cNvSpPr>
            <a:spLocks noGrp="1"/>
          </p:cNvSpPr>
          <p:nvPr/>
        </p:nvSpPr>
        <p:spPr>
          <a:xfrm>
            <a:off x="6574322" y="3961638"/>
            <a:ext cx="1767507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PMC业务确认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审核、拆并、状态追溯"/>
          <p:cNvSpPr>
            <a:spLocks noGrp="1"/>
          </p:cNvSpPr>
          <p:nvPr/>
        </p:nvSpPr>
        <p:spPr>
          <a:xfrm>
            <a:off x="6073140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审核、拆并、状态追溯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02"/>
          <p:cNvSpPr>
            <a:spLocks noGrp="1"/>
          </p:cNvSpPr>
          <p:nvPr/>
        </p:nvSpPr>
        <p:spPr>
          <a:xfrm>
            <a:off x="530542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2"/>
          <p:cNvSpPr>
            <a:spLocks noGrp="1"/>
          </p:cNvSpPr>
          <p:nvPr/>
        </p:nvSpPr>
        <p:spPr>
          <a:xfrm>
            <a:off x="961072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25" name="arrowhead-22"/>
          <p:cNvSpPr>
            <a:spLocks noGrp="1"/>
          </p:cNvSpPr>
          <p:nvPr/>
        </p:nvSpPr>
        <p:spPr>
          <a:xfrm>
            <a:off x="977265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26" name="rect-23"/>
          <p:cNvSpPr>
            <a:spLocks noGrp="1"/>
          </p:cNvSpPr>
          <p:nvPr/>
        </p:nvSpPr>
        <p:spPr>
          <a:xfrm>
            <a:off x="1000125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27" name="rect-24"/>
          <p:cNvSpPr>
            <a:spLocks noGrp="1"/>
          </p:cNvSpPr>
          <p:nvPr/>
        </p:nvSpPr>
        <p:spPr>
          <a:xfrm>
            <a:off x="10001250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28" name="供应商分配"/>
          <p:cNvSpPr>
            <a:spLocks noGrp="1"/>
          </p:cNvSpPr>
          <p:nvPr/>
        </p:nvSpPr>
        <p:spPr>
          <a:xfrm>
            <a:off x="11264265" y="3416046"/>
            <a:ext cx="1779270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供应商分配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产能、成本、交期与绩效"/>
          <p:cNvSpPr>
            <a:spLocks noGrp="1"/>
          </p:cNvSpPr>
          <p:nvPr/>
        </p:nvSpPr>
        <p:spPr>
          <a:xfrm>
            <a:off x="10635234" y="3961638"/>
            <a:ext cx="303733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产能、成本、交期与绩效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库存、商品版本、包装"/>
          <p:cNvSpPr>
            <a:spLocks noGrp="1"/>
          </p:cNvSpPr>
          <p:nvPr/>
        </p:nvSpPr>
        <p:spPr>
          <a:xfrm>
            <a:off x="10768965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库存、商品版本、包装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"/>
          <p:cNvSpPr>
            <a:spLocks noGrp="1"/>
          </p:cNvSpPr>
          <p:nvPr/>
        </p:nvSpPr>
        <p:spPr>
          <a:xfrm>
            <a:off x="1000125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29"/>
          <p:cNvSpPr>
            <a:spLocks noGrp="1"/>
          </p:cNvSpPr>
          <p:nvPr/>
        </p:nvSpPr>
        <p:spPr>
          <a:xfrm>
            <a:off x="1430655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33" name="arrowhead-29"/>
          <p:cNvSpPr>
            <a:spLocks noGrp="1"/>
          </p:cNvSpPr>
          <p:nvPr/>
        </p:nvSpPr>
        <p:spPr>
          <a:xfrm>
            <a:off x="1446847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34" name="rect-30"/>
          <p:cNvSpPr>
            <a:spLocks noGrp="1"/>
          </p:cNvSpPr>
          <p:nvPr/>
        </p:nvSpPr>
        <p:spPr>
          <a:xfrm>
            <a:off x="1469707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35" name="rect-31"/>
          <p:cNvSpPr>
            <a:spLocks noGrp="1"/>
          </p:cNvSpPr>
          <p:nvPr/>
        </p:nvSpPr>
        <p:spPr>
          <a:xfrm>
            <a:off x="14697075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36" name="PO与供应商接单"/>
          <p:cNvSpPr>
            <a:spLocks noGrp="1"/>
          </p:cNvSpPr>
          <p:nvPr/>
        </p:nvSpPr>
        <p:spPr>
          <a:xfrm>
            <a:off x="15550848" y="3416046"/>
            <a:ext cx="2597753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PO与供应商接单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PR转PO、审批与货期"/>
          <p:cNvSpPr>
            <a:spLocks noGrp="1"/>
          </p:cNvSpPr>
          <p:nvPr/>
        </p:nvSpPr>
        <p:spPr>
          <a:xfrm>
            <a:off x="15501241" y="3961638"/>
            <a:ext cx="269696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PR转PO、审批与货期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订单资料和任务交付"/>
          <p:cNvSpPr>
            <a:spLocks noGrp="1"/>
          </p:cNvSpPr>
          <p:nvPr/>
        </p:nvSpPr>
        <p:spPr>
          <a:xfrm>
            <a:off x="15598521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订单资料和任务交付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04"/>
          <p:cNvSpPr>
            <a:spLocks noGrp="1"/>
          </p:cNvSpPr>
          <p:nvPr/>
        </p:nvSpPr>
        <p:spPr>
          <a:xfrm>
            <a:off x="1469707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path-36"/>
          <p:cNvSpPr>
            <a:spLocks noGrp="1"/>
          </p:cNvSpPr>
          <p:nvPr/>
        </p:nvSpPr>
        <p:spPr>
          <a:xfrm>
            <a:off x="1900237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41" name="arrowhead-36"/>
          <p:cNvSpPr>
            <a:spLocks noGrp="1"/>
          </p:cNvSpPr>
          <p:nvPr/>
        </p:nvSpPr>
        <p:spPr>
          <a:xfrm>
            <a:off x="1916430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42" name="rect-37"/>
          <p:cNvSpPr>
            <a:spLocks noGrp="1"/>
          </p:cNvSpPr>
          <p:nvPr/>
        </p:nvSpPr>
        <p:spPr>
          <a:xfrm>
            <a:off x="193929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9392900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44" name="执行与单据关闭"/>
          <p:cNvSpPr>
            <a:spLocks noGrp="1"/>
          </p:cNvSpPr>
          <p:nvPr/>
        </p:nvSpPr>
        <p:spPr>
          <a:xfrm>
            <a:off x="20319111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执行与单据关闭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执行状态和异常回传"/>
          <p:cNvSpPr>
            <a:spLocks noGrp="1"/>
          </p:cNvSpPr>
          <p:nvPr/>
        </p:nvSpPr>
        <p:spPr>
          <a:xfrm>
            <a:off x="20294346" y="3961638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执行状态和异常回传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整单 / SKU / 尾数关闭"/>
          <p:cNvSpPr>
            <a:spLocks noGrp="1"/>
          </p:cNvSpPr>
          <p:nvPr/>
        </p:nvSpPr>
        <p:spPr>
          <a:xfrm>
            <a:off x="20111395" y="4333113"/>
            <a:ext cx="2868311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整单 / SKU / 尾数关闭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05"/>
          <p:cNvSpPr>
            <a:spLocks noGrp="1"/>
          </p:cNvSpPr>
          <p:nvPr/>
        </p:nvSpPr>
        <p:spPr>
          <a:xfrm>
            <a:off x="1939290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3"/>
          <p:cNvSpPr>
            <a:spLocks noGrp="1"/>
          </p:cNvSpPr>
          <p:nvPr/>
        </p:nvSpPr>
        <p:spPr>
          <a:xfrm>
            <a:off x="2762250" y="4953000"/>
            <a:ext cx="18783300" cy="1085850"/>
          </a:xfrm>
          <a:custGeom>
            <a:avLst/>
            <a:gdLst/>
            <a:ahLst/>
            <a:cxnLst/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78E99"/>
            </a:solidFill>
            <a:prstDash val="solid"/>
          </a:ln>
        </p:spPr>
      </p:sp>
      <p:sp>
        <p:nvSpPr>
          <p:cNvPr id="49" name="arrowhead-43"/>
          <p:cNvSpPr>
            <a:spLocks noGrp="1"/>
          </p:cNvSpPr>
          <p:nvPr/>
        </p:nvSpPr>
        <p:spPr>
          <a:xfrm>
            <a:off x="2609850" y="4953000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50" name="rect-44"/>
          <p:cNvSpPr>
            <a:spLocks noGrp="1"/>
          </p:cNvSpPr>
          <p:nvPr/>
        </p:nvSpPr>
        <p:spPr>
          <a:xfrm>
            <a:off x="9778365" y="5734050"/>
            <a:ext cx="4636770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1" name="供货或交期不满足 → 反馈PMC协调计划"/>
          <p:cNvSpPr>
            <a:spLocks noGrp="1"/>
          </p:cNvSpPr>
          <p:nvPr/>
        </p:nvSpPr>
        <p:spPr>
          <a:xfrm>
            <a:off x="9737931" y="5714619"/>
            <a:ext cx="4717637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供货或交期不满足 → 反馈PMC协调计划</a:t>
            </a:r>
            <a:endParaRPr sz="19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path-46"/>
          <p:cNvSpPr>
            <a:spLocks noGrp="1"/>
          </p:cNvSpPr>
          <p:nvPr/>
        </p:nvSpPr>
        <p:spPr>
          <a:xfrm>
            <a:off x="609600" y="7105650"/>
            <a:ext cx="10934700" cy="476"/>
          </a:xfrm>
          <a:custGeom>
            <a:avLst/>
            <a:gdLst/>
            <a:ahLst/>
            <a:cxnLst/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53" name="path-47"/>
          <p:cNvSpPr>
            <a:spLocks noGrp="1"/>
          </p:cNvSpPr>
          <p:nvPr/>
        </p:nvSpPr>
        <p:spPr>
          <a:xfrm>
            <a:off x="12611100" y="7105650"/>
            <a:ext cx="11163300" cy="476"/>
          </a:xfrm>
          <a:custGeom>
            <a:avLst/>
            <a:gdLst/>
            <a:ahLst/>
            <a:cxnLst/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54" name="PMC与采购的交接"/>
          <p:cNvSpPr>
            <a:spLocks noGrp="1"/>
          </p:cNvSpPr>
          <p:nvPr/>
        </p:nvSpPr>
        <p:spPr>
          <a:xfrm>
            <a:off x="609600" y="7283577"/>
            <a:ext cx="2805315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PMC与采购的交接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Q4重点治理"/>
          <p:cNvSpPr>
            <a:spLocks noGrp="1"/>
          </p:cNvSpPr>
          <p:nvPr/>
        </p:nvSpPr>
        <p:spPr>
          <a:xfrm>
            <a:off x="12611100" y="7283577"/>
            <a:ext cx="1852327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Q4重点治理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PMC：买什么、买多少、什么时候要"/>
          <p:cNvSpPr>
            <a:spLocks noGrp="1"/>
          </p:cNvSpPr>
          <p:nvPr/>
        </p:nvSpPr>
        <p:spPr>
          <a:xfrm>
            <a:off x="609600" y="7942326"/>
            <a:ext cx="476407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PMC：买什么、买多少、什么时候要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采购：向谁买、如何拆分和合并"/>
          <p:cNvSpPr>
            <a:spLocks noGrp="1"/>
          </p:cNvSpPr>
          <p:nvPr/>
        </p:nvSpPr>
        <p:spPr>
          <a:xfrm>
            <a:off x="609600" y="8532876"/>
            <a:ext cx="411708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采购：向谁买、如何拆分和合并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SCM：以PR / PO承载审核及执行状态"/>
          <p:cNvSpPr>
            <a:spLocks noGrp="1"/>
          </p:cNvSpPr>
          <p:nvPr/>
        </p:nvSpPr>
        <p:spPr>
          <a:xfrm>
            <a:off x="609600" y="9123426"/>
            <a:ext cx="501775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SCM：以PR / PO承载审核及执行状态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需求变化返回计划侧确认，保留关联"/>
          <p:cNvSpPr>
            <a:spLocks noGrp="1"/>
          </p:cNvSpPr>
          <p:nvPr/>
        </p:nvSpPr>
        <p:spPr>
          <a:xfrm>
            <a:off x="609600" y="9713976"/>
            <a:ext cx="469163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需求变化返回计划侧确认，保留关联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PO整单、SKU和尾数关闭口径"/>
          <p:cNvSpPr>
            <a:spLocks noGrp="1"/>
          </p:cNvSpPr>
          <p:nvPr/>
        </p:nvSpPr>
        <p:spPr>
          <a:xfrm>
            <a:off x="12611100" y="7942326"/>
            <a:ext cx="3957661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PO整单、SKU和尾数关闭口径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供应商接单撤销及异常流转"/>
          <p:cNvSpPr>
            <a:spLocks noGrp="1"/>
          </p:cNvSpPr>
          <p:nvPr/>
        </p:nvSpPr>
        <p:spPr>
          <a:xfrm>
            <a:off x="12611100" y="8532876"/>
            <a:ext cx="35425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供应商接单撤销及异常流转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多PR合并、一PR拆多PO的关系追溯"/>
          <p:cNvSpPr>
            <a:spLocks noGrp="1"/>
          </p:cNvSpPr>
          <p:nvPr/>
        </p:nvSpPr>
        <p:spPr>
          <a:xfrm>
            <a:off x="12611100" y="9123426"/>
            <a:ext cx="470463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多PR合并、一PR拆多PO的关系追溯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执行状态反馈PMC，减少重复录入"/>
          <p:cNvSpPr>
            <a:spLocks noGrp="1"/>
          </p:cNvSpPr>
          <p:nvPr/>
        </p:nvSpPr>
        <p:spPr>
          <a:xfrm>
            <a:off x="12611100" y="9713976"/>
            <a:ext cx="447679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执行状态反馈PMC，减少重复录入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ect-58"/>
          <p:cNvSpPr>
            <a:spLocks noGrp="1"/>
          </p:cNvSpPr>
          <p:nvPr/>
        </p:nvSpPr>
        <p:spPr>
          <a:xfrm>
            <a:off x="609600" y="11096625"/>
            <a:ext cx="23164800" cy="95250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65" name="交接结果"/>
          <p:cNvSpPr>
            <a:spLocks noGrp="1"/>
          </p:cNvSpPr>
          <p:nvPr/>
        </p:nvSpPr>
        <p:spPr>
          <a:xfrm>
            <a:off x="866775" y="11399520"/>
            <a:ext cx="1283970" cy="414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交接结果</a:t>
            </a:r>
            <a:endParaRPr sz="225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供应商可执行的PO、交期与任务，并持续返回执行状态"/>
          <p:cNvSpPr>
            <a:spLocks noGrp="1"/>
          </p:cNvSpPr>
          <p:nvPr/>
        </p:nvSpPr>
        <p:spPr>
          <a:xfrm>
            <a:off x="2857500" y="11409426"/>
            <a:ext cx="711349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供应商可执行的PO、交期与任务，并持续返回执行状态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path-6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0" name="07 / 10"/>
          <p:cNvSpPr>
            <a:spLocks noGrp="1"/>
          </p:cNvSpPr>
          <p:nvPr/>
        </p:nvSpPr>
        <p:spPr>
          <a:xfrm>
            <a:off x="22954464" y="13307568"/>
            <a:ext cx="81993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07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供应商执行｜从接单到交付"/>
          <p:cNvSpPr>
            <a:spLocks noGrp="1"/>
          </p:cNvSpPr>
          <p:nvPr/>
        </p:nvSpPr>
        <p:spPr>
          <a:xfrm>
            <a:off x="904875" y="533781"/>
            <a:ext cx="5919978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供应商执行｜从接单到交付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用订单及执行状态承接采购要求，减少群聊、库存表和重复核对"/>
          <p:cNvSpPr>
            <a:spLocks noGrp="1"/>
          </p:cNvSpPr>
          <p:nvPr/>
        </p:nvSpPr>
        <p:spPr>
          <a:xfrm>
            <a:off x="609600" y="1570863"/>
            <a:ext cx="758418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用订单及执行状态承接采购要求，减少群聊、库存表和重复核对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业务动作"/>
          <p:cNvSpPr>
            <a:spLocks noGrp="1"/>
          </p:cNvSpPr>
          <p:nvPr/>
        </p:nvSpPr>
        <p:spPr>
          <a:xfrm>
            <a:off x="609600" y="2378583"/>
            <a:ext cx="1363218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业务动作</a:t>
            </a:r>
            <a:endParaRPr sz="240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-9"/>
          <p:cNvSpPr>
            <a:spLocks noGrp="1"/>
          </p:cNvSpPr>
          <p:nvPr/>
        </p:nvSpPr>
        <p:spPr>
          <a:xfrm>
            <a:off x="6096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1" name="rect-10"/>
          <p:cNvSpPr>
            <a:spLocks noGrp="1"/>
          </p:cNvSpPr>
          <p:nvPr/>
        </p:nvSpPr>
        <p:spPr>
          <a:xfrm>
            <a:off x="609600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12" name="接单与货期确认"/>
          <p:cNvSpPr>
            <a:spLocks noGrp="1"/>
          </p:cNvSpPr>
          <p:nvPr/>
        </p:nvSpPr>
        <p:spPr>
          <a:xfrm>
            <a:off x="1535811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接单与货期确认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确认PO、SKU与数量"/>
          <p:cNvSpPr>
            <a:spLocks noGrp="1"/>
          </p:cNvSpPr>
          <p:nvPr/>
        </p:nvSpPr>
        <p:spPr>
          <a:xfrm>
            <a:off x="1451533" y="3961638"/>
            <a:ext cx="2621435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确认PO、SKU与数量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确认承诺交期"/>
          <p:cNvSpPr>
            <a:spLocks noGrp="1"/>
          </p:cNvSpPr>
          <p:nvPr/>
        </p:nvSpPr>
        <p:spPr>
          <a:xfrm>
            <a:off x="1912239" y="4333113"/>
            <a:ext cx="170002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确认承诺交期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1"/>
          <p:cNvSpPr>
            <a:spLocks noGrp="1"/>
          </p:cNvSpPr>
          <p:nvPr/>
        </p:nvSpPr>
        <p:spPr>
          <a:xfrm>
            <a:off x="609600" y="2829306"/>
            <a:ext cx="342900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path-15"/>
          <p:cNvSpPr>
            <a:spLocks noGrp="1"/>
          </p:cNvSpPr>
          <p:nvPr/>
        </p:nvSpPr>
        <p:spPr>
          <a:xfrm>
            <a:off x="491490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17" name="arrowhead-15"/>
          <p:cNvSpPr>
            <a:spLocks noGrp="1"/>
          </p:cNvSpPr>
          <p:nvPr/>
        </p:nvSpPr>
        <p:spPr>
          <a:xfrm>
            <a:off x="507682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18" name="rect-16"/>
          <p:cNvSpPr>
            <a:spLocks noGrp="1"/>
          </p:cNvSpPr>
          <p:nvPr/>
        </p:nvSpPr>
        <p:spPr>
          <a:xfrm>
            <a:off x="530542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19" name="rect-17"/>
          <p:cNvSpPr>
            <a:spLocks noGrp="1"/>
          </p:cNvSpPr>
          <p:nvPr/>
        </p:nvSpPr>
        <p:spPr>
          <a:xfrm>
            <a:off x="5305425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20" name="技术资料就绪"/>
          <p:cNvSpPr>
            <a:spLocks noGrp="1"/>
          </p:cNvSpPr>
          <p:nvPr/>
        </p:nvSpPr>
        <p:spPr>
          <a:xfrm>
            <a:off x="6400038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技术资料就绪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BOM、工艺、纸样、尺寸"/>
          <p:cNvSpPr>
            <a:spLocks noGrp="1"/>
          </p:cNvSpPr>
          <p:nvPr/>
        </p:nvSpPr>
        <p:spPr>
          <a:xfrm>
            <a:off x="5895761" y="3961638"/>
            <a:ext cx="3124629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BOM、工艺、纸样、尺寸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包装与发货要求"/>
          <p:cNvSpPr>
            <a:spLocks noGrp="1"/>
          </p:cNvSpPr>
          <p:nvPr/>
        </p:nvSpPr>
        <p:spPr>
          <a:xfrm>
            <a:off x="6474333" y="4333113"/>
            <a:ext cx="1967484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包装与发货要求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02"/>
          <p:cNvSpPr>
            <a:spLocks noGrp="1"/>
          </p:cNvSpPr>
          <p:nvPr/>
        </p:nvSpPr>
        <p:spPr>
          <a:xfrm>
            <a:off x="530542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2"/>
          <p:cNvSpPr>
            <a:spLocks noGrp="1"/>
          </p:cNvSpPr>
          <p:nvPr/>
        </p:nvSpPr>
        <p:spPr>
          <a:xfrm>
            <a:off x="961072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25" name="arrowhead-22"/>
          <p:cNvSpPr>
            <a:spLocks noGrp="1"/>
          </p:cNvSpPr>
          <p:nvPr/>
        </p:nvSpPr>
        <p:spPr>
          <a:xfrm>
            <a:off x="977265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26" name="rect-23"/>
          <p:cNvSpPr>
            <a:spLocks noGrp="1"/>
          </p:cNvSpPr>
          <p:nvPr/>
        </p:nvSpPr>
        <p:spPr>
          <a:xfrm>
            <a:off x="1000125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27" name="rect-24"/>
          <p:cNvSpPr>
            <a:spLocks noGrp="1"/>
          </p:cNvSpPr>
          <p:nvPr/>
        </p:nvSpPr>
        <p:spPr>
          <a:xfrm>
            <a:off x="10001250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28" name="物料与交期协同"/>
          <p:cNvSpPr>
            <a:spLocks noGrp="1"/>
          </p:cNvSpPr>
          <p:nvPr/>
        </p:nvSpPr>
        <p:spPr>
          <a:xfrm>
            <a:off x="10927461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物料与交期协同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预计 / 实际到料"/>
          <p:cNvSpPr>
            <a:spLocks noGrp="1"/>
          </p:cNvSpPr>
          <p:nvPr/>
        </p:nvSpPr>
        <p:spPr>
          <a:xfrm>
            <a:off x="11147947" y="3961638"/>
            <a:ext cx="201190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预计 / 实际到料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缺料与交付风险反馈"/>
          <p:cNvSpPr>
            <a:spLocks noGrp="1"/>
          </p:cNvSpPr>
          <p:nvPr/>
        </p:nvSpPr>
        <p:spPr>
          <a:xfrm>
            <a:off x="10902696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缺料与交付风险反馈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"/>
          <p:cNvSpPr>
            <a:spLocks noGrp="1"/>
          </p:cNvSpPr>
          <p:nvPr/>
        </p:nvSpPr>
        <p:spPr>
          <a:xfrm>
            <a:off x="1000125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29"/>
          <p:cNvSpPr>
            <a:spLocks noGrp="1"/>
          </p:cNvSpPr>
          <p:nvPr/>
        </p:nvSpPr>
        <p:spPr>
          <a:xfrm>
            <a:off x="1430655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33" name="arrowhead-29"/>
          <p:cNvSpPr>
            <a:spLocks noGrp="1"/>
          </p:cNvSpPr>
          <p:nvPr/>
        </p:nvSpPr>
        <p:spPr>
          <a:xfrm>
            <a:off x="1446847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34" name="rect-30"/>
          <p:cNvSpPr>
            <a:spLocks noGrp="1"/>
          </p:cNvSpPr>
          <p:nvPr/>
        </p:nvSpPr>
        <p:spPr>
          <a:xfrm>
            <a:off x="1469707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35" name="rect-31"/>
          <p:cNvSpPr>
            <a:spLocks noGrp="1"/>
          </p:cNvSpPr>
          <p:nvPr/>
        </p:nvSpPr>
        <p:spPr>
          <a:xfrm>
            <a:off x="14697075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36" name="生产与质量协同"/>
          <p:cNvSpPr>
            <a:spLocks noGrp="1"/>
          </p:cNvSpPr>
          <p:nvPr/>
        </p:nvSpPr>
        <p:spPr>
          <a:xfrm>
            <a:off x="15623286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生产与质量协同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与MES关联生产状态"/>
          <p:cNvSpPr>
            <a:spLocks noGrp="1"/>
          </p:cNvSpPr>
          <p:nvPr/>
        </p:nvSpPr>
        <p:spPr>
          <a:xfrm>
            <a:off x="15578322" y="3961638"/>
            <a:ext cx="254280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与MES关联生产状态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按QC结果处理与放行"/>
          <p:cNvSpPr>
            <a:spLocks noGrp="1"/>
          </p:cNvSpPr>
          <p:nvPr/>
        </p:nvSpPr>
        <p:spPr>
          <a:xfrm>
            <a:off x="15532275" y="4333113"/>
            <a:ext cx="2634901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按QC结果处理与放行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04"/>
          <p:cNvSpPr>
            <a:spLocks noGrp="1"/>
          </p:cNvSpPr>
          <p:nvPr/>
        </p:nvSpPr>
        <p:spPr>
          <a:xfrm>
            <a:off x="1469707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path-36"/>
          <p:cNvSpPr>
            <a:spLocks noGrp="1"/>
          </p:cNvSpPr>
          <p:nvPr/>
        </p:nvSpPr>
        <p:spPr>
          <a:xfrm>
            <a:off x="1900237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41" name="arrowhead-36"/>
          <p:cNvSpPr>
            <a:spLocks noGrp="1"/>
          </p:cNvSpPr>
          <p:nvPr/>
        </p:nvSpPr>
        <p:spPr>
          <a:xfrm>
            <a:off x="1916430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C8226"/>
          </a:solidFill>
          <a:ln w="0">
            <a:noFill/>
          </a:ln>
        </p:spPr>
      </p:sp>
      <p:sp>
        <p:nvSpPr>
          <p:cNvPr id="42" name="rect-37"/>
          <p:cNvSpPr>
            <a:spLocks noGrp="1"/>
          </p:cNvSpPr>
          <p:nvPr/>
        </p:nvSpPr>
        <p:spPr>
          <a:xfrm>
            <a:off x="193929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DC8226"/>
            </a:solidFill>
            <a:prstDash val="solid"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9392900" y="3314700"/>
            <a:ext cx="47625" cy="1638300"/>
          </a:xfrm>
          <a:prstGeom prst="rect">
            <a:avLst/>
          </a:prstGeom>
          <a:solidFill>
            <a:srgbClr val="DC8226"/>
          </a:solidFill>
          <a:ln w="19050">
            <a:noFill/>
            <a:prstDash val="solid"/>
          </a:ln>
        </p:spPr>
      </p:sp>
      <p:sp>
        <p:nvSpPr>
          <p:cNvPr id="44" name="发货履约"/>
          <p:cNvSpPr>
            <a:spLocks noGrp="1"/>
          </p:cNvSpPr>
          <p:nvPr/>
        </p:nvSpPr>
        <p:spPr>
          <a:xfrm>
            <a:off x="20824317" y="3416046"/>
            <a:ext cx="1442466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发货履约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形成发货单"/>
          <p:cNvSpPr>
            <a:spLocks noGrp="1"/>
          </p:cNvSpPr>
          <p:nvPr/>
        </p:nvSpPr>
        <p:spPr>
          <a:xfrm>
            <a:off x="20829270" y="3961638"/>
            <a:ext cx="143256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形成发货单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数量、日期与目的地"/>
          <p:cNvSpPr>
            <a:spLocks noGrp="1"/>
          </p:cNvSpPr>
          <p:nvPr/>
        </p:nvSpPr>
        <p:spPr>
          <a:xfrm>
            <a:off x="20294346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数量、日期与目的地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05"/>
          <p:cNvSpPr>
            <a:spLocks noGrp="1"/>
          </p:cNvSpPr>
          <p:nvPr/>
        </p:nvSpPr>
        <p:spPr>
          <a:xfrm>
            <a:off x="1939290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3"/>
          <p:cNvSpPr>
            <a:spLocks noGrp="1"/>
          </p:cNvSpPr>
          <p:nvPr/>
        </p:nvSpPr>
        <p:spPr>
          <a:xfrm>
            <a:off x="2762250" y="4953000"/>
            <a:ext cx="18783300" cy="1085850"/>
          </a:xfrm>
          <a:custGeom>
            <a:avLst/>
            <a:gdLst/>
            <a:ahLst/>
            <a:cxnLst/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78E99"/>
            </a:solidFill>
            <a:prstDash val="solid"/>
          </a:ln>
        </p:spPr>
      </p:sp>
      <p:sp>
        <p:nvSpPr>
          <p:cNvPr id="49" name="arrowhead-43"/>
          <p:cNvSpPr>
            <a:spLocks noGrp="1"/>
          </p:cNvSpPr>
          <p:nvPr/>
        </p:nvSpPr>
        <p:spPr>
          <a:xfrm>
            <a:off x="2609850" y="4953000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50" name="rect-44"/>
          <p:cNvSpPr>
            <a:spLocks noGrp="1"/>
          </p:cNvSpPr>
          <p:nvPr/>
        </p:nvSpPr>
        <p:spPr>
          <a:xfrm>
            <a:off x="9406890" y="5734050"/>
            <a:ext cx="5379720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1" name="延期、缺料、质量异常 → 采购协调并反馈PMC"/>
          <p:cNvSpPr>
            <a:spLocks noGrp="1"/>
          </p:cNvSpPr>
          <p:nvPr/>
        </p:nvSpPr>
        <p:spPr>
          <a:xfrm>
            <a:off x="9351597" y="5714619"/>
            <a:ext cx="5490305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延期、缺料、质量异常 → 采购协调并反馈PMC</a:t>
            </a:r>
            <a:endParaRPr sz="19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path-46"/>
          <p:cNvSpPr>
            <a:spLocks noGrp="1"/>
          </p:cNvSpPr>
          <p:nvPr/>
        </p:nvSpPr>
        <p:spPr>
          <a:xfrm>
            <a:off x="609600" y="7105650"/>
            <a:ext cx="10934700" cy="476"/>
          </a:xfrm>
          <a:custGeom>
            <a:avLst/>
            <a:gdLst/>
            <a:ahLst/>
            <a:cxnLst/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53" name="path-47"/>
          <p:cNvSpPr>
            <a:spLocks noGrp="1"/>
          </p:cNvSpPr>
          <p:nvPr/>
        </p:nvSpPr>
        <p:spPr>
          <a:xfrm>
            <a:off x="12611100" y="7105650"/>
            <a:ext cx="11163300" cy="476"/>
          </a:xfrm>
          <a:custGeom>
            <a:avLst/>
            <a:gdLst/>
            <a:ahLst/>
            <a:cxnLst/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28575">
            <a:solidFill>
              <a:srgbClr val="DC8226"/>
            </a:solidFill>
            <a:prstDash val="solid"/>
          </a:ln>
        </p:spPr>
      </p:sp>
      <p:sp>
        <p:nvSpPr>
          <p:cNvPr id="54" name="供应商需要明确的任务"/>
          <p:cNvSpPr>
            <a:spLocks noGrp="1"/>
          </p:cNvSpPr>
          <p:nvPr/>
        </p:nvSpPr>
        <p:spPr>
          <a:xfrm>
            <a:off x="609600" y="7283577"/>
            <a:ext cx="3364230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供应商需要明确的任务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质量与异常协同"/>
          <p:cNvSpPr>
            <a:spLocks noGrp="1"/>
          </p:cNvSpPr>
          <p:nvPr/>
        </p:nvSpPr>
        <p:spPr>
          <a:xfrm>
            <a:off x="12611100" y="7283577"/>
            <a:ext cx="2383536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质量与异常协同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采购订单、商品与版本、需求数量"/>
          <p:cNvSpPr>
            <a:spLocks noGrp="1"/>
          </p:cNvSpPr>
          <p:nvPr/>
        </p:nvSpPr>
        <p:spPr>
          <a:xfrm>
            <a:off x="609600" y="794232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采购订单、商品与版本、需求数量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要求货期与供应商承诺货期"/>
          <p:cNvSpPr>
            <a:spLocks noGrp="1"/>
          </p:cNvSpPr>
          <p:nvPr/>
        </p:nvSpPr>
        <p:spPr>
          <a:xfrm>
            <a:off x="609600" y="8532876"/>
            <a:ext cx="35425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要求货期与供应商承诺货期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有效的BOM、工艺和包装技术资料"/>
          <p:cNvSpPr>
            <a:spLocks noGrp="1"/>
          </p:cNvSpPr>
          <p:nvPr/>
        </p:nvSpPr>
        <p:spPr>
          <a:xfrm>
            <a:off x="609600" y="9123426"/>
            <a:ext cx="4498157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有效的BOM、工艺和包装技术资料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发货要求及异常反馈责任"/>
          <p:cNvSpPr>
            <a:spLocks noGrp="1"/>
          </p:cNvSpPr>
          <p:nvPr/>
        </p:nvSpPr>
        <p:spPr>
          <a:xfrm>
            <a:off x="609600" y="9713976"/>
            <a:ext cx="325526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发货要求及异常反馈责任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来料、首扎、中期、尾期及成品节点"/>
          <p:cNvSpPr>
            <a:spLocks noGrp="1"/>
          </p:cNvSpPr>
          <p:nvPr/>
        </p:nvSpPr>
        <p:spPr>
          <a:xfrm>
            <a:off x="12611100" y="7942326"/>
            <a:ext cx="469163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来料、首扎、中期、尾期及成品节点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质量问题、返工、退货与放行结果"/>
          <p:cNvSpPr>
            <a:spLocks noGrp="1"/>
          </p:cNvSpPr>
          <p:nvPr/>
        </p:nvSpPr>
        <p:spPr>
          <a:xfrm>
            <a:off x="12611100" y="853287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质量问题、返工、退货与放行结果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供应商质量档案与交付表现"/>
          <p:cNvSpPr>
            <a:spLocks noGrp="1"/>
          </p:cNvSpPr>
          <p:nvPr/>
        </p:nvSpPr>
        <p:spPr>
          <a:xfrm>
            <a:off x="12611100" y="9123426"/>
            <a:ext cx="35425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供应商质量档案与交付表现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具体QC系统接入节点分阶段联评"/>
          <p:cNvSpPr>
            <a:spLocks noGrp="1"/>
          </p:cNvSpPr>
          <p:nvPr/>
        </p:nvSpPr>
        <p:spPr>
          <a:xfrm>
            <a:off x="12611100" y="9713976"/>
            <a:ext cx="425933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具体QC系统接入节点分阶段联评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ect-58"/>
          <p:cNvSpPr>
            <a:spLocks noGrp="1"/>
          </p:cNvSpPr>
          <p:nvPr/>
        </p:nvSpPr>
        <p:spPr>
          <a:xfrm>
            <a:off x="609600" y="11096625"/>
            <a:ext cx="23164800" cy="95250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65" name="交接结果"/>
          <p:cNvSpPr>
            <a:spLocks noGrp="1"/>
          </p:cNvSpPr>
          <p:nvPr/>
        </p:nvSpPr>
        <p:spPr>
          <a:xfrm>
            <a:off x="866775" y="11399520"/>
            <a:ext cx="1283970" cy="414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8226"/>
                </a:solidFill>
                <a:latin typeface="微软雅黑"/>
                <a:ea typeface="微软雅黑"/>
                <a:cs typeface="微软雅黑"/>
              </a:rPr>
              <a:t>交接结果</a:t>
            </a:r>
            <a:endParaRPr sz="2250" b="1">
              <a:solidFill>
                <a:srgbClr val="DC82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供应商交期、到料、生产、质量与发货状态进入统一执行反馈"/>
          <p:cNvSpPr>
            <a:spLocks noGrp="1"/>
          </p:cNvSpPr>
          <p:nvPr/>
        </p:nvSpPr>
        <p:spPr>
          <a:xfrm>
            <a:off x="2857500" y="11409426"/>
            <a:ext cx="785164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供应商交期、到料、生产、质量与发货状态进入统一执行反馈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图中QC表示业务协同，不表示本季度重建完整质量管理系统。"/>
          <p:cNvSpPr>
            <a:spLocks noGrp="1"/>
          </p:cNvSpPr>
          <p:nvPr/>
        </p:nvSpPr>
        <p:spPr>
          <a:xfrm>
            <a:off x="609600" y="12430125"/>
            <a:ext cx="6904387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图中QC表示业务协同，不表示本季度重建完整质量管理系统。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path-6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0" name="08 / 10"/>
          <p:cNvSpPr>
            <a:spLocks noGrp="1"/>
          </p:cNvSpPr>
          <p:nvPr/>
        </p:nvSpPr>
        <p:spPr>
          <a:xfrm>
            <a:off x="22943784" y="13307568"/>
            <a:ext cx="83061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08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MES协同｜接入已有生产执行能力"/>
          <p:cNvSpPr>
            <a:spLocks noGrp="1"/>
          </p:cNvSpPr>
          <p:nvPr/>
        </p:nvSpPr>
        <p:spPr>
          <a:xfrm>
            <a:off x="904875" y="533781"/>
            <a:ext cx="7471350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MES协同｜接入已有生产执行能力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P1已有系统协同；订单关联、进度同步与延期预警，同时推进推广和问题治理"/>
          <p:cNvSpPr>
            <a:spLocks noGrp="1"/>
          </p:cNvSpPr>
          <p:nvPr/>
        </p:nvSpPr>
        <p:spPr>
          <a:xfrm>
            <a:off x="609600" y="1570863"/>
            <a:ext cx="9200567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P1已有系统协同；订单关联、进度同步与延期预警，同时推进推广和问题治理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业务动作"/>
          <p:cNvSpPr>
            <a:spLocks noGrp="1"/>
          </p:cNvSpPr>
          <p:nvPr/>
        </p:nvSpPr>
        <p:spPr>
          <a:xfrm>
            <a:off x="609600" y="2378583"/>
            <a:ext cx="1363218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业务动作</a:t>
            </a:r>
            <a:endParaRPr sz="240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-9"/>
          <p:cNvSpPr>
            <a:spLocks noGrp="1"/>
          </p:cNvSpPr>
          <p:nvPr/>
        </p:nvSpPr>
        <p:spPr>
          <a:xfrm>
            <a:off x="6096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54963C"/>
            </a:solidFill>
            <a:prstDash val="solid"/>
          </a:ln>
        </p:spPr>
      </p:sp>
      <p:sp>
        <p:nvSpPr>
          <p:cNvPr id="11" name="rect-10"/>
          <p:cNvSpPr>
            <a:spLocks noGrp="1"/>
          </p:cNvSpPr>
          <p:nvPr/>
        </p:nvSpPr>
        <p:spPr>
          <a:xfrm>
            <a:off x="609600" y="3314700"/>
            <a:ext cx="47625" cy="1638300"/>
          </a:xfrm>
          <a:prstGeom prst="rect">
            <a:avLst/>
          </a:prstGeom>
          <a:solidFill>
            <a:srgbClr val="54963C"/>
          </a:solidFill>
          <a:ln w="19050">
            <a:noFill/>
            <a:prstDash val="solid"/>
          </a:ln>
        </p:spPr>
      </p:sp>
      <p:sp>
        <p:nvSpPr>
          <p:cNvPr id="12" name="关联SCM订单"/>
          <p:cNvSpPr>
            <a:spLocks noGrp="1"/>
          </p:cNvSpPr>
          <p:nvPr/>
        </p:nvSpPr>
        <p:spPr>
          <a:xfrm>
            <a:off x="1655999" y="3416046"/>
            <a:ext cx="2212503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关联SCM订单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明确生产任务来源"/>
          <p:cNvSpPr>
            <a:spLocks noGrp="1"/>
          </p:cNvSpPr>
          <p:nvPr/>
        </p:nvSpPr>
        <p:spPr>
          <a:xfrm>
            <a:off x="1644777" y="3961638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明确生产任务来源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建立订单与SKU对应"/>
          <p:cNvSpPr>
            <a:spLocks noGrp="1"/>
          </p:cNvSpPr>
          <p:nvPr/>
        </p:nvSpPr>
        <p:spPr>
          <a:xfrm>
            <a:off x="1506170" y="4333113"/>
            <a:ext cx="2512159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建立订单与SKU对应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1"/>
          <p:cNvSpPr>
            <a:spLocks noGrp="1"/>
          </p:cNvSpPr>
          <p:nvPr/>
        </p:nvSpPr>
        <p:spPr>
          <a:xfrm>
            <a:off x="609600" y="2829306"/>
            <a:ext cx="342900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path-15"/>
          <p:cNvSpPr>
            <a:spLocks noGrp="1"/>
          </p:cNvSpPr>
          <p:nvPr/>
        </p:nvSpPr>
        <p:spPr>
          <a:xfrm>
            <a:off x="491490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17" name="arrowhead-15"/>
          <p:cNvSpPr>
            <a:spLocks noGrp="1"/>
          </p:cNvSpPr>
          <p:nvPr/>
        </p:nvSpPr>
        <p:spPr>
          <a:xfrm>
            <a:off x="507682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4963C"/>
          </a:solidFill>
          <a:ln w="0">
            <a:noFill/>
          </a:ln>
        </p:spPr>
      </p:sp>
      <p:sp>
        <p:nvSpPr>
          <p:cNvPr id="18" name="rect-16"/>
          <p:cNvSpPr>
            <a:spLocks noGrp="1"/>
          </p:cNvSpPr>
          <p:nvPr/>
        </p:nvSpPr>
        <p:spPr>
          <a:xfrm>
            <a:off x="530542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54963C"/>
            </a:solidFill>
            <a:prstDash val="solid"/>
          </a:ln>
        </p:spPr>
      </p:sp>
      <p:sp>
        <p:nvSpPr>
          <p:cNvPr id="19" name="rect-17"/>
          <p:cNvSpPr>
            <a:spLocks noGrp="1"/>
          </p:cNvSpPr>
          <p:nvPr/>
        </p:nvSpPr>
        <p:spPr>
          <a:xfrm>
            <a:off x="5305425" y="3314700"/>
            <a:ext cx="47625" cy="1638300"/>
          </a:xfrm>
          <a:prstGeom prst="rect">
            <a:avLst/>
          </a:prstGeom>
          <a:solidFill>
            <a:srgbClr val="54963C"/>
          </a:solidFill>
          <a:ln w="19050">
            <a:noFill/>
            <a:prstDash val="solid"/>
          </a:ln>
        </p:spPr>
      </p:sp>
      <p:sp>
        <p:nvSpPr>
          <p:cNvPr id="20" name="下达任务与开工"/>
          <p:cNvSpPr>
            <a:spLocks noGrp="1"/>
          </p:cNvSpPr>
          <p:nvPr/>
        </p:nvSpPr>
        <p:spPr>
          <a:xfrm>
            <a:off x="6231636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下达任务与开工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工厂承接生产要求"/>
          <p:cNvSpPr>
            <a:spLocks noGrp="1"/>
          </p:cNvSpPr>
          <p:nvPr/>
        </p:nvSpPr>
        <p:spPr>
          <a:xfrm>
            <a:off x="6340602" y="3961638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工厂承接生产要求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结合物料准备与齐料"/>
          <p:cNvSpPr>
            <a:spLocks noGrp="1"/>
          </p:cNvSpPr>
          <p:nvPr/>
        </p:nvSpPr>
        <p:spPr>
          <a:xfrm>
            <a:off x="6206871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结合物料准备与齐料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02"/>
          <p:cNvSpPr>
            <a:spLocks noGrp="1"/>
          </p:cNvSpPr>
          <p:nvPr/>
        </p:nvSpPr>
        <p:spPr>
          <a:xfrm>
            <a:off x="530542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2"/>
          <p:cNvSpPr>
            <a:spLocks noGrp="1"/>
          </p:cNvSpPr>
          <p:nvPr/>
        </p:nvSpPr>
        <p:spPr>
          <a:xfrm>
            <a:off x="961072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25" name="arrowhead-22"/>
          <p:cNvSpPr>
            <a:spLocks noGrp="1"/>
          </p:cNvSpPr>
          <p:nvPr/>
        </p:nvSpPr>
        <p:spPr>
          <a:xfrm>
            <a:off x="977265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4963C"/>
          </a:solidFill>
          <a:ln w="0">
            <a:noFill/>
          </a:ln>
        </p:spPr>
      </p:sp>
      <p:sp>
        <p:nvSpPr>
          <p:cNvPr id="26" name="rect-23"/>
          <p:cNvSpPr>
            <a:spLocks noGrp="1"/>
          </p:cNvSpPr>
          <p:nvPr/>
        </p:nvSpPr>
        <p:spPr>
          <a:xfrm>
            <a:off x="1000125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54963C"/>
            </a:solidFill>
            <a:prstDash val="solid"/>
          </a:ln>
        </p:spPr>
      </p:sp>
      <p:sp>
        <p:nvSpPr>
          <p:cNvPr id="27" name="rect-24"/>
          <p:cNvSpPr>
            <a:spLocks noGrp="1"/>
          </p:cNvSpPr>
          <p:nvPr/>
        </p:nvSpPr>
        <p:spPr>
          <a:xfrm>
            <a:off x="10001250" y="3314700"/>
            <a:ext cx="47625" cy="1638300"/>
          </a:xfrm>
          <a:prstGeom prst="rect">
            <a:avLst/>
          </a:prstGeom>
          <a:solidFill>
            <a:srgbClr val="54963C"/>
          </a:solidFill>
          <a:ln w="19050">
            <a:noFill/>
            <a:prstDash val="solid"/>
          </a:ln>
        </p:spPr>
      </p:sp>
      <p:sp>
        <p:nvSpPr>
          <p:cNvPr id="28" name="生产执行与扫菲"/>
          <p:cNvSpPr>
            <a:spLocks noGrp="1"/>
          </p:cNvSpPr>
          <p:nvPr/>
        </p:nvSpPr>
        <p:spPr>
          <a:xfrm>
            <a:off x="10927461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生产执行与扫菲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采集工序及生产进度"/>
          <p:cNvSpPr>
            <a:spLocks noGrp="1"/>
          </p:cNvSpPr>
          <p:nvPr/>
        </p:nvSpPr>
        <p:spPr>
          <a:xfrm>
            <a:off x="10902696" y="3961638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采集工序及生产进度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保留生产异常"/>
          <p:cNvSpPr>
            <a:spLocks noGrp="1"/>
          </p:cNvSpPr>
          <p:nvPr/>
        </p:nvSpPr>
        <p:spPr>
          <a:xfrm>
            <a:off x="11303889" y="4333113"/>
            <a:ext cx="170002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保留生产异常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"/>
          <p:cNvSpPr>
            <a:spLocks noGrp="1"/>
          </p:cNvSpPr>
          <p:nvPr/>
        </p:nvSpPr>
        <p:spPr>
          <a:xfrm>
            <a:off x="1000125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29"/>
          <p:cNvSpPr>
            <a:spLocks noGrp="1"/>
          </p:cNvSpPr>
          <p:nvPr/>
        </p:nvSpPr>
        <p:spPr>
          <a:xfrm>
            <a:off x="1430655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33" name="arrowhead-29"/>
          <p:cNvSpPr>
            <a:spLocks noGrp="1"/>
          </p:cNvSpPr>
          <p:nvPr/>
        </p:nvSpPr>
        <p:spPr>
          <a:xfrm>
            <a:off x="1446847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4963C"/>
          </a:solidFill>
          <a:ln w="0">
            <a:noFill/>
          </a:ln>
        </p:spPr>
      </p:sp>
      <p:sp>
        <p:nvSpPr>
          <p:cNvPr id="34" name="rect-30"/>
          <p:cNvSpPr>
            <a:spLocks noGrp="1"/>
          </p:cNvSpPr>
          <p:nvPr/>
        </p:nvSpPr>
        <p:spPr>
          <a:xfrm>
            <a:off x="1469707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54963C"/>
            </a:solidFill>
            <a:prstDash val="solid"/>
          </a:ln>
        </p:spPr>
      </p:sp>
      <p:sp>
        <p:nvSpPr>
          <p:cNvPr id="35" name="rect-31"/>
          <p:cNvSpPr>
            <a:spLocks noGrp="1"/>
          </p:cNvSpPr>
          <p:nvPr/>
        </p:nvSpPr>
        <p:spPr>
          <a:xfrm>
            <a:off x="14697075" y="3314700"/>
            <a:ext cx="47625" cy="1638300"/>
          </a:xfrm>
          <a:prstGeom prst="rect">
            <a:avLst/>
          </a:prstGeom>
          <a:solidFill>
            <a:srgbClr val="54963C"/>
          </a:solidFill>
          <a:ln w="19050">
            <a:noFill/>
            <a:prstDash val="solid"/>
          </a:ln>
        </p:spPr>
      </p:sp>
      <p:sp>
        <p:nvSpPr>
          <p:cNvPr id="36" name="进度与延期反馈"/>
          <p:cNvSpPr>
            <a:spLocks noGrp="1"/>
          </p:cNvSpPr>
          <p:nvPr/>
        </p:nvSpPr>
        <p:spPr>
          <a:xfrm>
            <a:off x="15623286" y="3416046"/>
            <a:ext cx="2452878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进度与延期反馈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对比计划与实际进度"/>
          <p:cNvSpPr>
            <a:spLocks noGrp="1"/>
          </p:cNvSpPr>
          <p:nvPr/>
        </p:nvSpPr>
        <p:spPr>
          <a:xfrm>
            <a:off x="15598521" y="3961638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对比计划与实际进度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协同处理延期风险"/>
          <p:cNvSpPr>
            <a:spLocks noGrp="1"/>
          </p:cNvSpPr>
          <p:nvPr/>
        </p:nvSpPr>
        <p:spPr>
          <a:xfrm>
            <a:off x="15732252" y="4333113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协同处理延期风险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04"/>
          <p:cNvSpPr>
            <a:spLocks noGrp="1"/>
          </p:cNvSpPr>
          <p:nvPr/>
        </p:nvSpPr>
        <p:spPr>
          <a:xfrm>
            <a:off x="1469707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path-36"/>
          <p:cNvSpPr>
            <a:spLocks noGrp="1"/>
          </p:cNvSpPr>
          <p:nvPr/>
        </p:nvSpPr>
        <p:spPr>
          <a:xfrm>
            <a:off x="1900237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41" name="arrowhead-36"/>
          <p:cNvSpPr>
            <a:spLocks noGrp="1"/>
          </p:cNvSpPr>
          <p:nvPr/>
        </p:nvSpPr>
        <p:spPr>
          <a:xfrm>
            <a:off x="1916430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4963C"/>
          </a:solidFill>
          <a:ln w="0">
            <a:noFill/>
          </a:ln>
        </p:spPr>
      </p:sp>
      <p:sp>
        <p:nvSpPr>
          <p:cNvPr id="42" name="rect-37"/>
          <p:cNvSpPr>
            <a:spLocks noGrp="1"/>
          </p:cNvSpPr>
          <p:nvPr/>
        </p:nvSpPr>
        <p:spPr>
          <a:xfrm>
            <a:off x="193929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54963C"/>
            </a:solidFill>
            <a:prstDash val="solid"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9392900" y="3314700"/>
            <a:ext cx="47625" cy="1638300"/>
          </a:xfrm>
          <a:prstGeom prst="rect">
            <a:avLst/>
          </a:prstGeom>
          <a:solidFill>
            <a:srgbClr val="54963C"/>
          </a:solidFill>
          <a:ln w="19050">
            <a:noFill/>
            <a:prstDash val="solid"/>
          </a:ln>
        </p:spPr>
      </p:sp>
      <p:sp>
        <p:nvSpPr>
          <p:cNvPr id="44" name="完工结果回传"/>
          <p:cNvSpPr>
            <a:spLocks noGrp="1"/>
          </p:cNvSpPr>
          <p:nvPr/>
        </p:nvSpPr>
        <p:spPr>
          <a:xfrm>
            <a:off x="2048751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完工结果回传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完工数量与时间"/>
          <p:cNvSpPr>
            <a:spLocks noGrp="1"/>
          </p:cNvSpPr>
          <p:nvPr/>
        </p:nvSpPr>
        <p:spPr>
          <a:xfrm>
            <a:off x="20561808" y="3961638"/>
            <a:ext cx="1967484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完工数量与时间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连接QC、发货和计划反馈"/>
          <p:cNvSpPr>
            <a:spLocks noGrp="1"/>
          </p:cNvSpPr>
          <p:nvPr/>
        </p:nvSpPr>
        <p:spPr>
          <a:xfrm>
            <a:off x="19960638" y="4333113"/>
            <a:ext cx="3169825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连接QC、发货和计划反馈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05"/>
          <p:cNvSpPr>
            <a:spLocks noGrp="1"/>
          </p:cNvSpPr>
          <p:nvPr/>
        </p:nvSpPr>
        <p:spPr>
          <a:xfrm>
            <a:off x="1939290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3"/>
          <p:cNvSpPr>
            <a:spLocks noGrp="1"/>
          </p:cNvSpPr>
          <p:nvPr/>
        </p:nvSpPr>
        <p:spPr>
          <a:xfrm>
            <a:off x="2762250" y="4953000"/>
            <a:ext cx="18783300" cy="1085850"/>
          </a:xfrm>
          <a:custGeom>
            <a:avLst/>
            <a:gdLst/>
            <a:ahLst/>
            <a:cxnLst/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78E99"/>
            </a:solidFill>
            <a:prstDash val="solid"/>
          </a:ln>
        </p:spPr>
      </p:sp>
      <p:sp>
        <p:nvSpPr>
          <p:cNvPr id="49" name="arrowhead-43"/>
          <p:cNvSpPr>
            <a:spLocks noGrp="1"/>
          </p:cNvSpPr>
          <p:nvPr/>
        </p:nvSpPr>
        <p:spPr>
          <a:xfrm>
            <a:off x="2609850" y="4953000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50" name="rect-44"/>
          <p:cNvSpPr>
            <a:spLocks noGrp="1"/>
          </p:cNvSpPr>
          <p:nvPr/>
        </p:nvSpPr>
        <p:spPr>
          <a:xfrm>
            <a:off x="9530715" y="5734050"/>
            <a:ext cx="5132070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1" name="生产延期与完工差异 → 采购与PMC协调交期"/>
          <p:cNvSpPr>
            <a:spLocks noGrp="1"/>
          </p:cNvSpPr>
          <p:nvPr/>
        </p:nvSpPr>
        <p:spPr>
          <a:xfrm>
            <a:off x="9480375" y="5868000"/>
            <a:ext cx="5232749" cy="3590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生产延期与完工差异 → 采购与PMC协调交期</a:t>
            </a:r>
            <a:endParaRPr sz="19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path-46"/>
          <p:cNvSpPr>
            <a:spLocks noGrp="1"/>
          </p:cNvSpPr>
          <p:nvPr/>
        </p:nvSpPr>
        <p:spPr>
          <a:xfrm>
            <a:off x="609600" y="7105650"/>
            <a:ext cx="10934700" cy="476"/>
          </a:xfrm>
          <a:custGeom>
            <a:avLst/>
            <a:gdLst/>
            <a:ahLst/>
            <a:cxnLst/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53" name="path-47"/>
          <p:cNvSpPr>
            <a:spLocks noGrp="1"/>
          </p:cNvSpPr>
          <p:nvPr/>
        </p:nvSpPr>
        <p:spPr>
          <a:xfrm>
            <a:off x="12611100" y="7105650"/>
            <a:ext cx="11163300" cy="476"/>
          </a:xfrm>
          <a:custGeom>
            <a:avLst/>
            <a:gdLst/>
            <a:ahLst/>
            <a:cxnLst/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28575">
            <a:solidFill>
              <a:srgbClr val="54963C"/>
            </a:solidFill>
            <a:prstDash val="solid"/>
          </a:ln>
        </p:spPr>
      </p:sp>
      <p:sp>
        <p:nvSpPr>
          <p:cNvPr id="54" name="Q4建设重点"/>
          <p:cNvSpPr>
            <a:spLocks noGrp="1"/>
          </p:cNvSpPr>
          <p:nvPr/>
        </p:nvSpPr>
        <p:spPr>
          <a:xfrm>
            <a:off x="609600" y="7283577"/>
            <a:ext cx="1852327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Q4建设重点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接口需落到执行口径"/>
          <p:cNvSpPr>
            <a:spLocks noGrp="1"/>
          </p:cNvSpPr>
          <p:nvPr/>
        </p:nvSpPr>
        <p:spPr>
          <a:xfrm>
            <a:off x="12611100" y="7283577"/>
            <a:ext cx="3037332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接口需落到执行口径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复用已有MES，推进工厂使用与培训"/>
          <p:cNvSpPr>
            <a:spLocks noGrp="1"/>
          </p:cNvSpPr>
          <p:nvPr/>
        </p:nvSpPr>
        <p:spPr>
          <a:xfrm>
            <a:off x="609600" y="7942326"/>
            <a:ext cx="473512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复用已有MES，推进工厂使用与培训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订单接入及与SCM的业务关联"/>
          <p:cNvSpPr>
            <a:spLocks noGrp="1"/>
          </p:cNvSpPr>
          <p:nvPr/>
        </p:nvSpPr>
        <p:spPr>
          <a:xfrm>
            <a:off x="609600" y="8532876"/>
            <a:ext cx="389946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订单接入及与SCM的业务关联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生产开始、进度、延期和完工状态"/>
          <p:cNvSpPr>
            <a:spLocks noGrp="1"/>
          </p:cNvSpPr>
          <p:nvPr/>
        </p:nvSpPr>
        <p:spPr>
          <a:xfrm>
            <a:off x="609600" y="912342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生产开始、进度、延期和完工状态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修复现场问题，形成持续治理清单"/>
          <p:cNvSpPr>
            <a:spLocks noGrp="1"/>
          </p:cNvSpPr>
          <p:nvPr/>
        </p:nvSpPr>
        <p:spPr>
          <a:xfrm>
            <a:off x="609600" y="9713976"/>
            <a:ext cx="440436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修复现场问题，形成持续治理清单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生产任务来源及订单关联标识"/>
          <p:cNvSpPr>
            <a:spLocks noGrp="1"/>
          </p:cNvSpPr>
          <p:nvPr/>
        </p:nvSpPr>
        <p:spPr>
          <a:xfrm>
            <a:off x="12611100" y="7942326"/>
            <a:ext cx="382981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生产任务来源及订单关联标识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进度、完工和异常字段定义"/>
          <p:cNvSpPr>
            <a:spLocks noGrp="1"/>
          </p:cNvSpPr>
          <p:nvPr/>
        </p:nvSpPr>
        <p:spPr>
          <a:xfrm>
            <a:off x="12611100" y="8532876"/>
            <a:ext cx="3542538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进度、完工和异常字段定义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回传频率、责任人及异常补报"/>
          <p:cNvSpPr>
            <a:spLocks noGrp="1"/>
          </p:cNvSpPr>
          <p:nvPr/>
        </p:nvSpPr>
        <p:spPr>
          <a:xfrm>
            <a:off x="12611100" y="9123426"/>
            <a:ext cx="382981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回传频率、责任人及异常补报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QC结果与生产返工节点如何联动"/>
          <p:cNvSpPr>
            <a:spLocks noGrp="1"/>
          </p:cNvSpPr>
          <p:nvPr/>
        </p:nvSpPr>
        <p:spPr>
          <a:xfrm>
            <a:off x="12611100" y="9713976"/>
            <a:ext cx="4259330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QC结果与生产返工节点如何联动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ect-58"/>
          <p:cNvSpPr>
            <a:spLocks noGrp="1"/>
          </p:cNvSpPr>
          <p:nvPr/>
        </p:nvSpPr>
        <p:spPr>
          <a:xfrm>
            <a:off x="609600" y="11096625"/>
            <a:ext cx="23164800" cy="95250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65" name="交接结果"/>
          <p:cNvSpPr>
            <a:spLocks noGrp="1"/>
          </p:cNvSpPr>
          <p:nvPr/>
        </p:nvSpPr>
        <p:spPr>
          <a:xfrm>
            <a:off x="866775" y="11399520"/>
            <a:ext cx="1283970" cy="414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4963C"/>
                </a:solidFill>
                <a:latin typeface="微软雅黑"/>
                <a:ea typeface="微软雅黑"/>
                <a:cs typeface="微软雅黑"/>
              </a:rPr>
              <a:t>交接结果</a:t>
            </a:r>
            <a:endParaRPr sz="2250" b="1">
              <a:solidFill>
                <a:srgbClr val="54963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可追溯的生产进度、延期及完工数据，反馈SCM与PMC"/>
          <p:cNvSpPr>
            <a:spLocks noGrp="1"/>
          </p:cNvSpPr>
          <p:nvPr/>
        </p:nvSpPr>
        <p:spPr>
          <a:xfrm>
            <a:off x="2857500" y="11409426"/>
            <a:ext cx="715544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可追溯的生产进度、延期及完工数据，反馈SCM与PMC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MES属于已有能力协同，不画成必须等待PMC / MRP完工后才启动的重建项目。"/>
          <p:cNvSpPr>
            <a:spLocks noGrp="1"/>
          </p:cNvSpPr>
          <p:nvPr/>
        </p:nvSpPr>
        <p:spPr>
          <a:xfrm>
            <a:off x="609600" y="12430125"/>
            <a:ext cx="8953536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MES属于已有能力协同，不必等待PMC / MRP完工后才启动的重建项目。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path-6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0" name="09 / 10"/>
          <p:cNvSpPr>
            <a:spLocks noGrp="1"/>
          </p:cNvSpPr>
          <p:nvPr/>
        </p:nvSpPr>
        <p:spPr>
          <a:xfrm>
            <a:off x="22943784" y="13307568"/>
            <a:ext cx="830616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09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白色画布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-1"/>
          <p:cNvSpPr>
            <a:spLocks noGrp="1"/>
          </p:cNvSpPr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3" name="rect-2"/>
          <p:cNvSpPr>
            <a:spLocks noGrp="1"/>
          </p:cNvSpPr>
          <p:nvPr/>
        </p:nvSpPr>
        <p:spPr>
          <a:xfrm>
            <a:off x="609600" y="542925"/>
            <a:ext cx="85725" cy="609600"/>
          </a:xfrm>
          <a:prstGeom prst="rect">
            <a:avLst/>
          </a:prstGeom>
          <a:solidFill>
            <a:srgbClr val="008DD5"/>
          </a:solidFill>
          <a:ln w="19050">
            <a:noFill/>
            <a:prstDash val="solid"/>
          </a:ln>
        </p:spPr>
      </p:sp>
      <p:sp>
        <p:nvSpPr>
          <p:cNvPr id="4" name="库存与执行回流｜进入下一轮计划"/>
          <p:cNvSpPr>
            <a:spLocks noGrp="1"/>
          </p:cNvSpPr>
          <p:nvPr/>
        </p:nvSpPr>
        <p:spPr>
          <a:xfrm>
            <a:off x="904875" y="533781"/>
            <a:ext cx="7376160" cy="676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库存与执行回流｜进入下一轮计划</a:t>
            </a:r>
            <a:endParaRPr sz="3675" b="1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ath-5"/>
          <p:cNvSpPr>
            <a:spLocks noGrp="1"/>
          </p:cNvSpPr>
          <p:nvPr/>
        </p:nvSpPr>
        <p:spPr>
          <a:xfrm>
            <a:off x="609600" y="1371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28575">
            <a:solidFill>
              <a:srgbClr val="008DD5"/>
            </a:solidFill>
            <a:prstDash val="solid"/>
          </a:ln>
        </p:spPr>
      </p:sp>
      <p:sp>
        <p:nvSpPr>
          <p:cNvPr id="7" name="结果回流是滚动计划体系的组成部分；库存事实和清洗由来源系统负责"/>
          <p:cNvSpPr>
            <a:spLocks noGrp="1"/>
          </p:cNvSpPr>
          <p:nvPr/>
        </p:nvSpPr>
        <p:spPr>
          <a:xfrm>
            <a:off x="609600" y="1570863"/>
            <a:ext cx="838657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结果回流是滚动计划体系的组成部分；库存事实和清洗由来源系统负责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业务动作"/>
          <p:cNvSpPr>
            <a:spLocks noGrp="1"/>
          </p:cNvSpPr>
          <p:nvPr/>
        </p:nvSpPr>
        <p:spPr>
          <a:xfrm>
            <a:off x="609600" y="2378583"/>
            <a:ext cx="1363218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业务动作</a:t>
            </a:r>
            <a:endParaRPr sz="240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-9"/>
          <p:cNvSpPr>
            <a:spLocks noGrp="1"/>
          </p:cNvSpPr>
          <p:nvPr/>
        </p:nvSpPr>
        <p:spPr>
          <a:xfrm>
            <a:off x="6096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78E99"/>
            </a:solidFill>
            <a:prstDash val="solid"/>
          </a:ln>
        </p:spPr>
      </p:sp>
      <p:sp>
        <p:nvSpPr>
          <p:cNvPr id="11" name="rect-10"/>
          <p:cNvSpPr>
            <a:spLocks noGrp="1"/>
          </p:cNvSpPr>
          <p:nvPr/>
        </p:nvSpPr>
        <p:spPr>
          <a:xfrm>
            <a:off x="609600" y="3314700"/>
            <a:ext cx="47625" cy="1638300"/>
          </a:xfrm>
          <a:prstGeom prst="rect">
            <a:avLst/>
          </a:prstGeom>
          <a:solidFill>
            <a:srgbClr val="078E99"/>
          </a:solidFill>
          <a:ln w="19050">
            <a:noFill/>
            <a:prstDash val="solid"/>
          </a:ln>
        </p:spPr>
      </p:sp>
      <p:sp>
        <p:nvSpPr>
          <p:cNvPr id="12" name="收货与入库"/>
          <p:cNvSpPr>
            <a:spLocks noGrp="1"/>
          </p:cNvSpPr>
          <p:nvPr/>
        </p:nvSpPr>
        <p:spPr>
          <a:xfrm>
            <a:off x="1872615" y="3416046"/>
            <a:ext cx="1779270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收货与入库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按发货与订单核对"/>
          <p:cNvSpPr>
            <a:spLocks noGrp="1"/>
          </p:cNvSpPr>
          <p:nvPr/>
        </p:nvSpPr>
        <p:spPr>
          <a:xfrm>
            <a:off x="1644777" y="3961638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按发货与订单核对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质检、收货及入库结果"/>
          <p:cNvSpPr>
            <a:spLocks noGrp="1"/>
          </p:cNvSpPr>
          <p:nvPr/>
        </p:nvSpPr>
        <p:spPr>
          <a:xfrm>
            <a:off x="1377315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质检、收货及入库结果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1"/>
          <p:cNvSpPr>
            <a:spLocks noGrp="1"/>
          </p:cNvSpPr>
          <p:nvPr/>
        </p:nvSpPr>
        <p:spPr>
          <a:xfrm>
            <a:off x="609600" y="2829306"/>
            <a:ext cx="342900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path-15"/>
          <p:cNvSpPr>
            <a:spLocks noGrp="1"/>
          </p:cNvSpPr>
          <p:nvPr/>
        </p:nvSpPr>
        <p:spPr>
          <a:xfrm>
            <a:off x="491490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78E99"/>
            </a:solidFill>
            <a:prstDash val="solid"/>
          </a:ln>
        </p:spPr>
      </p:sp>
      <p:sp>
        <p:nvSpPr>
          <p:cNvPr id="17" name="arrowhead-15"/>
          <p:cNvSpPr>
            <a:spLocks noGrp="1"/>
          </p:cNvSpPr>
          <p:nvPr/>
        </p:nvSpPr>
        <p:spPr>
          <a:xfrm>
            <a:off x="507682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18" name="rect-16"/>
          <p:cNvSpPr>
            <a:spLocks noGrp="1"/>
          </p:cNvSpPr>
          <p:nvPr/>
        </p:nvSpPr>
        <p:spPr>
          <a:xfrm>
            <a:off x="530542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78E99"/>
            </a:solidFill>
            <a:prstDash val="solid"/>
          </a:ln>
        </p:spPr>
      </p:sp>
      <p:sp>
        <p:nvSpPr>
          <p:cNvPr id="19" name="rect-17"/>
          <p:cNvSpPr>
            <a:spLocks noGrp="1"/>
          </p:cNvSpPr>
          <p:nvPr/>
        </p:nvSpPr>
        <p:spPr>
          <a:xfrm>
            <a:off x="5305425" y="3314700"/>
            <a:ext cx="47625" cy="1638300"/>
          </a:xfrm>
          <a:prstGeom prst="rect">
            <a:avLst/>
          </a:prstGeom>
          <a:solidFill>
            <a:srgbClr val="078E99"/>
          </a:solidFill>
          <a:ln w="19050">
            <a:noFill/>
            <a:prstDash val="solid"/>
          </a:ln>
        </p:spPr>
      </p:sp>
      <p:sp>
        <p:nvSpPr>
          <p:cNvPr id="20" name="更新库存事实"/>
          <p:cNvSpPr>
            <a:spLocks noGrp="1"/>
          </p:cNvSpPr>
          <p:nvPr/>
        </p:nvSpPr>
        <p:spPr>
          <a:xfrm>
            <a:off x="6400038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更新库存事实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库存、在途与到货变化"/>
          <p:cNvSpPr>
            <a:spLocks noGrp="1"/>
          </p:cNvSpPr>
          <p:nvPr/>
        </p:nvSpPr>
        <p:spPr>
          <a:xfrm>
            <a:off x="6073140" y="3961638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库存、在途与到货变化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保留业务来源与时间"/>
          <p:cNvSpPr>
            <a:spLocks noGrp="1"/>
          </p:cNvSpPr>
          <p:nvPr/>
        </p:nvSpPr>
        <p:spPr>
          <a:xfrm>
            <a:off x="6206871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保留业务来源与时间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02"/>
          <p:cNvSpPr>
            <a:spLocks noGrp="1"/>
          </p:cNvSpPr>
          <p:nvPr/>
        </p:nvSpPr>
        <p:spPr>
          <a:xfrm>
            <a:off x="530542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path-22"/>
          <p:cNvSpPr>
            <a:spLocks noGrp="1"/>
          </p:cNvSpPr>
          <p:nvPr/>
        </p:nvSpPr>
        <p:spPr>
          <a:xfrm>
            <a:off x="961072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78E99"/>
            </a:solidFill>
            <a:prstDash val="solid"/>
          </a:ln>
        </p:spPr>
      </p:sp>
      <p:sp>
        <p:nvSpPr>
          <p:cNvPr id="25" name="arrowhead-22"/>
          <p:cNvSpPr>
            <a:spLocks noGrp="1"/>
          </p:cNvSpPr>
          <p:nvPr/>
        </p:nvSpPr>
        <p:spPr>
          <a:xfrm>
            <a:off x="977265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26" name="rect-23"/>
          <p:cNvSpPr>
            <a:spLocks noGrp="1"/>
          </p:cNvSpPr>
          <p:nvPr/>
        </p:nvSpPr>
        <p:spPr>
          <a:xfrm>
            <a:off x="1000125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78E99"/>
            </a:solidFill>
            <a:prstDash val="solid"/>
          </a:ln>
        </p:spPr>
      </p:sp>
      <p:sp>
        <p:nvSpPr>
          <p:cNvPr id="27" name="rect-24"/>
          <p:cNvSpPr>
            <a:spLocks noGrp="1"/>
          </p:cNvSpPr>
          <p:nvPr/>
        </p:nvSpPr>
        <p:spPr>
          <a:xfrm>
            <a:off x="10001250" y="3314700"/>
            <a:ext cx="47625" cy="1638300"/>
          </a:xfrm>
          <a:prstGeom prst="rect">
            <a:avLst/>
          </a:prstGeom>
          <a:solidFill>
            <a:srgbClr val="078E99"/>
          </a:solidFill>
          <a:ln w="19050">
            <a:noFill/>
            <a:prstDash val="solid"/>
          </a:ln>
        </p:spPr>
      </p:sp>
      <p:sp>
        <p:nvSpPr>
          <p:cNvPr id="28" name="汇集执行结果"/>
          <p:cNvSpPr>
            <a:spLocks noGrp="1"/>
          </p:cNvSpPr>
          <p:nvPr/>
        </p:nvSpPr>
        <p:spPr>
          <a:xfrm>
            <a:off x="11095863" y="3416046"/>
            <a:ext cx="2116074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汇集执行结果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销量、采购与供应商状态"/>
          <p:cNvSpPr>
            <a:spLocks noGrp="1"/>
          </p:cNvSpPr>
          <p:nvPr/>
        </p:nvSpPr>
        <p:spPr>
          <a:xfrm>
            <a:off x="10635234" y="3961638"/>
            <a:ext cx="3037332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销量、采购与供应商状态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生产、交期和质量结果"/>
          <p:cNvSpPr>
            <a:spLocks noGrp="1"/>
          </p:cNvSpPr>
          <p:nvPr/>
        </p:nvSpPr>
        <p:spPr>
          <a:xfrm>
            <a:off x="10768965" y="4333113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生产、交期和质量结果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"/>
          <p:cNvSpPr>
            <a:spLocks noGrp="1"/>
          </p:cNvSpPr>
          <p:nvPr/>
        </p:nvSpPr>
        <p:spPr>
          <a:xfrm>
            <a:off x="1000125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path-29"/>
          <p:cNvSpPr>
            <a:spLocks noGrp="1"/>
          </p:cNvSpPr>
          <p:nvPr/>
        </p:nvSpPr>
        <p:spPr>
          <a:xfrm>
            <a:off x="14306550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78E99"/>
            </a:solidFill>
            <a:prstDash val="solid"/>
          </a:ln>
        </p:spPr>
      </p:sp>
      <p:sp>
        <p:nvSpPr>
          <p:cNvPr id="33" name="arrowhead-29"/>
          <p:cNvSpPr>
            <a:spLocks noGrp="1"/>
          </p:cNvSpPr>
          <p:nvPr/>
        </p:nvSpPr>
        <p:spPr>
          <a:xfrm>
            <a:off x="14468475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34" name="rect-30"/>
          <p:cNvSpPr>
            <a:spLocks noGrp="1"/>
          </p:cNvSpPr>
          <p:nvPr/>
        </p:nvSpPr>
        <p:spPr>
          <a:xfrm>
            <a:off x="14697075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78E99"/>
            </a:solidFill>
            <a:prstDash val="solid"/>
          </a:ln>
        </p:spPr>
      </p:sp>
      <p:sp>
        <p:nvSpPr>
          <p:cNvPr id="35" name="rect-31"/>
          <p:cNvSpPr>
            <a:spLocks noGrp="1"/>
          </p:cNvSpPr>
          <p:nvPr/>
        </p:nvSpPr>
        <p:spPr>
          <a:xfrm>
            <a:off x="14697075" y="3314700"/>
            <a:ext cx="47625" cy="1638300"/>
          </a:xfrm>
          <a:prstGeom prst="rect">
            <a:avLst/>
          </a:prstGeom>
          <a:solidFill>
            <a:srgbClr val="078E99"/>
          </a:solidFill>
          <a:ln w="19050">
            <a:noFill/>
            <a:prstDash val="solid"/>
          </a:ln>
        </p:spPr>
      </p:sp>
      <p:sp>
        <p:nvSpPr>
          <p:cNvPr id="36" name="PMC校准偏差"/>
          <p:cNvSpPr>
            <a:spLocks noGrp="1"/>
          </p:cNvSpPr>
          <p:nvPr/>
        </p:nvSpPr>
        <p:spPr>
          <a:xfrm>
            <a:off x="15742777" y="3416046"/>
            <a:ext cx="2213896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PMC校准偏差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对比需求、库存与供给"/>
          <p:cNvSpPr>
            <a:spLocks noGrp="1"/>
          </p:cNvSpPr>
          <p:nvPr/>
        </p:nvSpPr>
        <p:spPr>
          <a:xfrm>
            <a:off x="15464790" y="3961638"/>
            <a:ext cx="2769870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对比需求、库存与供给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识别缺货、延期与数量差异"/>
          <p:cNvSpPr>
            <a:spLocks noGrp="1"/>
          </p:cNvSpPr>
          <p:nvPr/>
        </p:nvSpPr>
        <p:spPr>
          <a:xfrm>
            <a:off x="15197328" y="4333113"/>
            <a:ext cx="3304794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识别缺货、延期与数量差异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04"/>
          <p:cNvSpPr>
            <a:spLocks noGrp="1"/>
          </p:cNvSpPr>
          <p:nvPr/>
        </p:nvSpPr>
        <p:spPr>
          <a:xfrm>
            <a:off x="14697075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path-36"/>
          <p:cNvSpPr>
            <a:spLocks noGrp="1"/>
          </p:cNvSpPr>
          <p:nvPr/>
        </p:nvSpPr>
        <p:spPr>
          <a:xfrm>
            <a:off x="19002375" y="4133850"/>
            <a:ext cx="390525" cy="476"/>
          </a:xfrm>
          <a:custGeom>
            <a:avLst/>
            <a:gdLst/>
            <a:ahLst/>
            <a:cxnLst/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28575">
            <a:solidFill>
              <a:srgbClr val="078E99"/>
            </a:solidFill>
            <a:prstDash val="solid"/>
          </a:ln>
        </p:spPr>
      </p:sp>
      <p:sp>
        <p:nvSpPr>
          <p:cNvPr id="41" name="arrowhead-36"/>
          <p:cNvSpPr>
            <a:spLocks noGrp="1"/>
          </p:cNvSpPr>
          <p:nvPr/>
        </p:nvSpPr>
        <p:spPr>
          <a:xfrm>
            <a:off x="19164300" y="4019550"/>
            <a:ext cx="228600" cy="228600"/>
          </a:xfrm>
          <a:custGeom>
            <a:avLst/>
            <a:gdLst/>
            <a:ahLst/>
            <a:cxnLst/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42" name="rect-37"/>
          <p:cNvSpPr>
            <a:spLocks noGrp="1"/>
          </p:cNvSpPr>
          <p:nvPr/>
        </p:nvSpPr>
        <p:spPr>
          <a:xfrm>
            <a:off x="19392900" y="3314700"/>
            <a:ext cx="430530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78E99"/>
            </a:solidFill>
            <a:prstDash val="solid"/>
          </a:ln>
        </p:spPr>
      </p:sp>
      <p:sp>
        <p:nvSpPr>
          <p:cNvPr id="43" name="rect-38"/>
          <p:cNvSpPr>
            <a:spLocks noGrp="1"/>
          </p:cNvSpPr>
          <p:nvPr/>
        </p:nvSpPr>
        <p:spPr>
          <a:xfrm>
            <a:off x="19392900" y="3314700"/>
            <a:ext cx="47625" cy="1638300"/>
          </a:xfrm>
          <a:prstGeom prst="rect">
            <a:avLst/>
          </a:prstGeom>
          <a:solidFill>
            <a:srgbClr val="078E99"/>
          </a:solidFill>
          <a:ln w="19050">
            <a:noFill/>
            <a:prstDash val="solid"/>
          </a:ln>
        </p:spPr>
      </p:sp>
      <p:sp>
        <p:nvSpPr>
          <p:cNvPr id="44" name="下一轮预测与计划"/>
          <p:cNvSpPr>
            <a:spLocks noGrp="1"/>
          </p:cNvSpPr>
          <p:nvPr/>
        </p:nvSpPr>
        <p:spPr>
          <a:xfrm>
            <a:off x="20150709" y="3416046"/>
            <a:ext cx="2789682" cy="469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下一轮预测与计划</a:t>
            </a:r>
            <a:endParaRPr sz="2550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调整销售需求判断"/>
          <p:cNvSpPr>
            <a:spLocks noGrp="1"/>
          </p:cNvSpPr>
          <p:nvPr/>
        </p:nvSpPr>
        <p:spPr>
          <a:xfrm>
            <a:off x="20428077" y="3961638"/>
            <a:ext cx="2234946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调整销售需求判断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更新备货和采购需求"/>
          <p:cNvSpPr>
            <a:spLocks noGrp="1"/>
          </p:cNvSpPr>
          <p:nvPr/>
        </p:nvSpPr>
        <p:spPr>
          <a:xfrm>
            <a:off x="20294346" y="4333113"/>
            <a:ext cx="2502408" cy="3729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更新备货和采购需求</a:t>
            </a:r>
            <a:endParaRPr sz="202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05"/>
          <p:cNvSpPr>
            <a:spLocks noGrp="1"/>
          </p:cNvSpPr>
          <p:nvPr/>
        </p:nvSpPr>
        <p:spPr>
          <a:xfrm>
            <a:off x="19392900" y="2829306"/>
            <a:ext cx="380667" cy="331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path-43"/>
          <p:cNvSpPr>
            <a:spLocks noGrp="1"/>
          </p:cNvSpPr>
          <p:nvPr/>
        </p:nvSpPr>
        <p:spPr>
          <a:xfrm>
            <a:off x="2762250" y="4953000"/>
            <a:ext cx="18783300" cy="1085850"/>
          </a:xfrm>
          <a:custGeom>
            <a:avLst/>
            <a:gdLst/>
            <a:ahLst/>
            <a:cxnLst/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78E99"/>
            </a:solidFill>
            <a:prstDash val="solid"/>
          </a:ln>
        </p:spPr>
      </p:sp>
      <p:sp>
        <p:nvSpPr>
          <p:cNvPr id="49" name="arrowhead-43"/>
          <p:cNvSpPr>
            <a:spLocks noGrp="1"/>
          </p:cNvSpPr>
          <p:nvPr/>
        </p:nvSpPr>
        <p:spPr>
          <a:xfrm>
            <a:off x="2609850" y="4953000"/>
            <a:ext cx="304800" cy="304800"/>
          </a:xfrm>
          <a:custGeom>
            <a:avLst/>
            <a:gdLst/>
            <a:ahLst/>
            <a:cxnLst/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078E99"/>
          </a:solidFill>
          <a:ln w="0">
            <a:noFill/>
          </a:ln>
        </p:spPr>
      </p:sp>
      <p:sp>
        <p:nvSpPr>
          <p:cNvPr id="50" name="rect-44"/>
          <p:cNvSpPr>
            <a:spLocks noGrp="1"/>
          </p:cNvSpPr>
          <p:nvPr/>
        </p:nvSpPr>
        <p:spPr>
          <a:xfrm>
            <a:off x="8857107" y="5734050"/>
            <a:ext cx="6479286" cy="352425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</p:sp>
      <p:sp>
        <p:nvSpPr>
          <p:cNvPr id="51" name="下一轮计划 → 采购与执行 → 新的事实结果，再次循环"/>
          <p:cNvSpPr>
            <a:spLocks noGrp="1"/>
          </p:cNvSpPr>
          <p:nvPr/>
        </p:nvSpPr>
        <p:spPr>
          <a:xfrm>
            <a:off x="8915400" y="5832000"/>
            <a:ext cx="6338570" cy="3644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下一轮计划 → 采购与执行 → 新的事实结果，再次循环</a:t>
            </a:r>
            <a:endParaRPr sz="1950" b="0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path-46"/>
          <p:cNvSpPr>
            <a:spLocks noGrp="1"/>
          </p:cNvSpPr>
          <p:nvPr/>
        </p:nvSpPr>
        <p:spPr>
          <a:xfrm>
            <a:off x="609600" y="7105650"/>
            <a:ext cx="10934700" cy="476"/>
          </a:xfrm>
          <a:custGeom>
            <a:avLst/>
            <a:gdLst/>
            <a:ahLst/>
            <a:cxnLst/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28575">
            <a:solidFill>
              <a:srgbClr val="078E99"/>
            </a:solidFill>
            <a:prstDash val="solid"/>
          </a:ln>
        </p:spPr>
      </p:sp>
      <p:sp>
        <p:nvSpPr>
          <p:cNvPr id="53" name="path-47"/>
          <p:cNvSpPr>
            <a:spLocks noGrp="1"/>
          </p:cNvSpPr>
          <p:nvPr/>
        </p:nvSpPr>
        <p:spPr>
          <a:xfrm>
            <a:off x="12611100" y="7105650"/>
            <a:ext cx="11163300" cy="476"/>
          </a:xfrm>
          <a:custGeom>
            <a:avLst/>
            <a:gdLst/>
            <a:ahLst/>
            <a:cxnLst/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28575">
            <a:solidFill>
              <a:srgbClr val="078E99"/>
            </a:solidFill>
            <a:prstDash val="solid"/>
          </a:ln>
        </p:spPr>
      </p:sp>
      <p:sp>
        <p:nvSpPr>
          <p:cNvPr id="54" name="PMC需要消费的事实"/>
          <p:cNvSpPr>
            <a:spLocks noGrp="1"/>
          </p:cNvSpPr>
          <p:nvPr/>
        </p:nvSpPr>
        <p:spPr>
          <a:xfrm>
            <a:off x="609600" y="7283577"/>
            <a:ext cx="3132213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PMC需要消费的事实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数据责任与计划责任"/>
          <p:cNvSpPr>
            <a:spLocks noGrp="1"/>
          </p:cNvSpPr>
          <p:nvPr/>
        </p:nvSpPr>
        <p:spPr>
          <a:xfrm>
            <a:off x="12611100" y="7283577"/>
            <a:ext cx="3037332" cy="455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数据责任与计划责任</a:t>
            </a:r>
            <a:endParaRPr sz="24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南沙、工厂、海外仓及平台可用库存"/>
          <p:cNvSpPr>
            <a:spLocks noGrp="1"/>
          </p:cNvSpPr>
          <p:nvPr/>
        </p:nvSpPr>
        <p:spPr>
          <a:xfrm>
            <a:off x="609600" y="7942326"/>
            <a:ext cx="469163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南沙、工厂、海外仓及平台可用库存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采购在途、头程在途与预计到货"/>
          <p:cNvSpPr>
            <a:spLocks noGrp="1"/>
          </p:cNvSpPr>
          <p:nvPr/>
        </p:nvSpPr>
        <p:spPr>
          <a:xfrm>
            <a:off x="609600" y="8532876"/>
            <a:ext cx="411708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采购在途、头程在途与预计到货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供应商履约、生产进度、交期与质量"/>
          <p:cNvSpPr>
            <a:spLocks noGrp="1"/>
          </p:cNvSpPr>
          <p:nvPr/>
        </p:nvSpPr>
        <p:spPr>
          <a:xfrm>
            <a:off x="609600" y="9123426"/>
            <a:ext cx="469163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供应商履约、生产进度、交期与质量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实际销量及经营结果"/>
          <p:cNvSpPr>
            <a:spLocks noGrp="1"/>
          </p:cNvSpPr>
          <p:nvPr/>
        </p:nvSpPr>
        <p:spPr>
          <a:xfrm>
            <a:off x="609600" y="9713976"/>
            <a:ext cx="268071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实际销量及经营结果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领星、库存系统及数仓提供事实"/>
          <p:cNvSpPr>
            <a:spLocks noGrp="1"/>
          </p:cNvSpPr>
          <p:nvPr/>
        </p:nvSpPr>
        <p:spPr>
          <a:xfrm>
            <a:off x="12611100" y="7942326"/>
            <a:ext cx="411708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领星、库存系统及数仓提供事实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商品主数据负责身份与商品关系"/>
          <p:cNvSpPr>
            <a:spLocks noGrp="1"/>
          </p:cNvSpPr>
          <p:nvPr/>
        </p:nvSpPr>
        <p:spPr>
          <a:xfrm>
            <a:off x="12611100" y="8532876"/>
            <a:ext cx="411708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商品主数据负责身份与商品关系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PMC引用事实，形成计划判断和调整"/>
          <p:cNvSpPr>
            <a:spLocks noGrp="1"/>
          </p:cNvSpPr>
          <p:nvPr/>
        </p:nvSpPr>
        <p:spPr>
          <a:xfrm>
            <a:off x="12611100" y="9123426"/>
            <a:ext cx="4764072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PMC引用事实，形成计划判断和调整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原始销售、库存及映射清洗不放在PMC"/>
          <p:cNvSpPr>
            <a:spLocks noGrp="1"/>
          </p:cNvSpPr>
          <p:nvPr/>
        </p:nvSpPr>
        <p:spPr>
          <a:xfrm>
            <a:off x="12611100" y="9713976"/>
            <a:ext cx="5051346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C566B"/>
                </a:solidFill>
                <a:latin typeface="微软雅黑"/>
                <a:ea typeface="微软雅黑"/>
                <a:cs typeface="微软雅黑"/>
              </a:rPr>
              <a:t>原始销售、库存及映射清洗不放在PMC</a:t>
            </a:r>
            <a:endParaRPr sz="2175" b="0">
              <a:solidFill>
                <a:srgbClr val="3C56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ect-58"/>
          <p:cNvSpPr>
            <a:spLocks noGrp="1"/>
          </p:cNvSpPr>
          <p:nvPr/>
        </p:nvSpPr>
        <p:spPr>
          <a:xfrm>
            <a:off x="609600" y="11096625"/>
            <a:ext cx="23164800" cy="952500"/>
          </a:xfrm>
          <a:prstGeom prst="rect">
            <a:avLst/>
          </a:prstGeom>
          <a:solidFill>
            <a:srgbClr val="F3F8FB"/>
          </a:solidFill>
          <a:ln w="19050">
            <a:noFill/>
            <a:prstDash val="solid"/>
          </a:ln>
        </p:spPr>
      </p:sp>
      <p:sp>
        <p:nvSpPr>
          <p:cNvPr id="65" name="交接结果"/>
          <p:cNvSpPr>
            <a:spLocks noGrp="1"/>
          </p:cNvSpPr>
          <p:nvPr/>
        </p:nvSpPr>
        <p:spPr>
          <a:xfrm>
            <a:off x="866775" y="11399520"/>
            <a:ext cx="1283970" cy="414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78E99"/>
                </a:solidFill>
                <a:latin typeface="微软雅黑"/>
                <a:ea typeface="微软雅黑"/>
                <a:cs typeface="微软雅黑"/>
              </a:rPr>
              <a:t>交接结果</a:t>
            </a:r>
            <a:endParaRPr sz="2250" b="1">
              <a:solidFill>
                <a:srgbClr val="078E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实际结果持续进入下一轮预测、备货与采购计划"/>
          <p:cNvSpPr>
            <a:spLocks noGrp="1"/>
          </p:cNvSpPr>
          <p:nvPr/>
        </p:nvSpPr>
        <p:spPr>
          <a:xfrm>
            <a:off x="2857500" y="11409426"/>
            <a:ext cx="6128004" cy="400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84E"/>
                </a:solidFill>
                <a:latin typeface="微软雅黑"/>
                <a:ea typeface="微软雅黑"/>
                <a:cs typeface="微软雅黑"/>
              </a:rPr>
              <a:t>实际结果持续进入下一轮预测、备货与采购计划</a:t>
            </a:r>
            <a:endParaRPr sz="2175" b="1">
              <a:solidFill>
                <a:srgbClr val="1838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Q4不重建完整WMS、OMS、PMS；接口与库存口径按来源和业务责任落实。"/>
          <p:cNvSpPr>
            <a:spLocks noGrp="1"/>
          </p:cNvSpPr>
          <p:nvPr/>
        </p:nvSpPr>
        <p:spPr>
          <a:xfrm>
            <a:off x="609600" y="12430125"/>
            <a:ext cx="8576798" cy="3452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B7F90"/>
                </a:solidFill>
                <a:latin typeface="微软雅黑"/>
                <a:ea typeface="微软雅黑"/>
                <a:cs typeface="微软雅黑"/>
              </a:rPr>
              <a:t>Q4不重建完整WMS、OMS、PMS；接口与库存口径按来源和业务责任落实</a:t>
            </a:r>
            <a:endParaRPr sz="1875" b="0">
              <a:solidFill>
                <a:srgbClr val="6B7F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path-62"/>
          <p:cNvSpPr>
            <a:spLocks noGrp="1"/>
          </p:cNvSpPr>
          <p:nvPr/>
        </p:nvSpPr>
        <p:spPr>
          <a:xfrm>
            <a:off x="609600" y="13182600"/>
            <a:ext cx="23164800" cy="476"/>
          </a:xfrm>
          <a:custGeom>
            <a:avLst/>
            <a:gdLst/>
            <a:ahLst/>
            <a:cxnLst/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/>
          <a:ln w="12383">
            <a:solidFill>
              <a:srgbClr val="D5E1E9"/>
            </a:solidFill>
            <a:prstDash val="solid"/>
          </a:ln>
        </p:spPr>
      </p:sp>
      <p:sp>
        <p:nvSpPr>
          <p:cNvPr id="70" name="10 / 10"/>
          <p:cNvSpPr>
            <a:spLocks noGrp="1"/>
          </p:cNvSpPr>
          <p:nvPr/>
        </p:nvSpPr>
        <p:spPr>
          <a:xfrm>
            <a:off x="22985575" y="13307568"/>
            <a:ext cx="788825" cy="3038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8DD5"/>
                </a:solidFill>
                <a:latin typeface="微软雅黑"/>
                <a:ea typeface="微软雅黑"/>
                <a:cs typeface="微软雅黑"/>
              </a:rPr>
              <a:t>10 / 10</a:t>
            </a:r>
            <a:endParaRPr sz="1650" b="0">
              <a:solidFill>
                <a:srgbClr val="008DD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4395</Words>
  <Application>WPS 演示</Application>
  <PresentationFormat>Converted Presentation</PresentationFormat>
  <Paragraphs>830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方正雅意黑 GB18030L2</vt:lpstr>
      <vt:lpstr>微软雅黑</vt:lpstr>
      <vt:lpstr>Calibri</vt:lpstr>
      <vt:lpstr>Helvetica Neue</vt:lpstr>
      <vt:lpstr>汉仪书宋二KW</vt:lpstr>
      <vt:lpstr>宋体</vt:lpstr>
      <vt:lpstr>Arial Unicode MS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岩</cp:lastModifiedBy>
  <cp:revision>16</cp:revision>
  <dcterms:created xsi:type="dcterms:W3CDTF">2026-09-16T09:44:06Z</dcterms:created>
  <dcterms:modified xsi:type="dcterms:W3CDTF">2026-09-16T09:44:06Z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71860BD79DFF1434A049AA6AFC8B06CE_42</vt:lpwstr>
  </property>
</Properties>
</file>