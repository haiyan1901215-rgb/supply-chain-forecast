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6a0d8d1644b9d" /><Relationship Type="http://schemas.openxmlformats.org/officeDocument/2006/relationships/extended-properties" Target="/docProps/app.xml" Id="R69c7250a3cd44bbc" /><Relationship Type="http://schemas.openxmlformats.org/officeDocument/2006/relationships/officeDocument" Target="/ppt/presentation.xml" Id="R885d81486c4243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7055c0a4ca426a"/>
  </p:sldMasterIdLst>
  <p:notesMasterIdLst>
    <p:notesMasterId xmlns:r="http://schemas.openxmlformats.org/officeDocument/2006/relationships" r:id="Rae99363b02684466"/>
  </p:notesMasterIdLst>
  <p:sldIdLst>
    <p:sldId xmlns:r="http://schemas.openxmlformats.org/officeDocument/2006/relationships" id="256" r:id="R4a27d2ba78474467"/>
    <p:sldId xmlns:r="http://schemas.openxmlformats.org/officeDocument/2006/relationships" id="257" r:id="R6d7a0667f93c4f6f"/>
    <p:sldId xmlns:r="http://schemas.openxmlformats.org/officeDocument/2006/relationships" id="258" r:id="R84bec283f34e4415"/>
    <p:sldId xmlns:r="http://schemas.openxmlformats.org/officeDocument/2006/relationships" id="259" r:id="R6a06f392505241e9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8c663c22de439b" /><Relationship Type="http://schemas.openxmlformats.org/officeDocument/2006/relationships/slideMaster" Target="/ppt/slideMasters/slideMaster1.xml" Id="R567055c0a4ca426a" /><Relationship Type="http://schemas.openxmlformats.org/officeDocument/2006/relationships/notesMaster" Target="/ppt/notesMasters/notesMaster1.xml" Id="Rae99363b02684466" /><Relationship Type="http://schemas.openxmlformats.org/officeDocument/2006/relationships/presProps" Target="/ppt/presProps.xml" Id="R0ad3086a719d4ba0" /><Relationship Type="http://schemas.openxmlformats.org/officeDocument/2006/relationships/tableStyles" Target="/ppt/tableStyles.xml" Id="Rdfd4adba00eb4ca1" /><Relationship Type="http://schemas.openxmlformats.org/officeDocument/2006/relationships/slide" Target="/ppt/slides/slide1.xml" Id="R4a27d2ba78474467" /><Relationship Type="http://schemas.openxmlformats.org/officeDocument/2006/relationships/slide" Target="/ppt/slides/slide2.xml" Id="R6d7a0667f93c4f6f" /><Relationship Type="http://schemas.openxmlformats.org/officeDocument/2006/relationships/slide" Target="/ppt/slides/slide3.xml" Id="R84bec283f34e4415" /><Relationship Type="http://schemas.openxmlformats.org/officeDocument/2006/relationships/slide" Target="/ppt/slides/slide4.xml" Id="R6a06f392505241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4a7b73944043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3d531730cb45dd" /><Relationship Type="http://schemas.openxmlformats.org/officeDocument/2006/relationships/notesMaster" Target="/ppt/notesMasters/notesMaster1.xml" Id="R99702398e98140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a6ba804da94c6a" /><Relationship Type="http://schemas.openxmlformats.org/officeDocument/2006/relationships/notesMaster" Target="/ppt/notesMasters/notesMaster1.xml" Id="R6dc8c642594f48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f9cf2c24324d49" /><Relationship Type="http://schemas.openxmlformats.org/officeDocument/2006/relationships/notesMaster" Target="/ppt/notesMasters/notesMaster1.xml" Id="R1fa412f86ee849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c7de88a9f34a0f" /><Relationship Type="http://schemas.openxmlformats.org/officeDocument/2006/relationships/notesMaster" Target="/ppt/notesMasters/notesMaster1.xml" Id="Ra0c783569ebe42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Q4供应链系统建设里程碑</a:t>
            </a:r>
          </a:p>
          <a:p xmlns:a="http://schemas.openxmlformats.org/drawingml/2006/main">
            <a:r>
              <a:t>业务范围依据用户附件《Q4供应链系统建设.pptx》（/Users/yan/Documents/codex/供应链/Q4供应链系统建设汇报_V3.0/可编辑文件/Q4供应链系统建设.pptx）的PMC预测/备货、MRP物料需求、SCM采购/供应商执行、已有MES协同边界。新增门户与统一权限来自2026-09-17用户要求。所有里程碑日期、首批范围与资源分配均为本次建议，不是附件既定承诺。建议排期，按4名开发全职共享投入，复用既有认证、组织人员、SCM和MES能力，首批接入范围待评审确认。 节假日来源：https://big5.www.gov.cn/gate/big5/www.gov.cn/zhengce/zhengceku/202511/content_7047091.htm（2026-09-17核对）。9/25-27中秋，10/1-7国庆，10/10补班；9/28-30为3工作日，10/8-16为8工作日，10/19-12/31为54工作日。业务建设216人日可建议分为功能132、联调验收44、预留40，技术评审后锁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阶段安排与并行关系</a:t>
            </a:r>
          </a:p>
          <a:p xmlns:a="http://schemas.openxmlformats.org/drawingml/2006/main">
            <a:r>
              <a:t>业务范围依据用户附件《Q4供应链系统建设.pptx》（/Users/yan/Documents/codex/供应链/Q4供应链系统建设汇报_V3.0/可编辑文件/Q4供应链系统建设.pptx）的PMC预测/备货、MRP物料需求、SCM采购/供应商执行、已有MES协同边界。新增门户与统一权限来自2026-09-17用户要求。所有里程碑日期、首批范围与资源分配均为本次建议，不是附件既定承诺。建议排期，按4名开发全职共享投入，复用既有认证、组织人员、SCM和MES能力，首批接入范围待评审确认。 节假日来源：https://big5.www.gov.cn/gate/big5/www.gov.cn/zhengce/zhengceku/202511/content_7047091.htm（2026-09-17核对）。9/25-27中秋，10/1-7国庆，10/10补班；9/28-30为3工作日，10/8-16为8工作日，10/19-12/31为54工作日。业务建设216人日可建议分为功能132、联调验收44、预留40，技术评审后锁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各大节点的交付判定</a:t>
            </a:r>
          </a:p>
          <a:p xmlns:a="http://schemas.openxmlformats.org/drawingml/2006/main">
            <a:r>
              <a:t>业务范围依据用户附件《Q4供应链系统建设.pptx》（/Users/yan/Documents/codex/供应链/Q4供应链系统建设汇报_V3.0/可编辑文件/Q4供应链系统建设.pptx）的PMC预测/备货、MRP物料需求、SCM采购/供应商执行、已有MES协同边界。新增门户与统一权限来自2026-09-17用户要求。所有里程碑日期、首批范围与资源分配均为本次建议，不是附件既定承诺。建议排期，按4名开发全职共享投入，复用既有认证、组织人员、SCM和MES能力，首批接入范围待评审确认。 节假日来源：https://big5.www.gov.cn/gate/big5/www.gov.cn/zhengce/zhengceku/202511/content_7047091.htm（2026-09-17核对）。9/25-27中秋，10/1-7国庆，10/10补班；9/28-30为3工作日，10/8-16为8工作日，10/19-12/31为54工作日。业务建设216人日可建议分为功能132、联调验收44、预留40，技术评审后锁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节假日、资源与交付边界</a:t>
            </a:r>
          </a:p>
          <a:p xmlns:a="http://schemas.openxmlformats.org/drawingml/2006/main">
            <a:r>
              <a:t>业务范围依据用户附件《Q4供应链系统建设.pptx》（/Users/yan/Documents/codex/供应链/Q4供应链系统建设汇报_V3.0/可编辑文件/Q4供应链系统建设.pptx）的PMC预测/备货、MRP物料需求、SCM采购/供应商执行、已有MES协同边界。新增门户与统一权限来自2026-09-17用户要求。所有里程碑日期、首批范围与资源分配均为本次建议，不是附件既定承诺。建议排期，按4名开发全职共享投入，复用既有认证、组织人员、SCM和MES能力，首批接入范围待评审确认。 节假日来源：https://big5.www.gov.cn/gate/big5/www.gov.cn/zhengce/zhengceku/202511/content_7047091.htm（2026-09-17核对）。9/25-27中秋，10/1-7国庆，10/10补班；9/28-30为3工作日，10/8-16为8工作日，10/19-12/31为54工作日。业务建设216人日可建议分为功能132、联调验收44、预留40，技术评审后锁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3d5db338249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8d6c8500454a66" /><Relationship Type="http://schemas.openxmlformats.org/officeDocument/2006/relationships/slideLayout" Target="/ppt/slideLayouts/slideLayout1.xml" Id="R7808d53dcc5644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08d53dcc5644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e5e8c5475450e" /><Relationship Type="http://schemas.openxmlformats.org/officeDocument/2006/relationships/notesSlide" Target="/ppt/notesSlides/notesSlide1.xml" Id="R5c10693905ff4f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7a57022174957" /><Relationship Type="http://schemas.openxmlformats.org/officeDocument/2006/relationships/notesSlide" Target="/ppt/notesSlides/notesSlide2.xml" Id="R52ee3cd97c8a47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0d4b6e95b4a44" /><Relationship Type="http://schemas.openxmlformats.org/officeDocument/2006/relationships/notesSlide" Target="/ppt/notesSlides/notesSlide3.xml" Id="R32636369dfc343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5bdd5b5b54b91" /><Relationship Type="http://schemas.openxmlformats.org/officeDocument/2006/relationships/notesSlide" Target="/ppt/notesSlides/notesSlide4.xml" Id="R72101be3635443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B4009-626D-4715-BBB3-2A72D8FC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Q4供应链系统建设里程碑">
            <a:extLst xmlns:a="http://schemas.openxmlformats.org/drawingml/2006/main">
              <a:ext uri="{FF2B5EF4-FFF2-40B4-BE49-F238E27FC236}">
                <a16:creationId xmlns:a16="http://schemas.microsoft.com/office/drawing/2014/main" id="{10909081-D412-4F4F-8CE7-DD6839DE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"/>
            <a:ext cx="1866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Q4供应链系统建设里程碑</a:t>
            </a:r>
          </a:p>
        </p:txBody>
      </p:sp>
      <p:sp>
        <p:nvSpPr>
          <p:cNvPr id="3" name="2026 Q4 / 里程碑V2.0">
            <a:extLst xmlns:a="http://schemas.openxmlformats.org/drawingml/2006/main">
              <a:ext uri="{FF2B5EF4-FFF2-40B4-BE49-F238E27FC236}">
                <a16:creationId xmlns:a16="http://schemas.microsoft.com/office/drawing/2014/main" id="{B4B86862-F7F8-4F7E-A41F-DE42099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0" y="600075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里程碑V2.0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22318-C74E-457A-8AF7-654DC138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9月底启动门户与权限，10月中完成前置底座，四个业务节点按交付成果推进">
            <a:extLst xmlns:a="http://schemas.openxmlformats.org/drawingml/2006/main">
              <a:ext uri="{FF2B5EF4-FFF2-40B4-BE49-F238E27FC236}">
                <a16:creationId xmlns:a16="http://schemas.microsoft.com/office/drawing/2014/main" id="{B913CAEF-81F3-493B-82C7-AE34E3D2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9月底启动门户与权限，10月中完成前置底座，四个业务节点按交付成果推进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C0F1A-BEC3-49B8-8E98-913006DB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管理层建议里程碑 · 4名开发共享投入 · 首批场景交付，分阶段扩围">
            <a:extLst xmlns:a="http://schemas.openxmlformats.org/drawingml/2006/main">
              <a:ext uri="{FF2B5EF4-FFF2-40B4-BE49-F238E27FC236}">
                <a16:creationId xmlns:a16="http://schemas.microsoft.com/office/drawing/2014/main" id="{9C2596A2-4F20-4AC6-AE1E-74E95ED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87375"/>
            <a:ext cx="2047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管理层建议里程碑 · 4名开发共享投入 · 首批场景交付，分阶段扩围</a:t>
            </a:r>
          </a:p>
        </p:txBody>
      </p:sp>
      <p:sp>
        <p:nvSpPr>
          <p:cNvPr id="8" name="1 / 4">
            <a:extLst xmlns:a="http://schemas.openxmlformats.org/drawingml/2006/main">
              <a:ext uri="{FF2B5EF4-FFF2-40B4-BE49-F238E27FC236}">
                <a16:creationId xmlns:a16="http://schemas.microsoft.com/office/drawing/2014/main" id="{E78A3B5C-60B0-49C2-8E09-B33182B5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0" y="132873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 / 4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23164800" cy="899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429000"/>
                <a:gridCol w="11049000"/>
                <a:gridCol w="6210300"/>
              </a:tblGrid>
              <a:tr h="723900">
                <a:tc>
                  <a:txBody>
                    <a:bodyPr lIns="171450" tIns="114300" rIns="171450" bIns="11430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建议完成日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大节点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对应交付物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业务成果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</a:tr>
              <a:tr h="1181100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10/15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公司门户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公司统一入口、应用目录与工作台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完成首批既有系统接入，发布后续接入规范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员工从统一入口访问业务系统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10/16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统一权限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用户/组织/角色与应用授权，首批权限接入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授权回收、接口鉴权、关键数据范围与审计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统一管理访问资格，关键操作可控可追溯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</a:tr>
              <a:tr h="1181100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11/13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PMC计划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日级预测填报、活动/人工修正与PMC审核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库存/在途引用、SKU版本拆解、备货及采购需求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销售需求形成可审核、可追溯的采购需求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11/30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SCM采购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采购需求承接、PR/PO关联及供应商分配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接单/交期/发货状态，关闭与异常流转治理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计划进入采购执行，供应商任务和进度可追踪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</a:tr>
              <a:tr h="1181100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12/11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MRP物料计划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BOM与物料库存引用、面辅料净需求计算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采购建议、备料/发料清单和缺料提示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从成衣计划明确所需物料及物料缺口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12/18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MES生产协同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关联SCM订单，回传开工/进度/完工状态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延期提示、异常补报及试点工厂使用培训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生产进度可见，异常反馈采购与PMC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</a:tr>
              <a:tr h="1181100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12/24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季度闭环验收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完成首批场景贯通、数据对账与业务验收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交付运行手册、回滚方案及下一季度扩展清单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计划、物料、采购和生产结果形成反馈闭环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9/28启动前置建设；10/19起推进业务模块；12/25—12/31稳定观察与季度收口。">
            <a:extLst xmlns:a="http://schemas.openxmlformats.org/drawingml/2006/main">
              <a:ext uri="{FF2B5EF4-FFF2-40B4-BE49-F238E27FC236}">
                <a16:creationId xmlns:a16="http://schemas.microsoft.com/office/drawing/2014/main" id="{D1A9CC62-3605-4934-962E-D98015EB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44375"/>
            <a:ext cx="23164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9/28启动前置建设；10/19起推进业务模块；12/25—12/31稳定观察与季度收口。</a:t>
            </a:r>
          </a:p>
        </p:txBody>
      </p:sp>
    </p:spTree>
    <p:extLst>
      <p:ext uri="{BB962C8B-B14F-4D97-AF65-F5344CB8AC3E}">
        <p14:creationId xmlns:p14="http://schemas.microsoft.com/office/powerpoint/2010/main" val="1767961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AE232-A6EC-4AD0-B09A-AB62335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阶段安排与并行关系">
            <a:extLst xmlns:a="http://schemas.openxmlformats.org/drawingml/2006/main">
              <a:ext uri="{FF2B5EF4-FFF2-40B4-BE49-F238E27FC236}">
                <a16:creationId xmlns:a16="http://schemas.microsoft.com/office/drawing/2014/main" id="{4ABEA43A-A700-4BFC-8FB6-D31BC665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"/>
            <a:ext cx="1866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阶段安排与并行关系</a:t>
            </a:r>
          </a:p>
        </p:txBody>
      </p:sp>
      <p:sp>
        <p:nvSpPr>
          <p:cNvPr id="3" name="2026 Q4 / 里程碑V2.0">
            <a:extLst xmlns:a="http://schemas.openxmlformats.org/drawingml/2006/main">
              <a:ext uri="{FF2B5EF4-FFF2-40B4-BE49-F238E27FC236}">
                <a16:creationId xmlns:a16="http://schemas.microsoft.com/office/drawing/2014/main" id="{4C4840B4-940E-434F-A91B-EB132272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0" y="600075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里程碑V2.0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430C9-FEF6-42A7-9056-3D1B105C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门户和权限先行；PMC形成计划，SCM承接采购，MRP并行计算物料，MES接入已有生产能力">
            <a:extLst xmlns:a="http://schemas.openxmlformats.org/drawingml/2006/main">
              <a:ext uri="{FF2B5EF4-FFF2-40B4-BE49-F238E27FC236}">
                <a16:creationId xmlns:a16="http://schemas.microsoft.com/office/drawing/2014/main" id="{AA70D733-9B28-4FFF-B3E4-E8FB478A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门户和权限先行；PMC形成计划，SCM承接采购，MRP并行计算物料，MES接入已有生产能力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575BD-DB28-4BAC-9099-8F51B46D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管理层建议里程碑 · 4名开发共享投入 · 首批场景交付，分阶段扩围">
            <a:extLst xmlns:a="http://schemas.openxmlformats.org/drawingml/2006/main">
              <a:ext uri="{FF2B5EF4-FFF2-40B4-BE49-F238E27FC236}">
                <a16:creationId xmlns:a16="http://schemas.microsoft.com/office/drawing/2014/main" id="{E18C808F-64A5-41B3-99DC-CD57158A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87375"/>
            <a:ext cx="2047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管理层建议里程碑 · 4名开发共享投入 · 首批场景交付，分阶段扩围</a:t>
            </a:r>
          </a:p>
        </p:txBody>
      </p:sp>
      <p:sp>
        <p:nvSpPr>
          <p:cNvPr id="8" name="2 / 4">
            <a:extLst xmlns:a="http://schemas.openxmlformats.org/drawingml/2006/main">
              <a:ext uri="{FF2B5EF4-FFF2-40B4-BE49-F238E27FC236}">
                <a16:creationId xmlns:a16="http://schemas.microsoft.com/office/drawing/2014/main" id="{A9B58DB5-C58B-4343-9D5C-0217E55F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0" y="132873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2 / 4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23164800" cy="8896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962400"/>
                <a:gridCol w="4095750"/>
                <a:gridCol w="3962400"/>
                <a:gridCol w="4095750"/>
                <a:gridCol w="3810000"/>
              </a:tblGrid>
              <a:tr h="723900">
                <a:tc>
                  <a:txBody>
                    <a:bodyPr lIns="171450" tIns="114300" rIns="171450" bIns="114300"/>
                    <a:lstStyle/>
                    <a:p>
                      <a:r>
                        <a:rPr sz="21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建设节点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9月底—10/16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10/19—11/13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11/16—11/30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12/01—12/18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12/21—12/31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</a:tr>
              <a:tr h="1362075"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公司门户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9/28启动</a:t>
                      </a:r>
                    </a:p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10/15交付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后续模块按规范接入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接入支持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接入支持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运行交接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1362075"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统一权限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9/28启动</a:t>
                      </a:r>
                    </a:p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10/16联验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PMC/SCM权限接入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MRP权限接入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MES协同权限接入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权限与审计复核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</a:tr>
              <a:tr h="1362075"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PMC计划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前置底座建设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重点建设</a:t>
                      </a:r>
                    </a:p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11/13交付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与SCM联调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试点与差异修正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12/24整体验收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1362075"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MRP物料计划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前置底座建设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BOM/库存口径准备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11/16启动样板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12/11交付</a:t>
                      </a:r>
                    </a:p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样例对账通过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12/24整体验收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</a:tr>
              <a:tr h="1362075"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SCM采购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前置底座建设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接口/状态契约及框架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重点建设</a:t>
                      </a:r>
                    </a:p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11/30交付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供应商执行试点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12/24整体验收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1362075"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MES生产协同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前置底座建设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接入范围与接口准备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试点工厂/环境就绪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12/01启动接入</a:t>
                      </a:r>
                    </a:p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12/18交付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12/24整体验收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FDD22-EE58-4C80-86ED-8F409BE2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0"/>
            <a:ext cx="231648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B"/>
          </a:solidFill>
          <a:ln xmlns:a="http://schemas.openxmlformats.org/drawingml/2006/main" w="0">
            <a:noFill/>
          </a:ln>
        </p:spPr>
      </p:sp>
      <p:sp>
        <p:nvSpPr>
          <p:cNvPr id="11" name="4人按阶段集中投入和交叉协作；表内并行表示任务可重叠，不代表每个模块各配置一支团队。">
            <a:extLst xmlns:a="http://schemas.openxmlformats.org/drawingml/2006/main">
              <a:ext uri="{FF2B5EF4-FFF2-40B4-BE49-F238E27FC236}">
                <a16:creationId xmlns:a16="http://schemas.microsoft.com/office/drawing/2014/main" id="{B7925DEF-25FB-485E-9B9C-4AA993F8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896725"/>
            <a:ext cx="2266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4人按阶段集中投入和交叉协作；表内并行表示任务可重叠，不代表每个模块各配置一支团队。</a:t>
            </a:r>
          </a:p>
        </p:txBody>
      </p:sp>
    </p:spTree>
    <p:extLst>
      <p:ext uri="{BB962C8B-B14F-4D97-AF65-F5344CB8AC3E}">
        <p14:creationId xmlns:p14="http://schemas.microsoft.com/office/powerpoint/2010/main" val="507255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29162-59A8-4C39-BB9F-891E052E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各大节点的交付判定">
            <a:extLst xmlns:a="http://schemas.openxmlformats.org/drawingml/2006/main">
              <a:ext uri="{FF2B5EF4-FFF2-40B4-BE49-F238E27FC236}">
                <a16:creationId xmlns:a16="http://schemas.microsoft.com/office/drawing/2014/main" id="{C8803248-C8B7-4962-A45D-28513E66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"/>
            <a:ext cx="1866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各大节点的交付判定</a:t>
            </a:r>
          </a:p>
        </p:txBody>
      </p:sp>
      <p:sp>
        <p:nvSpPr>
          <p:cNvPr id="3" name="2026 Q4 / 里程碑V2.0">
            <a:extLst xmlns:a="http://schemas.openxmlformats.org/drawingml/2006/main">
              <a:ext uri="{FF2B5EF4-FFF2-40B4-BE49-F238E27FC236}">
                <a16:creationId xmlns:a16="http://schemas.microsoft.com/office/drawing/2014/main" id="{C03E8451-B411-41FB-9D31-8333813E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0" y="600075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里程碑V2.0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56CDC-26BC-403C-B1C0-62B407A4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交付以可运行、可核对、可交接为准，每个节点保留对应验收证据">
            <a:extLst xmlns:a="http://schemas.openxmlformats.org/drawingml/2006/main">
              <a:ext uri="{FF2B5EF4-FFF2-40B4-BE49-F238E27FC236}">
                <a16:creationId xmlns:a16="http://schemas.microsoft.com/office/drawing/2014/main" id="{B0294375-ED5B-4278-B93E-D3D01328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交付以可运行、可核对、可交接为准，每个节点保留对应验收证据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51386-04D2-4590-8F7B-6863AC87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管理层建议里程碑 · 4名开发共享投入 · 首批场景交付，分阶段扩围">
            <a:extLst xmlns:a="http://schemas.openxmlformats.org/drawingml/2006/main">
              <a:ext uri="{FF2B5EF4-FFF2-40B4-BE49-F238E27FC236}">
                <a16:creationId xmlns:a16="http://schemas.microsoft.com/office/drawing/2014/main" id="{5312423B-91C1-4F92-8D51-85236497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87375"/>
            <a:ext cx="2047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管理层建议里程碑 · 4名开发共享投入 · 首批场景交付，分阶段扩围</a:t>
            </a:r>
          </a:p>
        </p:txBody>
      </p:sp>
      <p:sp>
        <p:nvSpPr>
          <p:cNvPr id="8" name="3 / 4">
            <a:extLst xmlns:a="http://schemas.openxmlformats.org/drawingml/2006/main">
              <a:ext uri="{FF2B5EF4-FFF2-40B4-BE49-F238E27FC236}">
                <a16:creationId xmlns:a16="http://schemas.microsoft.com/office/drawing/2014/main" id="{3CCC8F04-5759-4CDF-A882-02001B6D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0" y="132873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3 / 4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23164800" cy="923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2858750"/>
                <a:gridCol w="6686550"/>
              </a:tblGrid>
              <a:tr h="723900">
                <a:tc>
                  <a:txBody>
                    <a:bodyPr lIns="171450" tIns="114300" rIns="171450" bIns="11430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大节点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交付验收证据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关键前提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</a:tr>
              <a:tr h="1419225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公司门户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首批系统入口可达，应用可见范围与已有权限一致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入口清单、访问验证和接入规范完成交接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首批系统清单、现有登录能力及入口责任人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1419225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统一权限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授权、撤权及越权拦截测试通过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首批系统接口执行鉴权，权限矩阵与审计记录可查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组织人员来源、角色矩阵和已有认证服务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</a:tr>
              <a:tr h="1419225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PMC计划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试点商品完成预测、退回、确认、备货及需求输出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需求数量/日期有依据，权限及版本留痕通过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预测基准、库存/在途、商品映射与业务规则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1419225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SCM采购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PMC需求到PR/PO关联可追溯，重试不重复建单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供应商关键状态可回传，关闭及异常处理验证通过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PMC需求口径、SCM服务、供应商与技术资料来源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</a:tr>
              <a:tr h="1419225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MRP物料计划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试点BOM与物料库存样例对账通过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净需求有依据，采购与备料/发料分流经业务确认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有效BOM版本、物料库存/在途及损耗等参数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1419225"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MES生产协同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试点订单与MES任务关联，进度/完工回传通过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延期/补报可处理，工厂操作及责任交接完成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已有MES接口、订单标识、试点工厂与采集数据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0" name="统一权限10/16交付底座与首批接入；PMC、MRP、SCM、MES各自上线前仍须通过业务权限验收。">
            <a:extLst xmlns:a="http://schemas.openxmlformats.org/drawingml/2006/main">
              <a:ext uri="{FF2B5EF4-FFF2-40B4-BE49-F238E27FC236}">
                <a16:creationId xmlns:a16="http://schemas.microsoft.com/office/drawing/2014/main" id="{DCB729E3-D15C-4D7A-8AD1-5A277E7A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34875"/>
            <a:ext cx="23164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统一权限10/16交付底座与首批接入；PMC、MRP、SCM、MES各自上线前仍须通过业务权限验收。</a:t>
            </a:r>
          </a:p>
        </p:txBody>
      </p:sp>
    </p:spTree>
    <p:extLst>
      <p:ext uri="{BB962C8B-B14F-4D97-AF65-F5344CB8AC3E}">
        <p14:creationId xmlns:p14="http://schemas.microsoft.com/office/powerpoint/2010/main" val="1133340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AB3AC-E6A9-4DDD-8EA4-D562DF81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节假日、资源与交付边界">
            <a:extLst xmlns:a="http://schemas.openxmlformats.org/drawingml/2006/main">
              <a:ext uri="{FF2B5EF4-FFF2-40B4-BE49-F238E27FC236}">
                <a16:creationId xmlns:a16="http://schemas.microsoft.com/office/drawing/2014/main" id="{D4D9922A-DFF3-4206-8632-C4378AE6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"/>
            <a:ext cx="1866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节假日、资源与交付边界</a:t>
            </a:r>
          </a:p>
        </p:txBody>
      </p:sp>
      <p:sp>
        <p:nvSpPr>
          <p:cNvPr id="3" name="2026 Q4 / 里程碑V2.0">
            <a:extLst xmlns:a="http://schemas.openxmlformats.org/drawingml/2006/main">
              <a:ext uri="{FF2B5EF4-FFF2-40B4-BE49-F238E27FC236}">
                <a16:creationId xmlns:a16="http://schemas.microsoft.com/office/drawing/2014/main" id="{8288C2CE-B43B-4714-91CF-F90E25CE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0" y="600075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里程碑V2.0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17A1D-6790-4FC9-AB2C-1F88B926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门户和权限占用同一组4名开发，新增前置工作已经从Q4业务建设窗口中扣除">
            <a:extLst xmlns:a="http://schemas.openxmlformats.org/drawingml/2006/main">
              <a:ext uri="{FF2B5EF4-FFF2-40B4-BE49-F238E27FC236}">
                <a16:creationId xmlns:a16="http://schemas.microsoft.com/office/drawing/2014/main" id="{EAF60BF2-B461-4D29-8343-296033A7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门户和权限占用同一组4名开发，新增前置工作已经从Q4业务建设窗口中扣除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F4C6B-6587-4464-BC37-D4293E05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管理层建议里程碑 · 4名开发共享投入 · 首批场景交付，分阶段扩围">
            <a:extLst xmlns:a="http://schemas.openxmlformats.org/drawingml/2006/main">
              <a:ext uri="{FF2B5EF4-FFF2-40B4-BE49-F238E27FC236}">
                <a16:creationId xmlns:a16="http://schemas.microsoft.com/office/drawing/2014/main" id="{F3A0D81D-415F-49BE-9CA4-065B3E95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87375"/>
            <a:ext cx="2047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管理层建议里程碑 · 4名开发共享投入 · 首批场景交付，分阶段扩围</a:t>
            </a:r>
          </a:p>
        </p:txBody>
      </p:sp>
      <p:sp>
        <p:nvSpPr>
          <p:cNvPr id="8" name="4 / 4">
            <a:extLst xmlns:a="http://schemas.openxmlformats.org/drawingml/2006/main">
              <a:ext uri="{FF2B5EF4-FFF2-40B4-BE49-F238E27FC236}">
                <a16:creationId xmlns:a16="http://schemas.microsoft.com/office/drawing/2014/main" id="{CB0EF006-8CDA-485E-BCD4-010C176B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0" y="132873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4 / 4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231648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3714750"/>
                <a:gridCol w="4095750"/>
                <a:gridCol w="9258300"/>
              </a:tblGrid>
              <a:tr h="723900">
                <a:tc>
                  <a:txBody>
                    <a:bodyPr lIns="171450" tIns="114300" rIns="171450" bIns="114300"/>
                    <a:lstStyle/>
                    <a:p>
                      <a:r>
                        <a:rPr sz="2325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时间范围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325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工作日 / 人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325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4人人日上限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325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安排内容</a:t>
                      </a:r>
                    </a:p>
                  </a:txBody>
                  <a:tcPr marL="171450" marR="171450" marT="114300" marB="114300" anchor="ctr">
                    <a:solidFill>
                      <a:srgbClr val="EAF4FB"/>
                    </a:solidFill>
                  </a:tcPr>
                </a:tc>
              </a:tr>
              <a:tr h="1219200">
                <a:tc>
                  <a:txBody>
                    <a:bodyPr lIns="171450" tIns="114300" rIns="171450" bIns="114300"/>
                    <a:lstStyle/>
                    <a:p>
                      <a:r>
                        <a:rPr sz="232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9/28—9/30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32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32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32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门户、权限启动与建设；属于Q3前置投入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lIns="171450" tIns="114300" rIns="171450" bIns="114300"/>
                    <a:lstStyle/>
                    <a:p>
                      <a:r>
                        <a:rPr sz="232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10/08—10/16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32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32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32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门户、权限一期完成与联验，含10/10补班</a:t>
                      </a:r>
                    </a:p>
                  </a:txBody>
                  <a:tcPr marL="171450" marR="171450" marT="114300" marB="114300" anchor="ctr">
                    <a:solidFill>
                      <a:srgbClr val="F7FAFC"/>
                    </a:solidFill>
                  </a:tcPr>
                </a:tc>
              </a:tr>
              <a:tr h="1219200">
                <a:tc>
                  <a:txBody>
                    <a:bodyPr lIns="171450" tIns="114300" rIns="171450" bIns="114300"/>
                    <a:lstStyle/>
                    <a:p>
                      <a:r>
                        <a:rPr sz="232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10/19—12/31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32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32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216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/>
                    <a:lstStyle/>
                    <a:p>
                      <a:r>
                        <a:rPr sz="232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 / MRP / SCM / MES建设、联调、试点与收口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3D06D-EAA9-45E2-AD93-B794172A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0"/>
            <a:ext cx="231648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B"/>
          </a:solidFill>
          <a:ln xmlns:a="http://schemas.openxmlformats.org/drawingml/2006/main" w="0">
            <a:noFill/>
          </a:ln>
        </p:spPr>
      </p:sp>
      <p:sp>
        <p:nvSpPr>
          <p:cNvPr id="11" name="Q4仍为248人日：前置底座32 + 业务窗口216。9月底12人日单列，不计入Q4。">
            <a:extLst xmlns:a="http://schemas.openxmlformats.org/drawingml/2006/main">
              <a:ext uri="{FF2B5EF4-FFF2-40B4-BE49-F238E27FC236}">
                <a16:creationId xmlns:a16="http://schemas.microsoft.com/office/drawing/2014/main" id="{CE312DFD-0BCD-44D7-B887-AB646311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2266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Q4仍为248人日：前置底座32 + 业务窗口216。9月底12人日单列，不计入Q4。</a:t>
            </a:r>
          </a:p>
        </p:txBody>
      </p:sp>
      <p:sp>
        <p:nvSpPr>
          <p:cNvPr id="12" name="日历约束">
            <a:extLst xmlns:a="http://schemas.openxmlformats.org/drawingml/2006/main">
              <a:ext uri="{FF2B5EF4-FFF2-40B4-BE49-F238E27FC236}">
                <a16:creationId xmlns:a16="http://schemas.microsoft.com/office/drawing/2014/main" id="{37881D64-29AF-422F-AF64-09F82825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8210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日历约束</a:t>
            </a:r>
          </a:p>
        </p:txBody>
      </p:sp>
      <p:sp>
        <p:nvSpPr>
          <p:cNvPr id="13" name="中秋9/25—9/27、国庆10/01—10/07放假。">
            <a:extLst xmlns:a="http://schemas.openxmlformats.org/drawingml/2006/main">
              <a:ext uri="{FF2B5EF4-FFF2-40B4-BE49-F238E27FC236}">
                <a16:creationId xmlns:a16="http://schemas.microsoft.com/office/drawing/2014/main" id="{22FD9B2D-5B03-4948-BD60-77EB57DD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0"/>
            <a:ext cx="1133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中秋9/25—9/27、国庆10/01—10/07放假。</a:t>
            </a:r>
          </a:p>
        </p:txBody>
      </p:sp>
      <p:sp>
        <p:nvSpPr>
          <p:cNvPr id="14" name="10/10补班已计入；9/20在本次启动前，未计入。">
            <a:extLst xmlns:a="http://schemas.openxmlformats.org/drawingml/2006/main">
              <a:ext uri="{FF2B5EF4-FFF2-40B4-BE49-F238E27FC236}">
                <a16:creationId xmlns:a16="http://schemas.microsoft.com/office/drawing/2014/main" id="{662AA4A3-0453-49BE-8D42-3A0F1BA9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20350"/>
            <a:ext cx="1133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10/10补班已计入；9/20在本次启动前，未计入。</a:t>
            </a:r>
          </a:p>
        </p:txBody>
      </p:sp>
      <p:sp>
        <p:nvSpPr>
          <p:cNvPr id="15" name="12/24验收，12/25—12/31保留5天稳定窗口。">
            <a:extLst xmlns:a="http://schemas.openxmlformats.org/drawingml/2006/main">
              <a:ext uri="{FF2B5EF4-FFF2-40B4-BE49-F238E27FC236}">
                <a16:creationId xmlns:a16="http://schemas.microsoft.com/office/drawing/2014/main" id="{B98FB7F3-CC46-4FF8-93AB-2D4153F0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29950"/>
            <a:ext cx="1133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12/24验收，12/25—12/31保留5天稳定窗口。</a:t>
            </a:r>
          </a:p>
        </p:txBody>
      </p:sp>
      <p:sp>
        <p:nvSpPr>
          <p:cNvPr id="16" name="计划成立的条件">
            <a:extLst xmlns:a="http://schemas.openxmlformats.org/drawingml/2006/main">
              <a:ext uri="{FF2B5EF4-FFF2-40B4-BE49-F238E27FC236}">
                <a16:creationId xmlns:a16="http://schemas.microsoft.com/office/drawing/2014/main" id="{E4D0969F-B135-4C32-9B17-E452012C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18210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计划成立的条件</a:t>
            </a:r>
          </a:p>
        </p:txBody>
      </p:sp>
      <p:sp>
        <p:nvSpPr>
          <p:cNvPr id="17" name="门户/权限复用现有认证与组织人员基础。">
            <a:extLst xmlns:a="http://schemas.openxmlformats.org/drawingml/2006/main">
              <a:ext uri="{FF2B5EF4-FFF2-40B4-BE49-F238E27FC236}">
                <a16:creationId xmlns:a16="http://schemas.microsoft.com/office/drawing/2014/main" id="{5A606241-4663-40BE-B71D-AE2B5AD0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810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门户/权限复用现有认证与组织人员基础。</a:t>
            </a:r>
          </a:p>
        </p:txBody>
      </p:sp>
      <p:sp>
        <p:nvSpPr>
          <p:cNvPr id="18" name="SCM、MES复用已有能力，首批场景/系统先行。">
            <a:extLst xmlns:a="http://schemas.openxmlformats.org/drawingml/2006/main">
              <a:ext uri="{FF2B5EF4-FFF2-40B4-BE49-F238E27FC236}">
                <a16:creationId xmlns:a16="http://schemas.microsoft.com/office/drawing/2014/main" id="{898DDFD7-E6CA-4C66-9F1B-33C2E3F6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04203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SCM、MES复用已有能力，首批场景/系统先行。</a:t>
            </a:r>
          </a:p>
        </p:txBody>
      </p:sp>
      <p:sp>
        <p:nvSpPr>
          <p:cNvPr id="19" name="业务、数仓、PLM及接口责任人按时支持联验。">
            <a:extLst xmlns:a="http://schemas.openxmlformats.org/drawingml/2006/main">
              <a:ext uri="{FF2B5EF4-FFF2-40B4-BE49-F238E27FC236}">
                <a16:creationId xmlns:a16="http://schemas.microsoft.com/office/drawing/2014/main" id="{7B7F3000-1F0C-4C00-B8BF-1CDAA51D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10299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业务、数仓、PLM及接口责任人按时支持联验。</a:t>
            </a:r>
          </a:p>
        </p:txBody>
      </p:sp>
      <p:sp>
        <p:nvSpPr>
          <p:cNvPr id="20" name="需确认：4人实际投入、门户/权限首批接入清单及试点范围。前置未通过时重排业务日期。">
            <a:extLst xmlns:a="http://schemas.openxmlformats.org/drawingml/2006/main">
              <a:ext uri="{FF2B5EF4-FFF2-40B4-BE49-F238E27FC236}">
                <a16:creationId xmlns:a16="http://schemas.microsoft.com/office/drawing/2014/main" id="{A162045C-2735-4874-B557-F8EFED93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39625"/>
            <a:ext cx="23164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需确认：4人实际投入、门户/权限首批接入清单及试点范围。前置未通过时重排业务日期。</a:t>
            </a:r>
          </a:p>
        </p:txBody>
      </p:sp>
    </p:spTree>
    <p:extLst>
      <p:ext uri="{BB962C8B-B14F-4D97-AF65-F5344CB8AC3E}">
        <p14:creationId xmlns:p14="http://schemas.microsoft.com/office/powerpoint/2010/main" val="76203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2026-09-17T06:13:30.9630000Z</dcterms:created>
  <dcterms:modified xsi:type="dcterms:W3CDTF">2026-09-17T06:13:30.9630000Z</dcterms:modified>
</coreProperties>
</file>