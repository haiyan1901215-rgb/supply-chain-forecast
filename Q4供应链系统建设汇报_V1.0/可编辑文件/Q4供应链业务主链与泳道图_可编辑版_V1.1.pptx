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1da1d54eed4a5b" /><Relationship Type="http://schemas.openxmlformats.org/officeDocument/2006/relationships/extended-properties" Target="/docProps/app.xml" Id="R646c7fe36fd44834" /><Relationship Type="http://schemas.openxmlformats.org/officeDocument/2006/relationships/officeDocument" Target="/ppt/presentation.xml" Id="Rbf4da373cba04b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07c0bec1734f82"/>
  </p:sldMasterIdLst>
  <p:notesMasterIdLst>
    <p:notesMasterId xmlns:r="http://schemas.openxmlformats.org/officeDocument/2006/relationships" r:id="R96a6fcb9653641ce"/>
  </p:notesMasterIdLst>
  <p:sldIdLst>
    <p:sldId xmlns:r="http://schemas.openxmlformats.org/officeDocument/2006/relationships" id="256" r:id="R35fc8efba07442b8"/>
    <p:sldId xmlns:r="http://schemas.openxmlformats.org/officeDocument/2006/relationships" id="257" r:id="Rc022724d578441df"/>
  </p:sldIdLst>
  <p:sldSz cx="24384000" cy="1524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b79df9ce04586" /><Relationship Type="http://schemas.openxmlformats.org/officeDocument/2006/relationships/slideMaster" Target="/ppt/slideMasters/slideMaster1.xml" Id="R0407c0bec1734f82" /><Relationship Type="http://schemas.openxmlformats.org/officeDocument/2006/relationships/notesMaster" Target="/ppt/notesMasters/notesMaster1.xml" Id="R96a6fcb9653641ce" /><Relationship Type="http://schemas.openxmlformats.org/officeDocument/2006/relationships/presProps" Target="/ppt/presProps.xml" Id="R0f169c473a9c4467" /><Relationship Type="http://schemas.openxmlformats.org/officeDocument/2006/relationships/tableStyles" Target="/ppt/tableStyles.xml" Id="R8f23d0e2f8374b55" /><Relationship Type="http://schemas.openxmlformats.org/officeDocument/2006/relationships/slide" Target="/ppt/slides/slide1.xml" Id="R35fc8efba07442b8" /><Relationship Type="http://schemas.openxmlformats.org/officeDocument/2006/relationships/slide" Target="/ppt/slides/slide2.xml" Id="Rc022724d5784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ec4ec7e505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1900d70664406e" /><Relationship Type="http://schemas.openxmlformats.org/officeDocument/2006/relationships/notesMaster" Target="/ppt/notesMasters/notesMaster1.xml" Id="R95fc513ce4d349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d0dd5ed1fa4865" /><Relationship Type="http://schemas.openxmlformats.org/officeDocument/2006/relationships/notesMaster" Target="/ppt/notesMasters/notesMaster1.xml" Id="R78baa22a791b45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来源：01_Q4供应链业务主链图_V1.0.svg。业务依据：系统边界校准 V1、Q4供应链项目工作流与MVP边界 V0.1、PMC数据依赖与系统接口清单 V0.1及本次用户要求。所有文字与流程图元素为可编辑原生对象。MRP归属、正式PR审批、MES回传字段和库存来源保持待确认。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来源：02_Q4供应链跨部门泳道图_V1.0.svg。业务依据：系统边界校准 V1、Q4供应链项目工作流与MVP边界 V0.1、PMC数据依赖与系统接口清单 V0.1及本次用户要求。所有文字与流程图元素为可编辑原生对象。MRP归属、正式PR审批、MES回传字段和库存来源保持待确认。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fed5f710041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eab24efb964fa8" /><Relationship Type="http://schemas.openxmlformats.org/officeDocument/2006/relationships/slideLayout" Target="/ppt/slideLayouts/slideLayout1.xml" Id="R6ca72c5084f04e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72c5084f04e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aa7992df44f55" /><Relationship Type="http://schemas.openxmlformats.org/officeDocument/2006/relationships/notesSlide" Target="/ppt/notesSlides/notesSlide1.xml" Id="Ra9e7f9590a4447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ca8bb9bd64f70" /><Relationship Type="http://schemas.openxmlformats.org/officeDocument/2006/relationships/notesSlide" Target="/ppt/notesSlides/notesSlide2.xml" Id="R13c48c75713b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rect-1">
            <a:extLst xmlns:a="http://schemas.openxmlformats.org/drawingml/2006/main">
              <a:ext uri="{FF2B5EF4-FFF2-40B4-BE49-F238E27FC236}">
                <a16:creationId xmlns:a16="http://schemas.microsoft.com/office/drawing/2014/main" id="{DEACC569-3A46-4604-95F3-2F4425AE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24384000" cy="137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-2">
            <a:extLst xmlns:a="http://schemas.openxmlformats.org/drawingml/2006/main">
              <a:ext uri="{FF2B5EF4-FFF2-40B4-BE49-F238E27FC236}">
                <a16:creationId xmlns:a16="http://schemas.microsoft.com/office/drawing/2014/main" id="{9EABACA0-0698-487D-B1CA-28F1E31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3" y="1349829"/>
            <a:ext cx="97971" cy="7184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21771">
            <a:noFill/>
            <a:prstDash val="solid"/>
          </a:ln>
        </p:spPr>
      </p:sp>
      <p:sp>
        <p:nvSpPr>
          <p:cNvPr id="3" name="Q4供应链系统建设｜业务主链">
            <a:extLst xmlns:a="http://schemas.openxmlformats.org/drawingml/2006/main">
              <a:ext uri="{FF2B5EF4-FFF2-40B4-BE49-F238E27FC236}">
                <a16:creationId xmlns:a16="http://schemas.microsoft.com/office/drawing/2014/main" id="{C284DEAF-716D-4A36-B6C3-BCF3DA87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86" y="1317171"/>
            <a:ext cx="7666264" cy="789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86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86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Q4供应链系统建设｜业务主链</a:t>
            </a:r>
          </a:p>
        </p:txBody>
      </p:sp>
      <p:sp>
        <p:nvSpPr>
          <p:cNvPr id="4" name="2026 Q4  /  V1.0">
            <a:extLst xmlns:a="http://schemas.openxmlformats.org/drawingml/2006/main">
              <a:ext uri="{FF2B5EF4-FFF2-40B4-BE49-F238E27FC236}">
                <a16:creationId xmlns:a16="http://schemas.microsoft.com/office/drawing/2014/main" id="{73774D74-36A5-4764-AC51-22EF4316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699" y="1492214"/>
            <a:ext cx="1971729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71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2026 Q4  /  V1.0</a:t>
            </a:r>
          </a:p>
        </p:txBody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E2DC8D5B-2E60-4446-B636-9BC607FC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3" y="2253343"/>
            <a:ext cx="23077714" cy="544"/>
          </a:xfrm>
          <a:custGeom xmlns:a="http://schemas.openxmlformats.org/drawingml/2006/main">
            <a:pathLst>
              <a:path w="20193000" h="476">
                <a:moveTo>
                  <a:pt x="0" y="0"/>
                </a:moveTo>
                <a:lnTo>
                  <a:pt x="2019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657">
            <a:solidFill>
              <a:srgbClr val="008DD5"/>
            </a:solidFill>
            <a:prstDash val="solid"/>
          </a:ln>
        </p:spPr>
      </p:sp>
      <p:sp>
        <p:nvSpPr>
          <p:cNvPr id="6" name="以PMC为计划中枢，贯通需求、采购、生产与库存反馈">
            <a:extLst xmlns:a="http://schemas.openxmlformats.org/drawingml/2006/main">
              <a:ext uri="{FF2B5EF4-FFF2-40B4-BE49-F238E27FC236}">
                <a16:creationId xmlns:a16="http://schemas.microsoft.com/office/drawing/2014/main" id="{D0861087-6D58-4FFB-9405-16E1B23A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2427514"/>
            <a:ext cx="6959400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以PMC为计划中枢，贯通需求、采购、生产与库存反馈</a:t>
            </a:r>
          </a:p>
        </p:txBody>
      </p:sp>
      <p:sp>
        <p:nvSpPr>
          <p:cNvPr id="7" name="01 / 业务全景">
            <a:extLst xmlns:a="http://schemas.openxmlformats.org/drawingml/2006/main">
              <a:ext uri="{FF2B5EF4-FFF2-40B4-BE49-F238E27FC236}">
                <a16:creationId xmlns:a16="http://schemas.microsoft.com/office/drawing/2014/main" id="{A45CD772-9465-46F7-B998-8AAC80EB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5041" y="2461478"/>
            <a:ext cx="1631388" cy="34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86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86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01 / 业务全景</a:t>
            </a:r>
          </a:p>
        </p:txBody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414C6D64-E5C6-41C2-A890-2670D175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商品数据准备">
            <a:extLst xmlns:a="http://schemas.openxmlformats.org/drawingml/2006/main">
              <a:ext uri="{FF2B5EF4-FFF2-40B4-BE49-F238E27FC236}">
                <a16:creationId xmlns:a16="http://schemas.microsoft.com/office/drawing/2014/main" id="{73703400-7738-4AD6-96B7-CA3F01F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37" y="3459045"/>
            <a:ext cx="2200983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商品数据准备</a:t>
            </a:r>
          </a:p>
        </p:txBody>
      </p:sp>
      <p:sp>
        <p:nvSpPr>
          <p:cNvPr id="10" name="商品 / 研发 · MDM / PLM">
            <a:extLst xmlns:a="http://schemas.openxmlformats.org/drawingml/2006/main">
              <a:ext uri="{FF2B5EF4-FFF2-40B4-BE49-F238E27FC236}">
                <a16:creationId xmlns:a16="http://schemas.microsoft.com/office/drawing/2014/main" id="{34FCBF3B-1039-4419-983B-70570EB0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00" y="4421342"/>
            <a:ext cx="2989571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商品 / 研发 · MDM / PLM</a:t>
            </a:r>
          </a:p>
        </p:txBody>
      </p:sp>
      <p:sp>
        <p:nvSpPr>
          <p:cNvPr id="11" name="统一SKU与版本关系">
            <a:extLst xmlns:a="http://schemas.openxmlformats.org/drawingml/2006/main">
              <a:ext uri="{FF2B5EF4-FFF2-40B4-BE49-F238E27FC236}">
                <a16:creationId xmlns:a16="http://schemas.microsoft.com/office/drawing/2014/main" id="{ABE30043-FA7E-498A-8288-4846ED02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435"/>
            <a:ext cx="2550523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统一SKU与版本关系</a:t>
            </a:r>
          </a:p>
        </p:txBody>
      </p:sp>
      <p:sp>
        <p:nvSpPr>
          <p:cNvPr id="12" name="准备BOM、工艺资料">
            <a:extLst xmlns:a="http://schemas.openxmlformats.org/drawingml/2006/main">
              <a:ext uri="{FF2B5EF4-FFF2-40B4-BE49-F238E27FC236}">
                <a16:creationId xmlns:a16="http://schemas.microsoft.com/office/drawing/2014/main" id="{9CF925AD-6E08-48B4-9515-748766E2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1521"/>
            <a:ext cx="2629240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准备BOM、工艺资料</a:t>
            </a:r>
          </a:p>
        </p:txBody>
      </p:sp>
      <p:sp>
        <p:nvSpPr>
          <p:cNvPr id="13" name="明确数据责任与版本">
            <a:extLst xmlns:a="http://schemas.openxmlformats.org/drawingml/2006/main">
              <a:ext uri="{FF2B5EF4-FFF2-40B4-BE49-F238E27FC236}">
                <a16:creationId xmlns:a16="http://schemas.microsoft.com/office/drawing/2014/main" id="{5CC64247-C269-4348-867D-79D65DDB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9607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明确数据责任与版本</a:t>
            </a:r>
          </a:p>
        </p:txBody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58EAACB8-AE38-4E91-B2AE-D4C1764B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15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BE07FE34-5C42-4505-A0C8-C7616CBA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16" name="可用的商品资料">
            <a:extLst xmlns:a="http://schemas.openxmlformats.org/drawingml/2006/main">
              <a:ext uri="{FF2B5EF4-FFF2-40B4-BE49-F238E27FC236}">
                <a16:creationId xmlns:a16="http://schemas.microsoft.com/office/drawing/2014/main" id="{0B18B21C-9825-47B5-8DB3-FEFBB05B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24185"/>
            <a:ext cx="1917954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可用的商品资料</a:t>
            </a:r>
          </a:p>
        </p:txBody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5CB3E1F9-8B33-454F-8833-9DB251A3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171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销售需求">
            <a:extLst xmlns:a="http://schemas.openxmlformats.org/drawingml/2006/main">
              <a:ext uri="{FF2B5EF4-FFF2-40B4-BE49-F238E27FC236}">
                <a16:creationId xmlns:a16="http://schemas.microsoft.com/office/drawing/2014/main" id="{DCABA932-AC24-4513-9AA8-A8341D86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78" y="3459045"/>
            <a:ext cx="1499072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销售需求</a:t>
            </a:r>
          </a:p>
        </p:txBody>
      </p:sp>
      <p:sp>
        <p:nvSpPr>
          <p:cNvPr id="19" name="销售运营 · 计划平台">
            <a:extLst xmlns:a="http://schemas.openxmlformats.org/drawingml/2006/main">
              <a:ext uri="{FF2B5EF4-FFF2-40B4-BE49-F238E27FC236}">
                <a16:creationId xmlns:a16="http://schemas.microsoft.com/office/drawing/2014/main" id="{032C652F-DA38-4E14-9BB6-779B2FE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086" y="4421342"/>
            <a:ext cx="227457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销售运营 · 计划平台</a:t>
            </a:r>
          </a:p>
        </p:txBody>
      </p:sp>
      <p:sp>
        <p:nvSpPr>
          <p:cNvPr id="20" name="PMC开启预测周期">
            <a:extLst xmlns:a="http://schemas.openxmlformats.org/drawingml/2006/main">
              <a:ext uri="{FF2B5EF4-FFF2-40B4-BE49-F238E27FC236}">
                <a16:creationId xmlns:a16="http://schemas.microsoft.com/office/drawing/2014/main" id="{74F49D11-E70C-4796-B9B1-99A8D9BC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4953435"/>
            <a:ext cx="233754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PMC开启预测周期</a:t>
            </a:r>
          </a:p>
        </p:txBody>
      </p:sp>
      <p:sp>
        <p:nvSpPr>
          <p:cNvPr id="21" name="按W周、逐日修正与填活动">
            <a:extLst xmlns:a="http://schemas.openxmlformats.org/drawingml/2006/main">
              <a:ext uri="{FF2B5EF4-FFF2-40B4-BE49-F238E27FC236}">
                <a16:creationId xmlns:a16="http://schemas.microsoft.com/office/drawing/2014/main" id="{31548218-780B-46B0-AC73-4B4E507C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5421521"/>
            <a:ext cx="3336812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按W周、逐日修正与填活动</a:t>
            </a:r>
          </a:p>
        </p:txBody>
      </p:sp>
      <p:sp>
        <p:nvSpPr>
          <p:cNvPr id="22" name="销售提交、PMC审核">
            <a:extLst xmlns:a="http://schemas.openxmlformats.org/drawingml/2006/main">
              <a:ext uri="{FF2B5EF4-FFF2-40B4-BE49-F238E27FC236}">
                <a16:creationId xmlns:a16="http://schemas.microsoft.com/office/drawing/2014/main" id="{293C8026-0796-4363-A018-7881456E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5889607"/>
            <a:ext cx="2609251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销售提交、PMC审核</a:t>
            </a:r>
          </a:p>
        </p:txBody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98BA0985-50B0-4B7D-8378-68D92032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24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C70EC3C4-73FE-4243-BB0C-3585BDE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25" name="审核后的销售需求">
            <a:extLst xmlns:a="http://schemas.openxmlformats.org/drawingml/2006/main">
              <a:ext uri="{FF2B5EF4-FFF2-40B4-BE49-F238E27FC236}">
                <a16:creationId xmlns:a16="http://schemas.microsoft.com/office/drawing/2014/main" id="{33D69BDA-BB53-4707-B464-E18CF8F5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886" y="6924185"/>
            <a:ext cx="2178340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审核后的销售需求</a:t>
            </a:r>
          </a:p>
        </p:txBody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601ECFC1-6614-4C47-80C0-AD1497EB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657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MC计划">
            <a:extLst xmlns:a="http://schemas.openxmlformats.org/drawingml/2006/main">
              <a:ext uri="{FF2B5EF4-FFF2-40B4-BE49-F238E27FC236}">
                <a16:creationId xmlns:a16="http://schemas.microsoft.com/office/drawing/2014/main" id="{9746BE5C-869C-4251-85BA-5E7C12BA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919" y="3459045"/>
            <a:ext cx="1600962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PMC计划</a:t>
            </a:r>
          </a:p>
        </p:txBody>
      </p:sp>
      <p:sp>
        <p:nvSpPr>
          <p:cNvPr id="28" name="PMC · 计划中枢">
            <a:extLst xmlns:a="http://schemas.openxmlformats.org/drawingml/2006/main">
              <a:ext uri="{FF2B5EF4-FFF2-40B4-BE49-F238E27FC236}">
                <a16:creationId xmlns:a16="http://schemas.microsoft.com/office/drawing/2014/main" id="{FC3EE4FA-B95E-4E30-AFE1-CCE80AB9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910" y="4421342"/>
            <a:ext cx="1867893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 · 计划中枢</a:t>
            </a:r>
          </a:p>
        </p:txBody>
      </p:sp>
      <p:sp>
        <p:nvSpPr>
          <p:cNvPr id="29" name="读取需求、库存与在途">
            <a:extLst xmlns:a="http://schemas.openxmlformats.org/drawingml/2006/main">
              <a:ext uri="{FF2B5EF4-FFF2-40B4-BE49-F238E27FC236}">
                <a16:creationId xmlns:a16="http://schemas.microsoft.com/office/drawing/2014/main" id="{BBB66034-1583-43DF-97E5-AE068216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4953435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读取需求、库存与在途</a:t>
            </a:r>
          </a:p>
        </p:txBody>
      </p:sp>
      <p:sp>
        <p:nvSpPr>
          <p:cNvPr id="30" name="测算缺口、备货与过货">
            <a:extLst xmlns:a="http://schemas.openxmlformats.org/drawingml/2006/main">
              <a:ext uri="{FF2B5EF4-FFF2-40B4-BE49-F238E27FC236}">
                <a16:creationId xmlns:a16="http://schemas.microsoft.com/office/drawing/2014/main" id="{C9CD087C-CD40-4832-9681-D17A2C2A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5421521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测算缺口、备货与过货</a:t>
            </a:r>
          </a:p>
        </p:txBody>
      </p:sp>
      <p:sp>
        <p:nvSpPr>
          <p:cNvPr id="31" name="人工校准、审批与留痕">
            <a:extLst xmlns:a="http://schemas.openxmlformats.org/drawingml/2006/main">
              <a:ext uri="{FF2B5EF4-FFF2-40B4-BE49-F238E27FC236}">
                <a16:creationId xmlns:a16="http://schemas.microsoft.com/office/drawing/2014/main" id="{364DA179-C3DF-4115-B406-57861852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5889607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人工校准、审批与留痕</a:t>
            </a:r>
          </a:p>
        </p:txBody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86F9B01A-62B9-48D7-B0A7-CDF0E01D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33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9B0A7E8A-7AB6-463A-9BE1-D89F0C7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34" name="采购需求 / 过货计划">
            <a:extLst xmlns:a="http://schemas.openxmlformats.org/drawingml/2006/main">
              <a:ext uri="{FF2B5EF4-FFF2-40B4-BE49-F238E27FC236}">
                <a16:creationId xmlns:a16="http://schemas.microsoft.com/office/drawing/2014/main" id="{30519067-341F-469A-B523-4E60D1E8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371" y="6924185"/>
            <a:ext cx="248206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采购需求 / 过货计划</a:t>
            </a:r>
          </a:p>
        </p:txBody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97F9DE2D-E1CE-4469-89A0-E73CB04F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143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采购执行">
            <a:extLst xmlns:a="http://schemas.openxmlformats.org/drawingml/2006/main">
              <a:ext uri="{FF2B5EF4-FFF2-40B4-BE49-F238E27FC236}">
                <a16:creationId xmlns:a16="http://schemas.microsoft.com/office/drawing/2014/main" id="{1E34228D-DEBE-45EE-89F9-4C50DE74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350" y="3459045"/>
            <a:ext cx="1499072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采购执行</a:t>
            </a:r>
          </a:p>
        </p:txBody>
      </p:sp>
      <p:sp>
        <p:nvSpPr>
          <p:cNvPr id="37" name="采购 / 供应商 · SCM">
            <a:extLst xmlns:a="http://schemas.openxmlformats.org/drawingml/2006/main">
              <a:ext uri="{FF2B5EF4-FFF2-40B4-BE49-F238E27FC236}">
                <a16:creationId xmlns:a16="http://schemas.microsoft.com/office/drawing/2014/main" id="{29288C40-10E8-4E4E-A2EF-83BC9B14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371" y="4421342"/>
            <a:ext cx="238194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采购 / 供应商 · SCM</a:t>
            </a:r>
          </a:p>
        </p:txBody>
      </p:sp>
      <p:sp>
        <p:nvSpPr>
          <p:cNvPr id="38" name="承接并确认采购需求">
            <a:extLst xmlns:a="http://schemas.openxmlformats.org/drawingml/2006/main">
              <a:ext uri="{FF2B5EF4-FFF2-40B4-BE49-F238E27FC236}">
                <a16:creationId xmlns:a16="http://schemas.microsoft.com/office/drawing/2014/main" id="{5E7D89AD-E3E2-4785-AA74-B24C6495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4953435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承接并确认采购需求</a:t>
            </a:r>
          </a:p>
        </p:txBody>
      </p:sp>
      <p:sp>
        <p:nvSpPr>
          <p:cNvPr id="39" name="采购决策、PO / 大货单">
            <a:extLst xmlns:a="http://schemas.openxmlformats.org/drawingml/2006/main">
              <a:ext uri="{FF2B5EF4-FFF2-40B4-BE49-F238E27FC236}">
                <a16:creationId xmlns:a16="http://schemas.microsoft.com/office/drawing/2014/main" id="{842C7C4D-156E-4D2C-9518-6E4CF03A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5421521"/>
            <a:ext cx="2968698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采购决策、PO / 大货单</a:t>
            </a:r>
          </a:p>
        </p:txBody>
      </p:sp>
      <p:sp>
        <p:nvSpPr>
          <p:cNvPr id="40" name="供应商交期与发货跟踪">
            <a:extLst xmlns:a="http://schemas.openxmlformats.org/drawingml/2006/main">
              <a:ext uri="{FF2B5EF4-FFF2-40B4-BE49-F238E27FC236}">
                <a16:creationId xmlns:a16="http://schemas.microsoft.com/office/drawing/2014/main" id="{E4E5C357-6B2D-4FCA-B373-9E4A07D9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5889607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供应商交期与发货跟踪</a:t>
            </a:r>
          </a:p>
        </p:txBody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EE941EF2-ACB0-4C82-9926-9E5F6381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42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FCA26A47-E4C3-4239-8173-D913308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43" name="订单 / 交期 / 执行状态">
            <a:extLst xmlns:a="http://schemas.openxmlformats.org/drawingml/2006/main">
              <a:ext uri="{FF2B5EF4-FFF2-40B4-BE49-F238E27FC236}">
                <a16:creationId xmlns:a16="http://schemas.microsoft.com/office/drawing/2014/main" id="{76B31677-EAB2-4BF8-B8D7-83C4F919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57" y="6924185"/>
            <a:ext cx="2785613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订单 / 交期 / 执行状态</a:t>
            </a:r>
          </a:p>
        </p:txBody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9C7FD1A9-AD21-4E00-A1AC-3BD26416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6629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549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生产协同">
            <a:extLst xmlns:a="http://schemas.openxmlformats.org/drawingml/2006/main">
              <a:ext uri="{FF2B5EF4-FFF2-40B4-BE49-F238E27FC236}">
                <a16:creationId xmlns:a16="http://schemas.microsoft.com/office/drawing/2014/main" id="{73E41AF3-0ECB-4EFC-A180-7F3B0960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0836" y="3459045"/>
            <a:ext cx="1499072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生产协同</a:t>
            </a:r>
          </a:p>
        </p:txBody>
      </p:sp>
      <p:sp>
        <p:nvSpPr>
          <p:cNvPr id="46" name="工厂 / 生产 · MES">
            <a:extLst xmlns:a="http://schemas.openxmlformats.org/drawingml/2006/main">
              <a:ext uri="{FF2B5EF4-FFF2-40B4-BE49-F238E27FC236}">
                <a16:creationId xmlns:a16="http://schemas.microsoft.com/office/drawing/2014/main" id="{B8599A14-0C1A-4AEF-A6E3-11B5E947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431" y="4421342"/>
            <a:ext cx="2122796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工厂 / 生产 · MES</a:t>
            </a:r>
          </a:p>
        </p:txBody>
      </p:sp>
      <p:sp>
        <p:nvSpPr>
          <p:cNvPr id="47" name="承接生产任务与工艺">
            <a:extLst xmlns:a="http://schemas.openxmlformats.org/drawingml/2006/main">
              <a:ext uri="{FF2B5EF4-FFF2-40B4-BE49-F238E27FC236}">
                <a16:creationId xmlns:a16="http://schemas.microsoft.com/office/drawing/2014/main" id="{42074188-E3A9-4415-B3D6-831530DE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4953435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承接生产任务与工艺</a:t>
            </a:r>
          </a:p>
        </p:txBody>
      </p:sp>
      <p:sp>
        <p:nvSpPr>
          <p:cNvPr id="48" name="排产执行、报工与进度">
            <a:extLst xmlns:a="http://schemas.openxmlformats.org/drawingml/2006/main">
              <a:ext uri="{FF2B5EF4-FFF2-40B4-BE49-F238E27FC236}">
                <a16:creationId xmlns:a16="http://schemas.microsoft.com/office/drawing/2014/main" id="{D1326230-26AA-43DD-AAC1-51061ECD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5421521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排产执行、报工与进度</a:t>
            </a:r>
          </a:p>
        </p:txBody>
      </p:sp>
      <p:sp>
        <p:nvSpPr>
          <p:cNvPr id="49" name="异常处理、完工回传">
            <a:extLst xmlns:a="http://schemas.openxmlformats.org/drawingml/2006/main">
              <a:ext uri="{FF2B5EF4-FFF2-40B4-BE49-F238E27FC236}">
                <a16:creationId xmlns:a16="http://schemas.microsoft.com/office/drawing/2014/main" id="{9EDAD38D-C08B-4BAC-8CF8-12FE611C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5889607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异常处理、完工回传</a:t>
            </a:r>
          </a:p>
        </p:txBody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331E2E4E-3F2E-4159-B69E-C6F4FF37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51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41AD6AF2-F6AE-44A1-BF3A-4ED6D57A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52" name="生产进度 / 完工结果">
            <a:extLst xmlns:a="http://schemas.openxmlformats.org/drawingml/2006/main">
              <a:ext uri="{FF2B5EF4-FFF2-40B4-BE49-F238E27FC236}">
                <a16:creationId xmlns:a16="http://schemas.microsoft.com/office/drawing/2014/main" id="{41959A75-646F-4B31-939C-3765DCB3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343" y="6924185"/>
            <a:ext cx="248206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生产进度 / 完工结果</a:t>
            </a:r>
          </a:p>
        </p:txBody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1F0602A6-DC2F-4D96-B9F6-3FCF5C0D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4114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入库与库存回流">
            <a:extLst xmlns:a="http://schemas.openxmlformats.org/drawingml/2006/main">
              <a:ext uri="{FF2B5EF4-FFF2-40B4-BE49-F238E27FC236}">
                <a16:creationId xmlns:a16="http://schemas.microsoft.com/office/drawing/2014/main" id="{5BA6047D-65E4-4E86-B0F1-F1AAE776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1888" y="3459045"/>
            <a:ext cx="2551938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入库与库存回流</a:t>
            </a:r>
          </a:p>
        </p:txBody>
      </p:sp>
      <p:sp>
        <p:nvSpPr>
          <p:cNvPr id="55" name="质检 / 仓储 · 库存来源系统">
            <a:extLst xmlns:a="http://schemas.openxmlformats.org/drawingml/2006/main">
              <a:ext uri="{FF2B5EF4-FFF2-40B4-BE49-F238E27FC236}">
                <a16:creationId xmlns:a16="http://schemas.microsoft.com/office/drawing/2014/main" id="{C544235D-95FF-4F8F-9EED-2BBF16DE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0690" y="4421342"/>
            <a:ext cx="3027249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质检 / 仓储 · 库存来源系统</a:t>
            </a:r>
          </a:p>
        </p:txBody>
      </p:sp>
      <p:sp>
        <p:nvSpPr>
          <p:cNvPr id="56" name="质检放行、收货入库">
            <a:extLst xmlns:a="http://schemas.openxmlformats.org/drawingml/2006/main">
              <a:ext uri="{FF2B5EF4-FFF2-40B4-BE49-F238E27FC236}">
                <a16:creationId xmlns:a16="http://schemas.microsoft.com/office/drawing/2014/main" id="{1F3A722C-9B64-4C25-AC79-1B1BAFF1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4953435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质检放行、收货入库</a:t>
            </a:r>
          </a:p>
        </p:txBody>
      </p:sp>
      <p:sp>
        <p:nvSpPr>
          <p:cNvPr id="57" name="更新库存与在途事实">
            <a:extLst xmlns:a="http://schemas.openxmlformats.org/drawingml/2006/main">
              <a:ext uri="{FF2B5EF4-FFF2-40B4-BE49-F238E27FC236}">
                <a16:creationId xmlns:a16="http://schemas.microsoft.com/office/drawing/2014/main" id="{DC1716A7-87A1-4E5F-B253-BACFCDC1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5421521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更新库存与在途事实</a:t>
            </a:r>
          </a:p>
        </p:txBody>
      </p:sp>
      <p:sp>
        <p:nvSpPr>
          <p:cNvPr id="58" name="反馈到货、数量与质量">
            <a:extLst xmlns:a="http://schemas.openxmlformats.org/drawingml/2006/main">
              <a:ext uri="{FF2B5EF4-FFF2-40B4-BE49-F238E27FC236}">
                <a16:creationId xmlns:a16="http://schemas.microsoft.com/office/drawing/2014/main" id="{769C6AAB-E4F6-4029-894B-7A6B902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5889607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反馈到货、数量与质量</a:t>
            </a:r>
          </a:p>
        </p:txBody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7B533F70-D5FE-4C91-93E9-30AA562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60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9D899396-D0DD-4A94-822D-5540D71E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61" name="库存快照 / 到货结果">
            <a:extLst xmlns:a="http://schemas.openxmlformats.org/drawingml/2006/main">
              <a:ext uri="{FF2B5EF4-FFF2-40B4-BE49-F238E27FC236}">
                <a16:creationId xmlns:a16="http://schemas.microsoft.com/office/drawing/2014/main" id="{AB52DB55-9D05-4C63-BB76-3E936E87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1829" y="6924185"/>
            <a:ext cx="248206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库存快照 / 到货结果</a:t>
            </a:r>
          </a:p>
        </p:txBody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A61BEFAF-B35C-40C3-8E70-A9DF9AEA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1600" y="3200400"/>
            <a:ext cx="3200400" cy="979714"/>
          </a:xfrm>
          <a:custGeom xmlns:a="http://schemas.openxmlformats.org/drawingml/2006/main">
            <a:pathLst>
              <a:path w="2800350" h="857250">
                <a:moveTo>
                  <a:pt x="0" y="0"/>
                </a:moveTo>
                <a:lnTo>
                  <a:pt x="2562225" y="0"/>
                </a:lnTo>
                <a:lnTo>
                  <a:pt x="2800350" y="428625"/>
                </a:lnTo>
                <a:lnTo>
                  <a:pt x="2562225" y="857250"/>
                </a:lnTo>
                <a:lnTo>
                  <a:pt x="0" y="857250"/>
                </a:lnTo>
                <a:lnTo>
                  <a:pt x="219075" y="4286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下一轮计划">
            <a:extLst xmlns:a="http://schemas.openxmlformats.org/drawingml/2006/main">
              <a:ext uri="{FF2B5EF4-FFF2-40B4-BE49-F238E27FC236}">
                <a16:creationId xmlns:a16="http://schemas.microsoft.com/office/drawing/2014/main" id="{196B6AB0-C221-445C-9022-425B9426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0329" y="3459045"/>
            <a:ext cx="1850027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下一轮计划</a:t>
            </a:r>
          </a:p>
        </p:txBody>
      </p:sp>
      <p:sp>
        <p:nvSpPr>
          <p:cNvPr id="64" name="PMC / 销售 · 滚动计划">
            <a:extLst xmlns:a="http://schemas.openxmlformats.org/drawingml/2006/main">
              <a:ext uri="{FF2B5EF4-FFF2-40B4-BE49-F238E27FC236}">
                <a16:creationId xmlns:a16="http://schemas.microsoft.com/office/drawing/2014/main" id="{A28E16FF-2688-488E-BDBF-3CFA0A1E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1514" y="4421342"/>
            <a:ext cx="2620572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 / 销售 · 滚动计划</a:t>
            </a:r>
          </a:p>
        </p:txBody>
      </p:sp>
      <p:sp>
        <p:nvSpPr>
          <p:cNvPr id="65" name="对比计划与执行差异">
            <a:extLst xmlns:a="http://schemas.openxmlformats.org/drawingml/2006/main">
              <a:ext uri="{FF2B5EF4-FFF2-40B4-BE49-F238E27FC236}">
                <a16:creationId xmlns:a16="http://schemas.microsoft.com/office/drawing/2014/main" id="{7AA63E01-56FE-46FB-BD2B-BA387231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4953435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对比计划与执行差异</a:t>
            </a:r>
          </a:p>
        </p:txBody>
      </p:sp>
      <p:sp>
        <p:nvSpPr>
          <p:cNvPr id="66" name="处理缺货、延期等异常">
            <a:extLst xmlns:a="http://schemas.openxmlformats.org/drawingml/2006/main">
              <a:ext uri="{FF2B5EF4-FFF2-40B4-BE49-F238E27FC236}">
                <a16:creationId xmlns:a16="http://schemas.microsoft.com/office/drawing/2014/main" id="{667452AC-B9C4-4187-A326-D244EF0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5421521"/>
            <a:ext cx="2812324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处理缺货、延期等异常</a:t>
            </a:r>
          </a:p>
        </p:txBody>
      </p:sp>
      <p:sp>
        <p:nvSpPr>
          <p:cNvPr id="67" name="更新预测与补货安排">
            <a:extLst xmlns:a="http://schemas.openxmlformats.org/drawingml/2006/main">
              <a:ext uri="{FF2B5EF4-FFF2-40B4-BE49-F238E27FC236}">
                <a16:creationId xmlns:a16="http://schemas.microsoft.com/office/drawing/2014/main" id="{66C8E855-8303-4F69-B20A-BA3A8C2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5889607"/>
            <a:ext cx="2540617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更新预测与补货安排</a:t>
            </a:r>
          </a:p>
        </p:txBody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97271AF1-F2AF-4E3D-BA61-6BEED076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6455229"/>
            <a:ext cx="2819400" cy="544"/>
          </a:xfrm>
          <a:custGeom xmlns:a="http://schemas.openxmlformats.org/drawingml/2006/main">
            <a:pathLst>
              <a:path w="2466975" h="476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51">
            <a:solidFill>
              <a:srgbClr val="CEDCE5"/>
            </a:solidFill>
            <a:prstDash val="solid"/>
          </a:ln>
        </p:spPr>
      </p:sp>
      <p:sp>
        <p:nvSpPr>
          <p:cNvPr id="69" name="阶段交付">
            <a:extLst xmlns:a="http://schemas.openxmlformats.org/drawingml/2006/main">
              <a:ext uri="{FF2B5EF4-FFF2-40B4-BE49-F238E27FC236}">
                <a16:creationId xmlns:a16="http://schemas.microsoft.com/office/drawing/2014/main" id="{F648F272-7951-4329-BCBE-62913534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6577584"/>
            <a:ext cx="955657" cy="299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9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</a:p>
        </p:txBody>
      </p:sp>
      <p:sp>
        <p:nvSpPr>
          <p:cNvPr id="70" name="新一轮需求与供给计划">
            <a:extLst xmlns:a="http://schemas.openxmlformats.org/drawingml/2006/main">
              <a:ext uri="{FF2B5EF4-FFF2-40B4-BE49-F238E27FC236}">
                <a16:creationId xmlns:a16="http://schemas.microsoft.com/office/drawing/2014/main" id="{A4398F51-132A-4CB6-87E9-AA0E5BB8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4" y="6924185"/>
            <a:ext cx="2699113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新一轮需求与供给计划</a:t>
            </a:r>
          </a:p>
        </p:txBody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A584535D-B936-45FB-9B85-24B0C6F6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857" y="7402286"/>
            <a:ext cx="9862457" cy="293914"/>
          </a:xfrm>
          <a:custGeom xmlns:a="http://schemas.openxmlformats.org/drawingml/2006/main">
            <a:pathLst>
              <a:path w="8629650" h="257175">
                <a:moveTo>
                  <a:pt x="8629650" y="0"/>
                </a:moveTo>
                <a:lnTo>
                  <a:pt x="8629650" y="257175"/>
                </a:lnTo>
                <a:lnTo>
                  <a:pt x="0" y="257175"/>
                </a:ln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128D96"/>
            </a:solidFill>
            <a:prstDash val="dash"/>
          </a:ln>
        </p:spPr>
      </p:sp>
      <p:sp>
        <p:nvSpPr>
          <p:cNvPr id="72" name="arrowhead-71">
            <a:extLst xmlns:a="http://schemas.openxmlformats.org/drawingml/2006/main">
              <a:ext uri="{FF2B5EF4-FFF2-40B4-BE49-F238E27FC236}">
                <a16:creationId xmlns:a16="http://schemas.microsoft.com/office/drawing/2014/main" id="{0196D614-F17B-460C-A28C-83CD8783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413171"/>
            <a:ext cx="217714" cy="217714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73" name="rect-72">
            <a:extLst xmlns:a="http://schemas.openxmlformats.org/drawingml/2006/main">
              <a:ext uri="{FF2B5EF4-FFF2-40B4-BE49-F238E27FC236}">
                <a16:creationId xmlns:a16="http://schemas.microsoft.com/office/drawing/2014/main" id="{F59AABCC-F085-4A4E-A036-8EE3DFAF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2114" y="7543800"/>
            <a:ext cx="4267200" cy="348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771">
            <a:noFill/>
            <a:prstDash val="solid"/>
          </a:ln>
        </p:spPr>
      </p:sp>
      <p:sp>
        <p:nvSpPr>
          <p:cNvPr id="74" name="订单、进度、到货与库存事实持续回流">
            <a:extLst xmlns:a="http://schemas.openxmlformats.org/drawingml/2006/main">
              <a:ext uri="{FF2B5EF4-FFF2-40B4-BE49-F238E27FC236}">
                <a16:creationId xmlns:a16="http://schemas.microsoft.com/office/drawing/2014/main" id="{E08DC129-8C65-47A8-8A82-7C2535D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036" y="7523335"/>
            <a:ext cx="4329357" cy="34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86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86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订单、进度、到货与库存事实持续回流</a:t>
            </a:r>
          </a:p>
        </p:txBody>
      </p:sp>
      <p:sp>
        <p:nvSpPr>
          <p:cNvPr id="75" name="rect-74">
            <a:extLst xmlns:a="http://schemas.openxmlformats.org/drawingml/2006/main">
              <a:ext uri="{FF2B5EF4-FFF2-40B4-BE49-F238E27FC236}">
                <a16:creationId xmlns:a16="http://schemas.microsoft.com/office/drawing/2014/main" id="{0F2A8E95-D207-44C6-A146-09C48898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8251371"/>
            <a:ext cx="22990629" cy="2198914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21771">
            <a:solidFill>
              <a:srgbClr val="E0AE71"/>
            </a:solidFill>
            <a:prstDash val="dash"/>
          </a:ln>
        </p:spPr>
      </p:sp>
      <p:sp>
        <p:nvSpPr>
          <p:cNvPr id="76" name="MRP物料协同支线">
            <a:extLst xmlns:a="http://schemas.openxmlformats.org/drawingml/2006/main">
              <a:ext uri="{FF2B5EF4-FFF2-40B4-BE49-F238E27FC236}">
                <a16:creationId xmlns:a16="http://schemas.microsoft.com/office/drawing/2014/main" id="{7C1A0A0E-5A5B-4624-860E-975A6B9E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14" y="8391144"/>
            <a:ext cx="2805602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MRP物料协同支线</a:t>
            </a:r>
          </a:p>
        </p:txBody>
      </p:sp>
      <p:sp>
        <p:nvSpPr>
          <p:cNvPr id="77" name="按需适用：涉及自采 / 发料的生产订单；责任主体与系统归属待确认">
            <a:extLst xmlns:a="http://schemas.openxmlformats.org/drawingml/2006/main">
              <a:ext uri="{FF2B5EF4-FFF2-40B4-BE49-F238E27FC236}">
                <a16:creationId xmlns:a16="http://schemas.microsoft.com/office/drawing/2014/main" id="{157CE352-F850-4A7B-876F-603A8F75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714" y="8447750"/>
            <a:ext cx="8291581" cy="378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7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按需适用：涉及自采 / 发料的生产订单；责任主体与系统归属待确认</a:t>
            </a:r>
          </a:p>
        </p:txBody>
      </p:sp>
      <p:sp>
        <p:nvSpPr>
          <p:cNvPr id="78" name="生产订单 + BOM">
            <a:extLst xmlns:a="http://schemas.openxmlformats.org/drawingml/2006/main">
              <a:ext uri="{FF2B5EF4-FFF2-40B4-BE49-F238E27FC236}">
                <a16:creationId xmlns:a16="http://schemas.microsoft.com/office/drawing/2014/main" id="{44869CCD-B356-4D6E-9A17-C151C551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57" y="9001179"/>
            <a:ext cx="2516913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生产订单 + BOM</a:t>
            </a:r>
          </a:p>
        </p:txBody>
      </p:sp>
      <p:sp>
        <p:nvSpPr>
          <p:cNvPr id="79" name="读取物料库存、在途与损耗">
            <a:extLst xmlns:a="http://schemas.openxmlformats.org/drawingml/2006/main">
              <a:ext uri="{FF2B5EF4-FFF2-40B4-BE49-F238E27FC236}">
                <a16:creationId xmlns:a16="http://schemas.microsoft.com/office/drawing/2014/main" id="{1D07114B-7A20-4173-9A3B-AAE88791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57" y="9536757"/>
            <a:ext cx="321988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读取物料库存、在途与损耗</a:t>
            </a:r>
          </a:p>
        </p:txBody>
      </p:sp>
      <p:sp>
        <p:nvSpPr>
          <p:cNvPr id="80" name="path-79">
            <a:extLst xmlns:a="http://schemas.openxmlformats.org/drawingml/2006/main">
              <a:ext uri="{FF2B5EF4-FFF2-40B4-BE49-F238E27FC236}">
                <a16:creationId xmlns:a16="http://schemas.microsoft.com/office/drawing/2014/main" id="{1A31CA72-AF11-4B66-AE57-5F6049B5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361714"/>
            <a:ext cx="664029" cy="544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DF8525"/>
            </a:solidFill>
            <a:prstDash val="dash"/>
          </a:ln>
        </p:spPr>
      </p:sp>
      <p:sp>
        <p:nvSpPr>
          <p:cNvPr id="81" name="arrowhead-79">
            <a:extLst xmlns:a="http://schemas.openxmlformats.org/drawingml/2006/main">
              <a:ext uri="{FF2B5EF4-FFF2-40B4-BE49-F238E27FC236}">
                <a16:creationId xmlns:a16="http://schemas.microsoft.com/office/drawing/2014/main" id="{235350F5-1615-4ED0-816E-C00EAFFD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714" y="9252857"/>
            <a:ext cx="217714" cy="217714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82" name="物料需求测算">
            <a:extLst xmlns:a="http://schemas.openxmlformats.org/drawingml/2006/main">
              <a:ext uri="{FF2B5EF4-FFF2-40B4-BE49-F238E27FC236}">
                <a16:creationId xmlns:a16="http://schemas.microsoft.com/office/drawing/2014/main" id="{EFD739B4-1F68-43A6-B6B0-12F84485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857" y="9001179"/>
            <a:ext cx="1997202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物料需求测算</a:t>
            </a:r>
          </a:p>
        </p:txBody>
      </p:sp>
      <p:sp>
        <p:nvSpPr>
          <p:cNvPr id="83" name="输出物料缺口与到料需求">
            <a:extLst xmlns:a="http://schemas.openxmlformats.org/drawingml/2006/main">
              <a:ext uri="{FF2B5EF4-FFF2-40B4-BE49-F238E27FC236}">
                <a16:creationId xmlns:a16="http://schemas.microsoft.com/office/drawing/2014/main" id="{579A9615-007D-4416-821A-8E972C8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857" y="9536757"/>
            <a:ext cx="2959499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输出物料缺口与到料需求</a:t>
            </a:r>
          </a:p>
        </p:txBody>
      </p:sp>
      <p:sp>
        <p:nvSpPr>
          <p:cNvPr id="84" name="path-82">
            <a:extLst xmlns:a="http://schemas.openxmlformats.org/drawingml/2006/main">
              <a:ext uri="{FF2B5EF4-FFF2-40B4-BE49-F238E27FC236}">
                <a16:creationId xmlns:a16="http://schemas.microsoft.com/office/drawing/2014/main" id="{28104F9C-1DAB-4F1E-A1A2-8DBBAD1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361714"/>
            <a:ext cx="664029" cy="544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DF8525"/>
            </a:solidFill>
            <a:prstDash val="dash"/>
          </a:ln>
        </p:spPr>
      </p:sp>
      <p:sp>
        <p:nvSpPr>
          <p:cNvPr id="85" name="arrowhead-82">
            <a:extLst xmlns:a="http://schemas.openxmlformats.org/drawingml/2006/main">
              <a:ext uri="{FF2B5EF4-FFF2-40B4-BE49-F238E27FC236}">
                <a16:creationId xmlns:a16="http://schemas.microsoft.com/office/drawing/2014/main" id="{F5C855A0-183A-4F4F-9600-CB988B2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314" y="9252857"/>
            <a:ext cx="217714" cy="217714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86" name="材料采购 / 发料">
            <a:extLst xmlns:a="http://schemas.openxmlformats.org/drawingml/2006/main">
              <a:ext uri="{FF2B5EF4-FFF2-40B4-BE49-F238E27FC236}">
                <a16:creationId xmlns:a16="http://schemas.microsoft.com/office/drawing/2014/main" id="{8ABEEBCC-06E6-415D-AD42-5CA7119D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457" y="9001179"/>
            <a:ext cx="236690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材料采购 / 发料</a:t>
            </a:r>
          </a:p>
        </p:txBody>
      </p:sp>
      <p:sp>
        <p:nvSpPr>
          <p:cNvPr id="87" name="由采购、材料与供应商执行">
            <a:extLst xmlns:a="http://schemas.openxmlformats.org/drawingml/2006/main">
              <a:ext uri="{FF2B5EF4-FFF2-40B4-BE49-F238E27FC236}">
                <a16:creationId xmlns:a16="http://schemas.microsoft.com/office/drawing/2014/main" id="{636B3182-248F-4D67-9806-77716D03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457" y="9536757"/>
            <a:ext cx="321988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由采购、材料与供应商执行</a:t>
            </a:r>
          </a:p>
        </p:txBody>
      </p:sp>
      <p:sp>
        <p:nvSpPr>
          <p:cNvPr id="88" name="path-85">
            <a:extLst xmlns:a="http://schemas.openxmlformats.org/drawingml/2006/main">
              <a:ext uri="{FF2B5EF4-FFF2-40B4-BE49-F238E27FC236}">
                <a16:creationId xmlns:a16="http://schemas.microsoft.com/office/drawing/2014/main" id="{91A4C12A-0FEF-42F5-BA23-5B1947F9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9361714"/>
            <a:ext cx="664029" cy="544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DF8525"/>
            </a:solidFill>
            <a:prstDash val="dash"/>
          </a:ln>
        </p:spPr>
      </p:sp>
      <p:sp>
        <p:nvSpPr>
          <p:cNvPr id="89" name="arrowhead-85">
            <a:extLst xmlns:a="http://schemas.openxmlformats.org/drawingml/2006/main">
              <a:ext uri="{FF2B5EF4-FFF2-40B4-BE49-F238E27FC236}">
                <a16:creationId xmlns:a16="http://schemas.microsoft.com/office/drawing/2014/main" id="{948E4501-0880-4344-8F98-00A966A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914" y="9252857"/>
            <a:ext cx="217714" cy="217714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90" name="到料与齐料确认">
            <a:extLst xmlns:a="http://schemas.openxmlformats.org/drawingml/2006/main">
              <a:ext uri="{FF2B5EF4-FFF2-40B4-BE49-F238E27FC236}">
                <a16:creationId xmlns:a16="http://schemas.microsoft.com/office/drawing/2014/main" id="{F1789AA1-1E03-4113-9C42-3CC691B7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057" y="9001179"/>
            <a:ext cx="2314194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到料与齐料确认</a:t>
            </a:r>
          </a:p>
        </p:txBody>
      </p:sp>
      <p:sp>
        <p:nvSpPr>
          <p:cNvPr id="91" name="支撑生产开工与异常处理">
            <a:extLst xmlns:a="http://schemas.openxmlformats.org/drawingml/2006/main">
              <a:ext uri="{FF2B5EF4-FFF2-40B4-BE49-F238E27FC236}">
                <a16:creationId xmlns:a16="http://schemas.microsoft.com/office/drawing/2014/main" id="{1E4F64BA-4B36-4644-8360-8E73AF34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057" y="9536757"/>
            <a:ext cx="2959499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支撑生产开工与异常处理</a:t>
            </a:r>
          </a:p>
        </p:txBody>
      </p:sp>
      <p:sp>
        <p:nvSpPr>
          <p:cNvPr id="92" name="path-88">
            <a:extLst xmlns:a="http://schemas.openxmlformats.org/drawingml/2006/main">
              <a:ext uri="{FF2B5EF4-FFF2-40B4-BE49-F238E27FC236}">
                <a16:creationId xmlns:a16="http://schemas.microsoft.com/office/drawing/2014/main" id="{475A8DC3-4FD2-44E4-B914-D91DBE66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0" y="9361714"/>
            <a:ext cx="664029" cy="544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14">
            <a:solidFill>
              <a:srgbClr val="DF8525"/>
            </a:solidFill>
            <a:prstDash val="dash"/>
          </a:ln>
        </p:spPr>
      </p:sp>
      <p:sp>
        <p:nvSpPr>
          <p:cNvPr id="93" name="arrowhead-88">
            <a:extLst xmlns:a="http://schemas.openxmlformats.org/drawingml/2006/main">
              <a:ext uri="{FF2B5EF4-FFF2-40B4-BE49-F238E27FC236}">
                <a16:creationId xmlns:a16="http://schemas.microsoft.com/office/drawing/2014/main" id="{52251C6B-EBFB-4310-B8D9-70C69B23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8514" y="9252857"/>
            <a:ext cx="217714" cy="217714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94" name="物料状态反馈">
            <a:extLst xmlns:a="http://schemas.openxmlformats.org/drawingml/2006/main">
              <a:ext uri="{FF2B5EF4-FFF2-40B4-BE49-F238E27FC236}">
                <a16:creationId xmlns:a16="http://schemas.microsoft.com/office/drawing/2014/main" id="{020C4048-9519-4869-9854-0180A3F9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1657" y="9001179"/>
            <a:ext cx="1997202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物料状态反馈</a:t>
            </a:r>
          </a:p>
        </p:txBody>
      </p:sp>
      <p:sp>
        <p:nvSpPr>
          <p:cNvPr id="95" name="回传缺口、到料与生产影响">
            <a:extLst xmlns:a="http://schemas.openxmlformats.org/drawingml/2006/main">
              <a:ext uri="{FF2B5EF4-FFF2-40B4-BE49-F238E27FC236}">
                <a16:creationId xmlns:a16="http://schemas.microsoft.com/office/drawing/2014/main" id="{AF8A457C-6919-4C4D-998B-6F551E5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1657" y="9536757"/>
            <a:ext cx="3219885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回传缺口、到料与生产影响</a:t>
            </a:r>
          </a:p>
        </p:txBody>
      </p:sp>
      <p:sp>
        <p:nvSpPr>
          <p:cNvPr id="96" name="Q4定位：梳理BOM、物料口径、责任人与接口，评估最小闭环；完整MRP不作为本稿交付承诺。">
            <a:extLst xmlns:a="http://schemas.openxmlformats.org/drawingml/2006/main">
              <a:ext uri="{FF2B5EF4-FFF2-40B4-BE49-F238E27FC236}">
                <a16:creationId xmlns:a16="http://schemas.microsoft.com/office/drawing/2014/main" id="{F46DC82B-061C-418E-8DC3-854068CA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57" y="9961735"/>
            <a:ext cx="10778517" cy="34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86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86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Q4定位：梳理BOM、物料口径、责任人与接口，评估最小闭环；完整MRP不作为本稿交付承诺。</a:t>
            </a:r>
          </a:p>
        </p:txBody>
      </p:sp>
      <p:sp>
        <p:nvSpPr>
          <p:cNvPr id="97" name="Q4并行建设重点">
            <a:extLst xmlns:a="http://schemas.openxmlformats.org/drawingml/2006/main">
              <a:ext uri="{FF2B5EF4-FFF2-40B4-BE49-F238E27FC236}">
                <a16:creationId xmlns:a16="http://schemas.microsoft.com/office/drawing/2014/main" id="{6739DA71-C3DD-48DF-89C5-9A2D1508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0687159"/>
            <a:ext cx="2683546" cy="48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57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57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Q4并行建设重点</a:t>
            </a:r>
          </a:p>
        </p:txBody>
      </p:sp>
      <p:sp>
        <p:nvSpPr>
          <p:cNvPr id="98" name="path-93">
            <a:extLst xmlns:a="http://schemas.openxmlformats.org/drawingml/2006/main">
              <a:ext uri="{FF2B5EF4-FFF2-40B4-BE49-F238E27FC236}">
                <a16:creationId xmlns:a16="http://schemas.microsoft.com/office/drawing/2014/main" id="{3A52EC42-7339-487C-B6DF-CDACC162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1332029"/>
            <a:ext cx="5551714" cy="544"/>
          </a:xfrm>
          <a:custGeom xmlns:a="http://schemas.openxmlformats.org/drawingml/2006/main">
            <a:pathLst>
              <a:path w="4857750" h="476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543">
            <a:solidFill>
              <a:srgbClr val="008DD5"/>
            </a:solidFill>
            <a:prstDash val="solid"/>
          </a:ln>
        </p:spPr>
      </p:sp>
      <p:sp>
        <p:nvSpPr>
          <p:cNvPr id="99" name="01  计划MVP">
            <a:extLst xmlns:a="http://schemas.openxmlformats.org/drawingml/2006/main">
              <a:ext uri="{FF2B5EF4-FFF2-40B4-BE49-F238E27FC236}">
                <a16:creationId xmlns:a16="http://schemas.microsoft.com/office/drawing/2014/main" id="{6F250A5B-AF05-4DF6-BFF2-99E79090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1482687"/>
            <a:ext cx="1920784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01  计划MVP</a:t>
            </a:r>
          </a:p>
        </p:txBody>
      </p:sp>
      <p:sp>
        <p:nvSpPr>
          <p:cNvPr id="100" name="预测填报、规则配置、计划审核">
            <a:extLst xmlns:a="http://schemas.openxmlformats.org/drawingml/2006/main">
              <a:ext uri="{FF2B5EF4-FFF2-40B4-BE49-F238E27FC236}">
                <a16:creationId xmlns:a16="http://schemas.microsoft.com/office/drawing/2014/main" id="{22FECD96-E880-4376-8BBA-C5D477DE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2017829"/>
            <a:ext cx="4057650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预测填报、规则配置、计划审核</a:t>
            </a:r>
          </a:p>
        </p:txBody>
      </p:sp>
      <p:sp>
        <p:nvSpPr>
          <p:cNvPr id="101" name="采购需求 / 过货结果可追溯">
            <a:extLst xmlns:a="http://schemas.openxmlformats.org/drawingml/2006/main">
              <a:ext uri="{FF2B5EF4-FFF2-40B4-BE49-F238E27FC236}">
                <a16:creationId xmlns:a16="http://schemas.microsoft.com/office/drawing/2014/main" id="{6AF9202D-9801-4170-8E03-3771FDF1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2442371"/>
            <a:ext cx="3538646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采购需求 / 过货结果可追溯</a:t>
            </a:r>
          </a:p>
        </p:txBody>
      </p:sp>
      <p:sp>
        <p:nvSpPr>
          <p:cNvPr id="102" name="path-97">
            <a:extLst xmlns:a="http://schemas.openxmlformats.org/drawingml/2006/main">
              <a:ext uri="{FF2B5EF4-FFF2-40B4-BE49-F238E27FC236}">
                <a16:creationId xmlns:a16="http://schemas.microsoft.com/office/drawing/2014/main" id="{9FCAF375-5267-495C-AAAB-57EEDE6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11332029"/>
            <a:ext cx="5551714" cy="544"/>
          </a:xfrm>
          <a:custGeom xmlns:a="http://schemas.openxmlformats.org/drawingml/2006/main">
            <a:pathLst>
              <a:path w="4857750" h="476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543">
            <a:solidFill>
              <a:srgbClr val="DF8525"/>
            </a:solidFill>
            <a:prstDash val="solid"/>
          </a:ln>
        </p:spPr>
      </p:sp>
      <p:sp>
        <p:nvSpPr>
          <p:cNvPr id="103" name="02  SCM承接">
            <a:extLst xmlns:a="http://schemas.openxmlformats.org/drawingml/2006/main">
              <a:ext uri="{FF2B5EF4-FFF2-40B4-BE49-F238E27FC236}">
                <a16:creationId xmlns:a16="http://schemas.microsoft.com/office/drawing/2014/main" id="{D2C36A4B-D928-42FF-AB22-7244E056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11482687"/>
            <a:ext cx="2005870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02  SCM承接</a:t>
            </a:r>
          </a:p>
        </p:txBody>
      </p:sp>
      <p:sp>
        <p:nvSpPr>
          <p:cNvPr id="104" name="现有能力盘点、关键问题修复">
            <a:extLst xmlns:a="http://schemas.openxmlformats.org/drawingml/2006/main">
              <a:ext uri="{FF2B5EF4-FFF2-40B4-BE49-F238E27FC236}">
                <a16:creationId xmlns:a16="http://schemas.microsoft.com/office/drawing/2014/main" id="{09C840C0-E05B-41EF-AA44-C77DA16E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12017829"/>
            <a:ext cx="3774621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现有能力盘点、关键问题修复</a:t>
            </a:r>
          </a:p>
        </p:txBody>
      </p:sp>
      <p:sp>
        <p:nvSpPr>
          <p:cNvPr id="105" name="明确需求接收与执行状态反馈">
            <a:extLst xmlns:a="http://schemas.openxmlformats.org/drawingml/2006/main">
              <a:ext uri="{FF2B5EF4-FFF2-40B4-BE49-F238E27FC236}">
                <a16:creationId xmlns:a16="http://schemas.microsoft.com/office/drawing/2014/main" id="{87384C60-453B-4ADF-8A4F-23C27D5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857" y="12442371"/>
            <a:ext cx="3774621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明确需求接收与执行状态反馈</a:t>
            </a:r>
          </a:p>
        </p:txBody>
      </p:sp>
      <p:sp>
        <p:nvSpPr>
          <p:cNvPr id="106" name="path-101">
            <a:extLst xmlns:a="http://schemas.openxmlformats.org/drawingml/2006/main">
              <a:ext uri="{FF2B5EF4-FFF2-40B4-BE49-F238E27FC236}">
                <a16:creationId xmlns:a16="http://schemas.microsoft.com/office/drawing/2014/main" id="{3974CF6A-F310-4079-A1D3-BB34065B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029" y="11332029"/>
            <a:ext cx="5551714" cy="544"/>
          </a:xfrm>
          <a:custGeom xmlns:a="http://schemas.openxmlformats.org/drawingml/2006/main">
            <a:pathLst>
              <a:path w="4857750" h="476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543">
            <a:solidFill>
              <a:srgbClr val="54983E"/>
            </a:solidFill>
            <a:prstDash val="solid"/>
          </a:ln>
        </p:spPr>
      </p:sp>
      <p:sp>
        <p:nvSpPr>
          <p:cNvPr id="107" name="03  MES稳定化">
            <a:extLst xmlns:a="http://schemas.openxmlformats.org/drawingml/2006/main">
              <a:ext uri="{FF2B5EF4-FFF2-40B4-BE49-F238E27FC236}">
                <a16:creationId xmlns:a16="http://schemas.microsoft.com/office/drawing/2014/main" id="{71840DA1-4841-4ECA-ABD9-C92AD890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029" y="11482687"/>
            <a:ext cx="2304642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03  MES稳定化</a:t>
            </a:r>
          </a:p>
        </p:txBody>
      </p:sp>
      <p:sp>
        <p:nvSpPr>
          <p:cNvPr id="108" name="现场问题修复、操作微调与推广">
            <a:extLst xmlns:a="http://schemas.openxmlformats.org/drawingml/2006/main">
              <a:ext uri="{FF2B5EF4-FFF2-40B4-BE49-F238E27FC236}">
                <a16:creationId xmlns:a16="http://schemas.microsoft.com/office/drawing/2014/main" id="{90BB2813-7F9F-40BC-BC24-2500E1B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029" y="12017829"/>
            <a:ext cx="4057650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现场问题修复、操作微调与推广</a:t>
            </a:r>
          </a:p>
        </p:txBody>
      </p:sp>
      <p:sp>
        <p:nvSpPr>
          <p:cNvPr id="109" name="验证可用性及生产回传口径">
            <a:extLst xmlns:a="http://schemas.openxmlformats.org/drawingml/2006/main">
              <a:ext uri="{FF2B5EF4-FFF2-40B4-BE49-F238E27FC236}">
                <a16:creationId xmlns:a16="http://schemas.microsoft.com/office/drawing/2014/main" id="{A86FA7F6-E17A-4E04-9964-ECD4012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029" y="12442371"/>
            <a:ext cx="3491593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验证可用性及生产回传口径</a:t>
            </a:r>
          </a:p>
        </p:txBody>
      </p:sp>
      <p:sp>
        <p:nvSpPr>
          <p:cNvPr id="110" name="path-105">
            <a:extLst xmlns:a="http://schemas.openxmlformats.org/drawingml/2006/main">
              <a:ext uri="{FF2B5EF4-FFF2-40B4-BE49-F238E27FC236}">
                <a16:creationId xmlns:a16="http://schemas.microsoft.com/office/drawing/2014/main" id="{F4B5A00C-B066-4BC2-BA97-1F8D2F0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1332029"/>
            <a:ext cx="5551714" cy="544"/>
          </a:xfrm>
          <a:custGeom xmlns:a="http://schemas.openxmlformats.org/drawingml/2006/main">
            <a:pathLst>
              <a:path w="4857750" h="476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543">
            <a:solidFill>
              <a:srgbClr val="128D96"/>
            </a:solidFill>
            <a:prstDash val="solid"/>
          </a:ln>
        </p:spPr>
      </p:sp>
      <p:sp>
        <p:nvSpPr>
          <p:cNvPr id="111" name="04  协同基础梳理">
            <a:extLst xmlns:a="http://schemas.openxmlformats.org/drawingml/2006/main">
              <a:ext uri="{FF2B5EF4-FFF2-40B4-BE49-F238E27FC236}">
                <a16:creationId xmlns:a16="http://schemas.microsoft.com/office/drawing/2014/main" id="{35D62E66-170D-477E-95F3-9BB63C43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1482687"/>
            <a:ext cx="2568566" cy="45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86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04  协同基础梳理</a:t>
            </a:r>
          </a:p>
        </p:txBody>
      </p:sp>
      <p:sp>
        <p:nvSpPr>
          <p:cNvPr id="112" name="MRP、QC、库存Owner与接口">
            <a:extLst xmlns:a="http://schemas.openxmlformats.org/drawingml/2006/main">
              <a:ext uri="{FF2B5EF4-FFF2-40B4-BE49-F238E27FC236}">
                <a16:creationId xmlns:a16="http://schemas.microsoft.com/office/drawing/2014/main" id="{FBB6D11D-6BF4-4E80-B6A8-68482B1D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2017829"/>
            <a:ext cx="3971680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MRP、QC、库存Owner与接口</a:t>
            </a:r>
          </a:p>
        </p:txBody>
      </p:sp>
      <p:sp>
        <p:nvSpPr>
          <p:cNvPr id="113" name="确认局部MVP及跨系统责任">
            <a:extLst xmlns:a="http://schemas.openxmlformats.org/drawingml/2006/main">
              <a:ext uri="{FF2B5EF4-FFF2-40B4-BE49-F238E27FC236}">
                <a16:creationId xmlns:a16="http://schemas.microsoft.com/office/drawing/2014/main" id="{52A50D3A-D9FE-47C4-BF70-68E2BE32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2442371"/>
            <a:ext cx="3537762" cy="394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43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确认局部MVP及跨系统责任</a:t>
            </a:r>
          </a:p>
        </p:txBody>
      </p:sp>
      <p:sp>
        <p:nvSpPr>
          <p:cNvPr id="114" name="边界：PMC输出计划需求；正式PR创建与审批待确认。库存事实由来源系统提供；MES任务来源及回传字段待确认。">
            <a:extLst xmlns:a="http://schemas.openxmlformats.org/drawingml/2006/main">
              <a:ext uri="{FF2B5EF4-FFF2-40B4-BE49-F238E27FC236}">
                <a16:creationId xmlns:a16="http://schemas.microsoft.com/office/drawing/2014/main" id="{D3906B47-B8A5-4E89-9BF8-324EBCE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3096385"/>
            <a:ext cx="13562811" cy="36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1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71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边界：PMC输出计划需求；正式PR创建与审批待确认。库存事实由来源系统提供；MES任务来源及回传字段待确认。</a:t>
            </a:r>
          </a:p>
        </p:txBody>
      </p:sp>
      <p:sp>
        <p:nvSpPr>
          <p:cNvPr id="115" name="path-110">
            <a:extLst xmlns:a="http://schemas.openxmlformats.org/drawingml/2006/main">
              <a:ext uri="{FF2B5EF4-FFF2-40B4-BE49-F238E27FC236}">
                <a16:creationId xmlns:a16="http://schemas.microsoft.com/office/drawing/2014/main" id="{58CD5E1C-C544-4488-BB98-47995213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3" y="13748657"/>
            <a:ext cx="23077714" cy="544"/>
          </a:xfrm>
          <a:custGeom xmlns:a="http://schemas.openxmlformats.org/drawingml/2006/main">
            <a:pathLst>
              <a:path w="20193000" h="476">
                <a:moveTo>
                  <a:pt x="0" y="0"/>
                </a:moveTo>
                <a:lnTo>
                  <a:pt x="2019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329">
            <a:solidFill>
              <a:srgbClr val="CEDCE5"/>
            </a:solidFill>
            <a:prstDash val="solid"/>
          </a:ln>
        </p:spPr>
      </p:sp>
      <p:sp>
        <p:nvSpPr>
          <p:cNvPr id="116" name="汇报讨论稿  ·  业务主链表示协同关系，Q4工作流并行推进  ·  2026.09.16">
            <a:extLst xmlns:a="http://schemas.openxmlformats.org/drawingml/2006/main">
              <a:ext uri="{FF2B5EF4-FFF2-40B4-BE49-F238E27FC236}">
                <a16:creationId xmlns:a16="http://schemas.microsoft.com/office/drawing/2014/main" id="{E55EFEFE-8010-4443-A8C8-A10DE771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6" y="13902799"/>
            <a:ext cx="7662196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汇报讨论稿  ·  业务主链表示协同关系，Q4工作流并行推进  ·  2026.09.16</a:t>
            </a:r>
          </a:p>
        </p:txBody>
      </p:sp>
      <p:sp>
        <p:nvSpPr>
          <p:cNvPr id="117" name="供应链数字化">
            <a:extLst xmlns:a="http://schemas.openxmlformats.org/drawingml/2006/main">
              <a:ext uri="{FF2B5EF4-FFF2-40B4-BE49-F238E27FC236}">
                <a16:creationId xmlns:a16="http://schemas.microsoft.com/office/drawing/2014/main" id="{F527846E-618E-4CA3-A61D-CA9D7140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5600" y="13902799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供应链数字化</a:t>
            </a:r>
          </a:p>
        </p:txBody>
      </p:sp>
    </p:spTree>
    <p:extLst>
      <p:ext uri="{BB962C8B-B14F-4D97-AF65-F5344CB8AC3E}">
        <p14:creationId xmlns:p14="http://schemas.microsoft.com/office/powerpoint/2010/main" val="1084680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rect-1">
            <a:extLst xmlns:a="http://schemas.openxmlformats.org/drawingml/2006/main">
              <a:ext uri="{FF2B5EF4-FFF2-40B4-BE49-F238E27FC236}">
                <a16:creationId xmlns:a16="http://schemas.microsoft.com/office/drawing/2014/main" id="{20B8E3EC-5BED-4F6E-83E9-4EC340BF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0" cy="15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-2">
            <a:extLst xmlns:a="http://schemas.openxmlformats.org/drawingml/2006/main">
              <a:ext uri="{FF2B5EF4-FFF2-40B4-BE49-F238E27FC236}">
                <a16:creationId xmlns:a16="http://schemas.microsoft.com/office/drawing/2014/main" id="{45F87F31-502E-4EAA-84A0-D7978CAD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Q4供应链系统建设｜跨部门泳道">
            <a:extLst xmlns:a="http://schemas.openxmlformats.org/drawingml/2006/main">
              <a:ext uri="{FF2B5EF4-FFF2-40B4-BE49-F238E27FC236}">
                <a16:creationId xmlns:a16="http://schemas.microsoft.com/office/drawing/2014/main" id="{60083D9E-003A-4DEC-B6A7-B2A9FFEC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7215188" cy="69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Q4供应链系统建设｜跨部门泳道</a:t>
            </a:r>
          </a:p>
        </p:txBody>
      </p:sp>
      <p:sp>
        <p:nvSpPr>
          <p:cNvPr id="4" name="2026 Q4  /  V1.0">
            <a:extLst xmlns:a="http://schemas.openxmlformats.org/drawingml/2006/main">
              <a:ext uri="{FF2B5EF4-FFF2-40B4-BE49-F238E27FC236}">
                <a16:creationId xmlns:a16="http://schemas.microsoft.com/office/drawing/2014/main" id="{4829FD23-741A-45FB-9104-36ABF96B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7706" y="638937"/>
            <a:ext cx="173717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2026 Q4  /  V1.0</a:t>
            </a:r>
          </a:p>
        </p:txBody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59C84433-54AE-4C12-973B-92B02537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23241000" cy="476"/>
          </a:xfrm>
          <a:custGeom xmlns:a="http://schemas.openxmlformats.org/drawingml/2006/main">
            <a:pathLst>
              <a:path w="23241000" h="476">
                <a:moveTo>
                  <a:pt x="0" y="0"/>
                </a:moveTo>
                <a:lnTo>
                  <a:pt x="2324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6" name="明确谁发起、谁审核、谁执行、谁回传；按业务交付物衔接各系统">
            <a:extLst xmlns:a="http://schemas.openxmlformats.org/drawingml/2006/main">
              <a:ext uri="{FF2B5EF4-FFF2-40B4-BE49-F238E27FC236}">
                <a16:creationId xmlns:a16="http://schemas.microsoft.com/office/drawing/2014/main" id="{E159B72D-63A8-413D-B827-E85A14CB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72771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明确谁发起、谁审核、谁执行、谁回传；按业务交付物衔接各系统</a:t>
            </a:r>
          </a:p>
        </p:txBody>
      </p:sp>
      <p:sp>
        <p:nvSpPr>
          <p:cNvPr id="7" name="02 / 协同流程">
            <a:extLst xmlns:a="http://schemas.openxmlformats.org/drawingml/2006/main">
              <a:ext uri="{FF2B5EF4-FFF2-40B4-BE49-F238E27FC236}">
                <a16:creationId xmlns:a16="http://schemas.microsoft.com/office/drawing/2014/main" id="{FCDEAA8B-9513-49F7-9B38-2A95B54C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2166" y="1487043"/>
            <a:ext cx="1482709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02 / 协同流程</a:t>
            </a:r>
          </a:p>
        </p:txBody>
      </p:sp>
      <p:sp>
        <p:nvSpPr>
          <p:cNvPr id="8" name="rect-8">
            <a:extLst xmlns:a="http://schemas.openxmlformats.org/drawingml/2006/main">
              <a:ext uri="{FF2B5EF4-FFF2-40B4-BE49-F238E27FC236}">
                <a16:creationId xmlns:a16="http://schemas.microsoft.com/office/drawing/2014/main" id="{9D85022A-2292-4C66-B45D-0F60723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" name="数据与规则准备">
            <a:extLst xmlns:a="http://schemas.openxmlformats.org/drawingml/2006/main">
              <a:ext uri="{FF2B5EF4-FFF2-40B4-BE49-F238E27FC236}">
                <a16:creationId xmlns:a16="http://schemas.microsoft.com/office/drawing/2014/main" id="{C85FE709-F26A-425B-B1BF-358DFB80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5740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数据与规则准备</a:t>
            </a:r>
          </a:p>
        </p:txBody>
      </p:sp>
      <p:sp>
        <p:nvSpPr>
          <p:cNvPr id="10" name="rect-10">
            <a:extLst xmlns:a="http://schemas.openxmlformats.org/drawingml/2006/main">
              <a:ext uri="{FF2B5EF4-FFF2-40B4-BE49-F238E27FC236}">
                <a16:creationId xmlns:a16="http://schemas.microsoft.com/office/drawing/2014/main" id="{67F0EC68-C561-442D-BE91-BFE450C3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" name="需求填报">
            <a:extLst xmlns:a="http://schemas.openxmlformats.org/drawingml/2006/main">
              <a:ext uri="{FF2B5EF4-FFF2-40B4-BE49-F238E27FC236}">
                <a16:creationId xmlns:a16="http://schemas.microsoft.com/office/drawing/2014/main" id="{89316280-600C-430C-AF3B-98A22AB1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574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需求填报</a:t>
            </a:r>
          </a:p>
        </p:txBody>
      </p:sp>
      <p:sp>
        <p:nvSpPr>
          <p:cNvPr id="12" name="rect-12">
            <a:extLst xmlns:a="http://schemas.openxmlformats.org/drawingml/2006/main">
              <a:ext uri="{FF2B5EF4-FFF2-40B4-BE49-F238E27FC236}">
                <a16:creationId xmlns:a16="http://schemas.microsoft.com/office/drawing/2014/main" id="{EB381360-72FB-47DF-AFF2-36CA1C61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" name="需求审核">
            <a:extLst xmlns:a="http://schemas.openxmlformats.org/drawingml/2006/main">
              <a:ext uri="{FF2B5EF4-FFF2-40B4-BE49-F238E27FC236}">
                <a16:creationId xmlns:a16="http://schemas.microsoft.com/office/drawing/2014/main" id="{B35C0C5D-36FD-4B06-AE16-3C192E2F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需求审核</a:t>
            </a:r>
          </a:p>
        </p:txBody>
      </p:sp>
      <p:sp>
        <p:nvSpPr>
          <p:cNvPr id="14" name="rect-14">
            <a:extLst xmlns:a="http://schemas.openxmlformats.org/drawingml/2006/main">
              <a:ext uri="{FF2B5EF4-FFF2-40B4-BE49-F238E27FC236}">
                <a16:creationId xmlns:a16="http://schemas.microsoft.com/office/drawing/2014/main" id="{E5B6E019-8879-46EE-BD20-AAAE7129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" name="计划与采购承接">
            <a:extLst xmlns:a="http://schemas.openxmlformats.org/drawingml/2006/main">
              <a:ext uri="{FF2B5EF4-FFF2-40B4-BE49-F238E27FC236}">
                <a16:creationId xmlns:a16="http://schemas.microsoft.com/office/drawing/2014/main" id="{F0AECDBD-8CFA-410B-B3FA-0481B102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05740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计划与采购承接</a:t>
            </a:r>
          </a:p>
        </p:txBody>
      </p:sp>
      <p:sp>
        <p:nvSpPr>
          <p:cNvPr id="16" name="rect-16">
            <a:extLst xmlns:a="http://schemas.openxmlformats.org/drawingml/2006/main">
              <a:ext uri="{FF2B5EF4-FFF2-40B4-BE49-F238E27FC236}">
                <a16:creationId xmlns:a16="http://schemas.microsoft.com/office/drawing/2014/main" id="{54B791CF-A740-4977-B591-E8A62643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" name="物料协同">
            <a:extLst xmlns:a="http://schemas.openxmlformats.org/drawingml/2006/main">
              <a:ext uri="{FF2B5EF4-FFF2-40B4-BE49-F238E27FC236}">
                <a16:creationId xmlns:a16="http://schemas.microsoft.com/office/drawing/2014/main" id="{E21BCE1F-BFBD-4DC2-A1E2-BBC6CB0B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0574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物料协同</a:t>
            </a:r>
          </a:p>
        </p:txBody>
      </p:sp>
      <p:sp>
        <p:nvSpPr>
          <p:cNvPr id="18" name="rect-18">
            <a:extLst xmlns:a="http://schemas.openxmlformats.org/drawingml/2006/main">
              <a:ext uri="{FF2B5EF4-FFF2-40B4-BE49-F238E27FC236}">
                <a16:creationId xmlns:a16="http://schemas.microsoft.com/office/drawing/2014/main" id="{DA39A5DE-D660-4FD8-A133-B1B129DF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" name="生产执行">
            <a:extLst xmlns:a="http://schemas.openxmlformats.org/drawingml/2006/main">
              <a:ext uri="{FF2B5EF4-FFF2-40B4-BE49-F238E27FC236}">
                <a16:creationId xmlns:a16="http://schemas.microsoft.com/office/drawing/2014/main" id="{B0606E0E-009D-4E7E-B8EA-D9269FAB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05740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生产执行</a:t>
            </a:r>
          </a:p>
        </p:txBody>
      </p:sp>
      <p:sp>
        <p:nvSpPr>
          <p:cNvPr id="20" name="rect-20">
            <a:extLst xmlns:a="http://schemas.openxmlformats.org/drawingml/2006/main">
              <a:ext uri="{FF2B5EF4-FFF2-40B4-BE49-F238E27FC236}">
                <a16:creationId xmlns:a16="http://schemas.microsoft.com/office/drawing/2014/main" id="{C4D2BFEB-14C5-4D17-9BF7-23157CF3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" name="质检与入库">
            <a:extLst xmlns:a="http://schemas.openxmlformats.org/drawingml/2006/main">
              <a:ext uri="{FF2B5EF4-FFF2-40B4-BE49-F238E27FC236}">
                <a16:creationId xmlns:a16="http://schemas.microsoft.com/office/drawing/2014/main" id="{E3E28F25-0780-4881-8E9A-7996E90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3325" y="2057400"/>
            <a:ext cx="1333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质检与入库</a:t>
            </a:r>
          </a:p>
        </p:txBody>
      </p:sp>
      <p:sp>
        <p:nvSpPr>
          <p:cNvPr id="22" name="rect-22">
            <a:extLst xmlns:a="http://schemas.openxmlformats.org/drawingml/2006/main">
              <a:ext uri="{FF2B5EF4-FFF2-40B4-BE49-F238E27FC236}">
                <a16:creationId xmlns:a16="http://schemas.microsoft.com/office/drawing/2014/main" id="{417DDAFD-7BB5-48B8-8383-DAFBC15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1990725"/>
            <a:ext cx="2647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" name="回流与再计划">
            <a:extLst xmlns:a="http://schemas.openxmlformats.org/drawingml/2006/main">
              <a:ext uri="{FF2B5EF4-FFF2-40B4-BE49-F238E27FC236}">
                <a16:creationId xmlns:a16="http://schemas.microsoft.com/office/drawing/2014/main" id="{960680F1-1A57-4758-99F5-BF65DEBC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0" y="2057400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回流与再计划</a:t>
            </a:r>
          </a:p>
        </p:txBody>
      </p:sp>
      <p:sp>
        <p:nvSpPr>
          <p:cNvPr id="24" name="rect-24">
            <a:extLst xmlns:a="http://schemas.openxmlformats.org/drawingml/2006/main">
              <a:ext uri="{FF2B5EF4-FFF2-40B4-BE49-F238E27FC236}">
                <a16:creationId xmlns:a16="http://schemas.microsoft.com/office/drawing/2014/main" id="{C31FEFC0-C212-4E91-A019-F995096E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" name="rect-25">
            <a:extLst xmlns:a="http://schemas.openxmlformats.org/drawingml/2006/main">
              <a:ext uri="{FF2B5EF4-FFF2-40B4-BE49-F238E27FC236}">
                <a16:creationId xmlns:a16="http://schemas.microsoft.com/office/drawing/2014/main" id="{606129A6-61EF-4C9A-8469-6CF76DCA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" name="商品 / 研发">
            <a:extLst xmlns:a="http://schemas.openxmlformats.org/drawingml/2006/main">
              <a:ext uri="{FF2B5EF4-FFF2-40B4-BE49-F238E27FC236}">
                <a16:creationId xmlns:a16="http://schemas.microsoft.com/office/drawing/2014/main" id="{ABB474C6-7782-4EB5-947D-A7FE680D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18257"/>
            <a:ext cx="152821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商品 / 研发</a:t>
            </a:r>
          </a:p>
        </p:txBody>
      </p:sp>
      <p:sp>
        <p:nvSpPr>
          <p:cNvPr id="27" name="MDM / PLM">
            <a:extLst xmlns:a="http://schemas.openxmlformats.org/drawingml/2006/main">
              <a:ext uri="{FF2B5EF4-FFF2-40B4-BE49-F238E27FC236}">
                <a16:creationId xmlns:a16="http://schemas.microsoft.com/office/drawing/2014/main" id="{04479336-82B8-46DD-93F2-93513456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59836"/>
            <a:ext cx="1177171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MDM / PLM</a:t>
            </a:r>
          </a:p>
        </p:txBody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48B14FE5-FC1C-4D0E-A4C6-6253D86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29" name="rect-29">
            <a:extLst xmlns:a="http://schemas.openxmlformats.org/drawingml/2006/main">
              <a:ext uri="{FF2B5EF4-FFF2-40B4-BE49-F238E27FC236}">
                <a16:creationId xmlns:a16="http://schemas.microsoft.com/office/drawing/2014/main" id="{1F376287-DA58-4787-BC04-BD81D453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0" name="rect-30">
            <a:extLst xmlns:a="http://schemas.openxmlformats.org/drawingml/2006/main">
              <a:ext uri="{FF2B5EF4-FFF2-40B4-BE49-F238E27FC236}">
                <a16:creationId xmlns:a16="http://schemas.microsoft.com/office/drawing/2014/main" id="{F3894E5D-5B22-4A47-8816-701C872D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0525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1" name="销售 / 运营">
            <a:extLst xmlns:a="http://schemas.openxmlformats.org/drawingml/2006/main">
              <a:ext uri="{FF2B5EF4-FFF2-40B4-BE49-F238E27FC236}">
                <a16:creationId xmlns:a16="http://schemas.microsoft.com/office/drawing/2014/main" id="{65E7FBF8-E9A5-4567-98DA-FA35601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47007"/>
            <a:ext cx="152821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销售 / 运营</a:t>
            </a:r>
          </a:p>
        </p:txBody>
      </p:sp>
      <p:sp>
        <p:nvSpPr>
          <p:cNvPr id="32" name="计划平台 · 日级填报">
            <a:extLst xmlns:a="http://schemas.openxmlformats.org/drawingml/2006/main">
              <a:ext uri="{FF2B5EF4-FFF2-40B4-BE49-F238E27FC236}">
                <a16:creationId xmlns:a16="http://schemas.microsoft.com/office/drawing/2014/main" id="{1FE1355C-8F22-46B5-8050-97E376AE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8586"/>
            <a:ext cx="1820442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计划平台 · 日级填报</a:t>
            </a:r>
          </a:p>
        </p:txBody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C6256192-16C1-4F02-91E2-D8557AA5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34" name="rect-34">
            <a:extLst xmlns:a="http://schemas.openxmlformats.org/drawingml/2006/main">
              <a:ext uri="{FF2B5EF4-FFF2-40B4-BE49-F238E27FC236}">
                <a16:creationId xmlns:a16="http://schemas.microsoft.com/office/drawing/2014/main" id="{952F87F0-BE84-49CE-9A62-4D7122D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5" name="rect-35">
            <a:extLst xmlns:a="http://schemas.openxmlformats.org/drawingml/2006/main">
              <a:ext uri="{FF2B5EF4-FFF2-40B4-BE49-F238E27FC236}">
                <a16:creationId xmlns:a16="http://schemas.microsoft.com/office/drawing/2014/main" id="{44472F98-3993-4778-9523-1E9FFD68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3400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6" name="PMC计划">
            <a:extLst xmlns:a="http://schemas.openxmlformats.org/drawingml/2006/main">
              <a:ext uri="{FF2B5EF4-FFF2-40B4-BE49-F238E27FC236}">
                <a16:creationId xmlns:a16="http://schemas.microsoft.com/office/drawing/2014/main" id="{BD3857E4-380B-463C-BC65-DE1BF1A7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75757"/>
            <a:ext cx="1285208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PMC计划</a:t>
            </a:r>
          </a:p>
        </p:txBody>
      </p:sp>
      <p:sp>
        <p:nvSpPr>
          <p:cNvPr id="37" name="计划平台 · 中枢">
            <a:extLst xmlns:a="http://schemas.openxmlformats.org/drawingml/2006/main">
              <a:ext uri="{FF2B5EF4-FFF2-40B4-BE49-F238E27FC236}">
                <a16:creationId xmlns:a16="http://schemas.microsoft.com/office/drawing/2014/main" id="{A395C629-3C7F-46D0-B26A-7A954E68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17336"/>
            <a:ext cx="144401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计划平台 · 中枢</a:t>
            </a:r>
          </a:p>
        </p:txBody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EE6D853F-5115-470B-BC95-534DDFC2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39" name="rect-39">
            <a:extLst xmlns:a="http://schemas.openxmlformats.org/drawingml/2006/main">
              <a:ext uri="{FF2B5EF4-FFF2-40B4-BE49-F238E27FC236}">
                <a16:creationId xmlns:a16="http://schemas.microsoft.com/office/drawing/2014/main" id="{583CAD96-3B89-41F0-B83B-71215261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0" name="rect-40">
            <a:extLst xmlns:a="http://schemas.openxmlformats.org/drawingml/2006/main">
              <a:ext uri="{FF2B5EF4-FFF2-40B4-BE49-F238E27FC236}">
                <a16:creationId xmlns:a16="http://schemas.microsoft.com/office/drawing/2014/main" id="{29A7E6E0-FC98-44F4-8804-9CA1E25B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76275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1" name="采购 / 供应商">
            <a:extLst xmlns:a="http://schemas.openxmlformats.org/drawingml/2006/main">
              <a:ext uri="{FF2B5EF4-FFF2-40B4-BE49-F238E27FC236}">
                <a16:creationId xmlns:a16="http://schemas.microsoft.com/office/drawing/2014/main" id="{BF2A258E-1E70-46F3-8756-9D86A138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04507"/>
            <a:ext cx="1805583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采购 / 供应商</a:t>
            </a:r>
          </a:p>
        </p:txBody>
      </p:sp>
      <p:sp>
        <p:nvSpPr>
          <p:cNvPr id="42" name="SCM · 采购执行">
            <a:extLst xmlns:a="http://schemas.openxmlformats.org/drawingml/2006/main">
              <a:ext uri="{FF2B5EF4-FFF2-40B4-BE49-F238E27FC236}">
                <a16:creationId xmlns:a16="http://schemas.microsoft.com/office/drawing/2014/main" id="{9F6C507A-E99A-4041-8F3F-198712EF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546086"/>
            <a:ext cx="148967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SCM · 采购执行</a:t>
            </a:r>
          </a:p>
        </p:txBody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7F79A3A5-541B-4199-8EB5-12A6877B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44" name="rect-44">
            <a:extLst xmlns:a="http://schemas.openxmlformats.org/drawingml/2006/main">
              <a:ext uri="{FF2B5EF4-FFF2-40B4-BE49-F238E27FC236}">
                <a16:creationId xmlns:a16="http://schemas.microsoft.com/office/drawing/2014/main" id="{F207F7ED-7E60-454C-B530-9366D0C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5" name="rect-45">
            <a:extLst xmlns:a="http://schemas.openxmlformats.org/drawingml/2006/main">
              <a:ext uri="{FF2B5EF4-FFF2-40B4-BE49-F238E27FC236}">
                <a16:creationId xmlns:a16="http://schemas.microsoft.com/office/drawing/2014/main" id="{699F7EF0-27B3-4880-AC00-892DEC2B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19150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6" name="材料协同">
            <a:extLst xmlns:a="http://schemas.openxmlformats.org/drawingml/2006/main">
              <a:ext uri="{FF2B5EF4-FFF2-40B4-BE49-F238E27FC236}">
                <a16:creationId xmlns:a16="http://schemas.microsoft.com/office/drawing/2014/main" id="{DBB96DAA-580E-4DE2-A46F-032E288E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33257"/>
            <a:ext cx="120472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材料协同</a:t>
            </a:r>
          </a:p>
        </p:txBody>
      </p:sp>
      <p:sp>
        <p:nvSpPr>
          <p:cNvPr id="47" name="MRP · 归属待确认">
            <a:extLst xmlns:a="http://schemas.openxmlformats.org/drawingml/2006/main">
              <a:ext uri="{FF2B5EF4-FFF2-40B4-BE49-F238E27FC236}">
                <a16:creationId xmlns:a16="http://schemas.microsoft.com/office/drawing/2014/main" id="{D2F23547-6970-4BD5-BFDD-357D8D82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974836"/>
            <a:ext cx="166999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MRP · 归属待确认</a:t>
            </a:r>
          </a:p>
        </p:txBody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20C3398F-E871-4F41-BCE7-2EFB2B43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49" name="rect-49">
            <a:extLst xmlns:a="http://schemas.openxmlformats.org/drawingml/2006/main">
              <a:ext uri="{FF2B5EF4-FFF2-40B4-BE49-F238E27FC236}">
                <a16:creationId xmlns:a16="http://schemas.microsoft.com/office/drawing/2014/main" id="{08CE82AA-CFCC-4A4F-8023-ACA32D5A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0" name="rect-50">
            <a:extLst xmlns:a="http://schemas.openxmlformats.org/drawingml/2006/main">
              <a:ext uri="{FF2B5EF4-FFF2-40B4-BE49-F238E27FC236}">
                <a16:creationId xmlns:a16="http://schemas.microsoft.com/office/drawing/2014/main" id="{E3383862-4FFA-44EB-9DFF-E5775D6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962025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1" name="工厂 / 生产">
            <a:extLst xmlns:a="http://schemas.openxmlformats.org/drawingml/2006/main">
              <a:ext uri="{FF2B5EF4-FFF2-40B4-BE49-F238E27FC236}">
                <a16:creationId xmlns:a16="http://schemas.microsoft.com/office/drawing/2014/main" id="{C3BEF2EB-13E9-4E96-A425-D0F6CD6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962007"/>
            <a:ext cx="152821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工厂 / 生产</a:t>
            </a:r>
          </a:p>
        </p:txBody>
      </p:sp>
      <p:sp>
        <p:nvSpPr>
          <p:cNvPr id="52" name="MES · 生产执行">
            <a:extLst xmlns:a="http://schemas.openxmlformats.org/drawingml/2006/main">
              <a:ext uri="{FF2B5EF4-FFF2-40B4-BE49-F238E27FC236}">
                <a16:creationId xmlns:a16="http://schemas.microsoft.com/office/drawing/2014/main" id="{CFB85951-5B33-475B-B486-539B7333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403586"/>
            <a:ext cx="147249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MES · 生产执行</a:t>
            </a:r>
          </a:p>
        </p:txBody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70246AC3-3E4F-4C17-88CA-3C55D2DF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54" name="rect-54">
            <a:extLst xmlns:a="http://schemas.openxmlformats.org/drawingml/2006/main">
              <a:ext uri="{FF2B5EF4-FFF2-40B4-BE49-F238E27FC236}">
                <a16:creationId xmlns:a16="http://schemas.microsoft.com/office/drawing/2014/main" id="{2F836706-66E1-4852-B0DF-CF5EEB8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0"/>
            <a:ext cx="1828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5" name="rect-55">
            <a:extLst xmlns:a="http://schemas.openxmlformats.org/drawingml/2006/main">
              <a:ext uri="{FF2B5EF4-FFF2-40B4-BE49-F238E27FC236}">
                <a16:creationId xmlns:a16="http://schemas.microsoft.com/office/drawing/2014/main" id="{7346246D-F98C-47DA-B76C-C472A18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1049000"/>
            <a:ext cx="2118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6" name="质检 / 仓储">
            <a:extLst xmlns:a="http://schemas.openxmlformats.org/drawingml/2006/main">
              <a:ext uri="{FF2B5EF4-FFF2-40B4-BE49-F238E27FC236}">
                <a16:creationId xmlns:a16="http://schemas.microsoft.com/office/drawing/2014/main" id="{3C4557F7-F998-4BD8-8B0D-28FB7113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390757"/>
            <a:ext cx="152821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质检 / 仓储</a:t>
            </a:r>
          </a:p>
        </p:txBody>
      </p:sp>
      <p:sp>
        <p:nvSpPr>
          <p:cNvPr id="57" name="QC / WMS / 领星等">
            <a:extLst xmlns:a="http://schemas.openxmlformats.org/drawingml/2006/main">
              <a:ext uri="{FF2B5EF4-FFF2-40B4-BE49-F238E27FC236}">
                <a16:creationId xmlns:a16="http://schemas.microsoft.com/office/drawing/2014/main" id="{752E19F2-D31A-48FD-A05D-59FCE0CE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832336"/>
            <a:ext cx="184025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QC / WMS / 领星等</a:t>
            </a:r>
          </a:p>
        </p:txBody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8A6E83E1-05AB-40F4-8ECA-F656082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0"/>
            <a:ext cx="23012400" cy="476"/>
          </a:xfrm>
          <a:custGeom xmlns:a="http://schemas.openxmlformats.org/drawingml/2006/main">
            <a:pathLst>
              <a:path w="23012400" h="476">
                <a:moveTo>
                  <a:pt x="0" y="0"/>
                </a:moveTo>
                <a:lnTo>
                  <a:pt x="2301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EDCE5"/>
            </a:solidFill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B8F40D5D-3C04-411E-B409-60CEBCF6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3EAA27F4-0F57-49F1-BA11-D5C17221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4B2F8EC2-7885-4483-9E12-783444AF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71CE3016-9D91-4CA9-983A-31E2D5C0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F31220E5-0167-465E-AB80-CD458CC6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A908835C-4127-4BB5-BCD1-D8D2FABC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D1EC19A2-F892-4F0B-9C9E-33A231CB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BEFC30A6-BB0F-43D4-9F1F-0463EFCA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43E08158-9701-4DCE-BB05-F080259B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0" y="2476500"/>
            <a:ext cx="476" cy="10001250"/>
          </a:xfrm>
          <a:custGeom xmlns:a="http://schemas.openxmlformats.org/drawingml/2006/main">
            <a:pathLst>
              <a:path w="476" h="10001250">
                <a:moveTo>
                  <a:pt x="0" y="0"/>
                </a:moveTo>
                <a:lnTo>
                  <a:pt x="0" y="100012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EDCE5"/>
            </a:solidFill>
            <a:prstDash val="solid"/>
          </a:ln>
        </p:spPr>
      </p:sp>
      <p:sp>
        <p:nvSpPr>
          <p:cNvPr id="68" name="rect-68">
            <a:extLst xmlns:a="http://schemas.openxmlformats.org/drawingml/2006/main">
              <a:ext uri="{FF2B5EF4-FFF2-40B4-BE49-F238E27FC236}">
                <a16:creationId xmlns:a16="http://schemas.microsoft.com/office/drawing/2014/main" id="{37120330-7689-4F5D-B722-63F5A9D3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717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8D96"/>
            </a:solidFill>
            <a:prstDash val="solid"/>
          </a:ln>
        </p:spPr>
      </p:sp>
      <p:sp>
        <p:nvSpPr>
          <p:cNvPr id="69" name="rect-69">
            <a:extLst xmlns:a="http://schemas.openxmlformats.org/drawingml/2006/main">
              <a:ext uri="{FF2B5EF4-FFF2-40B4-BE49-F238E27FC236}">
                <a16:creationId xmlns:a16="http://schemas.microsoft.com/office/drawing/2014/main" id="{1F1CE14E-E6BB-4AFC-8C00-04A03F62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717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D9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0" name="商品资料就绪">
            <a:extLst xmlns:a="http://schemas.openxmlformats.org/drawingml/2006/main">
              <a:ext uri="{FF2B5EF4-FFF2-40B4-BE49-F238E27FC236}">
                <a16:creationId xmlns:a16="http://schemas.microsoft.com/office/drawing/2014/main" id="{090BBE25-9729-4EF7-9E8C-A50C21F8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518" y="27816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商品资料就绪</a:t>
            </a:r>
          </a:p>
        </p:txBody>
      </p:sp>
      <p:sp>
        <p:nvSpPr>
          <p:cNvPr id="71" name="SKU / 版本关系">
            <a:extLst xmlns:a="http://schemas.openxmlformats.org/drawingml/2006/main">
              <a:ext uri="{FF2B5EF4-FFF2-40B4-BE49-F238E27FC236}">
                <a16:creationId xmlns:a16="http://schemas.microsoft.com/office/drawing/2014/main" id="{9B2964FD-C7ED-44D0-BE47-9E84193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640" y="3107817"/>
            <a:ext cx="137947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SKU / 版本关系</a:t>
            </a:r>
          </a:p>
        </p:txBody>
      </p:sp>
      <p:sp>
        <p:nvSpPr>
          <p:cNvPr id="72" name="BOM / 工艺资料">
            <a:extLst xmlns:a="http://schemas.openxmlformats.org/drawingml/2006/main">
              <a:ext uri="{FF2B5EF4-FFF2-40B4-BE49-F238E27FC236}">
                <a16:creationId xmlns:a16="http://schemas.microsoft.com/office/drawing/2014/main" id="{3D3EE7CD-3C1D-41B9-ADBA-D471A075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792" y="3336417"/>
            <a:ext cx="1431167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BOM / 工艺资料</a:t>
            </a:r>
          </a:p>
        </p:txBody>
      </p:sp>
      <p:sp>
        <p:nvSpPr>
          <p:cNvPr id="73" name="rect-73">
            <a:extLst xmlns:a="http://schemas.openxmlformats.org/drawingml/2006/main">
              <a:ext uri="{FF2B5EF4-FFF2-40B4-BE49-F238E27FC236}">
                <a16:creationId xmlns:a16="http://schemas.microsoft.com/office/drawing/2014/main" id="{73E99DD2-EEAD-41F6-9AF4-6F5D951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20052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74" name="rect-74">
            <a:extLst xmlns:a="http://schemas.openxmlformats.org/drawingml/2006/main">
              <a:ext uri="{FF2B5EF4-FFF2-40B4-BE49-F238E27FC236}">
                <a16:creationId xmlns:a16="http://schemas.microsoft.com/office/drawing/2014/main" id="{366E6291-4728-45E2-993E-62A8A161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2005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5" name="逐日填报并提交">
            <a:extLst xmlns:a="http://schemas.openxmlformats.org/drawingml/2006/main">
              <a:ext uri="{FF2B5EF4-FFF2-40B4-BE49-F238E27FC236}">
                <a16:creationId xmlns:a16="http://schemas.microsoft.com/office/drawing/2014/main" id="{0CDFFEDD-5334-470E-962A-FF749DD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596" y="421043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逐日填报并提交</a:t>
            </a:r>
          </a:p>
        </p:txBody>
      </p:sp>
      <p:sp>
        <p:nvSpPr>
          <p:cNvPr id="76" name="人工修正基准">
            <a:extLst xmlns:a="http://schemas.openxmlformats.org/drawingml/2006/main">
              <a:ext uri="{FF2B5EF4-FFF2-40B4-BE49-F238E27FC236}">
                <a16:creationId xmlns:a16="http://schemas.microsoft.com/office/drawing/2014/main" id="{518C54E6-3AB3-4A77-968C-29FAD87C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776" y="4536567"/>
            <a:ext cx="1165098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人工修正基准</a:t>
            </a:r>
          </a:p>
        </p:txBody>
      </p:sp>
      <p:sp>
        <p:nvSpPr>
          <p:cNvPr id="77" name="活动增量与调整原因">
            <a:extLst xmlns:a="http://schemas.openxmlformats.org/drawingml/2006/main">
              <a:ext uri="{FF2B5EF4-FFF2-40B4-BE49-F238E27FC236}">
                <a16:creationId xmlns:a16="http://schemas.microsoft.com/office/drawing/2014/main" id="{0384FE42-BBBF-486D-B724-84A0A12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314" y="4765167"/>
            <a:ext cx="170002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活动增量与调整原因</a:t>
            </a:r>
          </a:p>
        </p:txBody>
      </p:sp>
      <p:sp>
        <p:nvSpPr>
          <p:cNvPr id="78" name="rect-78">
            <a:extLst xmlns:a="http://schemas.openxmlformats.org/drawingml/2006/main">
              <a:ext uri="{FF2B5EF4-FFF2-40B4-BE49-F238E27FC236}">
                <a16:creationId xmlns:a16="http://schemas.microsoft.com/office/drawing/2014/main" id="{36C4821A-7489-4086-A750-6E049785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79" name="rect-79">
            <a:extLst xmlns:a="http://schemas.openxmlformats.org/drawingml/2006/main">
              <a:ext uri="{FF2B5EF4-FFF2-40B4-BE49-F238E27FC236}">
                <a16:creationId xmlns:a16="http://schemas.microsoft.com/office/drawing/2014/main" id="{120348F9-C3E0-45C9-8B16-9E53089C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0" name="准备规则与依据">
            <a:extLst xmlns:a="http://schemas.openxmlformats.org/drawingml/2006/main">
              <a:ext uri="{FF2B5EF4-FFF2-40B4-BE49-F238E27FC236}">
                <a16:creationId xmlns:a16="http://schemas.microsoft.com/office/drawing/2014/main" id="{EF1BFF9F-35EB-46AB-9B83-D26C1307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46" y="563918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准备规则与依据</a:t>
            </a:r>
          </a:p>
        </p:txBody>
      </p:sp>
      <p:sp>
        <p:nvSpPr>
          <p:cNvPr id="81" name="规则版本 / 数仓预测">
            <a:extLst xmlns:a="http://schemas.openxmlformats.org/drawingml/2006/main">
              <a:ext uri="{FF2B5EF4-FFF2-40B4-BE49-F238E27FC236}">
                <a16:creationId xmlns:a16="http://schemas.microsoft.com/office/drawing/2014/main" id="{5C5E9D0A-CED4-414D-A96A-A9F0D634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5965317"/>
            <a:ext cx="172974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规则版本 / 数仓预测</a:t>
            </a:r>
          </a:p>
        </p:txBody>
      </p:sp>
      <p:sp>
        <p:nvSpPr>
          <p:cNvPr id="82" name="读取库存与在途">
            <a:extLst xmlns:a="http://schemas.openxmlformats.org/drawingml/2006/main">
              <a:ext uri="{FF2B5EF4-FFF2-40B4-BE49-F238E27FC236}">
                <a16:creationId xmlns:a16="http://schemas.microsoft.com/office/drawing/2014/main" id="{A5AD60E4-8990-4D2D-9A3E-3715608F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6193917"/>
            <a:ext cx="1343406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读取库存与在途</a:t>
            </a:r>
          </a:p>
        </p:txBody>
      </p:sp>
      <p:sp>
        <p:nvSpPr>
          <p:cNvPr id="83" name="rect-83">
            <a:extLst xmlns:a="http://schemas.openxmlformats.org/drawingml/2006/main">
              <a:ext uri="{FF2B5EF4-FFF2-40B4-BE49-F238E27FC236}">
                <a16:creationId xmlns:a16="http://schemas.microsoft.com/office/drawing/2014/main" id="{00C6E967-AD02-4580-BF0C-F9C36F29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84" name="rect-84">
            <a:extLst xmlns:a="http://schemas.openxmlformats.org/drawingml/2006/main">
              <a:ext uri="{FF2B5EF4-FFF2-40B4-BE49-F238E27FC236}">
                <a16:creationId xmlns:a16="http://schemas.microsoft.com/office/drawing/2014/main" id="{E3617CE1-4866-4B87-9DD2-E206331E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5" name="发起预测周期">
            <a:extLst xmlns:a="http://schemas.openxmlformats.org/drawingml/2006/main">
              <a:ext uri="{FF2B5EF4-FFF2-40B4-BE49-F238E27FC236}">
                <a16:creationId xmlns:a16="http://schemas.microsoft.com/office/drawing/2014/main" id="{5BA40B6F-999F-44F9-9384-B8E3ECF8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68" y="56391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发起预测周期</a:t>
            </a:r>
          </a:p>
        </p:txBody>
      </p:sp>
      <p:sp>
        <p:nvSpPr>
          <p:cNvPr id="86" name="月份 / W周数">
            <a:extLst xmlns:a="http://schemas.openxmlformats.org/drawingml/2006/main">
              <a:ext uri="{FF2B5EF4-FFF2-40B4-BE49-F238E27FC236}">
                <a16:creationId xmlns:a16="http://schemas.microsoft.com/office/drawing/2014/main" id="{69363DA7-6FC4-4857-B1DD-AF7200F6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86" y="5965317"/>
            <a:ext cx="1182279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月份 / W周数</a:t>
            </a:r>
          </a:p>
        </p:txBody>
      </p:sp>
      <p:sp>
        <p:nvSpPr>
          <p:cNvPr id="87" name="填报窗口">
            <a:extLst xmlns:a="http://schemas.openxmlformats.org/drawingml/2006/main">
              <a:ext uri="{FF2B5EF4-FFF2-40B4-BE49-F238E27FC236}">
                <a16:creationId xmlns:a16="http://schemas.microsoft.com/office/drawing/2014/main" id="{38E30D00-6B6D-4FA4-8323-9D56F1FA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084" y="6193917"/>
            <a:ext cx="80848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填报窗口</a:t>
            </a:r>
          </a:p>
        </p:txBody>
      </p:sp>
      <p:sp>
        <p:nvSpPr>
          <p:cNvPr id="88" name="rect-88">
            <a:extLst xmlns:a="http://schemas.openxmlformats.org/drawingml/2006/main">
              <a:ext uri="{FF2B5EF4-FFF2-40B4-BE49-F238E27FC236}">
                <a16:creationId xmlns:a16="http://schemas.microsoft.com/office/drawing/2014/main" id="{00B2D881-A104-407A-A511-EF533C25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89" name="rect-89">
            <a:extLst xmlns:a="http://schemas.openxmlformats.org/drawingml/2006/main">
              <a:ext uri="{FF2B5EF4-FFF2-40B4-BE49-F238E27FC236}">
                <a16:creationId xmlns:a16="http://schemas.microsoft.com/office/drawing/2014/main" id="{E0E48163-4DAF-4B0D-B825-AAB4C8D1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0" name="审核销售需求">
            <a:extLst xmlns:a="http://schemas.openxmlformats.org/drawingml/2006/main">
              <a:ext uri="{FF2B5EF4-FFF2-40B4-BE49-F238E27FC236}">
                <a16:creationId xmlns:a16="http://schemas.microsoft.com/office/drawing/2014/main" id="{F4EF4C7C-CD1F-4CFE-97C2-2754E91B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418" y="56391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审核销售需求</a:t>
            </a:r>
          </a:p>
        </p:txBody>
      </p:sp>
      <p:sp>
        <p:nvSpPr>
          <p:cNvPr id="91" name="确认或退回">
            <a:extLst xmlns:a="http://schemas.openxmlformats.org/drawingml/2006/main">
              <a:ext uri="{FF2B5EF4-FFF2-40B4-BE49-F238E27FC236}">
                <a16:creationId xmlns:a16="http://schemas.microsoft.com/office/drawing/2014/main" id="{18431264-631F-443E-9B90-6CA9E4C7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880" y="5965317"/>
            <a:ext cx="98679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确认或退回</a:t>
            </a:r>
          </a:p>
        </p:txBody>
      </p:sp>
      <p:sp>
        <p:nvSpPr>
          <p:cNvPr id="92" name="保留审核原因">
            <a:extLst xmlns:a="http://schemas.openxmlformats.org/drawingml/2006/main">
              <a:ext uri="{FF2B5EF4-FFF2-40B4-BE49-F238E27FC236}">
                <a16:creationId xmlns:a16="http://schemas.microsoft.com/office/drawing/2014/main" id="{D904E4F7-6177-47F5-A57B-94A79866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726" y="6193917"/>
            <a:ext cx="1165098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保留审核原因</a:t>
            </a:r>
          </a:p>
        </p:txBody>
      </p:sp>
      <p:sp>
        <p:nvSpPr>
          <p:cNvPr id="93" name="rect-93">
            <a:extLst xmlns:a="http://schemas.openxmlformats.org/drawingml/2006/main">
              <a:ext uri="{FF2B5EF4-FFF2-40B4-BE49-F238E27FC236}">
                <a16:creationId xmlns:a16="http://schemas.microsoft.com/office/drawing/2014/main" id="{74E29C60-0E29-48AB-B3EF-3068C9E1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94" name="rect-94">
            <a:extLst xmlns:a="http://schemas.openxmlformats.org/drawingml/2006/main">
              <a:ext uri="{FF2B5EF4-FFF2-40B4-BE49-F238E27FC236}">
                <a16:creationId xmlns:a16="http://schemas.microsoft.com/office/drawing/2014/main" id="{3BEB15FF-6C1D-488A-9F99-4C97C537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5" name="确认备货 / 过货">
            <a:extLst xmlns:a="http://schemas.openxmlformats.org/drawingml/2006/main">
              <a:ext uri="{FF2B5EF4-FFF2-40B4-BE49-F238E27FC236}">
                <a16:creationId xmlns:a16="http://schemas.microsoft.com/office/drawing/2014/main" id="{2C99B181-9073-42FC-99E6-1EA51C14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761" y="5639181"/>
            <a:ext cx="179892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确认备货 / 过货</a:t>
            </a:r>
          </a:p>
        </p:txBody>
      </p:sp>
      <p:sp>
        <p:nvSpPr>
          <p:cNvPr id="96" name="测算缺口、人工校准">
            <a:extLst xmlns:a="http://schemas.openxmlformats.org/drawingml/2006/main">
              <a:ext uri="{FF2B5EF4-FFF2-40B4-BE49-F238E27FC236}">
                <a16:creationId xmlns:a16="http://schemas.microsoft.com/office/drawing/2014/main" id="{E0835538-77D7-425B-9D35-CC567971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214" y="5965317"/>
            <a:ext cx="170002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测算缺口、人工校准</a:t>
            </a:r>
          </a:p>
        </p:txBody>
      </p:sp>
      <p:sp>
        <p:nvSpPr>
          <p:cNvPr id="97" name="审批形成采购需求">
            <a:extLst xmlns:a="http://schemas.openxmlformats.org/drawingml/2006/main">
              <a:ext uri="{FF2B5EF4-FFF2-40B4-BE49-F238E27FC236}">
                <a16:creationId xmlns:a16="http://schemas.microsoft.com/office/drawing/2014/main" id="{555D9539-239E-42EE-9027-7911239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6193917"/>
            <a:ext cx="152171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审批形成采购需求</a:t>
            </a:r>
          </a:p>
        </p:txBody>
      </p:sp>
      <p:sp>
        <p:nvSpPr>
          <p:cNvPr id="98" name="rect-98">
            <a:extLst xmlns:a="http://schemas.openxmlformats.org/drawingml/2006/main">
              <a:ext uri="{FF2B5EF4-FFF2-40B4-BE49-F238E27FC236}">
                <a16:creationId xmlns:a16="http://schemas.microsoft.com/office/drawing/2014/main" id="{09AA9E85-7449-4EA3-92B3-41356E58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25" y="5629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99" name="rect-99">
            <a:extLst xmlns:a="http://schemas.openxmlformats.org/drawingml/2006/main">
              <a:ext uri="{FF2B5EF4-FFF2-40B4-BE49-F238E27FC236}">
                <a16:creationId xmlns:a16="http://schemas.microsoft.com/office/drawing/2014/main" id="{C7D81B55-6F75-4964-A567-3886C1F4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25" y="5629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0" name="滚动校准计划">
            <a:extLst xmlns:a="http://schemas.openxmlformats.org/drawingml/2006/main">
              <a:ext uri="{FF2B5EF4-FFF2-40B4-BE49-F238E27FC236}">
                <a16:creationId xmlns:a16="http://schemas.microsoft.com/office/drawing/2014/main" id="{28130BD5-C9B1-4901-BEB2-5E866B8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168" y="56391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滚动校准计划</a:t>
            </a:r>
          </a:p>
        </p:txBody>
      </p:sp>
      <p:sp>
        <p:nvSpPr>
          <p:cNvPr id="101" name="处理执行偏差">
            <a:extLst xmlns:a="http://schemas.openxmlformats.org/drawingml/2006/main">
              <a:ext uri="{FF2B5EF4-FFF2-40B4-BE49-F238E27FC236}">
                <a16:creationId xmlns:a16="http://schemas.microsoft.com/office/drawing/2014/main" id="{0F3ACFB0-3BC4-4F94-BC5D-B49C047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5476" y="5965317"/>
            <a:ext cx="1165098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处理执行偏差</a:t>
            </a:r>
          </a:p>
        </p:txBody>
      </p:sp>
      <p:sp>
        <p:nvSpPr>
          <p:cNvPr id="102" name="更新下一轮预测">
            <a:extLst xmlns:a="http://schemas.openxmlformats.org/drawingml/2006/main">
              <a:ext uri="{FF2B5EF4-FFF2-40B4-BE49-F238E27FC236}">
                <a16:creationId xmlns:a16="http://schemas.microsoft.com/office/drawing/2014/main" id="{0598EA28-DC8A-402F-8F08-D0C90D3C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6322" y="6193917"/>
            <a:ext cx="1343406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更新下一轮预测</a:t>
            </a:r>
          </a:p>
        </p:txBody>
      </p:sp>
      <p:sp>
        <p:nvSpPr>
          <p:cNvPr id="103" name="rect-103">
            <a:extLst xmlns:a="http://schemas.openxmlformats.org/drawingml/2006/main">
              <a:ext uri="{FF2B5EF4-FFF2-40B4-BE49-F238E27FC236}">
                <a16:creationId xmlns:a16="http://schemas.microsoft.com/office/drawing/2014/main" id="{28733A3F-FBBD-4C97-A685-ABDA75A5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705802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solid"/>
          </a:ln>
        </p:spPr>
      </p:sp>
      <p:sp>
        <p:nvSpPr>
          <p:cNvPr id="104" name="rect-104">
            <a:extLst xmlns:a="http://schemas.openxmlformats.org/drawingml/2006/main">
              <a:ext uri="{FF2B5EF4-FFF2-40B4-BE49-F238E27FC236}">
                <a16:creationId xmlns:a16="http://schemas.microsoft.com/office/drawing/2014/main" id="{6961C791-56CD-4EDA-B4B3-DE601DE5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70580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52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5" name="采购决策与下单">
            <a:extLst xmlns:a="http://schemas.openxmlformats.org/drawingml/2006/main">
              <a:ext uri="{FF2B5EF4-FFF2-40B4-BE49-F238E27FC236}">
                <a16:creationId xmlns:a16="http://schemas.microsoft.com/office/drawing/2014/main" id="{DCA0309D-2EBC-4D1D-9155-F42EE0F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96" y="706793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采购决策与下单</a:t>
            </a:r>
          </a:p>
        </p:txBody>
      </p:sp>
      <p:sp>
        <p:nvSpPr>
          <p:cNvPr id="106" name="承接确认采购需求">
            <a:extLst xmlns:a="http://schemas.openxmlformats.org/drawingml/2006/main">
              <a:ext uri="{FF2B5EF4-FFF2-40B4-BE49-F238E27FC236}">
                <a16:creationId xmlns:a16="http://schemas.microsoft.com/office/drawing/2014/main" id="{D4CF4FA4-F68B-4283-8161-B1082FE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368" y="7394067"/>
            <a:ext cx="152171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承接确认采购需求</a:t>
            </a:r>
          </a:p>
        </p:txBody>
      </p:sp>
      <p:sp>
        <p:nvSpPr>
          <p:cNvPr id="107" name="PO / 大货单">
            <a:extLst xmlns:a="http://schemas.openxmlformats.org/drawingml/2006/main">
              <a:ext uri="{FF2B5EF4-FFF2-40B4-BE49-F238E27FC236}">
                <a16:creationId xmlns:a16="http://schemas.microsoft.com/office/drawing/2014/main" id="{0E93DECF-28E2-47B9-AA87-C85DE4D8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520" y="7622667"/>
            <a:ext cx="108941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PO / 大货单</a:t>
            </a:r>
          </a:p>
        </p:txBody>
      </p:sp>
      <p:sp>
        <p:nvSpPr>
          <p:cNvPr id="108" name="rect-108">
            <a:extLst xmlns:a="http://schemas.openxmlformats.org/drawingml/2006/main">
              <a:ext uri="{FF2B5EF4-FFF2-40B4-BE49-F238E27FC236}">
                <a16:creationId xmlns:a16="http://schemas.microsoft.com/office/drawing/2014/main" id="{74799F7B-0B50-430F-AD3E-BAB4CBE6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705802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dash"/>
          </a:ln>
        </p:spPr>
      </p:sp>
      <p:sp>
        <p:nvSpPr>
          <p:cNvPr id="109" name="rect-109">
            <a:extLst xmlns:a="http://schemas.openxmlformats.org/drawingml/2006/main">
              <a:ext uri="{FF2B5EF4-FFF2-40B4-BE49-F238E27FC236}">
                <a16:creationId xmlns:a16="http://schemas.microsoft.com/office/drawing/2014/main" id="{3F45B064-358A-4766-B29C-3322122D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70580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52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0" name="物料采购 / 发料">
            <a:extLst xmlns:a="http://schemas.openxmlformats.org/drawingml/2006/main">
              <a:ext uri="{FF2B5EF4-FFF2-40B4-BE49-F238E27FC236}">
                <a16:creationId xmlns:a16="http://schemas.microsoft.com/office/drawing/2014/main" id="{30D8CDA2-53CE-45A8-AAB3-3D531711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711" y="7067931"/>
            <a:ext cx="179892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物料采购 / 发料</a:t>
            </a:r>
          </a:p>
        </p:txBody>
      </p:sp>
      <p:sp>
        <p:nvSpPr>
          <p:cNvPr id="111" name="按需采购，跟进交付">
            <a:extLst xmlns:a="http://schemas.openxmlformats.org/drawingml/2006/main">
              <a:ext uri="{FF2B5EF4-FFF2-40B4-BE49-F238E27FC236}">
                <a16:creationId xmlns:a16="http://schemas.microsoft.com/office/drawing/2014/main" id="{1D5F890F-3625-46E1-B0B5-434D0C86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4164" y="7489317"/>
            <a:ext cx="170002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按需采购，跟进交付</a:t>
            </a:r>
          </a:p>
        </p:txBody>
      </p:sp>
      <p:sp>
        <p:nvSpPr>
          <p:cNvPr id="112" name="rect-112">
            <a:extLst xmlns:a="http://schemas.openxmlformats.org/drawingml/2006/main">
              <a:ext uri="{FF2B5EF4-FFF2-40B4-BE49-F238E27FC236}">
                <a16:creationId xmlns:a16="http://schemas.microsoft.com/office/drawing/2014/main" id="{522C4306-0808-4843-BA64-9C776EEE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84867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dash"/>
          </a:ln>
        </p:spPr>
      </p:sp>
      <p:sp>
        <p:nvSpPr>
          <p:cNvPr id="113" name="rect-113">
            <a:extLst xmlns:a="http://schemas.openxmlformats.org/drawingml/2006/main">
              <a:ext uri="{FF2B5EF4-FFF2-40B4-BE49-F238E27FC236}">
                <a16:creationId xmlns:a16="http://schemas.microsoft.com/office/drawing/2014/main" id="{0392843C-A15E-4EFF-8C2A-20DADC15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84867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52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4" name="测算物料缺口">
            <a:extLst xmlns:a="http://schemas.openxmlformats.org/drawingml/2006/main">
              <a:ext uri="{FF2B5EF4-FFF2-40B4-BE49-F238E27FC236}">
                <a16:creationId xmlns:a16="http://schemas.microsoft.com/office/drawing/2014/main" id="{529749DD-242F-460A-8D46-8309710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3318" y="8496681"/>
            <a:ext cx="152171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测算物料缺口</a:t>
            </a:r>
          </a:p>
        </p:txBody>
      </p:sp>
      <p:sp>
        <p:nvSpPr>
          <p:cNvPr id="115" name="订单 + BOM">
            <a:extLst xmlns:a="http://schemas.openxmlformats.org/drawingml/2006/main">
              <a:ext uri="{FF2B5EF4-FFF2-40B4-BE49-F238E27FC236}">
                <a16:creationId xmlns:a16="http://schemas.microsoft.com/office/drawing/2014/main" id="{3F926A8D-CE34-4DDE-AC02-E8E287DA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535" y="8822817"/>
            <a:ext cx="109328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订单 + BOM</a:t>
            </a:r>
          </a:p>
        </p:txBody>
      </p:sp>
      <p:sp>
        <p:nvSpPr>
          <p:cNvPr id="116" name="物料库存 / 在途">
            <a:extLst xmlns:a="http://schemas.openxmlformats.org/drawingml/2006/main">
              <a:ext uri="{FF2B5EF4-FFF2-40B4-BE49-F238E27FC236}">
                <a16:creationId xmlns:a16="http://schemas.microsoft.com/office/drawing/2014/main" id="{4337ED7F-826E-4E75-BC0E-364A97B5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613" y="9051417"/>
            <a:ext cx="137312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物料库存 / 在途</a:t>
            </a:r>
          </a:p>
        </p:txBody>
      </p:sp>
      <p:sp>
        <p:nvSpPr>
          <p:cNvPr id="117" name="rect-117">
            <a:extLst xmlns:a="http://schemas.openxmlformats.org/drawingml/2006/main">
              <a:ext uri="{FF2B5EF4-FFF2-40B4-BE49-F238E27FC236}">
                <a16:creationId xmlns:a16="http://schemas.microsoft.com/office/drawing/2014/main" id="{8C05CD02-2A71-4331-8D82-8038FAA6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4867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dash"/>
          </a:ln>
        </p:spPr>
      </p:sp>
      <p:sp>
        <p:nvSpPr>
          <p:cNvPr id="118" name="rect-118">
            <a:extLst xmlns:a="http://schemas.openxmlformats.org/drawingml/2006/main">
              <a:ext uri="{FF2B5EF4-FFF2-40B4-BE49-F238E27FC236}">
                <a16:creationId xmlns:a16="http://schemas.microsoft.com/office/drawing/2014/main" id="{B6A7C678-8CF7-4D41-94C2-81B12545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4867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52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9" name="到料与齐料确认">
            <a:extLst xmlns:a="http://schemas.openxmlformats.org/drawingml/2006/main">
              <a:ext uri="{FF2B5EF4-FFF2-40B4-BE49-F238E27FC236}">
                <a16:creationId xmlns:a16="http://schemas.microsoft.com/office/drawing/2014/main" id="{0CD08E16-C307-406D-AF67-09244C3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2396" y="849668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到料与齐料确认</a:t>
            </a:r>
          </a:p>
        </p:txBody>
      </p:sp>
      <p:sp>
        <p:nvSpPr>
          <p:cNvPr id="120" name="缺料跟进、供料保障">
            <a:extLst xmlns:a="http://schemas.openxmlformats.org/drawingml/2006/main">
              <a:ext uri="{FF2B5EF4-FFF2-40B4-BE49-F238E27FC236}">
                <a16:creationId xmlns:a16="http://schemas.microsoft.com/office/drawing/2014/main" id="{7622663D-F07A-460A-AF65-605B109E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2114" y="8918067"/>
            <a:ext cx="170002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缺料跟进、供料保障</a:t>
            </a:r>
          </a:p>
        </p:txBody>
      </p:sp>
      <p:sp>
        <p:nvSpPr>
          <p:cNvPr id="121" name="rect-121">
            <a:extLst xmlns:a="http://schemas.openxmlformats.org/drawingml/2006/main">
              <a:ext uri="{FF2B5EF4-FFF2-40B4-BE49-F238E27FC236}">
                <a16:creationId xmlns:a16="http://schemas.microsoft.com/office/drawing/2014/main" id="{DE9B267C-E984-4F72-89BE-F4FC4F4B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91552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83E"/>
            </a:solidFill>
            <a:prstDash val="solid"/>
          </a:ln>
        </p:spPr>
      </p:sp>
      <p:sp>
        <p:nvSpPr>
          <p:cNvPr id="122" name="rect-122">
            <a:extLst xmlns:a="http://schemas.openxmlformats.org/drawingml/2006/main">
              <a:ext uri="{FF2B5EF4-FFF2-40B4-BE49-F238E27FC236}">
                <a16:creationId xmlns:a16="http://schemas.microsoft.com/office/drawing/2014/main" id="{8CEC2043-E77C-4C96-B059-6DEDDAB4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9155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83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3" name="生产执行与报工">
            <a:extLst xmlns:a="http://schemas.openxmlformats.org/drawingml/2006/main">
              <a:ext uri="{FF2B5EF4-FFF2-40B4-BE49-F238E27FC236}">
                <a16:creationId xmlns:a16="http://schemas.microsoft.com/office/drawing/2014/main" id="{66576D8C-99D0-4066-88A1-48C9D42D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2396" y="992543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生产执行与报工</a:t>
            </a:r>
          </a:p>
        </p:txBody>
      </p:sp>
      <p:sp>
        <p:nvSpPr>
          <p:cNvPr id="124" name="进度 / 异常 / 完工结果">
            <a:extLst xmlns:a="http://schemas.openxmlformats.org/drawingml/2006/main">
              <a:ext uri="{FF2B5EF4-FFF2-40B4-BE49-F238E27FC236}">
                <a16:creationId xmlns:a16="http://schemas.microsoft.com/office/drawing/2014/main" id="{2A376740-3A62-4841-8451-C0C8CB47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3319" y="10346817"/>
            <a:ext cx="1937611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进度 / 异常 / 完工结果</a:t>
            </a:r>
          </a:p>
        </p:txBody>
      </p:sp>
      <p:sp>
        <p:nvSpPr>
          <p:cNvPr id="125" name="rect-125">
            <a:extLst xmlns:a="http://schemas.openxmlformats.org/drawingml/2006/main">
              <a:ext uri="{FF2B5EF4-FFF2-40B4-BE49-F238E27FC236}">
                <a16:creationId xmlns:a16="http://schemas.microsoft.com/office/drawing/2014/main" id="{9737EC8D-649E-409E-A5FC-BD8C4672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75" y="11344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8D96"/>
            </a:solidFill>
            <a:prstDash val="solid"/>
          </a:ln>
        </p:spPr>
      </p:sp>
      <p:sp>
        <p:nvSpPr>
          <p:cNvPr id="126" name="rect-126">
            <a:extLst xmlns:a="http://schemas.openxmlformats.org/drawingml/2006/main">
              <a:ext uri="{FF2B5EF4-FFF2-40B4-BE49-F238E27FC236}">
                <a16:creationId xmlns:a16="http://schemas.microsoft.com/office/drawing/2014/main" id="{47B1A0E1-F127-4FE0-B087-94C8337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5175" y="11344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D9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7" name="质检放行与入库">
            <a:extLst xmlns:a="http://schemas.openxmlformats.org/drawingml/2006/main">
              <a:ext uri="{FF2B5EF4-FFF2-40B4-BE49-F238E27FC236}">
                <a16:creationId xmlns:a16="http://schemas.microsoft.com/office/drawing/2014/main" id="{6477913A-E3E9-4C04-9D49-2DDE5481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0346" y="1135418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质检放行与入库</a:t>
            </a:r>
          </a:p>
        </p:txBody>
      </p:sp>
      <p:sp>
        <p:nvSpPr>
          <p:cNvPr id="128" name="合格收货">
            <a:extLst xmlns:a="http://schemas.openxmlformats.org/drawingml/2006/main">
              <a:ext uri="{FF2B5EF4-FFF2-40B4-BE49-F238E27FC236}">
                <a16:creationId xmlns:a16="http://schemas.microsoft.com/office/drawing/2014/main" id="{6092EEFB-657E-4161-8EA8-AE28886B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834" y="11680317"/>
            <a:ext cx="80848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合格收货</a:t>
            </a:r>
          </a:p>
        </p:txBody>
      </p:sp>
      <p:sp>
        <p:nvSpPr>
          <p:cNvPr id="129" name="异常返工 / 退货">
            <a:extLst xmlns:a="http://schemas.openxmlformats.org/drawingml/2006/main">
              <a:ext uri="{FF2B5EF4-FFF2-40B4-BE49-F238E27FC236}">
                <a16:creationId xmlns:a16="http://schemas.microsoft.com/office/drawing/2014/main" id="{0095937B-299C-4BA3-8B86-835023E6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3513" y="11908917"/>
            <a:ext cx="137312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异常返工 / 退货</a:t>
            </a:r>
          </a:p>
        </p:txBody>
      </p:sp>
      <p:sp>
        <p:nvSpPr>
          <p:cNvPr id="130" name="rect-130">
            <a:extLst xmlns:a="http://schemas.openxmlformats.org/drawingml/2006/main">
              <a:ext uri="{FF2B5EF4-FFF2-40B4-BE49-F238E27FC236}">
                <a16:creationId xmlns:a16="http://schemas.microsoft.com/office/drawing/2014/main" id="{D14109A5-14F7-4E52-8E20-C801D93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25" y="11344275"/>
            <a:ext cx="2209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8D96"/>
            </a:solidFill>
            <a:prstDash val="solid"/>
          </a:ln>
        </p:spPr>
      </p:sp>
      <p:sp>
        <p:nvSpPr>
          <p:cNvPr id="131" name="rect-131">
            <a:extLst xmlns:a="http://schemas.openxmlformats.org/drawingml/2006/main">
              <a:ext uri="{FF2B5EF4-FFF2-40B4-BE49-F238E27FC236}">
                <a16:creationId xmlns:a16="http://schemas.microsoft.com/office/drawing/2014/main" id="{8595DF59-F43B-4F0F-9EBC-85C2BBC8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25" y="113442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D9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2" name="更新库存与在途">
            <a:extLst xmlns:a="http://schemas.openxmlformats.org/drawingml/2006/main">
              <a:ext uri="{FF2B5EF4-FFF2-40B4-BE49-F238E27FC236}">
                <a16:creationId xmlns:a16="http://schemas.microsoft.com/office/drawing/2014/main" id="{28CDBA92-1AEA-4359-AB86-FD5E3905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8296" y="11354181"/>
            <a:ext cx="175945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更新库存与在途</a:t>
            </a:r>
          </a:p>
        </p:txBody>
      </p:sp>
      <p:sp>
        <p:nvSpPr>
          <p:cNvPr id="133" name="实际到货">
            <a:extLst xmlns:a="http://schemas.openxmlformats.org/drawingml/2006/main">
              <a:ext uri="{FF2B5EF4-FFF2-40B4-BE49-F238E27FC236}">
                <a16:creationId xmlns:a16="http://schemas.microsoft.com/office/drawing/2014/main" id="{E00C2E6E-4FB2-4F74-AFDF-5E5D831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3784" y="11680317"/>
            <a:ext cx="80848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实际到货</a:t>
            </a:r>
          </a:p>
        </p:txBody>
      </p:sp>
      <p:sp>
        <p:nvSpPr>
          <p:cNvPr id="134" name="库存 / 在途事实">
            <a:extLst xmlns:a="http://schemas.openxmlformats.org/drawingml/2006/main">
              <a:ext uri="{FF2B5EF4-FFF2-40B4-BE49-F238E27FC236}">
                <a16:creationId xmlns:a16="http://schemas.microsoft.com/office/drawing/2014/main" id="{2A3E3BFD-EE65-4F2D-9951-7E9A799D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1463" y="11908917"/>
            <a:ext cx="1373124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库存 / 在途事实</a:t>
            </a:r>
          </a:p>
        </p:txBody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DD6229E7-7460-4A24-82DA-076A8419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90875"/>
            <a:ext cx="438150" cy="1428750"/>
          </a:xfrm>
          <a:custGeom xmlns:a="http://schemas.openxmlformats.org/drawingml/2006/main">
            <a:pathLst>
              <a:path w="438150" h="1428750">
                <a:moveTo>
                  <a:pt x="0" y="0"/>
                </a:moveTo>
                <a:lnTo>
                  <a:pt x="114300" y="0"/>
                </a:lnTo>
                <a:lnTo>
                  <a:pt x="114300" y="1428750"/>
                </a:lnTo>
                <a:lnTo>
                  <a:pt x="4381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solid"/>
          </a:ln>
        </p:spPr>
      </p:sp>
      <p:sp>
        <p:nvSpPr>
          <p:cNvPr id="136" name="arrowhead-135">
            <a:extLst xmlns:a="http://schemas.openxmlformats.org/drawingml/2006/main">
              <a:ext uri="{FF2B5EF4-FFF2-40B4-BE49-F238E27FC236}">
                <a16:creationId xmlns:a16="http://schemas.microsoft.com/office/drawing/2014/main" id="{F67A496B-F104-432B-B618-6E1415A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5243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137" name="rect-136">
            <a:extLst xmlns:a="http://schemas.openxmlformats.org/drawingml/2006/main">
              <a:ext uri="{FF2B5EF4-FFF2-40B4-BE49-F238E27FC236}">
                <a16:creationId xmlns:a16="http://schemas.microsoft.com/office/drawing/2014/main" id="{344F119C-DAF0-4982-A203-BD4033E8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8" name="商品与映射资料">
            <a:extLst xmlns:a="http://schemas.openxmlformats.org/drawingml/2006/main">
              <a:ext uri="{FF2B5EF4-FFF2-40B4-BE49-F238E27FC236}">
                <a16:creationId xmlns:a16="http://schemas.microsoft.com/office/drawing/2014/main" id="{7F372C07-BE07-4C41-9279-AB82B0DC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3697605"/>
            <a:ext cx="14820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商品与映射资料</a:t>
            </a:r>
          </a:p>
        </p:txBody>
      </p:sp>
      <p:sp>
        <p:nvSpPr>
          <p:cNvPr id="139" name="path-138">
            <a:extLst xmlns:a="http://schemas.openxmlformats.org/drawingml/2006/main">
              <a:ext uri="{FF2B5EF4-FFF2-40B4-BE49-F238E27FC236}">
                <a16:creationId xmlns:a16="http://schemas.microsoft.com/office/drawing/2014/main" id="{346310E0-6EE7-47ED-9621-E967479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6048375"/>
            <a:ext cx="438150" cy="476"/>
          </a:xfrm>
          <a:custGeom xmlns:a="http://schemas.openxmlformats.org/drawingml/2006/main">
            <a:pathLst>
              <a:path w="438150" h="476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40" name="arrowhead-138">
            <a:extLst xmlns:a="http://schemas.openxmlformats.org/drawingml/2006/main">
              <a:ext uri="{FF2B5EF4-FFF2-40B4-BE49-F238E27FC236}">
                <a16:creationId xmlns:a16="http://schemas.microsoft.com/office/drawing/2014/main" id="{F054D87E-1DD6-4139-BEB7-39A1F052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953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41" name="path-139">
            <a:extLst xmlns:a="http://schemas.openxmlformats.org/drawingml/2006/main">
              <a:ext uri="{FF2B5EF4-FFF2-40B4-BE49-F238E27FC236}">
                <a16:creationId xmlns:a16="http://schemas.microsoft.com/office/drawing/2014/main" id="{7015394A-0959-4F92-A5F9-F10962C2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38725"/>
            <a:ext cx="476" cy="590550"/>
          </a:xfrm>
          <a:custGeom xmlns:a="http://schemas.openxmlformats.org/drawingml/2006/main">
            <a:pathLst>
              <a:path w="476" h="590550">
                <a:moveTo>
                  <a:pt x="0" y="590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42" name="arrowhead-139">
            <a:extLst xmlns:a="http://schemas.openxmlformats.org/drawingml/2006/main">
              <a:ext uri="{FF2B5EF4-FFF2-40B4-BE49-F238E27FC236}">
                <a16:creationId xmlns:a16="http://schemas.microsoft.com/office/drawing/2014/main" id="{6AFC7ED2-4FC5-434C-8D63-5EFE33AA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387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43" name="rect-140">
            <a:extLst xmlns:a="http://schemas.openxmlformats.org/drawingml/2006/main">
              <a:ext uri="{FF2B5EF4-FFF2-40B4-BE49-F238E27FC236}">
                <a16:creationId xmlns:a16="http://schemas.microsoft.com/office/drawing/2014/main" id="{137870F3-3890-4D81-9122-92D54D8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4" name="开启窗口">
            <a:extLst xmlns:a="http://schemas.openxmlformats.org/drawingml/2006/main">
              <a:ext uri="{FF2B5EF4-FFF2-40B4-BE49-F238E27FC236}">
                <a16:creationId xmlns:a16="http://schemas.microsoft.com/office/drawing/2014/main" id="{39A0C2A7-503F-41CC-9A67-9395D701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18350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开启窗口</a:t>
            </a:r>
          </a:p>
        </p:txBody>
      </p:sp>
      <p:sp>
        <p:nvSpPr>
          <p:cNvPr id="145" name="path-142">
            <a:extLst xmlns:a="http://schemas.openxmlformats.org/drawingml/2006/main">
              <a:ext uri="{FF2B5EF4-FFF2-40B4-BE49-F238E27FC236}">
                <a16:creationId xmlns:a16="http://schemas.microsoft.com/office/drawing/2014/main" id="{2912EAD1-4CEB-43CE-94A7-D11B8D4A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619625"/>
            <a:ext cx="438150" cy="1428750"/>
          </a:xfrm>
          <a:custGeom xmlns:a="http://schemas.openxmlformats.org/drawingml/2006/main">
            <a:pathLst>
              <a:path w="438150" h="1428750">
                <a:moveTo>
                  <a:pt x="0" y="0"/>
                </a:moveTo>
                <a:lnTo>
                  <a:pt x="342900" y="0"/>
                </a:lnTo>
                <a:lnTo>
                  <a:pt x="342900" y="1428750"/>
                </a:lnTo>
                <a:lnTo>
                  <a:pt x="4381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46" name="arrowhead-142">
            <a:extLst xmlns:a="http://schemas.openxmlformats.org/drawingml/2006/main">
              <a:ext uri="{FF2B5EF4-FFF2-40B4-BE49-F238E27FC236}">
                <a16:creationId xmlns:a16="http://schemas.microsoft.com/office/drawing/2014/main" id="{2426955E-4A30-4968-A019-78122523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53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47" name="rect-143">
            <a:extLst xmlns:a="http://schemas.openxmlformats.org/drawingml/2006/main">
              <a:ext uri="{FF2B5EF4-FFF2-40B4-BE49-F238E27FC236}">
                <a16:creationId xmlns:a16="http://schemas.microsoft.com/office/drawing/2014/main" id="{C1BB364E-BCBA-4B23-B870-7460659A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38725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8" name="提交">
            <a:extLst xmlns:a="http://schemas.openxmlformats.org/drawingml/2006/main">
              <a:ext uri="{FF2B5EF4-FFF2-40B4-BE49-F238E27FC236}">
                <a16:creationId xmlns:a16="http://schemas.microsoft.com/office/drawing/2014/main" id="{A81CC9E8-995D-48CE-BB30-24A974D9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380" y="5021580"/>
            <a:ext cx="4914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49" name="path-145">
            <a:extLst xmlns:a="http://schemas.openxmlformats.org/drawingml/2006/main">
              <a:ext uri="{FF2B5EF4-FFF2-40B4-BE49-F238E27FC236}">
                <a16:creationId xmlns:a16="http://schemas.microsoft.com/office/drawing/2014/main" id="{FEE1E114-8E27-4093-B522-CFDF30B0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57675"/>
            <a:ext cx="1247775" cy="1371600"/>
          </a:xfrm>
          <a:custGeom xmlns:a="http://schemas.openxmlformats.org/drawingml/2006/main">
            <a:pathLst>
              <a:path w="1247775" h="1371600">
                <a:moveTo>
                  <a:pt x="1247775" y="1371600"/>
                </a:moveTo>
                <a:lnTo>
                  <a:pt x="12477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50" name="arrowhead-145">
            <a:extLst xmlns:a="http://schemas.openxmlformats.org/drawingml/2006/main">
              <a:ext uri="{FF2B5EF4-FFF2-40B4-BE49-F238E27FC236}">
                <a16:creationId xmlns:a16="http://schemas.microsoft.com/office/drawing/2014/main" id="{3EB2B8FA-478C-4EF5-BF54-95BE968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624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51" name="rect-146">
            <a:extLst xmlns:a="http://schemas.openxmlformats.org/drawingml/2006/main">
              <a:ext uri="{FF2B5EF4-FFF2-40B4-BE49-F238E27FC236}">
                <a16:creationId xmlns:a16="http://schemas.microsoft.com/office/drawing/2014/main" id="{3473154B-5094-4961-B90B-C6CCBF3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276725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2" name="退回修改">
            <a:extLst xmlns:a="http://schemas.openxmlformats.org/drawingml/2006/main">
              <a:ext uri="{FF2B5EF4-FFF2-40B4-BE49-F238E27FC236}">
                <a16:creationId xmlns:a16="http://schemas.microsoft.com/office/drawing/2014/main" id="{CCDFD336-A55C-4D8B-8738-0298350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135" y="4259580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退回修改</a:t>
            </a:r>
          </a:p>
        </p:txBody>
      </p:sp>
      <p:sp>
        <p:nvSpPr>
          <p:cNvPr id="153" name="path-148">
            <a:extLst xmlns:a="http://schemas.openxmlformats.org/drawingml/2006/main">
              <a:ext uri="{FF2B5EF4-FFF2-40B4-BE49-F238E27FC236}">
                <a16:creationId xmlns:a16="http://schemas.microsoft.com/office/drawing/2014/main" id="{B6625A06-6561-4444-AE7D-890535A5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6048375"/>
            <a:ext cx="438150" cy="476"/>
          </a:xfrm>
          <a:custGeom xmlns:a="http://schemas.openxmlformats.org/drawingml/2006/main">
            <a:pathLst>
              <a:path w="438150" h="476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54" name="arrowhead-148">
            <a:extLst xmlns:a="http://schemas.openxmlformats.org/drawingml/2006/main">
              <a:ext uri="{FF2B5EF4-FFF2-40B4-BE49-F238E27FC236}">
                <a16:creationId xmlns:a16="http://schemas.microsoft.com/office/drawing/2014/main" id="{329C768D-18DD-4A46-A744-781CCBAE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953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55" name="path-149">
            <a:extLst xmlns:a="http://schemas.openxmlformats.org/drawingml/2006/main">
              <a:ext uri="{FF2B5EF4-FFF2-40B4-BE49-F238E27FC236}">
                <a16:creationId xmlns:a16="http://schemas.microsoft.com/office/drawing/2014/main" id="{510BA605-10BC-4E4C-83C7-C6F59BC2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467475"/>
            <a:ext cx="476" cy="590550"/>
          </a:xfrm>
          <a:custGeom xmlns:a="http://schemas.openxmlformats.org/drawingml/2006/main">
            <a:pathLst>
              <a:path w="476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156" name="arrowhead-149">
            <a:extLst xmlns:a="http://schemas.openxmlformats.org/drawingml/2006/main">
              <a:ext uri="{FF2B5EF4-FFF2-40B4-BE49-F238E27FC236}">
                <a16:creationId xmlns:a16="http://schemas.microsoft.com/office/drawing/2014/main" id="{E6AC9577-FABB-4F57-9BD6-4DF3E1D6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68675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19050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57" name="rect-150">
            <a:extLst xmlns:a="http://schemas.openxmlformats.org/drawingml/2006/main">
              <a:ext uri="{FF2B5EF4-FFF2-40B4-BE49-F238E27FC236}">
                <a16:creationId xmlns:a16="http://schemas.microsoft.com/office/drawing/2014/main" id="{D2FAF8E7-2B0B-4AF7-A347-3C115E33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664845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8" name="采购需求">
            <a:extLst xmlns:a="http://schemas.openxmlformats.org/drawingml/2006/main">
              <a:ext uri="{FF2B5EF4-FFF2-40B4-BE49-F238E27FC236}">
                <a16:creationId xmlns:a16="http://schemas.microsoft.com/office/drawing/2014/main" id="{BD9B176F-85FD-403A-8B25-E6298E70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6285" y="663130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采购需求</a:t>
            </a:r>
          </a:p>
        </p:txBody>
      </p:sp>
      <p:sp>
        <p:nvSpPr>
          <p:cNvPr id="159" name="path-152">
            <a:extLst xmlns:a="http://schemas.openxmlformats.org/drawingml/2006/main">
              <a:ext uri="{FF2B5EF4-FFF2-40B4-BE49-F238E27FC236}">
                <a16:creationId xmlns:a16="http://schemas.microsoft.com/office/drawing/2014/main" id="{422CD869-754E-4DBA-8577-458E9214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7477125"/>
            <a:ext cx="438150" cy="1428750"/>
          </a:xfrm>
          <a:custGeom xmlns:a="http://schemas.openxmlformats.org/drawingml/2006/main">
            <a:pathLst>
              <a:path w="438150" h="1428750">
                <a:moveTo>
                  <a:pt x="0" y="0"/>
                </a:moveTo>
                <a:lnTo>
                  <a:pt x="219075" y="0"/>
                </a:lnTo>
                <a:lnTo>
                  <a:pt x="219075" y="1428750"/>
                </a:lnTo>
                <a:lnTo>
                  <a:pt x="4381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60" name="arrowhead-152">
            <a:extLst xmlns:a="http://schemas.openxmlformats.org/drawingml/2006/main">
              <a:ext uri="{FF2B5EF4-FFF2-40B4-BE49-F238E27FC236}">
                <a16:creationId xmlns:a16="http://schemas.microsoft.com/office/drawing/2014/main" id="{92E5C8E9-52DD-4C21-BDC8-86753CBB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88106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61" name="rect-153">
            <a:extLst xmlns:a="http://schemas.openxmlformats.org/drawingml/2006/main">
              <a:ext uri="{FF2B5EF4-FFF2-40B4-BE49-F238E27FC236}">
                <a16:creationId xmlns:a16="http://schemas.microsoft.com/office/drawing/2014/main" id="{8CA094B4-7ED8-4FF7-B33C-9F5F642B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11530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2" name="订单依据">
            <a:extLst xmlns:a="http://schemas.openxmlformats.org/drawingml/2006/main">
              <a:ext uri="{FF2B5EF4-FFF2-40B4-BE49-F238E27FC236}">
                <a16:creationId xmlns:a16="http://schemas.microsoft.com/office/drawing/2014/main" id="{CA8037F3-34CE-4636-B422-6517A4E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60" y="809815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订单依据</a:t>
            </a:r>
          </a:p>
        </p:txBody>
      </p:sp>
      <p:sp>
        <p:nvSpPr>
          <p:cNvPr id="163" name="path-155">
            <a:extLst xmlns:a="http://schemas.openxmlformats.org/drawingml/2006/main">
              <a:ext uri="{FF2B5EF4-FFF2-40B4-BE49-F238E27FC236}">
                <a16:creationId xmlns:a16="http://schemas.microsoft.com/office/drawing/2014/main" id="{D9EA8BAC-131B-4EC9-9DBF-CFD2053F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175" y="7896225"/>
            <a:ext cx="476" cy="590550"/>
          </a:xfrm>
          <a:custGeom xmlns:a="http://schemas.openxmlformats.org/drawingml/2006/main">
            <a:pathLst>
              <a:path w="476" h="590550">
                <a:moveTo>
                  <a:pt x="0" y="590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64" name="arrowhead-155">
            <a:extLst xmlns:a="http://schemas.openxmlformats.org/drawingml/2006/main">
              <a:ext uri="{FF2B5EF4-FFF2-40B4-BE49-F238E27FC236}">
                <a16:creationId xmlns:a16="http://schemas.microsoft.com/office/drawing/2014/main" id="{83A7BBC8-D960-4353-AE33-2578CE8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78962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65" name="rect-156">
            <a:extLst xmlns:a="http://schemas.openxmlformats.org/drawingml/2006/main">
              <a:ext uri="{FF2B5EF4-FFF2-40B4-BE49-F238E27FC236}">
                <a16:creationId xmlns:a16="http://schemas.microsoft.com/office/drawing/2014/main" id="{19357663-C915-4EDC-AFB0-543977D4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805815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6" name="物料需求">
            <a:extLst xmlns:a="http://schemas.openxmlformats.org/drawingml/2006/main">
              <a:ext uri="{FF2B5EF4-FFF2-40B4-BE49-F238E27FC236}">
                <a16:creationId xmlns:a16="http://schemas.microsoft.com/office/drawing/2014/main" id="{147FC2EC-5ADF-4DE2-9F3E-17EAA6B3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6585" y="8041005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物料需求</a:t>
            </a:r>
          </a:p>
        </p:txBody>
      </p:sp>
      <p:sp>
        <p:nvSpPr>
          <p:cNvPr id="167" name="path-158">
            <a:extLst xmlns:a="http://schemas.openxmlformats.org/drawingml/2006/main">
              <a:ext uri="{FF2B5EF4-FFF2-40B4-BE49-F238E27FC236}">
                <a16:creationId xmlns:a16="http://schemas.microsoft.com/office/drawing/2014/main" id="{06F83A05-6696-4092-9F27-330EBA4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7477125"/>
            <a:ext cx="1543050" cy="1009650"/>
          </a:xfrm>
          <a:custGeom xmlns:a="http://schemas.openxmlformats.org/drawingml/2006/main">
            <a:pathLst>
              <a:path w="1543050" h="1009650">
                <a:moveTo>
                  <a:pt x="0" y="0"/>
                </a:moveTo>
                <a:lnTo>
                  <a:pt x="1543050" y="0"/>
                </a:lnTo>
                <a:lnTo>
                  <a:pt x="154305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68" name="arrowhead-158">
            <a:extLst xmlns:a="http://schemas.openxmlformats.org/drawingml/2006/main">
              <a:ext uri="{FF2B5EF4-FFF2-40B4-BE49-F238E27FC236}">
                <a16:creationId xmlns:a16="http://schemas.microsoft.com/office/drawing/2014/main" id="{C527BC8E-ACBE-41D1-923D-425B2F73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82962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19050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69" name="rect-159">
            <a:extLst xmlns:a="http://schemas.openxmlformats.org/drawingml/2006/main">
              <a:ext uri="{FF2B5EF4-FFF2-40B4-BE49-F238E27FC236}">
                <a16:creationId xmlns:a16="http://schemas.microsoft.com/office/drawing/2014/main" id="{8E7556C7-F163-4EB6-ACE9-F5B8240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655" y="7924800"/>
            <a:ext cx="1634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0" name="采购 / 到料反馈">
            <a:extLst xmlns:a="http://schemas.openxmlformats.org/drawingml/2006/main">
              <a:ext uri="{FF2B5EF4-FFF2-40B4-BE49-F238E27FC236}">
                <a16:creationId xmlns:a16="http://schemas.microsoft.com/office/drawing/2014/main" id="{D66D0B5B-7F11-4C02-B7BC-BA174AE0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371" y="7907655"/>
            <a:ext cx="15150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采购 / 到料反馈</a:t>
            </a:r>
          </a:p>
        </p:txBody>
      </p:sp>
      <p:sp>
        <p:nvSpPr>
          <p:cNvPr id="171" name="path-161">
            <a:extLst xmlns:a="http://schemas.openxmlformats.org/drawingml/2006/main">
              <a:ext uri="{FF2B5EF4-FFF2-40B4-BE49-F238E27FC236}">
                <a16:creationId xmlns:a16="http://schemas.microsoft.com/office/drawing/2014/main" id="{AE99642C-0A99-4FAA-8C06-9395D614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9324975"/>
            <a:ext cx="476" cy="590550"/>
          </a:xfrm>
          <a:custGeom xmlns:a="http://schemas.openxmlformats.org/drawingml/2006/main">
            <a:pathLst>
              <a:path w="476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172" name="arrowhead-161">
            <a:extLst xmlns:a="http://schemas.openxmlformats.org/drawingml/2006/main">
              <a:ext uri="{FF2B5EF4-FFF2-40B4-BE49-F238E27FC236}">
                <a16:creationId xmlns:a16="http://schemas.microsoft.com/office/drawing/2014/main" id="{853C4841-2EF8-4D96-B855-BC7E1EB3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7250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19050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173" name="rect-162">
            <a:extLst xmlns:a="http://schemas.openxmlformats.org/drawingml/2006/main">
              <a:ext uri="{FF2B5EF4-FFF2-40B4-BE49-F238E27FC236}">
                <a16:creationId xmlns:a16="http://schemas.microsoft.com/office/drawing/2014/main" id="{EC33F2B7-62FC-4B40-9D8D-69A61372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94773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4" name="齐料可开工">
            <a:extLst xmlns:a="http://schemas.openxmlformats.org/drawingml/2006/main">
              <a:ext uri="{FF2B5EF4-FFF2-40B4-BE49-F238E27FC236}">
                <a16:creationId xmlns:a16="http://schemas.microsoft.com/office/drawing/2014/main" id="{7EED2F80-333E-4102-88C8-812C5DE2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5" y="9460230"/>
            <a:ext cx="1085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齐料可开工</a:t>
            </a:r>
          </a:p>
        </p:txBody>
      </p:sp>
      <p:sp>
        <p:nvSpPr>
          <p:cNvPr id="175" name="path-164">
            <a:extLst xmlns:a="http://schemas.openxmlformats.org/drawingml/2006/main">
              <a:ext uri="{FF2B5EF4-FFF2-40B4-BE49-F238E27FC236}">
                <a16:creationId xmlns:a16="http://schemas.microsoft.com/office/drawing/2014/main" id="{93B0B6A6-2478-4A17-9B2D-EAC0DA75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7896225"/>
            <a:ext cx="4191000" cy="2438400"/>
          </a:xfrm>
          <a:custGeom xmlns:a="http://schemas.openxmlformats.org/drawingml/2006/main">
            <a:pathLst>
              <a:path w="4191000" h="2438400">
                <a:moveTo>
                  <a:pt x="0" y="0"/>
                </a:moveTo>
                <a:lnTo>
                  <a:pt x="0" y="2438400"/>
                </a:lnTo>
                <a:lnTo>
                  <a:pt x="4191000" y="24384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4983E"/>
            </a:solidFill>
            <a:prstDash val="solid"/>
          </a:ln>
        </p:spPr>
      </p:sp>
      <p:sp>
        <p:nvSpPr>
          <p:cNvPr id="176" name="arrowhead-164">
            <a:extLst xmlns:a="http://schemas.openxmlformats.org/drawingml/2006/main">
              <a:ext uri="{FF2B5EF4-FFF2-40B4-BE49-F238E27FC236}">
                <a16:creationId xmlns:a16="http://schemas.microsoft.com/office/drawing/2014/main" id="{B5ADB74D-D322-4F32-A3D9-3514577A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102393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83E"/>
          </a:solidFill>
          <a:ln xmlns:a="http://schemas.openxmlformats.org/drawingml/2006/main" w="0">
            <a:noFill/>
          </a:ln>
        </p:spPr>
      </p:sp>
      <p:sp>
        <p:nvSpPr>
          <p:cNvPr id="177" name="rect-165">
            <a:extLst xmlns:a="http://schemas.openxmlformats.org/drawingml/2006/main">
              <a:ext uri="{FF2B5EF4-FFF2-40B4-BE49-F238E27FC236}">
                <a16:creationId xmlns:a16="http://schemas.microsoft.com/office/drawing/2014/main" id="{E5A73C28-9FD1-4010-B778-EF9089A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8403" y="10058400"/>
            <a:ext cx="2199894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8" name="生产任务 / 委外订单">
            <a:extLst xmlns:a="http://schemas.openxmlformats.org/drawingml/2006/main">
              <a:ext uri="{FF2B5EF4-FFF2-40B4-BE49-F238E27FC236}">
                <a16:creationId xmlns:a16="http://schemas.microsoft.com/office/drawing/2014/main" id="{C0C03574-28B5-4B84-B5EF-652DCE1A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922" y="10040493"/>
            <a:ext cx="2092857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生产任务 / 委外订单</a:t>
            </a:r>
          </a:p>
        </p:txBody>
      </p:sp>
      <p:sp>
        <p:nvSpPr>
          <p:cNvPr id="179" name="path-167">
            <a:extLst xmlns:a="http://schemas.openxmlformats.org/drawingml/2006/main">
              <a:ext uri="{FF2B5EF4-FFF2-40B4-BE49-F238E27FC236}">
                <a16:creationId xmlns:a16="http://schemas.microsoft.com/office/drawing/2014/main" id="{EE72E3EC-2D9F-427E-943A-2D26AF9E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25" y="10334625"/>
            <a:ext cx="1543050" cy="1009650"/>
          </a:xfrm>
          <a:custGeom xmlns:a="http://schemas.openxmlformats.org/drawingml/2006/main">
            <a:pathLst>
              <a:path w="1543050" h="1009650">
                <a:moveTo>
                  <a:pt x="0" y="0"/>
                </a:moveTo>
                <a:lnTo>
                  <a:pt x="1543050" y="0"/>
                </a:lnTo>
                <a:lnTo>
                  <a:pt x="154305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4983E"/>
            </a:solidFill>
            <a:prstDash val="solid"/>
          </a:ln>
        </p:spPr>
      </p:sp>
      <p:sp>
        <p:nvSpPr>
          <p:cNvPr id="180" name="arrowhead-167">
            <a:extLst xmlns:a="http://schemas.openxmlformats.org/drawingml/2006/main">
              <a:ext uri="{FF2B5EF4-FFF2-40B4-BE49-F238E27FC236}">
                <a16:creationId xmlns:a16="http://schemas.microsoft.com/office/drawing/2014/main" id="{CAAA0B6D-B081-4238-AC12-4571250E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4825" y="111537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190500"/>
                </a:moveTo>
                <a:lnTo>
                  <a:pt x="0" y="0"/>
                </a:lnTo>
                <a:lnTo>
                  <a:pt x="190500" y="0"/>
                </a:lnTo>
                <a:close/>
              </a:path>
            </a:pathLst>
          </a:custGeom>
          <a:solidFill xmlns:a="http://schemas.openxmlformats.org/drawingml/2006/main">
            <a:srgbClr val="54983E"/>
          </a:solidFill>
          <a:ln xmlns:a="http://schemas.openxmlformats.org/drawingml/2006/main" w="0">
            <a:noFill/>
          </a:ln>
        </p:spPr>
      </p:sp>
      <p:sp>
        <p:nvSpPr>
          <p:cNvPr id="181" name="rect-168">
            <a:extLst xmlns:a="http://schemas.openxmlformats.org/drawingml/2006/main">
              <a:ext uri="{FF2B5EF4-FFF2-40B4-BE49-F238E27FC236}">
                <a16:creationId xmlns:a16="http://schemas.microsoft.com/office/drawing/2014/main" id="{B793A210-B5DF-40B2-A5BE-016C3B45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8580" y="10858500"/>
            <a:ext cx="1253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2" name="完工 / 发货">
            <a:extLst xmlns:a="http://schemas.openxmlformats.org/drawingml/2006/main">
              <a:ext uri="{FF2B5EF4-FFF2-40B4-BE49-F238E27FC236}">
                <a16:creationId xmlns:a16="http://schemas.microsoft.com/office/drawing/2014/main" id="{44BE0AF0-E7EA-4007-879F-80BBEEF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5916" y="10841355"/>
            <a:ext cx="111881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完工 / 发货</a:t>
            </a:r>
          </a:p>
        </p:txBody>
      </p:sp>
      <p:sp>
        <p:nvSpPr>
          <p:cNvPr id="183" name="path-170">
            <a:extLst xmlns:a="http://schemas.openxmlformats.org/drawingml/2006/main">
              <a:ext uri="{FF2B5EF4-FFF2-40B4-BE49-F238E27FC236}">
                <a16:creationId xmlns:a16="http://schemas.microsoft.com/office/drawing/2014/main" id="{59544D36-B3B0-48BD-9EF9-9BAAB4B9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4975" y="11763375"/>
            <a:ext cx="438150" cy="476"/>
          </a:xfrm>
          <a:custGeom xmlns:a="http://schemas.openxmlformats.org/drawingml/2006/main">
            <a:pathLst>
              <a:path w="438150" h="476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solid"/>
          </a:ln>
        </p:spPr>
      </p:sp>
      <p:sp>
        <p:nvSpPr>
          <p:cNvPr id="184" name="arrowhead-170">
            <a:extLst xmlns:a="http://schemas.openxmlformats.org/drawingml/2006/main">
              <a:ext uri="{FF2B5EF4-FFF2-40B4-BE49-F238E27FC236}">
                <a16:creationId xmlns:a16="http://schemas.microsoft.com/office/drawing/2014/main" id="{3DE0458F-6707-4FCA-BB89-02C78ED7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25" y="11668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185" name="path-171">
            <a:extLst xmlns:a="http://schemas.openxmlformats.org/drawingml/2006/main">
              <a:ext uri="{FF2B5EF4-FFF2-40B4-BE49-F238E27FC236}">
                <a16:creationId xmlns:a16="http://schemas.microsoft.com/office/drawing/2014/main" id="{6E729AAE-860B-4A18-B4EA-9A40DEA5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8025" y="6467475"/>
            <a:ext cx="476" cy="4876800"/>
          </a:xfrm>
          <a:custGeom xmlns:a="http://schemas.openxmlformats.org/drawingml/2006/main">
            <a:pathLst>
              <a:path w="476" h="4876800">
                <a:moveTo>
                  <a:pt x="0" y="48768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dash"/>
          </a:ln>
        </p:spPr>
      </p:sp>
      <p:sp>
        <p:nvSpPr>
          <p:cNvPr id="186" name="arrowhead-171">
            <a:extLst xmlns:a="http://schemas.openxmlformats.org/drawingml/2006/main">
              <a:ext uri="{FF2B5EF4-FFF2-40B4-BE49-F238E27FC236}">
                <a16:creationId xmlns:a16="http://schemas.microsoft.com/office/drawing/2014/main" id="{22B7E4CC-AB22-4D02-AFCD-89692F04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2775" y="64674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187" name="rect-172">
            <a:extLst xmlns:a="http://schemas.openxmlformats.org/drawingml/2006/main">
              <a:ext uri="{FF2B5EF4-FFF2-40B4-BE49-F238E27FC236}">
                <a16:creationId xmlns:a16="http://schemas.microsoft.com/office/drawing/2014/main" id="{A84DF5E9-A4C8-4641-9F62-32EB093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4204" y="9048750"/>
            <a:ext cx="170764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8" name="到货 / 库存事实">
            <a:extLst xmlns:a="http://schemas.openxmlformats.org/drawingml/2006/main">
              <a:ext uri="{FF2B5EF4-FFF2-40B4-BE49-F238E27FC236}">
                <a16:creationId xmlns:a16="http://schemas.microsoft.com/office/drawing/2014/main" id="{C425BCAD-2B50-4BBE-8001-D9DBEB2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973" y="9031224"/>
            <a:ext cx="1586103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到货 / 库存事实</a:t>
            </a:r>
          </a:p>
        </p:txBody>
      </p:sp>
      <p:sp>
        <p:nvSpPr>
          <p:cNvPr id="189" name="path-174">
            <a:extLst xmlns:a="http://schemas.openxmlformats.org/drawingml/2006/main">
              <a:ext uri="{FF2B5EF4-FFF2-40B4-BE49-F238E27FC236}">
                <a16:creationId xmlns:a16="http://schemas.microsoft.com/office/drawing/2014/main" id="{489C7858-B992-4123-A5AE-9744E1E9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25" y="10639425"/>
            <a:ext cx="4191000" cy="476"/>
          </a:xfrm>
          <a:custGeom xmlns:a="http://schemas.openxmlformats.org/drawingml/2006/main">
            <a:pathLst>
              <a:path w="4191000" h="476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4983E"/>
            </a:solidFill>
            <a:prstDash val="dash"/>
          </a:ln>
        </p:spPr>
      </p:sp>
      <p:sp>
        <p:nvSpPr>
          <p:cNvPr id="190" name="arrowhead-174">
            <a:extLst xmlns:a="http://schemas.openxmlformats.org/drawingml/2006/main">
              <a:ext uri="{FF2B5EF4-FFF2-40B4-BE49-F238E27FC236}">
                <a16:creationId xmlns:a16="http://schemas.microsoft.com/office/drawing/2014/main" id="{9DD1CCBB-5F02-4742-A513-9358E7E6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7525" y="105441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83E"/>
          </a:solidFill>
          <a:ln xmlns:a="http://schemas.openxmlformats.org/drawingml/2006/main" w="0">
            <a:noFill/>
          </a:ln>
        </p:spPr>
      </p:sp>
      <p:sp>
        <p:nvSpPr>
          <p:cNvPr id="191" name="rect-175">
            <a:extLst xmlns:a="http://schemas.openxmlformats.org/drawingml/2006/main">
              <a:ext uri="{FF2B5EF4-FFF2-40B4-BE49-F238E27FC236}">
                <a16:creationId xmlns:a16="http://schemas.microsoft.com/office/drawing/2014/main" id="{3F5DF966-7333-49BC-B2BA-1BAF6A34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0980" y="10515600"/>
            <a:ext cx="1634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2" name="进度 / 异常回传">
            <a:extLst xmlns:a="http://schemas.openxmlformats.org/drawingml/2006/main">
              <a:ext uri="{FF2B5EF4-FFF2-40B4-BE49-F238E27FC236}">
                <a16:creationId xmlns:a16="http://schemas.microsoft.com/office/drawing/2014/main" id="{6239395C-EF6B-4E07-B413-E3C49C34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0696" y="10498455"/>
            <a:ext cx="15150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983E"/>
                </a:solidFill>
                <a:latin typeface="Microsoft YaHei"/>
                <a:ea typeface="Microsoft YaHei"/>
                <a:cs typeface="Microsoft YaHei"/>
              </a:rPr>
              <a:t>进度 / 异常回传</a:t>
            </a:r>
          </a:p>
        </p:txBody>
      </p:sp>
      <p:sp>
        <p:nvSpPr>
          <p:cNvPr id="193" name="circle-177">
            <a:extLst xmlns:a="http://schemas.openxmlformats.org/drawingml/2006/main">
              <a:ext uri="{FF2B5EF4-FFF2-40B4-BE49-F238E27FC236}">
                <a16:creationId xmlns:a16="http://schemas.microsoft.com/office/drawing/2014/main" id="{AFA9B50B-9053-40A5-AB95-8CFC4C99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0400" y="1059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78">
            <a:extLst xmlns:a="http://schemas.openxmlformats.org/drawingml/2006/main">
              <a:ext uri="{FF2B5EF4-FFF2-40B4-BE49-F238E27FC236}">
                <a16:creationId xmlns:a16="http://schemas.microsoft.com/office/drawing/2014/main" id="{64B8A85A-7DCA-4EC9-A74A-8ACC75FD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762750"/>
            <a:ext cx="10277475" cy="295275"/>
          </a:xfrm>
          <a:custGeom xmlns:a="http://schemas.openxmlformats.org/drawingml/2006/main">
            <a:pathLst>
              <a:path w="10277475" h="295275">
                <a:moveTo>
                  <a:pt x="0" y="295275"/>
                </a:moveTo>
                <a:lnTo>
                  <a:pt x="0" y="0"/>
                </a:lnTo>
                <a:lnTo>
                  <a:pt x="10277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dash"/>
          </a:ln>
        </p:spPr>
      </p:sp>
      <p:sp>
        <p:nvSpPr>
          <p:cNvPr id="195" name="arrowhead-178">
            <a:extLst xmlns:a="http://schemas.openxmlformats.org/drawingml/2006/main">
              <a:ext uri="{FF2B5EF4-FFF2-40B4-BE49-F238E27FC236}">
                <a16:creationId xmlns:a16="http://schemas.microsoft.com/office/drawing/2014/main" id="{566A373D-FF6A-4AE4-9942-3F782E55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7525" y="66675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196" name="rect-179">
            <a:extLst xmlns:a="http://schemas.openxmlformats.org/drawingml/2006/main">
              <a:ext uri="{FF2B5EF4-FFF2-40B4-BE49-F238E27FC236}">
                <a16:creationId xmlns:a16="http://schemas.microsoft.com/office/drawing/2014/main" id="{674A33B5-5F60-4B6B-94C4-14940743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505" y="6648450"/>
            <a:ext cx="1634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7" name="订单 / 交期反馈">
            <a:extLst xmlns:a="http://schemas.openxmlformats.org/drawingml/2006/main">
              <a:ext uri="{FF2B5EF4-FFF2-40B4-BE49-F238E27FC236}">
                <a16:creationId xmlns:a16="http://schemas.microsoft.com/office/drawing/2014/main" id="{7E8DED7D-B295-457E-BE6F-897DC01C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221" y="6631305"/>
            <a:ext cx="15150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订单 / 交期反馈</a:t>
            </a:r>
          </a:p>
        </p:txBody>
      </p:sp>
      <p:sp>
        <p:nvSpPr>
          <p:cNvPr id="198" name="path-181">
            <a:extLst xmlns:a="http://schemas.openxmlformats.org/drawingml/2006/main">
              <a:ext uri="{FF2B5EF4-FFF2-40B4-BE49-F238E27FC236}">
                <a16:creationId xmlns:a16="http://schemas.microsoft.com/office/drawing/2014/main" id="{881AE419-2A38-42F8-A7D1-1BB046FD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048375"/>
            <a:ext cx="12134850" cy="514350"/>
          </a:xfrm>
          <a:custGeom xmlns:a="http://schemas.openxmlformats.org/drawingml/2006/main">
            <a:pathLst>
              <a:path w="12134850" h="514350">
                <a:moveTo>
                  <a:pt x="12134850" y="0"/>
                </a:moveTo>
                <a:lnTo>
                  <a:pt x="11944350" y="0"/>
                </a:lnTo>
                <a:lnTo>
                  <a:pt x="11944350" y="514350"/>
                </a:lnTo>
                <a:lnTo>
                  <a:pt x="0" y="514350"/>
                </a:ln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dash"/>
          </a:ln>
        </p:spPr>
      </p:sp>
      <p:sp>
        <p:nvSpPr>
          <p:cNvPr id="199" name="arrowhead-181">
            <a:extLst xmlns:a="http://schemas.openxmlformats.org/drawingml/2006/main">
              <a:ext uri="{FF2B5EF4-FFF2-40B4-BE49-F238E27FC236}">
                <a16:creationId xmlns:a16="http://schemas.microsoft.com/office/drawing/2014/main" id="{2189877B-02A3-4DC3-A92C-15220091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64674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200" name="rect-182">
            <a:extLst xmlns:a="http://schemas.openxmlformats.org/drawingml/2006/main">
              <a:ext uri="{FF2B5EF4-FFF2-40B4-BE49-F238E27FC236}">
                <a16:creationId xmlns:a16="http://schemas.microsoft.com/office/drawing/2014/main" id="{4E7DE366-562C-4098-BBE5-237E7E64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6448425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1" name="按反馈滚动调整、再审核">
            <a:extLst xmlns:a="http://schemas.openxmlformats.org/drawingml/2006/main">
              <a:ext uri="{FF2B5EF4-FFF2-40B4-BE49-F238E27FC236}">
                <a16:creationId xmlns:a16="http://schemas.microsoft.com/office/drawing/2014/main" id="{6170C92C-C282-41E6-AB8D-9CA5E5F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7715" y="6431280"/>
            <a:ext cx="22745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8D96"/>
                </a:solidFill>
                <a:latin typeface="Microsoft YaHei"/>
                <a:ea typeface="Microsoft YaHei"/>
                <a:cs typeface="Microsoft YaHei"/>
              </a:rPr>
              <a:t>按反馈滚动调整、再审核</a:t>
            </a:r>
          </a:p>
        </p:txBody>
      </p:sp>
      <p:sp>
        <p:nvSpPr>
          <p:cNvPr id="202" name="path-184">
            <a:extLst xmlns:a="http://schemas.openxmlformats.org/drawingml/2006/main">
              <a:ext uri="{FF2B5EF4-FFF2-40B4-BE49-F238E27FC236}">
                <a16:creationId xmlns:a16="http://schemas.microsoft.com/office/drawing/2014/main" id="{459E0661-30C3-416D-B5D7-3F02437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10753725"/>
            <a:ext cx="2647950" cy="1590675"/>
          </a:xfrm>
          <a:custGeom xmlns:a="http://schemas.openxmlformats.org/drawingml/2006/main">
            <a:pathLst>
              <a:path w="2647950" h="1590675">
                <a:moveTo>
                  <a:pt x="2647950" y="1428750"/>
                </a:moveTo>
                <a:lnTo>
                  <a:pt x="2647950" y="1590675"/>
                </a:lnTo>
                <a:lnTo>
                  <a:pt x="0" y="15906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203" name="arrowhead-184">
            <a:extLst xmlns:a="http://schemas.openxmlformats.org/drawingml/2006/main">
              <a:ext uri="{FF2B5EF4-FFF2-40B4-BE49-F238E27FC236}">
                <a16:creationId xmlns:a16="http://schemas.microsoft.com/office/drawing/2014/main" id="{7F99F192-215F-4142-9B0B-447622C6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107537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95250" y="0"/>
                </a:moveTo>
                <a:lnTo>
                  <a:pt x="190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204" name="rect-185">
            <a:extLst xmlns:a="http://schemas.openxmlformats.org/drawingml/2006/main">
              <a:ext uri="{FF2B5EF4-FFF2-40B4-BE49-F238E27FC236}">
                <a16:creationId xmlns:a16="http://schemas.microsoft.com/office/drawing/2014/main" id="{8F142B28-6C81-4B10-87F4-3C98C6EE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005" y="12087225"/>
            <a:ext cx="23964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5" name="不合格：返工 / 异常处理">
            <a:extLst xmlns:a="http://schemas.openxmlformats.org/drawingml/2006/main">
              <a:ext uri="{FF2B5EF4-FFF2-40B4-BE49-F238E27FC236}">
                <a16:creationId xmlns:a16="http://schemas.microsoft.com/office/drawing/2014/main" id="{23603086-C409-4AA0-B636-04ACC182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7481" y="12070080"/>
            <a:ext cx="230753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不合格：返工 / 异常处理</a:t>
            </a:r>
          </a:p>
        </p:txBody>
      </p:sp>
      <p:sp>
        <p:nvSpPr>
          <p:cNvPr id="206" name="线型">
            <a:extLst xmlns:a="http://schemas.openxmlformats.org/drawingml/2006/main">
              <a:ext uri="{FF2B5EF4-FFF2-40B4-BE49-F238E27FC236}">
                <a16:creationId xmlns:a16="http://schemas.microsoft.com/office/drawing/2014/main" id="{930B7F2A-0068-43DE-A607-02E109F3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726162"/>
            <a:ext cx="550926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64B"/>
                </a:solidFill>
                <a:latin typeface="Microsoft YaHei"/>
                <a:ea typeface="Microsoft YaHei"/>
                <a:cs typeface="Microsoft YaHei"/>
              </a:rPr>
              <a:t>线型</a:t>
            </a:r>
          </a:p>
        </p:txBody>
      </p:sp>
      <p:sp>
        <p:nvSpPr>
          <p:cNvPr id="207" name="path-188">
            <a:extLst xmlns:a="http://schemas.openxmlformats.org/drawingml/2006/main">
              <a:ext uri="{FF2B5EF4-FFF2-40B4-BE49-F238E27FC236}">
                <a16:creationId xmlns:a16="http://schemas.microsoft.com/office/drawing/2014/main" id="{0CDC5D2B-4DCB-4008-BE87-D403D93F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868275"/>
            <a:ext cx="638175" cy="476"/>
          </a:xfrm>
          <a:custGeom xmlns:a="http://schemas.openxmlformats.org/drawingml/2006/main">
            <a:pathLst>
              <a:path w="638175" h="476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8DD5"/>
            </a:solidFill>
            <a:prstDash val="solid"/>
          </a:ln>
        </p:spPr>
      </p:sp>
      <p:sp>
        <p:nvSpPr>
          <p:cNvPr id="208" name="arrowhead-188">
            <a:extLst xmlns:a="http://schemas.openxmlformats.org/drawingml/2006/main">
              <a:ext uri="{FF2B5EF4-FFF2-40B4-BE49-F238E27FC236}">
                <a16:creationId xmlns:a16="http://schemas.microsoft.com/office/drawing/2014/main" id="{334AF665-B980-4354-BACC-2EA4E2E0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27730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09" name="主流程 / 业务交接">
            <a:extLst xmlns:a="http://schemas.openxmlformats.org/drawingml/2006/main">
              <a:ext uri="{FF2B5EF4-FFF2-40B4-BE49-F238E27FC236}">
                <a16:creationId xmlns:a16="http://schemas.microsoft.com/office/drawing/2014/main" id="{FF287A81-E4F1-43C2-9999-05BFE04E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2736068"/>
            <a:ext cx="18749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主流程 / 业务交接</a:t>
            </a:r>
          </a:p>
        </p:txBody>
      </p:sp>
      <p:sp>
        <p:nvSpPr>
          <p:cNvPr id="210" name="path-190">
            <a:extLst xmlns:a="http://schemas.openxmlformats.org/drawingml/2006/main">
              <a:ext uri="{FF2B5EF4-FFF2-40B4-BE49-F238E27FC236}">
                <a16:creationId xmlns:a16="http://schemas.microsoft.com/office/drawing/2014/main" id="{1FA91AB6-F8D5-4667-A4F6-B1858595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868275"/>
            <a:ext cx="638175" cy="476"/>
          </a:xfrm>
          <a:custGeom xmlns:a="http://schemas.openxmlformats.org/drawingml/2006/main">
            <a:pathLst>
              <a:path w="638175" h="476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8D96"/>
            </a:solidFill>
            <a:prstDash val="dash"/>
          </a:ln>
        </p:spPr>
      </p:sp>
      <p:sp>
        <p:nvSpPr>
          <p:cNvPr id="211" name="arrowhead-190">
            <a:extLst xmlns:a="http://schemas.openxmlformats.org/drawingml/2006/main">
              <a:ext uri="{FF2B5EF4-FFF2-40B4-BE49-F238E27FC236}">
                <a16:creationId xmlns:a16="http://schemas.microsoft.com/office/drawing/2014/main" id="{8D90AF98-4B95-4E60-9775-A332142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27730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8D96"/>
          </a:solidFill>
          <a:ln xmlns:a="http://schemas.openxmlformats.org/drawingml/2006/main" w="0">
            <a:noFill/>
          </a:ln>
        </p:spPr>
      </p:sp>
      <p:sp>
        <p:nvSpPr>
          <p:cNvPr id="212" name="数据回流">
            <a:extLst xmlns:a="http://schemas.openxmlformats.org/drawingml/2006/main">
              <a:ext uri="{FF2B5EF4-FFF2-40B4-BE49-F238E27FC236}">
                <a16:creationId xmlns:a16="http://schemas.microsoft.com/office/drawing/2014/main" id="{E375DD23-D086-4205-B293-4AD935CC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2736068"/>
            <a:ext cx="966978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数据回流</a:t>
            </a:r>
          </a:p>
        </p:txBody>
      </p:sp>
      <p:sp>
        <p:nvSpPr>
          <p:cNvPr id="213" name="path-192">
            <a:extLst xmlns:a="http://schemas.openxmlformats.org/drawingml/2006/main">
              <a:ext uri="{FF2B5EF4-FFF2-40B4-BE49-F238E27FC236}">
                <a16:creationId xmlns:a16="http://schemas.microsoft.com/office/drawing/2014/main" id="{F1D6558A-2835-45F0-9BAE-5CD294A7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868275"/>
            <a:ext cx="638175" cy="476"/>
          </a:xfrm>
          <a:custGeom xmlns:a="http://schemas.openxmlformats.org/drawingml/2006/main">
            <a:pathLst>
              <a:path w="638175" h="476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F8525"/>
            </a:solidFill>
            <a:prstDash val="dash"/>
          </a:ln>
        </p:spPr>
      </p:sp>
      <p:sp>
        <p:nvSpPr>
          <p:cNvPr id="214" name="arrowhead-192">
            <a:extLst xmlns:a="http://schemas.openxmlformats.org/drawingml/2006/main">
              <a:ext uri="{FF2B5EF4-FFF2-40B4-BE49-F238E27FC236}">
                <a16:creationId xmlns:a16="http://schemas.microsoft.com/office/drawing/2014/main" id="{054D7A8F-A963-404D-BE37-03B0248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27730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190500" y="95250"/>
                </a:move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F8525"/>
          </a:solidFill>
          <a:ln xmlns:a="http://schemas.openxmlformats.org/drawingml/2006/main" w="0">
            <a:noFill/>
          </a:ln>
        </p:spPr>
      </p:sp>
      <p:sp>
        <p:nvSpPr>
          <p:cNvPr id="215" name="条件支线 / 退回">
            <a:extLst xmlns:a="http://schemas.openxmlformats.org/drawingml/2006/main">
              <a:ext uri="{FF2B5EF4-FFF2-40B4-BE49-F238E27FC236}">
                <a16:creationId xmlns:a16="http://schemas.microsoft.com/office/drawing/2014/main" id="{252538E3-8D2B-47FA-9D6E-1E0C28AE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2736068"/>
            <a:ext cx="1656993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条件支线 / 退回</a:t>
            </a:r>
          </a:p>
        </p:txBody>
      </p:sp>
      <p:sp>
        <p:nvSpPr>
          <p:cNvPr id="216" name="rect-194">
            <a:extLst xmlns:a="http://schemas.openxmlformats.org/drawingml/2006/main">
              <a:ext uri="{FF2B5EF4-FFF2-40B4-BE49-F238E27FC236}">
                <a16:creationId xmlns:a16="http://schemas.microsoft.com/office/drawing/2014/main" id="{26D37199-F3B9-4A12-B639-7BC58364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744450"/>
            <a:ext cx="371475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8525"/>
            </a:solidFill>
            <a:prstDash val="dash"/>
          </a:ln>
        </p:spPr>
      </p:sp>
      <p:sp>
        <p:nvSpPr>
          <p:cNvPr id="217" name="虚线节点：MRP相关能力待确认">
            <a:extLst xmlns:a="http://schemas.openxmlformats.org/drawingml/2006/main">
              <a:ext uri="{FF2B5EF4-FFF2-40B4-BE49-F238E27FC236}">
                <a16:creationId xmlns:a16="http://schemas.microsoft.com/office/drawing/2014/main" id="{DE2333E7-DEAB-4DCF-AFB0-7FC4D2AD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2736068"/>
            <a:ext cx="3189946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虚线节点：MRP相关能力待确认</a:t>
            </a:r>
          </a:p>
        </p:txBody>
      </p:sp>
      <p:sp>
        <p:nvSpPr>
          <p:cNvPr id="218" name="协同约定">
            <a:extLst xmlns:a="http://schemas.openxmlformats.org/drawingml/2006/main">
              <a:ext uri="{FF2B5EF4-FFF2-40B4-BE49-F238E27FC236}">
                <a16:creationId xmlns:a16="http://schemas.microsoft.com/office/drawing/2014/main" id="{E3A91551-C1B5-4F0B-8633-1870D592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29463"/>
            <a:ext cx="116509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协同约定</a:t>
            </a:r>
          </a:p>
        </p:txBody>
      </p:sp>
      <p:sp>
        <p:nvSpPr>
          <p:cNvPr id="219" name="数仓读取规则与业务事实，提供预测和缺口计算；PMC承载计划决策与人工调整。">
            <a:extLst xmlns:a="http://schemas.openxmlformats.org/drawingml/2006/main">
              <a:ext uri="{FF2B5EF4-FFF2-40B4-BE49-F238E27FC236}">
                <a16:creationId xmlns:a16="http://schemas.microsoft.com/office/drawing/2014/main" id="{E33630F7-B2C8-4143-8A35-272351C7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3259181"/>
            <a:ext cx="8714089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数仓读取规则与业务事实，提供预测和缺口计算；PMC承载计划决策与人工调整。</a:t>
            </a:r>
          </a:p>
        </p:txBody>
      </p:sp>
      <p:sp>
        <p:nvSpPr>
          <p:cNvPr id="220" name="待确认">
            <a:extLst xmlns:a="http://schemas.openxmlformats.org/drawingml/2006/main">
              <a:ext uri="{FF2B5EF4-FFF2-40B4-BE49-F238E27FC236}">
                <a16:creationId xmlns:a16="http://schemas.microsoft.com/office/drawing/2014/main" id="{8FA344B8-CBB4-44E1-8BB5-A9B4BC7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87806"/>
            <a:ext cx="808482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F8525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221" name="正式PR创建与审批归属；MRP / 齐料Owner；MES任务来源与回传字段；QC节点及库存事实来源。">
            <a:extLst xmlns:a="http://schemas.openxmlformats.org/drawingml/2006/main">
              <a:ext uri="{FF2B5EF4-FFF2-40B4-BE49-F238E27FC236}">
                <a16:creationId xmlns:a16="http://schemas.microsoft.com/office/drawing/2014/main" id="{7D536D84-22A4-4831-B12C-B19FA7E2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3697712"/>
            <a:ext cx="10195655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9546A"/>
                </a:solidFill>
                <a:latin typeface="Microsoft YaHei"/>
                <a:ea typeface="Microsoft YaHei"/>
                <a:cs typeface="Microsoft YaHei"/>
              </a:rPr>
              <a:t>正式PR创建与审批归属；MRP / 齐料Owner；MES任务来源与回传字段；QC节点及库存事实来源。</a:t>
            </a:r>
          </a:p>
        </p:txBody>
      </p:sp>
      <p:sp>
        <p:nvSpPr>
          <p:cNvPr id="222" name="MRP仅在涉及物料采购 / 发料的订单适用；质检流程及回流接口为目标协同关系，落地范围需联评。">
            <a:extLst xmlns:a="http://schemas.openxmlformats.org/drawingml/2006/main">
              <a:ext uri="{FF2B5EF4-FFF2-40B4-BE49-F238E27FC236}">
                <a16:creationId xmlns:a16="http://schemas.microsoft.com/office/drawing/2014/main" id="{04B7F243-3121-4D6C-8F50-E13A010D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4088618"/>
            <a:ext cx="97641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MRP仅在涉及物料采购 / 发料的订单适用；质检流程及回流接口为目标协同关系，落地范围需联评。</a:t>
            </a:r>
          </a:p>
        </p:txBody>
      </p:sp>
      <p:sp>
        <p:nvSpPr>
          <p:cNvPr id="223" name="path-201">
            <a:extLst xmlns:a="http://schemas.openxmlformats.org/drawingml/2006/main">
              <a:ext uri="{FF2B5EF4-FFF2-40B4-BE49-F238E27FC236}">
                <a16:creationId xmlns:a16="http://schemas.microsoft.com/office/drawing/2014/main" id="{58A4E017-482E-4C5C-8C2E-95C343F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01825"/>
            <a:ext cx="23241000" cy="476"/>
          </a:xfrm>
          <a:custGeom xmlns:a="http://schemas.openxmlformats.org/drawingml/2006/main">
            <a:pathLst>
              <a:path w="23241000" h="476">
                <a:moveTo>
                  <a:pt x="0" y="0"/>
                </a:moveTo>
                <a:lnTo>
                  <a:pt x="2324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EDCE5"/>
            </a:solidFill>
            <a:prstDash val="solid"/>
          </a:ln>
        </p:spPr>
      </p:sp>
      <p:sp>
        <p:nvSpPr>
          <p:cNvPr id="224" name="汇报讨论稿  ·  业务主链表示协同关系，Q4工作流并行推进  ·  2026.09.16">
            <a:extLst xmlns:a="http://schemas.openxmlformats.org/drawingml/2006/main">
              <a:ext uri="{FF2B5EF4-FFF2-40B4-BE49-F238E27FC236}">
                <a16:creationId xmlns:a16="http://schemas.microsoft.com/office/drawing/2014/main" id="{87315FF0-FBA4-4911-854C-F78DEA2F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36699"/>
            <a:ext cx="6716328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C7E8E"/>
                </a:solidFill>
                <a:latin typeface="Microsoft YaHei"/>
                <a:ea typeface="Microsoft YaHei"/>
                <a:cs typeface="Microsoft YaHei"/>
              </a:rPr>
              <a:t>汇报讨论稿  ·  业务主链表示协同关系，Q4工作流并行推进  ·  2026.09.16</a:t>
            </a:r>
          </a:p>
        </p:txBody>
      </p:sp>
      <p:sp>
        <p:nvSpPr>
          <p:cNvPr id="225" name="供应链数字化">
            <a:extLst xmlns:a="http://schemas.openxmlformats.org/drawingml/2006/main">
              <a:ext uri="{FF2B5EF4-FFF2-40B4-BE49-F238E27FC236}">
                <a16:creationId xmlns:a16="http://schemas.microsoft.com/office/drawing/2014/main" id="{A7AF6370-E9B1-4B11-880B-8375A707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0994" y="14736699"/>
            <a:ext cx="1343406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供应链数字化</a:t>
            </a:r>
          </a:p>
        </p:txBody>
      </p:sp>
    </p:spTree>
    <p:extLst>
      <p:ext uri="{BB962C8B-B14F-4D97-AF65-F5344CB8AC3E}">
        <p14:creationId xmlns:p14="http://schemas.microsoft.com/office/powerpoint/2010/main" val="108348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2026-09-16T03:44:28.5380000Z</dcterms:created>
  <dcterms:modified xsi:type="dcterms:W3CDTF">2026-09-16T03:44:28.5380000Z</dcterms:modified>
</coreProperties>
</file>