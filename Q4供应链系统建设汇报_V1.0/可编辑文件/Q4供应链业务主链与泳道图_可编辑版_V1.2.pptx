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b64d19a70748e9" /><Relationship Type="http://schemas.openxmlformats.org/officeDocument/2006/relationships/extended-properties" Target="/docProps/app.xml" Id="R67fd0d6b1f33490c" /><Relationship Type="http://schemas.openxmlformats.org/officeDocument/2006/relationships/officeDocument" Target="/ppt/presentation.xml" Id="R9249375b8062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641b7ee4e43ca"/>
  </p:sldMasterIdLst>
  <p:notesMasterIdLst>
    <p:notesMasterId xmlns:r="http://schemas.openxmlformats.org/officeDocument/2006/relationships" r:id="Rd785b95f154a481f"/>
  </p:notesMasterIdLst>
  <p:sldIdLst>
    <p:sldId xmlns:r="http://schemas.openxmlformats.org/officeDocument/2006/relationships" id="256" r:id="R441b3d6127ef4e96"/>
    <p:sldId xmlns:r="http://schemas.openxmlformats.org/officeDocument/2006/relationships" id="257" r:id="R824f2ea61c944223"/>
  </p:sldIdLst>
  <p:sldSz cx="24384000" cy="1524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721fe0844f4ae7" /><Relationship Type="http://schemas.openxmlformats.org/officeDocument/2006/relationships/slideMaster" Target="/ppt/slideMasters/slideMaster1.xml" Id="Rdad641b7ee4e43ca" /><Relationship Type="http://schemas.openxmlformats.org/officeDocument/2006/relationships/notesMaster" Target="/ppt/notesMasters/notesMaster1.xml" Id="Rd785b95f154a481f" /><Relationship Type="http://schemas.openxmlformats.org/officeDocument/2006/relationships/presProps" Target="/ppt/presProps.xml" Id="Ra3809d51ebf94696" /><Relationship Type="http://schemas.openxmlformats.org/officeDocument/2006/relationships/tableStyles" Target="/ppt/tableStyles.xml" Id="Ra43fc2b159b440c9" /><Relationship Type="http://schemas.openxmlformats.org/officeDocument/2006/relationships/slide" Target="/ppt/slides/slide1.xml" Id="R441b3d6127ef4e96" /><Relationship Type="http://schemas.openxmlformats.org/officeDocument/2006/relationships/slide" Target="/ppt/slides/slide2.xml" Id="R824f2ea61c94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e06ddaa1c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2681e99b504b4d" /><Relationship Type="http://schemas.openxmlformats.org/officeDocument/2006/relationships/notesMaster" Target="/ppt/notesMasters/notesMaster1.xml" Id="R221fb96567484c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4ecb3a7a164ede" /><Relationship Type="http://schemas.openxmlformats.org/officeDocument/2006/relationships/notesMaster" Target="/ppt/notesMasters/notesMaster1.xml" Id="R1df2417b08ba47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来源：01_Q4供应链业务主链图_V1.0.svg。业务依据：系统边界校准 V1、Q4供应链项目工作流与MVP边界 V0.1、PMC数据依赖与系统接口清单 V0.1及本次用户要求。所有文字与流程图元素为可编辑原生对象。MRP归属、正式PR审批、MES回传字段和库存来源保持待确认。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来源：02_Q4供应链跨部门泳道图_V1.0.svg。业务依据：系统边界校准 V1、Q4供应链项目工作流与MVP边界 V0.1、PMC数据依赖与系统接口清单 V0.1及本次用户要求。所有文字与流程图元素为可编辑原生对象。MRP归属、正式PR审批、MES回传字段和库存来源保持待确认。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5da7a61ca4a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571d182bc4e70" /><Relationship Type="http://schemas.openxmlformats.org/officeDocument/2006/relationships/slideLayout" Target="/ppt/slideLayouts/slideLayout1.xml" Id="Rbf25a46eff554d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25a46eff554d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de39ca04f4577" /><Relationship Type="http://schemas.openxmlformats.org/officeDocument/2006/relationships/notesSlide" Target="/ppt/notesSlides/notesSlide1.xml" Id="R475776e309854b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70dd78fe34007" /><Relationship Type="http://schemas.openxmlformats.org/officeDocument/2006/relationships/notesSlide" Target="/ppt/notesSlides/notesSlide2.xml" Id="R9b02416f0b424f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B0C9EB59-63A2-4A9A-BC5A-55B0C6A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5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3FB3DC3F-420D-410D-B506-3DEF2DCE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3163A5A9-F90D-4DE1-9CF7-08070548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3" y="1349829"/>
            <a:ext cx="97971" cy="7184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21771">
            <a:noFill/>
            <a:prstDash val="solid"/>
          </a:ln>
        </p:spPr>
      </p:sp>
      <p:sp>
        <p:nvSpPr>
          <p:cNvPr id="4" name="Q4供应链系统建设｜业务主链">
            <a:extLst xmlns:a="http://schemas.openxmlformats.org/drawingml/2006/main">
              <a:ext uri="{FF2B5EF4-FFF2-40B4-BE49-F238E27FC236}">
                <a16:creationId xmlns:a16="http://schemas.microsoft.com/office/drawing/2014/main" id="{9A871D8F-2FC2-4C34-A670-9B4EE555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86" y="1317171"/>
            <a:ext cx="7666264" cy="789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86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86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Q4供应链系统建设｜业务主链</a:t>
            </a:r>
          </a:p>
        </p:txBody>
      </p:sp>
      <p:sp>
        <p:nvSpPr>
          <p:cNvPr id="5" name="2026 Q4  /  V1.0">
            <a:extLst xmlns:a="http://schemas.openxmlformats.org/drawingml/2006/main">
              <a:ext uri="{FF2B5EF4-FFF2-40B4-BE49-F238E27FC236}">
                <a16:creationId xmlns:a16="http://schemas.microsoft.com/office/drawing/2014/main" id="{7E8E88D2-1AC4-4856-8764-FF7BA24D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699" y="1492214"/>
            <a:ext cx="1971729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71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2026 Q4  /  V1.0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7FE60208-133A-4936-918D-11F8DBD1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3" y="2253343"/>
            <a:ext cx="23077714" cy="544"/>
          </a:xfrm>
          <a:custGeom xmlns:a="http://schemas.openxmlformats.org/drawingml/2006/main">
            <a:pathLst>
              <a:path w="20193000" h="476">
                <a:moveTo>
                  <a:pt x="0" y="0"/>
                </a:moveTo>
                <a:lnTo>
                  <a:pt x="2019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657">
            <a:solidFill>
              <a:srgbClr val="008DD5"/>
            </a:solidFill>
            <a:prstDash val="solid"/>
          </a:ln>
        </p:spPr>
      </p:sp>
      <p:sp>
        <p:nvSpPr>
          <p:cNvPr id="7" name="以PMC为计划中枢，贯通需求、采购、生产与库存反馈">
            <a:extLst xmlns:a="http://schemas.openxmlformats.org/drawingml/2006/main">
              <a:ext uri="{FF2B5EF4-FFF2-40B4-BE49-F238E27FC236}">
                <a16:creationId xmlns:a16="http://schemas.microsoft.com/office/drawing/2014/main" id="{6AEA8B7C-297C-4001-BA21-4AA60DA1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2427514"/>
            <a:ext cx="6959400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以PMC为计划中枢，贯通需求、采购、生产与库存反馈</a:t>
            </a:r>
          </a:p>
        </p:txBody>
      </p:sp>
      <p:sp>
        <p:nvSpPr>
          <p:cNvPr id="8" name="01 / 业务全景">
            <a:extLst xmlns:a="http://schemas.openxmlformats.org/drawingml/2006/main">
              <a:ext uri="{FF2B5EF4-FFF2-40B4-BE49-F238E27FC236}">
                <a16:creationId xmlns:a16="http://schemas.microsoft.com/office/drawing/2014/main" id="{303DC76C-E471-4048-B860-EE11C315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5041" y="2461478"/>
            <a:ext cx="1631388" cy="34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86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86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01 / 业务全景</a:t>
            </a:r>
          </a:p>
        </p:txBody>
      </p:sp>
      <p:sp>
        <p:nvSpPr>
          <p:cNvPr id="9" name="path-8">
            <a:extLst xmlns:a="http://schemas.openxmlformats.org/drawingml/2006/main">
              <a:ext uri="{FF2B5EF4-FFF2-40B4-BE49-F238E27FC236}">
                <a16:creationId xmlns:a16="http://schemas.microsoft.com/office/drawing/2014/main" id="{3AD60EE0-80DC-4DC2-A20E-918A941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商品数据准备">
            <a:extLst xmlns:a="http://schemas.openxmlformats.org/drawingml/2006/main">
              <a:ext uri="{FF2B5EF4-FFF2-40B4-BE49-F238E27FC236}">
                <a16:creationId xmlns:a16="http://schemas.microsoft.com/office/drawing/2014/main" id="{EEC40373-B34F-4EA0-BAD6-91A1B254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37" y="3459045"/>
            <a:ext cx="2200983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商品数据准备</a:t>
            </a:r>
          </a:p>
        </p:txBody>
      </p:sp>
      <p:sp>
        <p:nvSpPr>
          <p:cNvPr id="11" name="商品 / 研发 · MDM / PLM">
            <a:extLst xmlns:a="http://schemas.openxmlformats.org/drawingml/2006/main">
              <a:ext uri="{FF2B5EF4-FFF2-40B4-BE49-F238E27FC236}">
                <a16:creationId xmlns:a16="http://schemas.microsoft.com/office/drawing/2014/main" id="{0BF72B5F-B073-4391-8269-6D1D440B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00" y="4421342"/>
            <a:ext cx="2989571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商品 / 研发 · MDM / PLM</a:t>
            </a:r>
          </a:p>
        </p:txBody>
      </p:sp>
      <p:sp>
        <p:nvSpPr>
          <p:cNvPr id="12" name="统一SKU与版本关系">
            <a:extLst xmlns:a="http://schemas.openxmlformats.org/drawingml/2006/main">
              <a:ext uri="{FF2B5EF4-FFF2-40B4-BE49-F238E27FC236}">
                <a16:creationId xmlns:a16="http://schemas.microsoft.com/office/drawing/2014/main" id="{1F8F3AF5-DF61-4A49-B247-D4BF499F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435"/>
            <a:ext cx="2550523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统一SKU与版本关系</a:t>
            </a:r>
          </a:p>
        </p:txBody>
      </p:sp>
      <p:sp>
        <p:nvSpPr>
          <p:cNvPr id="13" name="准备BOM、工艺资料">
            <a:extLst xmlns:a="http://schemas.openxmlformats.org/drawingml/2006/main">
              <a:ext uri="{FF2B5EF4-FFF2-40B4-BE49-F238E27FC236}">
                <a16:creationId xmlns:a16="http://schemas.microsoft.com/office/drawing/2014/main" id="{EC0A4DE7-971D-4D19-A423-8ABC23ED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1521"/>
            <a:ext cx="2629240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准备BOM、工艺资料</a:t>
            </a:r>
          </a:p>
        </p:txBody>
      </p:sp>
      <p:sp>
        <p:nvSpPr>
          <p:cNvPr id="14" name="明确数据责任与版本">
            <a:extLst xmlns:a="http://schemas.openxmlformats.org/drawingml/2006/main">
              <a:ext uri="{FF2B5EF4-FFF2-40B4-BE49-F238E27FC236}">
                <a16:creationId xmlns:a16="http://schemas.microsoft.com/office/drawing/2014/main" id="{8C927329-8973-4591-8433-66C92EAB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9607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明确数据责任与版本</a:t>
            </a:r>
          </a:p>
        </p:txBody>
      </p:sp>
      <p:sp>
        <p:nvSpPr>
          <p:cNvPr id="15" name="path-14">
            <a:extLst xmlns:a="http://schemas.openxmlformats.org/drawingml/2006/main">
              <a:ext uri="{FF2B5EF4-FFF2-40B4-BE49-F238E27FC236}">
                <a16:creationId xmlns:a16="http://schemas.microsoft.com/office/drawing/2014/main" id="{D9821C9D-8F20-412A-9AEE-2EE35664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16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7C615BE1-6970-42A9-9A7D-DA275ABB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17" name="可用的商品资料">
            <a:extLst xmlns:a="http://schemas.openxmlformats.org/drawingml/2006/main">
              <a:ext uri="{FF2B5EF4-FFF2-40B4-BE49-F238E27FC236}">
                <a16:creationId xmlns:a16="http://schemas.microsoft.com/office/drawing/2014/main" id="{98324284-DBCD-4FA1-9C86-9F6F9323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24185"/>
            <a:ext cx="1917954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可用的商品资料</a:t>
            </a:r>
          </a:p>
        </p:txBody>
      </p:sp>
      <p:sp>
        <p:nvSpPr>
          <p:cNvPr id="18" name="path-17">
            <a:extLst xmlns:a="http://schemas.openxmlformats.org/drawingml/2006/main">
              <a:ext uri="{FF2B5EF4-FFF2-40B4-BE49-F238E27FC236}">
                <a16:creationId xmlns:a16="http://schemas.microsoft.com/office/drawing/2014/main" id="{FCC74775-18A6-42D7-B2FB-9AD2A375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171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销售需求">
            <a:extLst xmlns:a="http://schemas.openxmlformats.org/drawingml/2006/main">
              <a:ext uri="{FF2B5EF4-FFF2-40B4-BE49-F238E27FC236}">
                <a16:creationId xmlns:a16="http://schemas.microsoft.com/office/drawing/2014/main" id="{6822A057-5337-4C17-92A6-456E8253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78" y="3459045"/>
            <a:ext cx="1499072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销售需求</a:t>
            </a:r>
          </a:p>
        </p:txBody>
      </p:sp>
      <p:sp>
        <p:nvSpPr>
          <p:cNvPr id="20" name="销售运营 · 计划平台">
            <a:extLst xmlns:a="http://schemas.openxmlformats.org/drawingml/2006/main">
              <a:ext uri="{FF2B5EF4-FFF2-40B4-BE49-F238E27FC236}">
                <a16:creationId xmlns:a16="http://schemas.microsoft.com/office/drawing/2014/main" id="{E31B7373-1F7C-4BE5-A7B5-466ABCF9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086" y="4421342"/>
            <a:ext cx="227457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销售运营 · 计划平台</a:t>
            </a:r>
          </a:p>
        </p:txBody>
      </p:sp>
      <p:sp>
        <p:nvSpPr>
          <p:cNvPr id="21" name="PMC开启预测周期">
            <a:extLst xmlns:a="http://schemas.openxmlformats.org/drawingml/2006/main">
              <a:ext uri="{FF2B5EF4-FFF2-40B4-BE49-F238E27FC236}">
                <a16:creationId xmlns:a16="http://schemas.microsoft.com/office/drawing/2014/main" id="{4D905C00-B55F-48AF-B813-93C5B578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4953435"/>
            <a:ext cx="233754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PMC开启预测周期</a:t>
            </a:r>
          </a:p>
        </p:txBody>
      </p:sp>
      <p:sp>
        <p:nvSpPr>
          <p:cNvPr id="22" name="按W周、逐日修正与填活动">
            <a:extLst xmlns:a="http://schemas.openxmlformats.org/drawingml/2006/main">
              <a:ext uri="{FF2B5EF4-FFF2-40B4-BE49-F238E27FC236}">
                <a16:creationId xmlns:a16="http://schemas.microsoft.com/office/drawing/2014/main" id="{08B6BAC0-10CD-468B-8459-794D71BA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5421521"/>
            <a:ext cx="3336812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按W周、逐日修正与填活动</a:t>
            </a:r>
          </a:p>
        </p:txBody>
      </p:sp>
      <p:sp>
        <p:nvSpPr>
          <p:cNvPr id="23" name="销售提交、PMC审核">
            <a:extLst xmlns:a="http://schemas.openxmlformats.org/drawingml/2006/main">
              <a:ext uri="{FF2B5EF4-FFF2-40B4-BE49-F238E27FC236}">
                <a16:creationId xmlns:a16="http://schemas.microsoft.com/office/drawing/2014/main" id="{AFA9D6B4-EA9F-4A89-ABEC-713CA100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5889607"/>
            <a:ext cx="2609251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销售提交、PMC审核</a:t>
            </a:r>
          </a:p>
        </p:txBody>
      </p:sp>
      <p:sp>
        <p:nvSpPr>
          <p:cNvPr id="24" name="path-23">
            <a:extLst xmlns:a="http://schemas.openxmlformats.org/drawingml/2006/main">
              <a:ext uri="{FF2B5EF4-FFF2-40B4-BE49-F238E27FC236}">
                <a16:creationId xmlns:a16="http://schemas.microsoft.com/office/drawing/2014/main" id="{FEAD5712-83BE-43A2-B9E6-447BF581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25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F32BAA2D-2F18-45C4-A2B0-DEF407A3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26" name="审核后的销售需求">
            <a:extLst xmlns:a="http://schemas.openxmlformats.org/drawingml/2006/main">
              <a:ext uri="{FF2B5EF4-FFF2-40B4-BE49-F238E27FC236}">
                <a16:creationId xmlns:a16="http://schemas.microsoft.com/office/drawing/2014/main" id="{A9B8D350-5F57-4035-9E78-A1A41017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6924185"/>
            <a:ext cx="2178340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审核后的销售需求</a:t>
            </a:r>
          </a:p>
        </p:txBody>
      </p:sp>
      <p:sp>
        <p:nvSpPr>
          <p:cNvPr id="27" name="path-26">
            <a:extLst xmlns:a="http://schemas.openxmlformats.org/drawingml/2006/main">
              <a:ext uri="{FF2B5EF4-FFF2-40B4-BE49-F238E27FC236}">
                <a16:creationId xmlns:a16="http://schemas.microsoft.com/office/drawing/2014/main" id="{0E2FC9E0-3B24-4164-9B36-F004B302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657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MC计划">
            <a:extLst xmlns:a="http://schemas.openxmlformats.org/drawingml/2006/main">
              <a:ext uri="{FF2B5EF4-FFF2-40B4-BE49-F238E27FC236}">
                <a16:creationId xmlns:a16="http://schemas.microsoft.com/office/drawing/2014/main" id="{F6DC8315-141F-4252-A5F4-6894DE6E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919" y="3459045"/>
            <a:ext cx="1600962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PMC计划</a:t>
            </a:r>
          </a:p>
        </p:txBody>
      </p:sp>
      <p:sp>
        <p:nvSpPr>
          <p:cNvPr id="29" name="PMC · 计划中枢">
            <a:extLst xmlns:a="http://schemas.openxmlformats.org/drawingml/2006/main">
              <a:ext uri="{FF2B5EF4-FFF2-40B4-BE49-F238E27FC236}">
                <a16:creationId xmlns:a16="http://schemas.microsoft.com/office/drawing/2014/main" id="{60BE41E6-FB85-4A36-B3B6-18B5B9B3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910" y="4421342"/>
            <a:ext cx="1867893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 · 计划中枢</a:t>
            </a:r>
          </a:p>
        </p:txBody>
      </p:sp>
      <p:sp>
        <p:nvSpPr>
          <p:cNvPr id="30" name="读取需求、库存与在途">
            <a:extLst xmlns:a="http://schemas.openxmlformats.org/drawingml/2006/main">
              <a:ext uri="{FF2B5EF4-FFF2-40B4-BE49-F238E27FC236}">
                <a16:creationId xmlns:a16="http://schemas.microsoft.com/office/drawing/2014/main" id="{7C60A90C-AC49-42B2-B4F4-B9F19BD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4953435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读取需求、库存与在途</a:t>
            </a:r>
          </a:p>
        </p:txBody>
      </p:sp>
      <p:sp>
        <p:nvSpPr>
          <p:cNvPr id="31" name="测算缺口、备货与过货">
            <a:extLst xmlns:a="http://schemas.openxmlformats.org/drawingml/2006/main">
              <a:ext uri="{FF2B5EF4-FFF2-40B4-BE49-F238E27FC236}">
                <a16:creationId xmlns:a16="http://schemas.microsoft.com/office/drawing/2014/main" id="{3C793E53-DB45-4D13-BF53-27A1A520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5421521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测算缺口、备货与过货</a:t>
            </a:r>
          </a:p>
        </p:txBody>
      </p:sp>
      <p:sp>
        <p:nvSpPr>
          <p:cNvPr id="32" name="人工校准、审批与留痕">
            <a:extLst xmlns:a="http://schemas.openxmlformats.org/drawingml/2006/main">
              <a:ext uri="{FF2B5EF4-FFF2-40B4-BE49-F238E27FC236}">
                <a16:creationId xmlns:a16="http://schemas.microsoft.com/office/drawing/2014/main" id="{3191C234-3056-4F39-8EDF-95A590A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5889607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人工校准、审批与留痕</a:t>
            </a:r>
          </a:p>
        </p:txBody>
      </p:sp>
      <p:sp>
        <p:nvSpPr>
          <p:cNvPr id="33" name="path-32">
            <a:extLst xmlns:a="http://schemas.openxmlformats.org/drawingml/2006/main">
              <a:ext uri="{FF2B5EF4-FFF2-40B4-BE49-F238E27FC236}">
                <a16:creationId xmlns:a16="http://schemas.microsoft.com/office/drawing/2014/main" id="{E375ED1A-E279-439B-A2F6-54189C45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34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32237C6F-75C8-49CA-A15B-7A28DFEC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35" name="采购需求 / 过货计划">
            <a:extLst xmlns:a="http://schemas.openxmlformats.org/drawingml/2006/main">
              <a:ext uri="{FF2B5EF4-FFF2-40B4-BE49-F238E27FC236}">
                <a16:creationId xmlns:a16="http://schemas.microsoft.com/office/drawing/2014/main" id="{398A1B23-A696-48A4-996E-6D32534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6924185"/>
            <a:ext cx="248206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采购需求 / 过货计划</a:t>
            </a:r>
          </a:p>
        </p:txBody>
      </p:sp>
      <p:sp>
        <p:nvSpPr>
          <p:cNvPr id="36" name="path-35">
            <a:extLst xmlns:a="http://schemas.openxmlformats.org/drawingml/2006/main">
              <a:ext uri="{FF2B5EF4-FFF2-40B4-BE49-F238E27FC236}">
                <a16:creationId xmlns:a16="http://schemas.microsoft.com/office/drawing/2014/main" id="{4A5E1705-1748-4425-93DF-25503204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143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采购执行">
            <a:extLst xmlns:a="http://schemas.openxmlformats.org/drawingml/2006/main">
              <a:ext uri="{FF2B5EF4-FFF2-40B4-BE49-F238E27FC236}">
                <a16:creationId xmlns:a16="http://schemas.microsoft.com/office/drawing/2014/main" id="{D0EC2D95-8561-4513-8D0E-AB073C87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350" y="3459045"/>
            <a:ext cx="1499072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采购执行</a:t>
            </a:r>
          </a:p>
        </p:txBody>
      </p:sp>
      <p:sp>
        <p:nvSpPr>
          <p:cNvPr id="38" name="采购 / 供应商 · SCM">
            <a:extLst xmlns:a="http://schemas.openxmlformats.org/drawingml/2006/main">
              <a:ext uri="{FF2B5EF4-FFF2-40B4-BE49-F238E27FC236}">
                <a16:creationId xmlns:a16="http://schemas.microsoft.com/office/drawing/2014/main" id="{6D7161FF-5637-4AC3-96A8-0CE188C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371" y="4421342"/>
            <a:ext cx="238194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采购 / 供应商 · SCM</a:t>
            </a:r>
          </a:p>
        </p:txBody>
      </p:sp>
      <p:sp>
        <p:nvSpPr>
          <p:cNvPr id="39" name="承接并确认采购需求">
            <a:extLst xmlns:a="http://schemas.openxmlformats.org/drawingml/2006/main">
              <a:ext uri="{FF2B5EF4-FFF2-40B4-BE49-F238E27FC236}">
                <a16:creationId xmlns:a16="http://schemas.microsoft.com/office/drawing/2014/main" id="{6BA1E21F-87C5-4DCF-BC27-7CECCD91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4953435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承接并确认采购需求</a:t>
            </a:r>
          </a:p>
        </p:txBody>
      </p:sp>
      <p:sp>
        <p:nvSpPr>
          <p:cNvPr id="40" name="采购决策、PO / 大货单">
            <a:extLst xmlns:a="http://schemas.openxmlformats.org/drawingml/2006/main">
              <a:ext uri="{FF2B5EF4-FFF2-40B4-BE49-F238E27FC236}">
                <a16:creationId xmlns:a16="http://schemas.microsoft.com/office/drawing/2014/main" id="{84C9FD54-B784-4DE8-8811-F1EC4CF8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5421521"/>
            <a:ext cx="2968698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采购决策、PO / 大货单</a:t>
            </a:r>
          </a:p>
        </p:txBody>
      </p:sp>
      <p:sp>
        <p:nvSpPr>
          <p:cNvPr id="41" name="供应商交期与发货跟踪">
            <a:extLst xmlns:a="http://schemas.openxmlformats.org/drawingml/2006/main">
              <a:ext uri="{FF2B5EF4-FFF2-40B4-BE49-F238E27FC236}">
                <a16:creationId xmlns:a16="http://schemas.microsoft.com/office/drawing/2014/main" id="{A02FF91C-B356-4529-9894-32BB571D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5889607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供应商交期与发货跟踪</a:t>
            </a:r>
          </a:p>
        </p:txBody>
      </p:sp>
      <p:sp>
        <p:nvSpPr>
          <p:cNvPr id="42" name="path-41">
            <a:extLst xmlns:a="http://schemas.openxmlformats.org/drawingml/2006/main">
              <a:ext uri="{FF2B5EF4-FFF2-40B4-BE49-F238E27FC236}">
                <a16:creationId xmlns:a16="http://schemas.microsoft.com/office/drawing/2014/main" id="{E14BEAAD-67DB-48EA-B8C1-E1B1775D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43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730A77F1-9FD2-4F05-B563-B7B10ED9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44" name="订单 / 交期 / 执行状态">
            <a:extLst xmlns:a="http://schemas.openxmlformats.org/drawingml/2006/main">
              <a:ext uri="{FF2B5EF4-FFF2-40B4-BE49-F238E27FC236}">
                <a16:creationId xmlns:a16="http://schemas.microsoft.com/office/drawing/2014/main" id="{0BBBBFEC-862C-4B68-B1C7-9B43CBB9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6924185"/>
            <a:ext cx="2785613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订单 / 交期 / 执行状态</a:t>
            </a:r>
          </a:p>
        </p:txBody>
      </p:sp>
      <p:sp>
        <p:nvSpPr>
          <p:cNvPr id="45" name="path-44">
            <a:extLst xmlns:a="http://schemas.openxmlformats.org/drawingml/2006/main">
              <a:ext uri="{FF2B5EF4-FFF2-40B4-BE49-F238E27FC236}">
                <a16:creationId xmlns:a16="http://schemas.microsoft.com/office/drawing/2014/main" id="{1D6EB977-C314-47B8-B8B9-D70BEB73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6629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549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生产协同">
            <a:extLst xmlns:a="http://schemas.openxmlformats.org/drawingml/2006/main">
              <a:ext uri="{FF2B5EF4-FFF2-40B4-BE49-F238E27FC236}">
                <a16:creationId xmlns:a16="http://schemas.microsoft.com/office/drawing/2014/main" id="{87756A80-DEEF-4801-94C6-4C94049C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0836" y="3459045"/>
            <a:ext cx="1499072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生产协同</a:t>
            </a:r>
          </a:p>
        </p:txBody>
      </p:sp>
      <p:sp>
        <p:nvSpPr>
          <p:cNvPr id="47" name="工厂 / 生产 · MES">
            <a:extLst xmlns:a="http://schemas.openxmlformats.org/drawingml/2006/main">
              <a:ext uri="{FF2B5EF4-FFF2-40B4-BE49-F238E27FC236}">
                <a16:creationId xmlns:a16="http://schemas.microsoft.com/office/drawing/2014/main" id="{CC174B7D-4CF2-40B0-AD14-9CA461F9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431" y="4421342"/>
            <a:ext cx="2122796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工厂 / 生产 · MES</a:t>
            </a:r>
          </a:p>
        </p:txBody>
      </p:sp>
      <p:sp>
        <p:nvSpPr>
          <p:cNvPr id="48" name="承接生产任务与工艺">
            <a:extLst xmlns:a="http://schemas.openxmlformats.org/drawingml/2006/main">
              <a:ext uri="{FF2B5EF4-FFF2-40B4-BE49-F238E27FC236}">
                <a16:creationId xmlns:a16="http://schemas.microsoft.com/office/drawing/2014/main" id="{EF71E2EA-BA72-4768-8C25-ECA3751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4953435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承接生产任务与工艺</a:t>
            </a:r>
          </a:p>
        </p:txBody>
      </p:sp>
      <p:sp>
        <p:nvSpPr>
          <p:cNvPr id="49" name="排产执行、报工与进度">
            <a:extLst xmlns:a="http://schemas.openxmlformats.org/drawingml/2006/main">
              <a:ext uri="{FF2B5EF4-FFF2-40B4-BE49-F238E27FC236}">
                <a16:creationId xmlns:a16="http://schemas.microsoft.com/office/drawing/2014/main" id="{0FEE3A9F-186B-450A-8E50-DF8E03FC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5421521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排产执行、报工与进度</a:t>
            </a:r>
          </a:p>
        </p:txBody>
      </p:sp>
      <p:sp>
        <p:nvSpPr>
          <p:cNvPr id="50" name="异常处理、完工回传">
            <a:extLst xmlns:a="http://schemas.openxmlformats.org/drawingml/2006/main">
              <a:ext uri="{FF2B5EF4-FFF2-40B4-BE49-F238E27FC236}">
                <a16:creationId xmlns:a16="http://schemas.microsoft.com/office/drawing/2014/main" id="{13CF2204-5B4A-4B5F-AF2D-5AA5E78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5889607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异常处理、完工回传</a:t>
            </a:r>
          </a:p>
        </p:txBody>
      </p:sp>
      <p:sp>
        <p:nvSpPr>
          <p:cNvPr id="51" name="path-50">
            <a:extLst xmlns:a="http://schemas.openxmlformats.org/drawingml/2006/main">
              <a:ext uri="{FF2B5EF4-FFF2-40B4-BE49-F238E27FC236}">
                <a16:creationId xmlns:a16="http://schemas.microsoft.com/office/drawing/2014/main" id="{751B7D2A-4255-4AC0-9BE8-5AE2756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52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DC7C94CC-8C8E-4D19-B488-21C41557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53" name="生产进度 / 完工结果">
            <a:extLst xmlns:a="http://schemas.openxmlformats.org/drawingml/2006/main">
              <a:ext uri="{FF2B5EF4-FFF2-40B4-BE49-F238E27FC236}">
                <a16:creationId xmlns:a16="http://schemas.microsoft.com/office/drawing/2014/main" id="{0F2633FF-2D41-41CB-9758-B522A7DE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6924185"/>
            <a:ext cx="248206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生产进度 / 完工结果</a:t>
            </a:r>
          </a:p>
        </p:txBody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12025C6F-5AA6-429E-8763-AB4940BF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4114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入库与库存回流">
            <a:extLst xmlns:a="http://schemas.openxmlformats.org/drawingml/2006/main">
              <a:ext uri="{FF2B5EF4-FFF2-40B4-BE49-F238E27FC236}">
                <a16:creationId xmlns:a16="http://schemas.microsoft.com/office/drawing/2014/main" id="{E0794594-8CF7-4D88-96D8-B1D7E05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1888" y="3459045"/>
            <a:ext cx="2551938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入库与库存回流</a:t>
            </a:r>
          </a:p>
        </p:txBody>
      </p:sp>
      <p:sp>
        <p:nvSpPr>
          <p:cNvPr id="56" name="质检 / 仓储 · 库存来源系统">
            <a:extLst xmlns:a="http://schemas.openxmlformats.org/drawingml/2006/main">
              <a:ext uri="{FF2B5EF4-FFF2-40B4-BE49-F238E27FC236}">
                <a16:creationId xmlns:a16="http://schemas.microsoft.com/office/drawing/2014/main" id="{1B2897E7-285F-4C34-86C7-583177BC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0690" y="4421342"/>
            <a:ext cx="3027249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质检 / 仓储 · 库存来源系统</a:t>
            </a:r>
          </a:p>
        </p:txBody>
      </p:sp>
      <p:sp>
        <p:nvSpPr>
          <p:cNvPr id="57" name="质检放行、收货入库">
            <a:extLst xmlns:a="http://schemas.openxmlformats.org/drawingml/2006/main">
              <a:ext uri="{FF2B5EF4-FFF2-40B4-BE49-F238E27FC236}">
                <a16:creationId xmlns:a16="http://schemas.microsoft.com/office/drawing/2014/main" id="{D38DB76A-D2B9-477F-A51E-64EC4DD6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4953435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质检放行、收货入库</a:t>
            </a:r>
          </a:p>
        </p:txBody>
      </p:sp>
      <p:sp>
        <p:nvSpPr>
          <p:cNvPr id="58" name="更新库存与在途事实">
            <a:extLst xmlns:a="http://schemas.openxmlformats.org/drawingml/2006/main">
              <a:ext uri="{FF2B5EF4-FFF2-40B4-BE49-F238E27FC236}">
                <a16:creationId xmlns:a16="http://schemas.microsoft.com/office/drawing/2014/main" id="{1B11461D-0363-49F9-9FB8-66D2ABF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5421521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更新库存与在途事实</a:t>
            </a:r>
          </a:p>
        </p:txBody>
      </p:sp>
      <p:sp>
        <p:nvSpPr>
          <p:cNvPr id="59" name="反馈到货、数量与质量">
            <a:extLst xmlns:a="http://schemas.openxmlformats.org/drawingml/2006/main">
              <a:ext uri="{FF2B5EF4-FFF2-40B4-BE49-F238E27FC236}">
                <a16:creationId xmlns:a16="http://schemas.microsoft.com/office/drawing/2014/main" id="{5E1BEA95-CE9E-4B93-9890-F6A452D1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5889607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反馈到货、数量与质量</a:t>
            </a:r>
          </a:p>
        </p:txBody>
      </p:sp>
      <p:sp>
        <p:nvSpPr>
          <p:cNvPr id="60" name="path-59">
            <a:extLst xmlns:a="http://schemas.openxmlformats.org/drawingml/2006/main">
              <a:ext uri="{FF2B5EF4-FFF2-40B4-BE49-F238E27FC236}">
                <a16:creationId xmlns:a16="http://schemas.microsoft.com/office/drawing/2014/main" id="{03273508-C98F-4354-BCD2-CCA80F4C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61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6FC477BE-BF95-48D0-9805-A7FD2D0F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62" name="库存快照 / 到货结果">
            <a:extLst xmlns:a="http://schemas.openxmlformats.org/drawingml/2006/main">
              <a:ext uri="{FF2B5EF4-FFF2-40B4-BE49-F238E27FC236}">
                <a16:creationId xmlns:a16="http://schemas.microsoft.com/office/drawing/2014/main" id="{17C02875-641B-48BA-B216-975F990F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6924185"/>
            <a:ext cx="248206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库存快照 / 到货结果</a:t>
            </a:r>
          </a:p>
        </p:txBody>
      </p:sp>
      <p:sp>
        <p:nvSpPr>
          <p:cNvPr id="63" name="path-62">
            <a:extLst xmlns:a="http://schemas.openxmlformats.org/drawingml/2006/main">
              <a:ext uri="{FF2B5EF4-FFF2-40B4-BE49-F238E27FC236}">
                <a16:creationId xmlns:a16="http://schemas.microsoft.com/office/drawing/2014/main" id="{B405E7D2-07C9-4D97-9E95-E0B2E3AD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1600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下一轮计划">
            <a:extLst xmlns:a="http://schemas.openxmlformats.org/drawingml/2006/main">
              <a:ext uri="{FF2B5EF4-FFF2-40B4-BE49-F238E27FC236}">
                <a16:creationId xmlns:a16="http://schemas.microsoft.com/office/drawing/2014/main" id="{6A1D47F5-86FD-48A1-B8B2-E64143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0329" y="3459045"/>
            <a:ext cx="1850027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下一轮计划</a:t>
            </a:r>
          </a:p>
        </p:txBody>
      </p:sp>
      <p:sp>
        <p:nvSpPr>
          <p:cNvPr id="65" name="PMC / 销售 · 滚动计划">
            <a:extLst xmlns:a="http://schemas.openxmlformats.org/drawingml/2006/main">
              <a:ext uri="{FF2B5EF4-FFF2-40B4-BE49-F238E27FC236}">
                <a16:creationId xmlns:a16="http://schemas.microsoft.com/office/drawing/2014/main" id="{56D7A1A2-5A22-4FF5-8E0C-840B1299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1514" y="4421342"/>
            <a:ext cx="2620572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 / 销售 · 滚动计划</a:t>
            </a:r>
          </a:p>
        </p:txBody>
      </p:sp>
      <p:sp>
        <p:nvSpPr>
          <p:cNvPr id="66" name="对比计划与执行差异">
            <a:extLst xmlns:a="http://schemas.openxmlformats.org/drawingml/2006/main">
              <a:ext uri="{FF2B5EF4-FFF2-40B4-BE49-F238E27FC236}">
                <a16:creationId xmlns:a16="http://schemas.microsoft.com/office/drawing/2014/main" id="{65AE4428-0C4D-4E84-B019-BF615E65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4953435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对比计划与执行差异</a:t>
            </a:r>
          </a:p>
        </p:txBody>
      </p:sp>
      <p:sp>
        <p:nvSpPr>
          <p:cNvPr id="67" name="处理缺货、延期等异常">
            <a:extLst xmlns:a="http://schemas.openxmlformats.org/drawingml/2006/main">
              <a:ext uri="{FF2B5EF4-FFF2-40B4-BE49-F238E27FC236}">
                <a16:creationId xmlns:a16="http://schemas.microsoft.com/office/drawing/2014/main" id="{F15DE6A3-93B0-4F32-AE9D-609C31C9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5421521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处理缺货、延期等异常</a:t>
            </a:r>
          </a:p>
        </p:txBody>
      </p:sp>
      <p:sp>
        <p:nvSpPr>
          <p:cNvPr id="68" name="更新预测与补货安排">
            <a:extLst xmlns:a="http://schemas.openxmlformats.org/drawingml/2006/main">
              <a:ext uri="{FF2B5EF4-FFF2-40B4-BE49-F238E27FC236}">
                <a16:creationId xmlns:a16="http://schemas.microsoft.com/office/drawing/2014/main" id="{AB45A6BC-EE6F-47B0-9874-B1F63915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5889607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更新预测与补货安排</a:t>
            </a:r>
          </a:p>
        </p:txBody>
      </p:sp>
      <p:sp>
        <p:nvSpPr>
          <p:cNvPr id="69" name="path-68">
            <a:extLst xmlns:a="http://schemas.openxmlformats.org/drawingml/2006/main">
              <a:ext uri="{FF2B5EF4-FFF2-40B4-BE49-F238E27FC236}">
                <a16:creationId xmlns:a16="http://schemas.microsoft.com/office/drawing/2014/main" id="{2D4D0362-2D1B-404A-84E8-55CF749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70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D82679B4-87EB-4C1C-AE1B-2C03E2BB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71" name="新一轮需求与供给计划">
            <a:extLst xmlns:a="http://schemas.openxmlformats.org/drawingml/2006/main">
              <a:ext uri="{FF2B5EF4-FFF2-40B4-BE49-F238E27FC236}">
                <a16:creationId xmlns:a16="http://schemas.microsoft.com/office/drawing/2014/main" id="{7049BCE6-5016-4296-AC48-23E61072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6924185"/>
            <a:ext cx="2699113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新一轮需求与供给计划</a:t>
            </a:r>
          </a:p>
        </p:txBody>
      </p:sp>
      <p:sp>
        <p:nvSpPr>
          <p:cNvPr id="72" name="path-71">
            <a:extLst xmlns:a="http://schemas.openxmlformats.org/drawingml/2006/main">
              <a:ext uri="{FF2B5EF4-FFF2-40B4-BE49-F238E27FC236}">
                <a16:creationId xmlns:a16="http://schemas.microsoft.com/office/drawing/2014/main" id="{4F5D94AD-AE75-4EB6-86B1-8A58CD99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857" y="7402286"/>
            <a:ext cx="9862457" cy="293914"/>
          </a:xfrm>
          <a:custGeom xmlns:a="http://schemas.openxmlformats.org/drawingml/2006/main">
            <a:pathLst>
              <a:path w="8629650" h="257175">
                <a:moveTo>
                  <a:pt x="8629650" y="0"/>
                </a:moveTo>
                <a:lnTo>
                  <a:pt x="8629650" y="257175"/>
                </a:lnTo>
                <a:lnTo>
                  <a:pt x="0" y="257175"/>
                </a:ln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128D96"/>
            </a:solidFill>
            <a:prstDash val="dash"/>
          </a:ln>
        </p:spPr>
      </p:sp>
      <p:sp>
        <p:nvSpPr>
          <p:cNvPr id="73" name="arrowhead-71">
            <a:extLst xmlns:a="http://schemas.openxmlformats.org/drawingml/2006/main">
              <a:ext uri="{FF2B5EF4-FFF2-40B4-BE49-F238E27FC236}">
                <a16:creationId xmlns:a16="http://schemas.microsoft.com/office/drawing/2014/main" id="{D8EF75BF-17C4-41A0-AD18-FD0C6E5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413171"/>
            <a:ext cx="217714" cy="217714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74" name="rect-72">
            <a:extLst xmlns:a="http://schemas.openxmlformats.org/drawingml/2006/main">
              <a:ext uri="{FF2B5EF4-FFF2-40B4-BE49-F238E27FC236}">
                <a16:creationId xmlns:a16="http://schemas.microsoft.com/office/drawing/2014/main" id="{F3FFEB5C-CA06-46E1-AFD7-B5086A3E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2114" y="7543800"/>
            <a:ext cx="4267200" cy="348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771">
            <a:noFill/>
            <a:prstDash val="solid"/>
          </a:ln>
        </p:spPr>
      </p:sp>
      <p:sp>
        <p:nvSpPr>
          <p:cNvPr id="75" name="订单、进度、到货与库存事实持续回流">
            <a:extLst xmlns:a="http://schemas.openxmlformats.org/drawingml/2006/main">
              <a:ext uri="{FF2B5EF4-FFF2-40B4-BE49-F238E27FC236}">
                <a16:creationId xmlns:a16="http://schemas.microsoft.com/office/drawing/2014/main" id="{3302F6E1-A125-4B0A-B9F7-CB0CAE32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036" y="7523335"/>
            <a:ext cx="4329357" cy="34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86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86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订单、进度、到货与库存事实持续回流</a:t>
            </a:r>
          </a:p>
        </p:txBody>
      </p:sp>
      <p:sp>
        <p:nvSpPr>
          <p:cNvPr id="76" name="rect-74">
            <a:extLst xmlns:a="http://schemas.openxmlformats.org/drawingml/2006/main">
              <a:ext uri="{FF2B5EF4-FFF2-40B4-BE49-F238E27FC236}">
                <a16:creationId xmlns:a16="http://schemas.microsoft.com/office/drawing/2014/main" id="{EC3A2DFD-613E-4738-A3B0-4D96EE8B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8251371"/>
            <a:ext cx="22990629" cy="2198914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21771">
            <a:solidFill>
              <a:srgbClr val="E0AE71"/>
            </a:solidFill>
            <a:prstDash val="dash"/>
          </a:ln>
        </p:spPr>
      </p:sp>
      <p:sp>
        <p:nvSpPr>
          <p:cNvPr id="77" name="MRP物料协同支线">
            <a:extLst xmlns:a="http://schemas.openxmlformats.org/drawingml/2006/main">
              <a:ext uri="{FF2B5EF4-FFF2-40B4-BE49-F238E27FC236}">
                <a16:creationId xmlns:a16="http://schemas.microsoft.com/office/drawing/2014/main" id="{93A3B90C-9E1B-455B-9868-D46C021D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14" y="8391144"/>
            <a:ext cx="2805602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MRP物料协同支线</a:t>
            </a:r>
          </a:p>
        </p:txBody>
      </p:sp>
      <p:sp>
        <p:nvSpPr>
          <p:cNvPr id="78" name="按需适用：涉及自采 / 发料的生产订单；责任主体与系统归属待确认">
            <a:extLst xmlns:a="http://schemas.openxmlformats.org/drawingml/2006/main">
              <a:ext uri="{FF2B5EF4-FFF2-40B4-BE49-F238E27FC236}">
                <a16:creationId xmlns:a16="http://schemas.microsoft.com/office/drawing/2014/main" id="{F104AA87-2115-4925-A221-639FCBC4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714" y="8447750"/>
            <a:ext cx="8291581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按需适用：涉及自采 / 发料的生产订单；责任主体与系统归属待确认</a:t>
            </a:r>
          </a:p>
        </p:txBody>
      </p:sp>
      <p:sp>
        <p:nvSpPr>
          <p:cNvPr id="79" name="生产订单 + BOM">
            <a:extLst xmlns:a="http://schemas.openxmlformats.org/drawingml/2006/main">
              <a:ext uri="{FF2B5EF4-FFF2-40B4-BE49-F238E27FC236}">
                <a16:creationId xmlns:a16="http://schemas.microsoft.com/office/drawing/2014/main" id="{925B405B-AD6B-46F7-85F8-2E3DC862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57" y="9001179"/>
            <a:ext cx="2516913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生产订单 + BOM</a:t>
            </a:r>
          </a:p>
        </p:txBody>
      </p:sp>
      <p:sp>
        <p:nvSpPr>
          <p:cNvPr id="80" name="读取物料库存、在途与损耗">
            <a:extLst xmlns:a="http://schemas.openxmlformats.org/drawingml/2006/main">
              <a:ext uri="{FF2B5EF4-FFF2-40B4-BE49-F238E27FC236}">
                <a16:creationId xmlns:a16="http://schemas.microsoft.com/office/drawing/2014/main" id="{12E7F8F3-29D6-4611-B996-04B28FD7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57" y="9536757"/>
            <a:ext cx="321988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读取物料库存、在途与损耗</a:t>
            </a:r>
          </a:p>
        </p:txBody>
      </p:sp>
      <p:sp>
        <p:nvSpPr>
          <p:cNvPr id="81" name="path-79">
            <a:extLst xmlns:a="http://schemas.openxmlformats.org/drawingml/2006/main">
              <a:ext uri="{FF2B5EF4-FFF2-40B4-BE49-F238E27FC236}">
                <a16:creationId xmlns:a16="http://schemas.microsoft.com/office/drawing/2014/main" id="{A2F010AA-9942-470E-B4B2-0C65F443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361714"/>
            <a:ext cx="664029" cy="544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DF8525"/>
            </a:solidFill>
            <a:prstDash val="dash"/>
          </a:ln>
        </p:spPr>
      </p:sp>
      <p:sp>
        <p:nvSpPr>
          <p:cNvPr id="82" name="arrowhead-79">
            <a:extLst xmlns:a="http://schemas.openxmlformats.org/drawingml/2006/main">
              <a:ext uri="{FF2B5EF4-FFF2-40B4-BE49-F238E27FC236}">
                <a16:creationId xmlns:a16="http://schemas.microsoft.com/office/drawing/2014/main" id="{CE595FD1-BB2C-4434-8085-19E8BAD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714" y="9252857"/>
            <a:ext cx="217714" cy="217714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83" name="物料需求测算">
            <a:extLst xmlns:a="http://schemas.openxmlformats.org/drawingml/2006/main">
              <a:ext uri="{FF2B5EF4-FFF2-40B4-BE49-F238E27FC236}">
                <a16:creationId xmlns:a16="http://schemas.microsoft.com/office/drawing/2014/main" id="{81941614-465C-49E2-990C-71B6ABC7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857" y="9001179"/>
            <a:ext cx="1997202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物料需求测算</a:t>
            </a:r>
          </a:p>
        </p:txBody>
      </p:sp>
      <p:sp>
        <p:nvSpPr>
          <p:cNvPr id="84" name="输出物料缺口与到料需求">
            <a:extLst xmlns:a="http://schemas.openxmlformats.org/drawingml/2006/main">
              <a:ext uri="{FF2B5EF4-FFF2-40B4-BE49-F238E27FC236}">
                <a16:creationId xmlns:a16="http://schemas.microsoft.com/office/drawing/2014/main" id="{D262D363-D02F-4717-8FBC-A053AE69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857" y="9536757"/>
            <a:ext cx="2959499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输出物料缺口与到料需求</a:t>
            </a:r>
          </a:p>
        </p:txBody>
      </p:sp>
      <p:sp>
        <p:nvSpPr>
          <p:cNvPr id="85" name="path-82">
            <a:extLst xmlns:a="http://schemas.openxmlformats.org/drawingml/2006/main">
              <a:ext uri="{FF2B5EF4-FFF2-40B4-BE49-F238E27FC236}">
                <a16:creationId xmlns:a16="http://schemas.microsoft.com/office/drawing/2014/main" id="{617225C3-6B6C-4E9C-A552-56C06440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361714"/>
            <a:ext cx="664029" cy="544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DF8525"/>
            </a:solidFill>
            <a:prstDash val="dash"/>
          </a:ln>
        </p:spPr>
      </p:sp>
      <p:sp>
        <p:nvSpPr>
          <p:cNvPr id="86" name="arrowhead-82">
            <a:extLst xmlns:a="http://schemas.openxmlformats.org/drawingml/2006/main">
              <a:ext uri="{FF2B5EF4-FFF2-40B4-BE49-F238E27FC236}">
                <a16:creationId xmlns:a16="http://schemas.microsoft.com/office/drawing/2014/main" id="{B8384F44-179C-49BC-8954-38C8E163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314" y="9252857"/>
            <a:ext cx="217714" cy="217714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87" name="材料采购 / 发料">
            <a:extLst xmlns:a="http://schemas.openxmlformats.org/drawingml/2006/main">
              <a:ext uri="{FF2B5EF4-FFF2-40B4-BE49-F238E27FC236}">
                <a16:creationId xmlns:a16="http://schemas.microsoft.com/office/drawing/2014/main" id="{4A96A5FE-3839-4C08-9D2C-9324557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457" y="9001179"/>
            <a:ext cx="236690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材料采购 / 发料</a:t>
            </a:r>
          </a:p>
        </p:txBody>
      </p:sp>
      <p:sp>
        <p:nvSpPr>
          <p:cNvPr id="88" name="由采购、材料与供应商执行">
            <a:extLst xmlns:a="http://schemas.openxmlformats.org/drawingml/2006/main">
              <a:ext uri="{FF2B5EF4-FFF2-40B4-BE49-F238E27FC236}">
                <a16:creationId xmlns:a16="http://schemas.microsoft.com/office/drawing/2014/main" id="{83FFDA99-75C4-4487-B6D1-D85A8EF5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457" y="9536757"/>
            <a:ext cx="321988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由采购、材料与供应商执行</a:t>
            </a:r>
          </a:p>
        </p:txBody>
      </p:sp>
      <p:sp>
        <p:nvSpPr>
          <p:cNvPr id="89" name="path-85">
            <a:extLst xmlns:a="http://schemas.openxmlformats.org/drawingml/2006/main">
              <a:ext uri="{FF2B5EF4-FFF2-40B4-BE49-F238E27FC236}">
                <a16:creationId xmlns:a16="http://schemas.microsoft.com/office/drawing/2014/main" id="{245641E7-2576-4D84-86FA-7E7811A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9361714"/>
            <a:ext cx="664029" cy="544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DF8525"/>
            </a:solidFill>
            <a:prstDash val="dash"/>
          </a:ln>
        </p:spPr>
      </p:sp>
      <p:sp>
        <p:nvSpPr>
          <p:cNvPr id="90" name="arrowhead-85">
            <a:extLst xmlns:a="http://schemas.openxmlformats.org/drawingml/2006/main">
              <a:ext uri="{FF2B5EF4-FFF2-40B4-BE49-F238E27FC236}">
                <a16:creationId xmlns:a16="http://schemas.microsoft.com/office/drawing/2014/main" id="{1EB7B03D-E823-4E5F-8230-96A154DD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914" y="9252857"/>
            <a:ext cx="217714" cy="217714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91" name="到料与齐料确认">
            <a:extLst xmlns:a="http://schemas.openxmlformats.org/drawingml/2006/main">
              <a:ext uri="{FF2B5EF4-FFF2-40B4-BE49-F238E27FC236}">
                <a16:creationId xmlns:a16="http://schemas.microsoft.com/office/drawing/2014/main" id="{F3CD72D0-97AF-4739-AD56-98A9374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057" y="9001179"/>
            <a:ext cx="2314194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到料与齐料确认</a:t>
            </a:r>
          </a:p>
        </p:txBody>
      </p:sp>
      <p:sp>
        <p:nvSpPr>
          <p:cNvPr id="92" name="支撑生产开工与异常处理">
            <a:extLst xmlns:a="http://schemas.openxmlformats.org/drawingml/2006/main">
              <a:ext uri="{FF2B5EF4-FFF2-40B4-BE49-F238E27FC236}">
                <a16:creationId xmlns:a16="http://schemas.microsoft.com/office/drawing/2014/main" id="{D92F1625-7FDD-4F92-9A1D-D4EF1F19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057" y="9536757"/>
            <a:ext cx="2959499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支撑生产开工与异常处理</a:t>
            </a:r>
          </a:p>
        </p:txBody>
      </p:sp>
      <p:sp>
        <p:nvSpPr>
          <p:cNvPr id="93" name="path-88">
            <a:extLst xmlns:a="http://schemas.openxmlformats.org/drawingml/2006/main">
              <a:ext uri="{FF2B5EF4-FFF2-40B4-BE49-F238E27FC236}">
                <a16:creationId xmlns:a16="http://schemas.microsoft.com/office/drawing/2014/main" id="{42A21559-415E-482B-97DD-DFC06EF2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0" y="9361714"/>
            <a:ext cx="664029" cy="544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DF8525"/>
            </a:solidFill>
            <a:prstDash val="dash"/>
          </a:ln>
        </p:spPr>
      </p:sp>
      <p:sp>
        <p:nvSpPr>
          <p:cNvPr id="94" name="arrowhead-88">
            <a:extLst xmlns:a="http://schemas.openxmlformats.org/drawingml/2006/main">
              <a:ext uri="{FF2B5EF4-FFF2-40B4-BE49-F238E27FC236}">
                <a16:creationId xmlns:a16="http://schemas.microsoft.com/office/drawing/2014/main" id="{94BBC931-B55B-46C4-87A6-FB8C64DE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8514" y="9252857"/>
            <a:ext cx="217714" cy="217714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95" name="物料状态反馈">
            <a:extLst xmlns:a="http://schemas.openxmlformats.org/drawingml/2006/main">
              <a:ext uri="{FF2B5EF4-FFF2-40B4-BE49-F238E27FC236}">
                <a16:creationId xmlns:a16="http://schemas.microsoft.com/office/drawing/2014/main" id="{DE417303-CC98-4E4D-8454-CC02E0FC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1657" y="9001179"/>
            <a:ext cx="1997202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物料状态反馈</a:t>
            </a:r>
          </a:p>
        </p:txBody>
      </p:sp>
      <p:sp>
        <p:nvSpPr>
          <p:cNvPr id="96" name="回传缺口、到料与生产影响">
            <a:extLst xmlns:a="http://schemas.openxmlformats.org/drawingml/2006/main">
              <a:ext uri="{FF2B5EF4-FFF2-40B4-BE49-F238E27FC236}">
                <a16:creationId xmlns:a16="http://schemas.microsoft.com/office/drawing/2014/main" id="{484F7AF9-7EA2-4BAA-A442-3F0285A7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1657" y="9536757"/>
            <a:ext cx="321988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回传缺口、到料与生产影响</a:t>
            </a:r>
          </a:p>
        </p:txBody>
      </p:sp>
      <p:sp>
        <p:nvSpPr>
          <p:cNvPr id="97" name="Q4定位：梳理BOM、物料口径、责任人与接口，评估最小闭环；完整MRP不作为本稿交付承诺。">
            <a:extLst xmlns:a="http://schemas.openxmlformats.org/drawingml/2006/main">
              <a:ext uri="{FF2B5EF4-FFF2-40B4-BE49-F238E27FC236}">
                <a16:creationId xmlns:a16="http://schemas.microsoft.com/office/drawing/2014/main" id="{5855F79F-6C34-4CDD-9F88-19DFC353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57" y="9961735"/>
            <a:ext cx="10778517" cy="34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86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86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Q4定位：梳理BOM、物料口径、责任人与接口，评估最小闭环；完整MRP不作为本稿交付承诺。</a:t>
            </a:r>
          </a:p>
        </p:txBody>
      </p:sp>
      <p:sp>
        <p:nvSpPr>
          <p:cNvPr id="98" name="Q4并行建设重点">
            <a:extLst xmlns:a="http://schemas.openxmlformats.org/drawingml/2006/main">
              <a:ext uri="{FF2B5EF4-FFF2-40B4-BE49-F238E27FC236}">
                <a16:creationId xmlns:a16="http://schemas.microsoft.com/office/drawing/2014/main" id="{3627CEF3-7624-46D2-9E51-FC58DBA2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0687159"/>
            <a:ext cx="2683546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57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Q4并行建设重点</a:t>
            </a:r>
          </a:p>
        </p:txBody>
      </p:sp>
      <p:sp>
        <p:nvSpPr>
          <p:cNvPr id="99" name="path-93">
            <a:extLst xmlns:a="http://schemas.openxmlformats.org/drawingml/2006/main">
              <a:ext uri="{FF2B5EF4-FFF2-40B4-BE49-F238E27FC236}">
                <a16:creationId xmlns:a16="http://schemas.microsoft.com/office/drawing/2014/main" id="{5737A38D-C18B-4200-94D5-45305CB2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1332029"/>
            <a:ext cx="5551714" cy="544"/>
          </a:xfrm>
          <a:custGeom xmlns:a="http://schemas.openxmlformats.org/drawingml/2006/main">
            <a:pathLst>
              <a:path w="4857750" h="476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543">
            <a:solidFill>
              <a:srgbClr val="008DD5"/>
            </a:solidFill>
            <a:prstDash val="solid"/>
          </a:ln>
        </p:spPr>
      </p:sp>
      <p:sp>
        <p:nvSpPr>
          <p:cNvPr id="100" name="01  计划MVP">
            <a:extLst xmlns:a="http://schemas.openxmlformats.org/drawingml/2006/main">
              <a:ext uri="{FF2B5EF4-FFF2-40B4-BE49-F238E27FC236}">
                <a16:creationId xmlns:a16="http://schemas.microsoft.com/office/drawing/2014/main" id="{D64740CD-EDB7-4FF4-9F3D-E7E8387F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1482687"/>
            <a:ext cx="1920784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01  计划MVP</a:t>
            </a:r>
          </a:p>
        </p:txBody>
      </p:sp>
      <p:sp>
        <p:nvSpPr>
          <p:cNvPr id="101" name="预测填报、规则配置、计划审核">
            <a:extLst xmlns:a="http://schemas.openxmlformats.org/drawingml/2006/main">
              <a:ext uri="{FF2B5EF4-FFF2-40B4-BE49-F238E27FC236}">
                <a16:creationId xmlns:a16="http://schemas.microsoft.com/office/drawing/2014/main" id="{8D6E43FA-AE94-49B2-A4A0-FF8833B5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2017829"/>
            <a:ext cx="4057650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预测填报、规则配置、计划审核</a:t>
            </a:r>
          </a:p>
        </p:txBody>
      </p:sp>
      <p:sp>
        <p:nvSpPr>
          <p:cNvPr id="102" name="采购需求 / 过货结果可追溯">
            <a:extLst xmlns:a="http://schemas.openxmlformats.org/drawingml/2006/main">
              <a:ext uri="{FF2B5EF4-FFF2-40B4-BE49-F238E27FC236}">
                <a16:creationId xmlns:a16="http://schemas.microsoft.com/office/drawing/2014/main" id="{1AFD70AA-B093-4E2C-B9FF-8BC551A5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2442371"/>
            <a:ext cx="3538646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采购需求 / 过货结果可追溯</a:t>
            </a:r>
          </a:p>
        </p:txBody>
      </p:sp>
      <p:sp>
        <p:nvSpPr>
          <p:cNvPr id="103" name="path-97">
            <a:extLst xmlns:a="http://schemas.openxmlformats.org/drawingml/2006/main">
              <a:ext uri="{FF2B5EF4-FFF2-40B4-BE49-F238E27FC236}">
                <a16:creationId xmlns:a16="http://schemas.microsoft.com/office/drawing/2014/main" id="{668CF5E2-D138-4616-91F2-9E4FFC0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11332029"/>
            <a:ext cx="5551714" cy="544"/>
          </a:xfrm>
          <a:custGeom xmlns:a="http://schemas.openxmlformats.org/drawingml/2006/main">
            <a:pathLst>
              <a:path w="4857750" h="476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543">
            <a:solidFill>
              <a:srgbClr val="DF8525"/>
            </a:solidFill>
            <a:prstDash val="solid"/>
          </a:ln>
        </p:spPr>
      </p:sp>
      <p:sp>
        <p:nvSpPr>
          <p:cNvPr id="104" name="02  SCM承接">
            <a:extLst xmlns:a="http://schemas.openxmlformats.org/drawingml/2006/main">
              <a:ext uri="{FF2B5EF4-FFF2-40B4-BE49-F238E27FC236}">
                <a16:creationId xmlns:a16="http://schemas.microsoft.com/office/drawing/2014/main" id="{7657E361-5B11-473A-A5BB-CA5442FE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11482687"/>
            <a:ext cx="2005870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02  SCM承接</a:t>
            </a:r>
          </a:p>
        </p:txBody>
      </p:sp>
      <p:sp>
        <p:nvSpPr>
          <p:cNvPr id="105" name="现有能力盘点、关键问题修复">
            <a:extLst xmlns:a="http://schemas.openxmlformats.org/drawingml/2006/main">
              <a:ext uri="{FF2B5EF4-FFF2-40B4-BE49-F238E27FC236}">
                <a16:creationId xmlns:a16="http://schemas.microsoft.com/office/drawing/2014/main" id="{AF183FC9-724F-4790-B334-B40FC13F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12017829"/>
            <a:ext cx="3774621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现有能力盘点、关键问题修复</a:t>
            </a:r>
          </a:p>
        </p:txBody>
      </p:sp>
      <p:sp>
        <p:nvSpPr>
          <p:cNvPr id="106" name="明确需求接收与执行状态反馈">
            <a:extLst xmlns:a="http://schemas.openxmlformats.org/drawingml/2006/main">
              <a:ext uri="{FF2B5EF4-FFF2-40B4-BE49-F238E27FC236}">
                <a16:creationId xmlns:a16="http://schemas.microsoft.com/office/drawing/2014/main" id="{805BEB52-8C6A-40FC-A9EB-141F558D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12442371"/>
            <a:ext cx="3774621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明确需求接收与执行状态反馈</a:t>
            </a:r>
          </a:p>
        </p:txBody>
      </p:sp>
      <p:sp>
        <p:nvSpPr>
          <p:cNvPr id="107" name="path-101">
            <a:extLst xmlns:a="http://schemas.openxmlformats.org/drawingml/2006/main">
              <a:ext uri="{FF2B5EF4-FFF2-40B4-BE49-F238E27FC236}">
                <a16:creationId xmlns:a16="http://schemas.microsoft.com/office/drawing/2014/main" id="{CBDB051A-786B-4F11-90E4-7C0C1BEC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029" y="11332029"/>
            <a:ext cx="5551714" cy="544"/>
          </a:xfrm>
          <a:custGeom xmlns:a="http://schemas.openxmlformats.org/drawingml/2006/main">
            <a:pathLst>
              <a:path w="4857750" h="476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543">
            <a:solidFill>
              <a:srgbClr val="54983E"/>
            </a:solidFill>
            <a:prstDash val="solid"/>
          </a:ln>
        </p:spPr>
      </p:sp>
      <p:sp>
        <p:nvSpPr>
          <p:cNvPr id="108" name="03  MES稳定化">
            <a:extLst xmlns:a="http://schemas.openxmlformats.org/drawingml/2006/main">
              <a:ext uri="{FF2B5EF4-FFF2-40B4-BE49-F238E27FC236}">
                <a16:creationId xmlns:a16="http://schemas.microsoft.com/office/drawing/2014/main" id="{3FE18773-3B0B-4AB7-A3E0-E956227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029" y="11482687"/>
            <a:ext cx="2304642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03  MES稳定化</a:t>
            </a:r>
          </a:p>
        </p:txBody>
      </p:sp>
      <p:sp>
        <p:nvSpPr>
          <p:cNvPr id="109" name="现场问题修复、操作微调与推广">
            <a:extLst xmlns:a="http://schemas.openxmlformats.org/drawingml/2006/main">
              <a:ext uri="{FF2B5EF4-FFF2-40B4-BE49-F238E27FC236}">
                <a16:creationId xmlns:a16="http://schemas.microsoft.com/office/drawing/2014/main" id="{76BB0A4C-A5B0-4FE8-B181-AFC8229E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029" y="12017829"/>
            <a:ext cx="4057650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现场问题修复、操作微调与推广</a:t>
            </a:r>
          </a:p>
        </p:txBody>
      </p:sp>
      <p:sp>
        <p:nvSpPr>
          <p:cNvPr id="110" name="验证可用性及生产回传口径">
            <a:extLst xmlns:a="http://schemas.openxmlformats.org/drawingml/2006/main">
              <a:ext uri="{FF2B5EF4-FFF2-40B4-BE49-F238E27FC236}">
                <a16:creationId xmlns:a16="http://schemas.microsoft.com/office/drawing/2014/main" id="{006EDBD1-A4A9-4A7E-983D-828E9FFA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029" y="12442371"/>
            <a:ext cx="3491593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验证可用性及生产回传口径</a:t>
            </a:r>
          </a:p>
        </p:txBody>
      </p:sp>
      <p:sp>
        <p:nvSpPr>
          <p:cNvPr id="111" name="path-105">
            <a:extLst xmlns:a="http://schemas.openxmlformats.org/drawingml/2006/main">
              <a:ext uri="{FF2B5EF4-FFF2-40B4-BE49-F238E27FC236}">
                <a16:creationId xmlns:a16="http://schemas.microsoft.com/office/drawing/2014/main" id="{D096A55A-80DE-479C-BE17-01ABD506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1332029"/>
            <a:ext cx="5551714" cy="544"/>
          </a:xfrm>
          <a:custGeom xmlns:a="http://schemas.openxmlformats.org/drawingml/2006/main">
            <a:pathLst>
              <a:path w="4857750" h="476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543">
            <a:solidFill>
              <a:srgbClr val="128D96"/>
            </a:solidFill>
            <a:prstDash val="solid"/>
          </a:ln>
        </p:spPr>
      </p:sp>
      <p:sp>
        <p:nvSpPr>
          <p:cNvPr id="112" name="04  协同基础梳理">
            <a:extLst xmlns:a="http://schemas.openxmlformats.org/drawingml/2006/main">
              <a:ext uri="{FF2B5EF4-FFF2-40B4-BE49-F238E27FC236}">
                <a16:creationId xmlns:a16="http://schemas.microsoft.com/office/drawing/2014/main" id="{3BC8F200-11C2-4AC6-88E2-67A22C31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1482687"/>
            <a:ext cx="2568566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04  协同基础梳理</a:t>
            </a:r>
          </a:p>
        </p:txBody>
      </p:sp>
      <p:sp>
        <p:nvSpPr>
          <p:cNvPr id="113" name="MRP、QC、库存Owner与接口">
            <a:extLst xmlns:a="http://schemas.openxmlformats.org/drawingml/2006/main">
              <a:ext uri="{FF2B5EF4-FFF2-40B4-BE49-F238E27FC236}">
                <a16:creationId xmlns:a16="http://schemas.microsoft.com/office/drawing/2014/main" id="{D0FB9265-2449-4F12-81C8-9448B96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2017829"/>
            <a:ext cx="3971680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MRP、QC、库存Owner与接口</a:t>
            </a:r>
          </a:p>
        </p:txBody>
      </p:sp>
      <p:sp>
        <p:nvSpPr>
          <p:cNvPr id="114" name="确认局部MVP及跨系统责任">
            <a:extLst xmlns:a="http://schemas.openxmlformats.org/drawingml/2006/main">
              <a:ext uri="{FF2B5EF4-FFF2-40B4-BE49-F238E27FC236}">
                <a16:creationId xmlns:a16="http://schemas.microsoft.com/office/drawing/2014/main" id="{D8C03293-5FED-4328-830A-3670A95C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2442371"/>
            <a:ext cx="3537762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确认局部MVP及跨系统责任</a:t>
            </a:r>
          </a:p>
        </p:txBody>
      </p:sp>
      <p:sp>
        <p:nvSpPr>
          <p:cNvPr id="115" name="边界：PMC输出计划需求；正式PR创建与审批待确认。库存事实由来源系统提供；MES任务来源及回传字段待确认。">
            <a:extLst xmlns:a="http://schemas.openxmlformats.org/drawingml/2006/main">
              <a:ext uri="{FF2B5EF4-FFF2-40B4-BE49-F238E27FC236}">
                <a16:creationId xmlns:a16="http://schemas.microsoft.com/office/drawing/2014/main" id="{F5D69492-5E30-425E-B13C-E3A4F736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3096385"/>
            <a:ext cx="13562811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边界：PMC输出计划需求；正式PR创建与审批待确认。库存事实由来源系统提供；MES任务来源及回传字段待确认。</a:t>
            </a:r>
          </a:p>
        </p:txBody>
      </p:sp>
      <p:sp>
        <p:nvSpPr>
          <p:cNvPr id="116" name="path-110">
            <a:extLst xmlns:a="http://schemas.openxmlformats.org/drawingml/2006/main">
              <a:ext uri="{FF2B5EF4-FFF2-40B4-BE49-F238E27FC236}">
                <a16:creationId xmlns:a16="http://schemas.microsoft.com/office/drawing/2014/main" id="{08BB5502-1D0A-4D75-B061-F893F6D4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3" y="13748657"/>
            <a:ext cx="23077714" cy="544"/>
          </a:xfrm>
          <a:custGeom xmlns:a="http://schemas.openxmlformats.org/drawingml/2006/main">
            <a:pathLst>
              <a:path w="20193000" h="476">
                <a:moveTo>
                  <a:pt x="0" y="0"/>
                </a:moveTo>
                <a:lnTo>
                  <a:pt x="2019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329">
            <a:solidFill>
              <a:srgbClr val="CEDCE5"/>
            </a:solidFill>
            <a:prstDash val="solid"/>
          </a:ln>
        </p:spPr>
      </p:sp>
      <p:sp>
        <p:nvSpPr>
          <p:cNvPr id="117" name="汇报讨论稿  ·  业务主链表示协同关系，Q4工作流并行推进  ·  2026.09.16">
            <a:extLst xmlns:a="http://schemas.openxmlformats.org/drawingml/2006/main">
              <a:ext uri="{FF2B5EF4-FFF2-40B4-BE49-F238E27FC236}">
                <a16:creationId xmlns:a16="http://schemas.microsoft.com/office/drawing/2014/main" id="{4B217747-DB3C-4DE4-B858-798DF955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3902799"/>
            <a:ext cx="7662196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汇报讨论稿  ·  业务主链表示协同关系，Q4工作流并行推进  ·  2026.09.16</a:t>
            </a:r>
          </a:p>
        </p:txBody>
      </p:sp>
      <p:sp>
        <p:nvSpPr>
          <p:cNvPr id="118" name="供应链数字化">
            <a:extLst xmlns:a="http://schemas.openxmlformats.org/drawingml/2006/main">
              <a:ext uri="{FF2B5EF4-FFF2-40B4-BE49-F238E27FC236}">
                <a16:creationId xmlns:a16="http://schemas.microsoft.com/office/drawing/2014/main" id="{62410470-A031-43F2-8D12-C256022D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5600" y="13902799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供应链数字化</a:t>
            </a:r>
          </a:p>
        </p:txBody>
      </p:sp>
    </p:spTree>
    <p:extLst>
      <p:ext uri="{BB962C8B-B14F-4D97-AF65-F5344CB8AC3E}">
        <p14:creationId xmlns:p14="http://schemas.microsoft.com/office/powerpoint/2010/main" val="1512172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F0F6653B-EC00-40B3-BD44-66988B59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5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8D0D90EF-8B29-42C8-8FE5-3CBD79C3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5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4917E131-8507-47B9-972F-87B2D93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Q4供应链系统建设｜跨部门泳道">
            <a:extLst xmlns:a="http://schemas.openxmlformats.org/drawingml/2006/main">
              <a:ext uri="{FF2B5EF4-FFF2-40B4-BE49-F238E27FC236}">
                <a16:creationId xmlns:a16="http://schemas.microsoft.com/office/drawing/2014/main" id="{CF324AD0-25F6-43B3-A153-D366C716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7215188" cy="69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Q4供应链系统建设｜跨部门泳道</a:t>
            </a:r>
          </a:p>
        </p:txBody>
      </p:sp>
      <p:sp>
        <p:nvSpPr>
          <p:cNvPr id="5" name="2026 Q4  /  V1.0">
            <a:extLst xmlns:a="http://schemas.openxmlformats.org/drawingml/2006/main">
              <a:ext uri="{FF2B5EF4-FFF2-40B4-BE49-F238E27FC236}">
                <a16:creationId xmlns:a16="http://schemas.microsoft.com/office/drawing/2014/main" id="{A8F184C7-B4B7-4C47-8E1C-7744DA0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7706" y="638937"/>
            <a:ext cx="173717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2026 Q4  /  V1.0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C920CBA7-6526-4636-98AB-E94C1588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23241000" cy="476"/>
          </a:xfrm>
          <a:custGeom xmlns:a="http://schemas.openxmlformats.org/drawingml/2006/main">
            <a:pathLst>
              <a:path w="23241000" h="476">
                <a:moveTo>
                  <a:pt x="0" y="0"/>
                </a:moveTo>
                <a:lnTo>
                  <a:pt x="2324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明确谁发起、谁审核、谁执行、谁回传；按业务交付物衔接各系统">
            <a:extLst xmlns:a="http://schemas.openxmlformats.org/drawingml/2006/main">
              <a:ext uri="{FF2B5EF4-FFF2-40B4-BE49-F238E27FC236}">
                <a16:creationId xmlns:a16="http://schemas.microsoft.com/office/drawing/2014/main" id="{DEA1D2F6-0503-4541-BEB6-92471627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72771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明确谁发起、谁审核、谁执行、谁回传；按业务交付物衔接各系统</a:t>
            </a:r>
          </a:p>
        </p:txBody>
      </p:sp>
      <p:sp>
        <p:nvSpPr>
          <p:cNvPr id="8" name="02 / 协同流程">
            <a:extLst xmlns:a="http://schemas.openxmlformats.org/drawingml/2006/main">
              <a:ext uri="{FF2B5EF4-FFF2-40B4-BE49-F238E27FC236}">
                <a16:creationId xmlns:a16="http://schemas.microsoft.com/office/drawing/2014/main" id="{A1D10C91-698A-43ED-B9AE-D4CB4AA7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2166" y="1487043"/>
            <a:ext cx="1482709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02 / 协同流程</a:t>
            </a:r>
          </a:p>
        </p:txBody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061360FC-EAA3-4CA8-896A-180212F7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" name="数据与规则准备">
            <a:extLst xmlns:a="http://schemas.openxmlformats.org/drawingml/2006/main">
              <a:ext uri="{FF2B5EF4-FFF2-40B4-BE49-F238E27FC236}">
                <a16:creationId xmlns:a16="http://schemas.microsoft.com/office/drawing/2014/main" id="{4A34D135-30D1-47BA-BA14-E9D4F59D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5740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数据与规则准备</a:t>
            </a:r>
          </a:p>
        </p:txBody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D32DB3F9-CB3E-440E-A110-5C869EBE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需求填报">
            <a:extLst xmlns:a="http://schemas.openxmlformats.org/drawingml/2006/main">
              <a:ext uri="{FF2B5EF4-FFF2-40B4-BE49-F238E27FC236}">
                <a16:creationId xmlns:a16="http://schemas.microsoft.com/office/drawing/2014/main" id="{E4EBE855-9996-466B-BCEE-BF71A65C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574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需求填报</a:t>
            </a:r>
          </a:p>
        </p:txBody>
      </p:sp>
      <p:sp>
        <p:nvSpPr>
          <p:cNvPr id="13" name="rect-12">
            <a:extLst xmlns:a="http://schemas.openxmlformats.org/drawingml/2006/main">
              <a:ext uri="{FF2B5EF4-FFF2-40B4-BE49-F238E27FC236}">
                <a16:creationId xmlns:a16="http://schemas.microsoft.com/office/drawing/2014/main" id="{B00122FD-201D-4E49-84D4-932A9B5A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" name="需求审核">
            <a:extLst xmlns:a="http://schemas.openxmlformats.org/drawingml/2006/main">
              <a:ext uri="{FF2B5EF4-FFF2-40B4-BE49-F238E27FC236}">
                <a16:creationId xmlns:a16="http://schemas.microsoft.com/office/drawing/2014/main" id="{DB7AD145-788E-4C43-B49D-2C676144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需求审核</a:t>
            </a:r>
          </a:p>
        </p:txBody>
      </p:sp>
      <p:sp>
        <p:nvSpPr>
          <p:cNvPr id="15" name="rect-14">
            <a:extLst xmlns:a="http://schemas.openxmlformats.org/drawingml/2006/main">
              <a:ext uri="{FF2B5EF4-FFF2-40B4-BE49-F238E27FC236}">
                <a16:creationId xmlns:a16="http://schemas.microsoft.com/office/drawing/2014/main" id="{464207A6-3F92-440D-82A2-E1D1FD7D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" name="计划与采购承接">
            <a:extLst xmlns:a="http://schemas.openxmlformats.org/drawingml/2006/main">
              <a:ext uri="{FF2B5EF4-FFF2-40B4-BE49-F238E27FC236}">
                <a16:creationId xmlns:a16="http://schemas.microsoft.com/office/drawing/2014/main" id="{85001469-65C7-407D-BDEE-D0DC337F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05740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计划与采购承接</a:t>
            </a:r>
          </a:p>
        </p:txBody>
      </p:sp>
      <p:sp>
        <p:nvSpPr>
          <p:cNvPr id="17" name="rect-16">
            <a:extLst xmlns:a="http://schemas.openxmlformats.org/drawingml/2006/main">
              <a:ext uri="{FF2B5EF4-FFF2-40B4-BE49-F238E27FC236}">
                <a16:creationId xmlns:a16="http://schemas.microsoft.com/office/drawing/2014/main" id="{44105168-5C28-4242-B10A-3AE369E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" name="物料协同">
            <a:extLst xmlns:a="http://schemas.openxmlformats.org/drawingml/2006/main">
              <a:ext uri="{FF2B5EF4-FFF2-40B4-BE49-F238E27FC236}">
                <a16:creationId xmlns:a16="http://schemas.microsoft.com/office/drawing/2014/main" id="{0C0F44E4-EAC4-4AF3-97A5-7777071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0574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物料协同</a:t>
            </a:r>
          </a:p>
        </p:txBody>
      </p:sp>
      <p:sp>
        <p:nvSpPr>
          <p:cNvPr id="19" name="rect-18">
            <a:extLst xmlns:a="http://schemas.openxmlformats.org/drawingml/2006/main">
              <a:ext uri="{FF2B5EF4-FFF2-40B4-BE49-F238E27FC236}">
                <a16:creationId xmlns:a16="http://schemas.microsoft.com/office/drawing/2014/main" id="{2C228F12-930A-42D9-9472-B174E8B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生产执行">
            <a:extLst xmlns:a="http://schemas.openxmlformats.org/drawingml/2006/main">
              <a:ext uri="{FF2B5EF4-FFF2-40B4-BE49-F238E27FC236}">
                <a16:creationId xmlns:a16="http://schemas.microsoft.com/office/drawing/2014/main" id="{CEEF0582-4D8F-4BF4-B0F5-6C14213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0574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生产执行</a:t>
            </a:r>
          </a:p>
        </p:txBody>
      </p:sp>
      <p:sp>
        <p:nvSpPr>
          <p:cNvPr id="21" name="rect-20">
            <a:extLst xmlns:a="http://schemas.openxmlformats.org/drawingml/2006/main">
              <a:ext uri="{FF2B5EF4-FFF2-40B4-BE49-F238E27FC236}">
                <a16:creationId xmlns:a16="http://schemas.microsoft.com/office/drawing/2014/main" id="{8769404E-D0E3-4A30-BA7B-7C27AEE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" name="质检与入库">
            <a:extLst xmlns:a="http://schemas.openxmlformats.org/drawingml/2006/main">
              <a:ext uri="{FF2B5EF4-FFF2-40B4-BE49-F238E27FC236}">
                <a16:creationId xmlns:a16="http://schemas.microsoft.com/office/drawing/2014/main" id="{A7BFA7B6-E800-4CE3-B485-D766A584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3325" y="2057400"/>
            <a:ext cx="1333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质检与入库</a:t>
            </a:r>
          </a:p>
        </p:txBody>
      </p:sp>
      <p:sp>
        <p:nvSpPr>
          <p:cNvPr id="23" name="rect-22">
            <a:extLst xmlns:a="http://schemas.openxmlformats.org/drawingml/2006/main">
              <a:ext uri="{FF2B5EF4-FFF2-40B4-BE49-F238E27FC236}">
                <a16:creationId xmlns:a16="http://schemas.microsoft.com/office/drawing/2014/main" id="{82C2CA63-5AD4-4C24-90FC-C4DF8E1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" name="回流与再计划">
            <a:extLst xmlns:a="http://schemas.openxmlformats.org/drawingml/2006/main">
              <a:ext uri="{FF2B5EF4-FFF2-40B4-BE49-F238E27FC236}">
                <a16:creationId xmlns:a16="http://schemas.microsoft.com/office/drawing/2014/main" id="{96E84623-4AC2-4375-B335-1731B4C8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0" y="2057400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回流与再计划</a:t>
            </a:r>
          </a:p>
        </p:txBody>
      </p:sp>
      <p:sp>
        <p:nvSpPr>
          <p:cNvPr id="25" name="rect-24">
            <a:extLst xmlns:a="http://schemas.openxmlformats.org/drawingml/2006/main">
              <a:ext uri="{FF2B5EF4-FFF2-40B4-BE49-F238E27FC236}">
                <a16:creationId xmlns:a16="http://schemas.microsoft.com/office/drawing/2014/main" id="{A12D0890-456D-43A4-A204-AA7B287F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" name="rect-25">
            <a:extLst xmlns:a="http://schemas.openxmlformats.org/drawingml/2006/main">
              <a:ext uri="{FF2B5EF4-FFF2-40B4-BE49-F238E27FC236}">
                <a16:creationId xmlns:a16="http://schemas.microsoft.com/office/drawing/2014/main" id="{C47A1567-79A6-44CC-9A40-901B2072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" name="商品 / 研发">
            <a:extLst xmlns:a="http://schemas.openxmlformats.org/drawingml/2006/main">
              <a:ext uri="{FF2B5EF4-FFF2-40B4-BE49-F238E27FC236}">
                <a16:creationId xmlns:a16="http://schemas.microsoft.com/office/drawing/2014/main" id="{601302B4-B963-4A32-9453-6BBC0763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18257"/>
            <a:ext cx="152821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商品 / 研发</a:t>
            </a:r>
          </a:p>
        </p:txBody>
      </p:sp>
      <p:sp>
        <p:nvSpPr>
          <p:cNvPr id="28" name="MDM / PLM">
            <a:extLst xmlns:a="http://schemas.openxmlformats.org/drawingml/2006/main">
              <a:ext uri="{FF2B5EF4-FFF2-40B4-BE49-F238E27FC236}">
                <a16:creationId xmlns:a16="http://schemas.microsoft.com/office/drawing/2014/main" id="{A689E6C7-3D60-4C6E-9622-8DE7EC64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59836"/>
            <a:ext cx="1177171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MDM / PLM</a:t>
            </a:r>
          </a:p>
        </p:txBody>
      </p:sp>
      <p:sp>
        <p:nvSpPr>
          <p:cNvPr id="29" name="path-28">
            <a:extLst xmlns:a="http://schemas.openxmlformats.org/drawingml/2006/main">
              <a:ext uri="{FF2B5EF4-FFF2-40B4-BE49-F238E27FC236}">
                <a16:creationId xmlns:a16="http://schemas.microsoft.com/office/drawing/2014/main" id="{25E063FA-27F2-4477-98B4-2113A2C4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30" name="rect-29">
            <a:extLst xmlns:a="http://schemas.openxmlformats.org/drawingml/2006/main">
              <a:ext uri="{FF2B5EF4-FFF2-40B4-BE49-F238E27FC236}">
                <a16:creationId xmlns:a16="http://schemas.microsoft.com/office/drawing/2014/main" id="{C68C6301-BFA4-4249-973C-DCD2BB4D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1" name="rect-30">
            <a:extLst xmlns:a="http://schemas.openxmlformats.org/drawingml/2006/main">
              <a:ext uri="{FF2B5EF4-FFF2-40B4-BE49-F238E27FC236}">
                <a16:creationId xmlns:a16="http://schemas.microsoft.com/office/drawing/2014/main" id="{2FC9EB2A-B7F4-441C-8511-F4CAF50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0525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2" name="销售 / 运营">
            <a:extLst xmlns:a="http://schemas.openxmlformats.org/drawingml/2006/main">
              <a:ext uri="{FF2B5EF4-FFF2-40B4-BE49-F238E27FC236}">
                <a16:creationId xmlns:a16="http://schemas.microsoft.com/office/drawing/2014/main" id="{C8ACBDC4-906E-4F4D-A1DD-66A89E5E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7007"/>
            <a:ext cx="152821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销售 / 运营</a:t>
            </a:r>
          </a:p>
        </p:txBody>
      </p:sp>
      <p:sp>
        <p:nvSpPr>
          <p:cNvPr id="33" name="计划平台 · 日级填报">
            <a:extLst xmlns:a="http://schemas.openxmlformats.org/drawingml/2006/main">
              <a:ext uri="{FF2B5EF4-FFF2-40B4-BE49-F238E27FC236}">
                <a16:creationId xmlns:a16="http://schemas.microsoft.com/office/drawing/2014/main" id="{FDD7D7D0-B033-4DF6-8907-0EE9946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8586"/>
            <a:ext cx="1820442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计划平台 · 日级填报</a:t>
            </a:r>
          </a:p>
        </p:txBody>
      </p:sp>
      <p:sp>
        <p:nvSpPr>
          <p:cNvPr id="34" name="path-33">
            <a:extLst xmlns:a="http://schemas.openxmlformats.org/drawingml/2006/main">
              <a:ext uri="{FF2B5EF4-FFF2-40B4-BE49-F238E27FC236}">
                <a16:creationId xmlns:a16="http://schemas.microsoft.com/office/drawing/2014/main" id="{68E1A319-B801-487F-BE02-D766025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35" name="rect-34">
            <a:extLst xmlns:a="http://schemas.openxmlformats.org/drawingml/2006/main">
              <a:ext uri="{FF2B5EF4-FFF2-40B4-BE49-F238E27FC236}">
                <a16:creationId xmlns:a16="http://schemas.microsoft.com/office/drawing/2014/main" id="{83F71BCA-897C-4170-AE6A-015EF502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rect-35">
            <a:extLst xmlns:a="http://schemas.openxmlformats.org/drawingml/2006/main">
              <a:ext uri="{FF2B5EF4-FFF2-40B4-BE49-F238E27FC236}">
                <a16:creationId xmlns:a16="http://schemas.microsoft.com/office/drawing/2014/main" id="{78573CFB-3FC1-47BF-BA54-7C8440B3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3400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7" name="PMC计划">
            <a:extLst xmlns:a="http://schemas.openxmlformats.org/drawingml/2006/main">
              <a:ext uri="{FF2B5EF4-FFF2-40B4-BE49-F238E27FC236}">
                <a16:creationId xmlns:a16="http://schemas.microsoft.com/office/drawing/2014/main" id="{2B33ACFD-091B-4FBA-95CE-E174C0D0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75757"/>
            <a:ext cx="1285208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PMC计划</a:t>
            </a:r>
          </a:p>
        </p:txBody>
      </p:sp>
      <p:sp>
        <p:nvSpPr>
          <p:cNvPr id="38" name="计划平台 · 中枢">
            <a:extLst xmlns:a="http://schemas.openxmlformats.org/drawingml/2006/main">
              <a:ext uri="{FF2B5EF4-FFF2-40B4-BE49-F238E27FC236}">
                <a16:creationId xmlns:a16="http://schemas.microsoft.com/office/drawing/2014/main" id="{7FC4ACB1-A7D9-48B2-A2A7-ED12B4A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17336"/>
            <a:ext cx="144401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计划平台 · 中枢</a:t>
            </a:r>
          </a:p>
        </p:txBody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D841A50F-5C67-44E0-84A1-26AFBB00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40" name="rect-39">
            <a:extLst xmlns:a="http://schemas.openxmlformats.org/drawingml/2006/main">
              <a:ext uri="{FF2B5EF4-FFF2-40B4-BE49-F238E27FC236}">
                <a16:creationId xmlns:a16="http://schemas.microsoft.com/office/drawing/2014/main" id="{1C0B1BFC-A18C-4539-A858-EE9403EF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1" name="rect-40">
            <a:extLst xmlns:a="http://schemas.openxmlformats.org/drawingml/2006/main">
              <a:ext uri="{FF2B5EF4-FFF2-40B4-BE49-F238E27FC236}">
                <a16:creationId xmlns:a16="http://schemas.microsoft.com/office/drawing/2014/main" id="{D2C25D81-74E2-49A0-89C9-E6B8E7F3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76275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2" name="采购 / 供应商">
            <a:extLst xmlns:a="http://schemas.openxmlformats.org/drawingml/2006/main">
              <a:ext uri="{FF2B5EF4-FFF2-40B4-BE49-F238E27FC236}">
                <a16:creationId xmlns:a16="http://schemas.microsoft.com/office/drawing/2014/main" id="{C75E3942-1A45-4A7D-BBC4-5A7EC062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04507"/>
            <a:ext cx="1805583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采购 / 供应商</a:t>
            </a:r>
          </a:p>
        </p:txBody>
      </p:sp>
      <p:sp>
        <p:nvSpPr>
          <p:cNvPr id="43" name="SCM · 采购执行">
            <a:extLst xmlns:a="http://schemas.openxmlformats.org/drawingml/2006/main">
              <a:ext uri="{FF2B5EF4-FFF2-40B4-BE49-F238E27FC236}">
                <a16:creationId xmlns:a16="http://schemas.microsoft.com/office/drawing/2014/main" id="{6F6B2F3D-6E55-49AA-8D8F-29FDA55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546086"/>
            <a:ext cx="148967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SCM · 采购执行</a:t>
            </a:r>
          </a:p>
        </p:txBody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62C6C7B0-7546-4B26-9513-314036E2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45" name="rect-44">
            <a:extLst xmlns:a="http://schemas.openxmlformats.org/drawingml/2006/main">
              <a:ext uri="{FF2B5EF4-FFF2-40B4-BE49-F238E27FC236}">
                <a16:creationId xmlns:a16="http://schemas.microsoft.com/office/drawing/2014/main" id="{806B7548-1D52-4643-8FD9-D83C6603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6" name="rect-45">
            <a:extLst xmlns:a="http://schemas.openxmlformats.org/drawingml/2006/main">
              <a:ext uri="{FF2B5EF4-FFF2-40B4-BE49-F238E27FC236}">
                <a16:creationId xmlns:a16="http://schemas.microsoft.com/office/drawing/2014/main" id="{6FFF4AFD-44E3-41E4-93C9-A2EDEB25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19150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7" name="材料协同">
            <a:extLst xmlns:a="http://schemas.openxmlformats.org/drawingml/2006/main">
              <a:ext uri="{FF2B5EF4-FFF2-40B4-BE49-F238E27FC236}">
                <a16:creationId xmlns:a16="http://schemas.microsoft.com/office/drawing/2014/main" id="{32D947E6-7F6B-47A5-AD6D-BAC7C7F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33257"/>
            <a:ext cx="120472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材料协同</a:t>
            </a:r>
          </a:p>
        </p:txBody>
      </p:sp>
      <p:sp>
        <p:nvSpPr>
          <p:cNvPr id="48" name="MRP · 归属待确认">
            <a:extLst xmlns:a="http://schemas.openxmlformats.org/drawingml/2006/main">
              <a:ext uri="{FF2B5EF4-FFF2-40B4-BE49-F238E27FC236}">
                <a16:creationId xmlns:a16="http://schemas.microsoft.com/office/drawing/2014/main" id="{B73F3EC2-B4D1-453F-AB8C-6D92A5D8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974836"/>
            <a:ext cx="166999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MRP · 归属待确认</a:t>
            </a:r>
          </a:p>
        </p:txBody>
      </p:sp>
      <p:sp>
        <p:nvSpPr>
          <p:cNvPr id="49" name="path-48">
            <a:extLst xmlns:a="http://schemas.openxmlformats.org/drawingml/2006/main">
              <a:ext uri="{FF2B5EF4-FFF2-40B4-BE49-F238E27FC236}">
                <a16:creationId xmlns:a16="http://schemas.microsoft.com/office/drawing/2014/main" id="{90D75BAD-DE64-4CF9-BDD4-700150E5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50" name="rect-49">
            <a:extLst xmlns:a="http://schemas.openxmlformats.org/drawingml/2006/main">
              <a:ext uri="{FF2B5EF4-FFF2-40B4-BE49-F238E27FC236}">
                <a16:creationId xmlns:a16="http://schemas.microsoft.com/office/drawing/2014/main" id="{B28A6BA2-93BF-40D8-BCD7-0227E733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rect-50">
            <a:extLst xmlns:a="http://schemas.openxmlformats.org/drawingml/2006/main">
              <a:ext uri="{FF2B5EF4-FFF2-40B4-BE49-F238E27FC236}">
                <a16:creationId xmlns:a16="http://schemas.microsoft.com/office/drawing/2014/main" id="{9DD14BC5-ABE8-4464-9A37-61B2A367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962025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2" name="工厂 / 生产">
            <a:extLst xmlns:a="http://schemas.openxmlformats.org/drawingml/2006/main">
              <a:ext uri="{FF2B5EF4-FFF2-40B4-BE49-F238E27FC236}">
                <a16:creationId xmlns:a16="http://schemas.microsoft.com/office/drawing/2014/main" id="{A135FA68-A7FE-4910-8796-81918DFC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962007"/>
            <a:ext cx="152821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工厂 / 生产</a:t>
            </a:r>
          </a:p>
        </p:txBody>
      </p:sp>
      <p:sp>
        <p:nvSpPr>
          <p:cNvPr id="53" name="MES · 生产执行">
            <a:extLst xmlns:a="http://schemas.openxmlformats.org/drawingml/2006/main">
              <a:ext uri="{FF2B5EF4-FFF2-40B4-BE49-F238E27FC236}">
                <a16:creationId xmlns:a16="http://schemas.microsoft.com/office/drawing/2014/main" id="{0E4CA557-8E86-41B9-87A0-5993FFF3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403586"/>
            <a:ext cx="147249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MES · 生产执行</a:t>
            </a:r>
          </a:p>
        </p:txBody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D9D03518-2588-4986-BBAE-DC98E50F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55" name="rect-54">
            <a:extLst xmlns:a="http://schemas.openxmlformats.org/drawingml/2006/main">
              <a:ext uri="{FF2B5EF4-FFF2-40B4-BE49-F238E27FC236}">
                <a16:creationId xmlns:a16="http://schemas.microsoft.com/office/drawing/2014/main" id="{4F9011B2-8A07-4D37-B808-AB9EBBB7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6" name="rect-55">
            <a:extLst xmlns:a="http://schemas.openxmlformats.org/drawingml/2006/main">
              <a:ext uri="{FF2B5EF4-FFF2-40B4-BE49-F238E27FC236}">
                <a16:creationId xmlns:a16="http://schemas.microsoft.com/office/drawing/2014/main" id="{85AADA1B-D4D2-4E8A-AEB2-0738634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104900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7" name="质检 / 仓储">
            <a:extLst xmlns:a="http://schemas.openxmlformats.org/drawingml/2006/main">
              <a:ext uri="{FF2B5EF4-FFF2-40B4-BE49-F238E27FC236}">
                <a16:creationId xmlns:a16="http://schemas.microsoft.com/office/drawing/2014/main" id="{5173D523-14CE-480C-9FB7-C8DB743E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390757"/>
            <a:ext cx="152821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质检 / 仓储</a:t>
            </a:r>
          </a:p>
        </p:txBody>
      </p:sp>
      <p:sp>
        <p:nvSpPr>
          <p:cNvPr id="58" name="QC / WMS / 领星等">
            <a:extLst xmlns:a="http://schemas.openxmlformats.org/drawingml/2006/main">
              <a:ext uri="{FF2B5EF4-FFF2-40B4-BE49-F238E27FC236}">
                <a16:creationId xmlns:a16="http://schemas.microsoft.com/office/drawing/2014/main" id="{48E0469A-DBCD-442C-933E-FCEDBA44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832336"/>
            <a:ext cx="184025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QC / WMS / 领星等</a:t>
            </a:r>
          </a:p>
        </p:txBody>
      </p:sp>
      <p:sp>
        <p:nvSpPr>
          <p:cNvPr id="59" name="path-58">
            <a:extLst xmlns:a="http://schemas.openxmlformats.org/drawingml/2006/main">
              <a:ext uri="{FF2B5EF4-FFF2-40B4-BE49-F238E27FC236}">
                <a16:creationId xmlns:a16="http://schemas.microsoft.com/office/drawing/2014/main" id="{C15DC1D2-3E72-4E2D-A313-519D081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60" name="path-59">
            <a:extLst xmlns:a="http://schemas.openxmlformats.org/drawingml/2006/main">
              <a:ext uri="{FF2B5EF4-FFF2-40B4-BE49-F238E27FC236}">
                <a16:creationId xmlns:a16="http://schemas.microsoft.com/office/drawing/2014/main" id="{027FCE12-7068-4C17-83D3-7A62CE14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1" name="path-60">
            <a:extLst xmlns:a="http://schemas.openxmlformats.org/drawingml/2006/main">
              <a:ext uri="{FF2B5EF4-FFF2-40B4-BE49-F238E27FC236}">
                <a16:creationId xmlns:a16="http://schemas.microsoft.com/office/drawing/2014/main" id="{DDE0B16F-962E-462D-B256-61108690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2" name="path-61">
            <a:extLst xmlns:a="http://schemas.openxmlformats.org/drawingml/2006/main">
              <a:ext uri="{FF2B5EF4-FFF2-40B4-BE49-F238E27FC236}">
                <a16:creationId xmlns:a16="http://schemas.microsoft.com/office/drawing/2014/main" id="{A94FD406-6771-4AE9-80D9-9FD867E9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3" name="path-62">
            <a:extLst xmlns:a="http://schemas.openxmlformats.org/drawingml/2006/main">
              <a:ext uri="{FF2B5EF4-FFF2-40B4-BE49-F238E27FC236}">
                <a16:creationId xmlns:a16="http://schemas.microsoft.com/office/drawing/2014/main" id="{2FD0E3BD-4208-44FD-9895-0F2CF81A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4" name="path-63">
            <a:extLst xmlns:a="http://schemas.openxmlformats.org/drawingml/2006/main">
              <a:ext uri="{FF2B5EF4-FFF2-40B4-BE49-F238E27FC236}">
                <a16:creationId xmlns:a16="http://schemas.microsoft.com/office/drawing/2014/main" id="{EEE1A30F-A0F2-4A3E-8E3E-94CE468F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5" name="path-64">
            <a:extLst xmlns:a="http://schemas.openxmlformats.org/drawingml/2006/main">
              <a:ext uri="{FF2B5EF4-FFF2-40B4-BE49-F238E27FC236}">
                <a16:creationId xmlns:a16="http://schemas.microsoft.com/office/drawing/2014/main" id="{9B651C92-59C1-45CB-BAB0-FEC5F035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6" name="path-65">
            <a:extLst xmlns:a="http://schemas.openxmlformats.org/drawingml/2006/main">
              <a:ext uri="{FF2B5EF4-FFF2-40B4-BE49-F238E27FC236}">
                <a16:creationId xmlns:a16="http://schemas.microsoft.com/office/drawing/2014/main" id="{E19E8443-AFA3-4A1D-97EF-31A8A0F9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7" name="path-66">
            <a:extLst xmlns:a="http://schemas.openxmlformats.org/drawingml/2006/main">
              <a:ext uri="{FF2B5EF4-FFF2-40B4-BE49-F238E27FC236}">
                <a16:creationId xmlns:a16="http://schemas.microsoft.com/office/drawing/2014/main" id="{C6A0AB69-AC13-4426-AFAB-A8269C0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8" name="path-67">
            <a:extLst xmlns:a="http://schemas.openxmlformats.org/drawingml/2006/main">
              <a:ext uri="{FF2B5EF4-FFF2-40B4-BE49-F238E27FC236}">
                <a16:creationId xmlns:a16="http://schemas.microsoft.com/office/drawing/2014/main" id="{A16B6827-190B-4316-965C-573576F4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9" name="rect-68">
            <a:extLst xmlns:a="http://schemas.openxmlformats.org/drawingml/2006/main">
              <a:ext uri="{FF2B5EF4-FFF2-40B4-BE49-F238E27FC236}">
                <a16:creationId xmlns:a16="http://schemas.microsoft.com/office/drawing/2014/main" id="{C8D42EB6-25B8-4C60-9695-4C6C81B0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717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8D96"/>
            </a:solidFill>
            <a:prstDash val="solid"/>
          </a:ln>
        </p:spPr>
      </p:sp>
      <p:sp>
        <p:nvSpPr>
          <p:cNvPr id="70" name="rect-69">
            <a:extLst xmlns:a="http://schemas.openxmlformats.org/drawingml/2006/main">
              <a:ext uri="{FF2B5EF4-FFF2-40B4-BE49-F238E27FC236}">
                <a16:creationId xmlns:a16="http://schemas.microsoft.com/office/drawing/2014/main" id="{DE0C5247-B5C1-42F6-8C5F-265AF93D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717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D9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1" name="商品资料就绪">
            <a:extLst xmlns:a="http://schemas.openxmlformats.org/drawingml/2006/main">
              <a:ext uri="{FF2B5EF4-FFF2-40B4-BE49-F238E27FC236}">
                <a16:creationId xmlns:a16="http://schemas.microsoft.com/office/drawing/2014/main" id="{19A2E23D-0C20-4DE5-BA95-405BD4D3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518" y="27816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商品资料就绪</a:t>
            </a:r>
          </a:p>
        </p:txBody>
      </p:sp>
      <p:sp>
        <p:nvSpPr>
          <p:cNvPr id="72" name="SKU / 版本关系">
            <a:extLst xmlns:a="http://schemas.openxmlformats.org/drawingml/2006/main">
              <a:ext uri="{FF2B5EF4-FFF2-40B4-BE49-F238E27FC236}">
                <a16:creationId xmlns:a16="http://schemas.microsoft.com/office/drawing/2014/main" id="{233FED60-3E76-457D-AC51-A83D0F9E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640" y="3107817"/>
            <a:ext cx="137947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SKU / 版本关系</a:t>
            </a:r>
          </a:p>
        </p:txBody>
      </p:sp>
      <p:sp>
        <p:nvSpPr>
          <p:cNvPr id="73" name="BOM / 工艺资料">
            <a:extLst xmlns:a="http://schemas.openxmlformats.org/drawingml/2006/main">
              <a:ext uri="{FF2B5EF4-FFF2-40B4-BE49-F238E27FC236}">
                <a16:creationId xmlns:a16="http://schemas.microsoft.com/office/drawing/2014/main" id="{C8624DE5-4838-449F-995B-45BDA8BB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792" y="3336417"/>
            <a:ext cx="1431167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BOM / 工艺资料</a:t>
            </a:r>
          </a:p>
        </p:txBody>
      </p:sp>
      <p:sp>
        <p:nvSpPr>
          <p:cNvPr id="74" name="rect-73">
            <a:extLst xmlns:a="http://schemas.openxmlformats.org/drawingml/2006/main">
              <a:ext uri="{FF2B5EF4-FFF2-40B4-BE49-F238E27FC236}">
                <a16:creationId xmlns:a16="http://schemas.microsoft.com/office/drawing/2014/main" id="{B5B2BBFE-4D21-4648-95FC-6A404CB8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20052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75" name="rect-74">
            <a:extLst xmlns:a="http://schemas.openxmlformats.org/drawingml/2006/main">
              <a:ext uri="{FF2B5EF4-FFF2-40B4-BE49-F238E27FC236}">
                <a16:creationId xmlns:a16="http://schemas.microsoft.com/office/drawing/2014/main" id="{C9538417-2B09-4A20-B15A-D8006F66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2005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6" name="逐日填报并提交">
            <a:extLst xmlns:a="http://schemas.openxmlformats.org/drawingml/2006/main">
              <a:ext uri="{FF2B5EF4-FFF2-40B4-BE49-F238E27FC236}">
                <a16:creationId xmlns:a16="http://schemas.microsoft.com/office/drawing/2014/main" id="{92E1C2DA-D8C1-4EE8-91E8-6B7BC773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596" y="421043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逐日填报并提交</a:t>
            </a:r>
          </a:p>
        </p:txBody>
      </p:sp>
      <p:sp>
        <p:nvSpPr>
          <p:cNvPr id="77" name="人工修正基准">
            <a:extLst xmlns:a="http://schemas.openxmlformats.org/drawingml/2006/main">
              <a:ext uri="{FF2B5EF4-FFF2-40B4-BE49-F238E27FC236}">
                <a16:creationId xmlns:a16="http://schemas.microsoft.com/office/drawing/2014/main" id="{7A23070B-83DE-4204-850F-6DAC9B7D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776" y="4536567"/>
            <a:ext cx="1165098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人工修正基准</a:t>
            </a:r>
          </a:p>
        </p:txBody>
      </p:sp>
      <p:sp>
        <p:nvSpPr>
          <p:cNvPr id="78" name="活动增量与调整原因">
            <a:extLst xmlns:a="http://schemas.openxmlformats.org/drawingml/2006/main">
              <a:ext uri="{FF2B5EF4-FFF2-40B4-BE49-F238E27FC236}">
                <a16:creationId xmlns:a16="http://schemas.microsoft.com/office/drawing/2014/main" id="{F86C4467-7382-48E0-98ED-FED2F6D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314" y="4765167"/>
            <a:ext cx="170002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活动增量与调整原因</a:t>
            </a:r>
          </a:p>
        </p:txBody>
      </p:sp>
      <p:sp>
        <p:nvSpPr>
          <p:cNvPr id="79" name="rect-78">
            <a:extLst xmlns:a="http://schemas.openxmlformats.org/drawingml/2006/main">
              <a:ext uri="{FF2B5EF4-FFF2-40B4-BE49-F238E27FC236}">
                <a16:creationId xmlns:a16="http://schemas.microsoft.com/office/drawing/2014/main" id="{EBCBAAF4-980C-418E-8D11-592B9B67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80" name="rect-79">
            <a:extLst xmlns:a="http://schemas.openxmlformats.org/drawingml/2006/main">
              <a:ext uri="{FF2B5EF4-FFF2-40B4-BE49-F238E27FC236}">
                <a16:creationId xmlns:a16="http://schemas.microsoft.com/office/drawing/2014/main" id="{1FF187E8-6E43-48BA-B131-9270F7BC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1" name="准备规则与依据">
            <a:extLst xmlns:a="http://schemas.openxmlformats.org/drawingml/2006/main">
              <a:ext uri="{FF2B5EF4-FFF2-40B4-BE49-F238E27FC236}">
                <a16:creationId xmlns:a16="http://schemas.microsoft.com/office/drawing/2014/main" id="{B5227798-9CF8-4882-8C0D-B452BE8D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46" y="563918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准备规则与依据</a:t>
            </a:r>
          </a:p>
        </p:txBody>
      </p:sp>
      <p:sp>
        <p:nvSpPr>
          <p:cNvPr id="82" name="规则版本 / 数仓预测">
            <a:extLst xmlns:a="http://schemas.openxmlformats.org/drawingml/2006/main">
              <a:ext uri="{FF2B5EF4-FFF2-40B4-BE49-F238E27FC236}">
                <a16:creationId xmlns:a16="http://schemas.microsoft.com/office/drawing/2014/main" id="{17D20A80-DEFA-4B74-8DF2-EBF36FF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5965317"/>
            <a:ext cx="172974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规则版本 / 数仓预测</a:t>
            </a:r>
          </a:p>
        </p:txBody>
      </p:sp>
      <p:sp>
        <p:nvSpPr>
          <p:cNvPr id="83" name="读取库存与在途">
            <a:extLst xmlns:a="http://schemas.openxmlformats.org/drawingml/2006/main">
              <a:ext uri="{FF2B5EF4-FFF2-40B4-BE49-F238E27FC236}">
                <a16:creationId xmlns:a16="http://schemas.microsoft.com/office/drawing/2014/main" id="{1DEFA5F9-0C16-4A4A-9213-3F2D1BB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6193917"/>
            <a:ext cx="1343406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读取库存与在途</a:t>
            </a:r>
          </a:p>
        </p:txBody>
      </p:sp>
      <p:sp>
        <p:nvSpPr>
          <p:cNvPr id="84" name="rect-83">
            <a:extLst xmlns:a="http://schemas.openxmlformats.org/drawingml/2006/main">
              <a:ext uri="{FF2B5EF4-FFF2-40B4-BE49-F238E27FC236}">
                <a16:creationId xmlns:a16="http://schemas.microsoft.com/office/drawing/2014/main" id="{E269174C-D26A-4633-81E9-E1B4938A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85" name="rect-84">
            <a:extLst xmlns:a="http://schemas.openxmlformats.org/drawingml/2006/main">
              <a:ext uri="{FF2B5EF4-FFF2-40B4-BE49-F238E27FC236}">
                <a16:creationId xmlns:a16="http://schemas.microsoft.com/office/drawing/2014/main" id="{A6ACE359-B2C8-4D9A-89F0-406DE0A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6" name="发起预测周期">
            <a:extLst xmlns:a="http://schemas.openxmlformats.org/drawingml/2006/main">
              <a:ext uri="{FF2B5EF4-FFF2-40B4-BE49-F238E27FC236}">
                <a16:creationId xmlns:a16="http://schemas.microsoft.com/office/drawing/2014/main" id="{D3E6FAA9-4C09-4D2E-9ECD-7CE831B8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68" y="56391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发起预测周期</a:t>
            </a:r>
          </a:p>
        </p:txBody>
      </p:sp>
      <p:sp>
        <p:nvSpPr>
          <p:cNvPr id="87" name="月份 / W周数">
            <a:extLst xmlns:a="http://schemas.openxmlformats.org/drawingml/2006/main">
              <a:ext uri="{FF2B5EF4-FFF2-40B4-BE49-F238E27FC236}">
                <a16:creationId xmlns:a16="http://schemas.microsoft.com/office/drawing/2014/main" id="{D40F33F9-756D-4043-866B-6696762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86" y="5965317"/>
            <a:ext cx="1182279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月份 / W周数</a:t>
            </a:r>
          </a:p>
        </p:txBody>
      </p:sp>
      <p:sp>
        <p:nvSpPr>
          <p:cNvPr id="88" name="填报窗口">
            <a:extLst xmlns:a="http://schemas.openxmlformats.org/drawingml/2006/main">
              <a:ext uri="{FF2B5EF4-FFF2-40B4-BE49-F238E27FC236}">
                <a16:creationId xmlns:a16="http://schemas.microsoft.com/office/drawing/2014/main" id="{AEEB5334-7203-49B9-B358-B5771B7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084" y="6193917"/>
            <a:ext cx="80848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填报窗口</a:t>
            </a:r>
          </a:p>
        </p:txBody>
      </p:sp>
      <p:sp>
        <p:nvSpPr>
          <p:cNvPr id="89" name="rect-88">
            <a:extLst xmlns:a="http://schemas.openxmlformats.org/drawingml/2006/main">
              <a:ext uri="{FF2B5EF4-FFF2-40B4-BE49-F238E27FC236}">
                <a16:creationId xmlns:a16="http://schemas.microsoft.com/office/drawing/2014/main" id="{E5CA4275-919E-489D-9EF8-3B218E69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90" name="rect-89">
            <a:extLst xmlns:a="http://schemas.openxmlformats.org/drawingml/2006/main">
              <a:ext uri="{FF2B5EF4-FFF2-40B4-BE49-F238E27FC236}">
                <a16:creationId xmlns:a16="http://schemas.microsoft.com/office/drawing/2014/main" id="{8B4A495B-E6D7-4739-9977-AC16EC2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1" name="审核销售需求">
            <a:extLst xmlns:a="http://schemas.openxmlformats.org/drawingml/2006/main">
              <a:ext uri="{FF2B5EF4-FFF2-40B4-BE49-F238E27FC236}">
                <a16:creationId xmlns:a16="http://schemas.microsoft.com/office/drawing/2014/main" id="{978A1232-59B6-4C4B-AA43-54538B75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418" y="56391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审核销售需求</a:t>
            </a:r>
          </a:p>
        </p:txBody>
      </p:sp>
      <p:sp>
        <p:nvSpPr>
          <p:cNvPr id="92" name="确认或退回">
            <a:extLst xmlns:a="http://schemas.openxmlformats.org/drawingml/2006/main">
              <a:ext uri="{FF2B5EF4-FFF2-40B4-BE49-F238E27FC236}">
                <a16:creationId xmlns:a16="http://schemas.microsoft.com/office/drawing/2014/main" id="{496FC536-AAE0-4855-B309-A35E882B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880" y="5965317"/>
            <a:ext cx="98679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确认或退回</a:t>
            </a:r>
          </a:p>
        </p:txBody>
      </p:sp>
      <p:sp>
        <p:nvSpPr>
          <p:cNvPr id="93" name="保留审核原因">
            <a:extLst xmlns:a="http://schemas.openxmlformats.org/drawingml/2006/main">
              <a:ext uri="{FF2B5EF4-FFF2-40B4-BE49-F238E27FC236}">
                <a16:creationId xmlns:a16="http://schemas.microsoft.com/office/drawing/2014/main" id="{9ADB010E-6B04-4740-8103-1DA083F5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6193917"/>
            <a:ext cx="1165098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保留审核原因</a:t>
            </a:r>
          </a:p>
        </p:txBody>
      </p:sp>
      <p:sp>
        <p:nvSpPr>
          <p:cNvPr id="94" name="rect-93">
            <a:extLst xmlns:a="http://schemas.openxmlformats.org/drawingml/2006/main">
              <a:ext uri="{FF2B5EF4-FFF2-40B4-BE49-F238E27FC236}">
                <a16:creationId xmlns:a16="http://schemas.microsoft.com/office/drawing/2014/main" id="{F80FC088-5B81-43BB-B938-9AD26E85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95" name="rect-94">
            <a:extLst xmlns:a="http://schemas.openxmlformats.org/drawingml/2006/main">
              <a:ext uri="{FF2B5EF4-FFF2-40B4-BE49-F238E27FC236}">
                <a16:creationId xmlns:a16="http://schemas.microsoft.com/office/drawing/2014/main" id="{139DCAD0-0D74-40EB-B476-725FC46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6" name="确认备货 / 过货">
            <a:extLst xmlns:a="http://schemas.openxmlformats.org/drawingml/2006/main">
              <a:ext uri="{FF2B5EF4-FFF2-40B4-BE49-F238E27FC236}">
                <a16:creationId xmlns:a16="http://schemas.microsoft.com/office/drawing/2014/main" id="{EBE6A998-2C3A-44E9-BAF2-A8EA9DAF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761" y="5639181"/>
            <a:ext cx="179892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确认备货 / 过货</a:t>
            </a:r>
          </a:p>
        </p:txBody>
      </p:sp>
      <p:sp>
        <p:nvSpPr>
          <p:cNvPr id="97" name="测算缺口、人工校准">
            <a:extLst xmlns:a="http://schemas.openxmlformats.org/drawingml/2006/main">
              <a:ext uri="{FF2B5EF4-FFF2-40B4-BE49-F238E27FC236}">
                <a16:creationId xmlns:a16="http://schemas.microsoft.com/office/drawing/2014/main" id="{E4CE44CC-799E-4C70-83B9-6EDB1EA5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214" y="5965317"/>
            <a:ext cx="170002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测算缺口、人工校准</a:t>
            </a:r>
          </a:p>
        </p:txBody>
      </p:sp>
      <p:sp>
        <p:nvSpPr>
          <p:cNvPr id="98" name="审批形成采购需求">
            <a:extLst xmlns:a="http://schemas.openxmlformats.org/drawingml/2006/main">
              <a:ext uri="{FF2B5EF4-FFF2-40B4-BE49-F238E27FC236}">
                <a16:creationId xmlns:a16="http://schemas.microsoft.com/office/drawing/2014/main" id="{1A551BA0-0AD2-473C-B05B-F44BCBDD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6193917"/>
            <a:ext cx="152171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审批形成采购需求</a:t>
            </a:r>
          </a:p>
        </p:txBody>
      </p:sp>
      <p:sp>
        <p:nvSpPr>
          <p:cNvPr id="99" name="rect-98">
            <a:extLst xmlns:a="http://schemas.openxmlformats.org/drawingml/2006/main">
              <a:ext uri="{FF2B5EF4-FFF2-40B4-BE49-F238E27FC236}">
                <a16:creationId xmlns:a16="http://schemas.microsoft.com/office/drawing/2014/main" id="{E55DA363-211C-449E-9B44-6B01C538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2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00" name="rect-99">
            <a:extLst xmlns:a="http://schemas.openxmlformats.org/drawingml/2006/main">
              <a:ext uri="{FF2B5EF4-FFF2-40B4-BE49-F238E27FC236}">
                <a16:creationId xmlns:a16="http://schemas.microsoft.com/office/drawing/2014/main" id="{72565B40-B435-410A-A8B1-C081C6AF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2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1" name="滚动校准计划">
            <a:extLst xmlns:a="http://schemas.openxmlformats.org/drawingml/2006/main">
              <a:ext uri="{FF2B5EF4-FFF2-40B4-BE49-F238E27FC236}">
                <a16:creationId xmlns:a16="http://schemas.microsoft.com/office/drawing/2014/main" id="{5B2D4908-ACCF-4EB3-B1DF-E0480277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168" y="56391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滚动校准计划</a:t>
            </a:r>
          </a:p>
        </p:txBody>
      </p:sp>
      <p:sp>
        <p:nvSpPr>
          <p:cNvPr id="102" name="处理执行偏差">
            <a:extLst xmlns:a="http://schemas.openxmlformats.org/drawingml/2006/main">
              <a:ext uri="{FF2B5EF4-FFF2-40B4-BE49-F238E27FC236}">
                <a16:creationId xmlns:a16="http://schemas.microsoft.com/office/drawing/2014/main" id="{2CFF5E56-D67C-48DF-A30F-20DDDCF6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5476" y="5965317"/>
            <a:ext cx="1165098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处理执行偏差</a:t>
            </a:r>
          </a:p>
        </p:txBody>
      </p:sp>
      <p:sp>
        <p:nvSpPr>
          <p:cNvPr id="103" name="更新下一轮预测">
            <a:extLst xmlns:a="http://schemas.openxmlformats.org/drawingml/2006/main">
              <a:ext uri="{FF2B5EF4-FFF2-40B4-BE49-F238E27FC236}">
                <a16:creationId xmlns:a16="http://schemas.microsoft.com/office/drawing/2014/main" id="{FC67D499-EFD1-45AC-827E-C7FEC4B7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6322" y="6193917"/>
            <a:ext cx="1343406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更新下一轮预测</a:t>
            </a:r>
          </a:p>
        </p:txBody>
      </p:sp>
      <p:sp>
        <p:nvSpPr>
          <p:cNvPr id="104" name="rect-103">
            <a:extLst xmlns:a="http://schemas.openxmlformats.org/drawingml/2006/main">
              <a:ext uri="{FF2B5EF4-FFF2-40B4-BE49-F238E27FC236}">
                <a16:creationId xmlns:a16="http://schemas.microsoft.com/office/drawing/2014/main" id="{C167B938-52C7-4B2A-9281-A5FAB7B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705802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solid"/>
          </a:ln>
        </p:spPr>
      </p:sp>
      <p:sp>
        <p:nvSpPr>
          <p:cNvPr id="105" name="rect-104">
            <a:extLst xmlns:a="http://schemas.openxmlformats.org/drawingml/2006/main">
              <a:ext uri="{FF2B5EF4-FFF2-40B4-BE49-F238E27FC236}">
                <a16:creationId xmlns:a16="http://schemas.microsoft.com/office/drawing/2014/main" id="{60D59F7D-56F7-473C-AE1D-94B0840C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70580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52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6" name="采购决策与下单">
            <a:extLst xmlns:a="http://schemas.openxmlformats.org/drawingml/2006/main">
              <a:ext uri="{FF2B5EF4-FFF2-40B4-BE49-F238E27FC236}">
                <a16:creationId xmlns:a16="http://schemas.microsoft.com/office/drawing/2014/main" id="{FA37BF21-91AA-4B93-BB89-DFF43BB2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96" y="706793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采购决策与下单</a:t>
            </a:r>
          </a:p>
        </p:txBody>
      </p:sp>
      <p:sp>
        <p:nvSpPr>
          <p:cNvPr id="107" name="承接确认采购需求">
            <a:extLst xmlns:a="http://schemas.openxmlformats.org/drawingml/2006/main">
              <a:ext uri="{FF2B5EF4-FFF2-40B4-BE49-F238E27FC236}">
                <a16:creationId xmlns:a16="http://schemas.microsoft.com/office/drawing/2014/main" id="{E5740E44-CC7C-46D3-9357-8E63FB10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7394067"/>
            <a:ext cx="152171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承接确认采购需求</a:t>
            </a:r>
          </a:p>
        </p:txBody>
      </p:sp>
      <p:sp>
        <p:nvSpPr>
          <p:cNvPr id="108" name="PO / 大货单">
            <a:extLst xmlns:a="http://schemas.openxmlformats.org/drawingml/2006/main">
              <a:ext uri="{FF2B5EF4-FFF2-40B4-BE49-F238E27FC236}">
                <a16:creationId xmlns:a16="http://schemas.microsoft.com/office/drawing/2014/main" id="{CF12509B-723D-4B63-8715-D9AE2E76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520" y="7622667"/>
            <a:ext cx="108941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PO / 大货单</a:t>
            </a:r>
          </a:p>
        </p:txBody>
      </p:sp>
      <p:sp>
        <p:nvSpPr>
          <p:cNvPr id="109" name="rect-108">
            <a:extLst xmlns:a="http://schemas.openxmlformats.org/drawingml/2006/main">
              <a:ext uri="{FF2B5EF4-FFF2-40B4-BE49-F238E27FC236}">
                <a16:creationId xmlns:a16="http://schemas.microsoft.com/office/drawing/2014/main" id="{962F1245-71F7-4CB5-ABBA-1F7ED74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705802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dash"/>
          </a:ln>
        </p:spPr>
      </p:sp>
      <p:sp>
        <p:nvSpPr>
          <p:cNvPr id="110" name="rect-109">
            <a:extLst xmlns:a="http://schemas.openxmlformats.org/drawingml/2006/main">
              <a:ext uri="{FF2B5EF4-FFF2-40B4-BE49-F238E27FC236}">
                <a16:creationId xmlns:a16="http://schemas.microsoft.com/office/drawing/2014/main" id="{257327AB-31E0-4F37-BF60-2E746C2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70580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52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1" name="物料采购 / 发料">
            <a:extLst xmlns:a="http://schemas.openxmlformats.org/drawingml/2006/main">
              <a:ext uri="{FF2B5EF4-FFF2-40B4-BE49-F238E27FC236}">
                <a16:creationId xmlns:a16="http://schemas.microsoft.com/office/drawing/2014/main" id="{B256CDCE-8183-48F0-A277-337E5246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711" y="7067931"/>
            <a:ext cx="179892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物料采购 / 发料</a:t>
            </a:r>
          </a:p>
        </p:txBody>
      </p:sp>
      <p:sp>
        <p:nvSpPr>
          <p:cNvPr id="112" name="按需采购，跟进交付">
            <a:extLst xmlns:a="http://schemas.openxmlformats.org/drawingml/2006/main">
              <a:ext uri="{FF2B5EF4-FFF2-40B4-BE49-F238E27FC236}">
                <a16:creationId xmlns:a16="http://schemas.microsoft.com/office/drawing/2014/main" id="{B9ADB5A0-92D9-4556-A9A4-31F8218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4164" y="7489317"/>
            <a:ext cx="170002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按需采购，跟进交付</a:t>
            </a:r>
          </a:p>
        </p:txBody>
      </p:sp>
      <p:sp>
        <p:nvSpPr>
          <p:cNvPr id="113" name="rect-112">
            <a:extLst xmlns:a="http://schemas.openxmlformats.org/drawingml/2006/main">
              <a:ext uri="{FF2B5EF4-FFF2-40B4-BE49-F238E27FC236}">
                <a16:creationId xmlns:a16="http://schemas.microsoft.com/office/drawing/2014/main" id="{00A2E52A-2F1B-4B72-B4C7-E85F2407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84867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dash"/>
          </a:ln>
        </p:spPr>
      </p:sp>
      <p:sp>
        <p:nvSpPr>
          <p:cNvPr id="114" name="rect-113">
            <a:extLst xmlns:a="http://schemas.openxmlformats.org/drawingml/2006/main">
              <a:ext uri="{FF2B5EF4-FFF2-40B4-BE49-F238E27FC236}">
                <a16:creationId xmlns:a16="http://schemas.microsoft.com/office/drawing/2014/main" id="{58CF7F55-8077-4A44-AC22-7A3B3298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84867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52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5" name="测算物料缺口">
            <a:extLst xmlns:a="http://schemas.openxmlformats.org/drawingml/2006/main">
              <a:ext uri="{FF2B5EF4-FFF2-40B4-BE49-F238E27FC236}">
                <a16:creationId xmlns:a16="http://schemas.microsoft.com/office/drawing/2014/main" id="{8EF70354-2A27-47A3-BD8F-AB5414C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3318" y="84966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测算物料缺口</a:t>
            </a:r>
          </a:p>
        </p:txBody>
      </p:sp>
      <p:sp>
        <p:nvSpPr>
          <p:cNvPr id="116" name="订单 + BOM">
            <a:extLst xmlns:a="http://schemas.openxmlformats.org/drawingml/2006/main">
              <a:ext uri="{FF2B5EF4-FFF2-40B4-BE49-F238E27FC236}">
                <a16:creationId xmlns:a16="http://schemas.microsoft.com/office/drawing/2014/main" id="{96BADF8B-74FD-4449-A066-37E29313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535" y="8822817"/>
            <a:ext cx="109328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订单 + BOM</a:t>
            </a:r>
          </a:p>
        </p:txBody>
      </p:sp>
      <p:sp>
        <p:nvSpPr>
          <p:cNvPr id="117" name="物料库存 / 在途">
            <a:extLst xmlns:a="http://schemas.openxmlformats.org/drawingml/2006/main">
              <a:ext uri="{FF2B5EF4-FFF2-40B4-BE49-F238E27FC236}">
                <a16:creationId xmlns:a16="http://schemas.microsoft.com/office/drawing/2014/main" id="{3BAA393C-3DFB-4B07-92E6-14D2D42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613" y="9051417"/>
            <a:ext cx="137312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物料库存 / 在途</a:t>
            </a:r>
          </a:p>
        </p:txBody>
      </p:sp>
      <p:sp>
        <p:nvSpPr>
          <p:cNvPr id="118" name="rect-117">
            <a:extLst xmlns:a="http://schemas.openxmlformats.org/drawingml/2006/main">
              <a:ext uri="{FF2B5EF4-FFF2-40B4-BE49-F238E27FC236}">
                <a16:creationId xmlns:a16="http://schemas.microsoft.com/office/drawing/2014/main" id="{CF6D72AD-6D1D-43A7-921E-924EF47B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4867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dash"/>
          </a:ln>
        </p:spPr>
      </p:sp>
      <p:sp>
        <p:nvSpPr>
          <p:cNvPr id="119" name="rect-118">
            <a:extLst xmlns:a="http://schemas.openxmlformats.org/drawingml/2006/main">
              <a:ext uri="{FF2B5EF4-FFF2-40B4-BE49-F238E27FC236}">
                <a16:creationId xmlns:a16="http://schemas.microsoft.com/office/drawing/2014/main" id="{49390738-418A-477B-A36A-726042E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4867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52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0" name="到料与齐料确认">
            <a:extLst xmlns:a="http://schemas.openxmlformats.org/drawingml/2006/main">
              <a:ext uri="{FF2B5EF4-FFF2-40B4-BE49-F238E27FC236}">
                <a16:creationId xmlns:a16="http://schemas.microsoft.com/office/drawing/2014/main" id="{649A9E6D-069D-4E38-8E07-4570CA07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2396" y="849668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到料与齐料确认</a:t>
            </a:r>
          </a:p>
        </p:txBody>
      </p:sp>
      <p:sp>
        <p:nvSpPr>
          <p:cNvPr id="121" name="缺料跟进、供料保障">
            <a:extLst xmlns:a="http://schemas.openxmlformats.org/drawingml/2006/main">
              <a:ext uri="{FF2B5EF4-FFF2-40B4-BE49-F238E27FC236}">
                <a16:creationId xmlns:a16="http://schemas.microsoft.com/office/drawing/2014/main" id="{0E54C964-9EBC-45F6-B2F9-CD3C15CB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2114" y="8918067"/>
            <a:ext cx="170002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缺料跟进、供料保障</a:t>
            </a:r>
          </a:p>
        </p:txBody>
      </p:sp>
      <p:sp>
        <p:nvSpPr>
          <p:cNvPr id="122" name="rect-121">
            <a:extLst xmlns:a="http://schemas.openxmlformats.org/drawingml/2006/main">
              <a:ext uri="{FF2B5EF4-FFF2-40B4-BE49-F238E27FC236}">
                <a16:creationId xmlns:a16="http://schemas.microsoft.com/office/drawing/2014/main" id="{6ACC050F-F798-4D9A-B01C-5EE047BE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91552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83E"/>
            </a:solidFill>
            <a:prstDash val="solid"/>
          </a:ln>
        </p:spPr>
      </p:sp>
      <p:sp>
        <p:nvSpPr>
          <p:cNvPr id="123" name="rect-122">
            <a:extLst xmlns:a="http://schemas.openxmlformats.org/drawingml/2006/main">
              <a:ext uri="{FF2B5EF4-FFF2-40B4-BE49-F238E27FC236}">
                <a16:creationId xmlns:a16="http://schemas.microsoft.com/office/drawing/2014/main" id="{0A6EF65A-568F-4FE7-A92D-BDBC9FBB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9155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83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4" name="生产执行与报工">
            <a:extLst xmlns:a="http://schemas.openxmlformats.org/drawingml/2006/main">
              <a:ext uri="{FF2B5EF4-FFF2-40B4-BE49-F238E27FC236}">
                <a16:creationId xmlns:a16="http://schemas.microsoft.com/office/drawing/2014/main" id="{7B7CC401-ABD3-4E5F-9839-B6380FE7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2396" y="992543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生产执行与报工</a:t>
            </a:r>
          </a:p>
        </p:txBody>
      </p:sp>
      <p:sp>
        <p:nvSpPr>
          <p:cNvPr id="125" name="进度 / 异常 / 完工结果">
            <a:extLst xmlns:a="http://schemas.openxmlformats.org/drawingml/2006/main">
              <a:ext uri="{FF2B5EF4-FFF2-40B4-BE49-F238E27FC236}">
                <a16:creationId xmlns:a16="http://schemas.microsoft.com/office/drawing/2014/main" id="{FF0CB8AD-6C68-4894-8D8E-01D22281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3319" y="10346817"/>
            <a:ext cx="1937611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进度 / 异常 / 完工结果</a:t>
            </a:r>
          </a:p>
        </p:txBody>
      </p:sp>
      <p:sp>
        <p:nvSpPr>
          <p:cNvPr id="126" name="rect-125">
            <a:extLst xmlns:a="http://schemas.openxmlformats.org/drawingml/2006/main">
              <a:ext uri="{FF2B5EF4-FFF2-40B4-BE49-F238E27FC236}">
                <a16:creationId xmlns:a16="http://schemas.microsoft.com/office/drawing/2014/main" id="{F678D9D0-99A4-4203-BE51-0D9F8FF6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75" y="11344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8D96"/>
            </a:solidFill>
            <a:prstDash val="solid"/>
          </a:ln>
        </p:spPr>
      </p:sp>
      <p:sp>
        <p:nvSpPr>
          <p:cNvPr id="127" name="rect-126">
            <a:extLst xmlns:a="http://schemas.openxmlformats.org/drawingml/2006/main">
              <a:ext uri="{FF2B5EF4-FFF2-40B4-BE49-F238E27FC236}">
                <a16:creationId xmlns:a16="http://schemas.microsoft.com/office/drawing/2014/main" id="{48B17F90-8569-4C75-B869-1994DE37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75" y="11344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D9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8" name="质检放行与入库">
            <a:extLst xmlns:a="http://schemas.openxmlformats.org/drawingml/2006/main">
              <a:ext uri="{FF2B5EF4-FFF2-40B4-BE49-F238E27FC236}">
                <a16:creationId xmlns:a16="http://schemas.microsoft.com/office/drawing/2014/main" id="{BDF4BC2C-3F16-462A-9C6E-8C89A3A5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0346" y="1135418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质检放行与入库</a:t>
            </a:r>
          </a:p>
        </p:txBody>
      </p:sp>
      <p:sp>
        <p:nvSpPr>
          <p:cNvPr id="129" name="合格收货">
            <a:extLst xmlns:a="http://schemas.openxmlformats.org/drawingml/2006/main">
              <a:ext uri="{FF2B5EF4-FFF2-40B4-BE49-F238E27FC236}">
                <a16:creationId xmlns:a16="http://schemas.microsoft.com/office/drawing/2014/main" id="{3AABBF13-382E-4E66-9A80-4906A37D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834" y="11680317"/>
            <a:ext cx="80848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合格收货</a:t>
            </a:r>
          </a:p>
        </p:txBody>
      </p:sp>
      <p:sp>
        <p:nvSpPr>
          <p:cNvPr id="130" name="异常返工 / 退货">
            <a:extLst xmlns:a="http://schemas.openxmlformats.org/drawingml/2006/main">
              <a:ext uri="{FF2B5EF4-FFF2-40B4-BE49-F238E27FC236}">
                <a16:creationId xmlns:a16="http://schemas.microsoft.com/office/drawing/2014/main" id="{3FD05B14-69B1-4247-A6E8-22200707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3513" y="11908917"/>
            <a:ext cx="137312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异常返工 / 退货</a:t>
            </a:r>
          </a:p>
        </p:txBody>
      </p:sp>
      <p:sp>
        <p:nvSpPr>
          <p:cNvPr id="131" name="rect-130">
            <a:extLst xmlns:a="http://schemas.openxmlformats.org/drawingml/2006/main">
              <a:ext uri="{FF2B5EF4-FFF2-40B4-BE49-F238E27FC236}">
                <a16:creationId xmlns:a16="http://schemas.microsoft.com/office/drawing/2014/main" id="{FB9C8FD3-F980-4E4E-979E-B670C5A8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25" y="11344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8D96"/>
            </a:solidFill>
            <a:prstDash val="solid"/>
          </a:ln>
        </p:spPr>
      </p:sp>
      <p:sp>
        <p:nvSpPr>
          <p:cNvPr id="132" name="rect-131">
            <a:extLst xmlns:a="http://schemas.openxmlformats.org/drawingml/2006/main">
              <a:ext uri="{FF2B5EF4-FFF2-40B4-BE49-F238E27FC236}">
                <a16:creationId xmlns:a16="http://schemas.microsoft.com/office/drawing/2014/main" id="{E8E88817-C5A0-4924-8CE9-AD33AF96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25" y="11344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D9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3" name="更新库存与在途">
            <a:extLst xmlns:a="http://schemas.openxmlformats.org/drawingml/2006/main">
              <a:ext uri="{FF2B5EF4-FFF2-40B4-BE49-F238E27FC236}">
                <a16:creationId xmlns:a16="http://schemas.microsoft.com/office/drawing/2014/main" id="{61580316-E4E0-42F1-9765-3CAEC0A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8296" y="1135418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更新库存与在途</a:t>
            </a:r>
          </a:p>
        </p:txBody>
      </p:sp>
      <p:sp>
        <p:nvSpPr>
          <p:cNvPr id="134" name="实际到货">
            <a:extLst xmlns:a="http://schemas.openxmlformats.org/drawingml/2006/main">
              <a:ext uri="{FF2B5EF4-FFF2-40B4-BE49-F238E27FC236}">
                <a16:creationId xmlns:a16="http://schemas.microsoft.com/office/drawing/2014/main" id="{FB8A3447-1976-42FF-9A41-5477FF3E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3784" y="11680317"/>
            <a:ext cx="80848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实际到货</a:t>
            </a:r>
          </a:p>
        </p:txBody>
      </p:sp>
      <p:sp>
        <p:nvSpPr>
          <p:cNvPr id="135" name="库存 / 在途事实">
            <a:extLst xmlns:a="http://schemas.openxmlformats.org/drawingml/2006/main">
              <a:ext uri="{FF2B5EF4-FFF2-40B4-BE49-F238E27FC236}">
                <a16:creationId xmlns:a16="http://schemas.microsoft.com/office/drawing/2014/main" id="{2693705F-3082-4425-AFEF-647E88F5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1463" y="11908917"/>
            <a:ext cx="137312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库存 / 在途事实</a:t>
            </a:r>
          </a:p>
        </p:txBody>
      </p:sp>
      <p:sp>
        <p:nvSpPr>
          <p:cNvPr id="136" name="path-135">
            <a:extLst xmlns:a="http://schemas.openxmlformats.org/drawingml/2006/main">
              <a:ext uri="{FF2B5EF4-FFF2-40B4-BE49-F238E27FC236}">
                <a16:creationId xmlns:a16="http://schemas.microsoft.com/office/drawing/2014/main" id="{52104A36-1F36-43A3-ACEB-FA2E2B89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90875"/>
            <a:ext cx="438150" cy="1428750"/>
          </a:xfrm>
          <a:custGeom xmlns:a="http://schemas.openxmlformats.org/drawingml/2006/main">
            <a:pathLst>
              <a:path w="438150" h="1428750">
                <a:moveTo>
                  <a:pt x="0" y="0"/>
                </a:moveTo>
                <a:lnTo>
                  <a:pt x="114300" y="0"/>
                </a:lnTo>
                <a:lnTo>
                  <a:pt x="114300" y="1428750"/>
                </a:lnTo>
                <a:lnTo>
                  <a:pt x="4381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solid"/>
          </a:ln>
        </p:spPr>
      </p:sp>
      <p:sp>
        <p:nvSpPr>
          <p:cNvPr id="137" name="arrowhead-135">
            <a:extLst xmlns:a="http://schemas.openxmlformats.org/drawingml/2006/main">
              <a:ext uri="{FF2B5EF4-FFF2-40B4-BE49-F238E27FC236}">
                <a16:creationId xmlns:a16="http://schemas.microsoft.com/office/drawing/2014/main" id="{983CA884-B468-4788-BD8F-65553FA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5243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138" name="rect-136">
            <a:extLst xmlns:a="http://schemas.openxmlformats.org/drawingml/2006/main">
              <a:ext uri="{FF2B5EF4-FFF2-40B4-BE49-F238E27FC236}">
                <a16:creationId xmlns:a16="http://schemas.microsoft.com/office/drawing/2014/main" id="{814EAB23-0A30-4670-81C0-FECA7A73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9" name="商品与映射资料">
            <a:extLst xmlns:a="http://schemas.openxmlformats.org/drawingml/2006/main">
              <a:ext uri="{FF2B5EF4-FFF2-40B4-BE49-F238E27FC236}">
                <a16:creationId xmlns:a16="http://schemas.microsoft.com/office/drawing/2014/main" id="{11C605D4-E0B0-4923-B888-CBD5722B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3697605"/>
            <a:ext cx="14820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商品与映射资料</a:t>
            </a:r>
          </a:p>
        </p:txBody>
      </p:sp>
      <p:sp>
        <p:nvSpPr>
          <p:cNvPr id="140" name="path-138">
            <a:extLst xmlns:a="http://schemas.openxmlformats.org/drawingml/2006/main">
              <a:ext uri="{FF2B5EF4-FFF2-40B4-BE49-F238E27FC236}">
                <a16:creationId xmlns:a16="http://schemas.microsoft.com/office/drawing/2014/main" id="{DB0FDF7B-10D2-4AAC-82F6-FB5BD518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6048375"/>
            <a:ext cx="438150" cy="476"/>
          </a:xfrm>
          <a:custGeom xmlns:a="http://schemas.openxmlformats.org/drawingml/2006/main">
            <a:pathLst>
              <a:path w="438150" h="476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41" name="arrowhead-138">
            <a:extLst xmlns:a="http://schemas.openxmlformats.org/drawingml/2006/main">
              <a:ext uri="{FF2B5EF4-FFF2-40B4-BE49-F238E27FC236}">
                <a16:creationId xmlns:a16="http://schemas.microsoft.com/office/drawing/2014/main" id="{AC1C0346-13C0-4A8B-AAB4-3BC8B787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953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42" name="path-139">
            <a:extLst xmlns:a="http://schemas.openxmlformats.org/drawingml/2006/main">
              <a:ext uri="{FF2B5EF4-FFF2-40B4-BE49-F238E27FC236}">
                <a16:creationId xmlns:a16="http://schemas.microsoft.com/office/drawing/2014/main" id="{79719F1A-C720-4F9D-A771-EBFF9545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38725"/>
            <a:ext cx="476" cy="590550"/>
          </a:xfrm>
          <a:custGeom xmlns:a="http://schemas.openxmlformats.org/drawingml/2006/main">
            <a:pathLst>
              <a:path w="476" h="590550">
                <a:moveTo>
                  <a:pt x="0" y="590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43" name="arrowhead-139">
            <a:extLst xmlns:a="http://schemas.openxmlformats.org/drawingml/2006/main">
              <a:ext uri="{FF2B5EF4-FFF2-40B4-BE49-F238E27FC236}">
                <a16:creationId xmlns:a16="http://schemas.microsoft.com/office/drawing/2014/main" id="{52F39FDE-1CF5-4C72-AB1A-217AD602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387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44" name="rect-140">
            <a:extLst xmlns:a="http://schemas.openxmlformats.org/drawingml/2006/main">
              <a:ext uri="{FF2B5EF4-FFF2-40B4-BE49-F238E27FC236}">
                <a16:creationId xmlns:a16="http://schemas.microsoft.com/office/drawing/2014/main" id="{B4F2900C-CDD4-4098-88CE-06DFF87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5" name="开启窗口">
            <a:extLst xmlns:a="http://schemas.openxmlformats.org/drawingml/2006/main">
              <a:ext uri="{FF2B5EF4-FFF2-40B4-BE49-F238E27FC236}">
                <a16:creationId xmlns:a16="http://schemas.microsoft.com/office/drawing/2014/main" id="{1F46F8B0-DC0C-44E2-A983-8207781A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18350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开启窗口</a:t>
            </a:r>
          </a:p>
        </p:txBody>
      </p:sp>
      <p:sp>
        <p:nvSpPr>
          <p:cNvPr id="146" name="path-142">
            <a:extLst xmlns:a="http://schemas.openxmlformats.org/drawingml/2006/main">
              <a:ext uri="{FF2B5EF4-FFF2-40B4-BE49-F238E27FC236}">
                <a16:creationId xmlns:a16="http://schemas.microsoft.com/office/drawing/2014/main" id="{098AD279-BF0C-4267-B6E5-6D6CB47B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619625"/>
            <a:ext cx="438150" cy="1428750"/>
          </a:xfrm>
          <a:custGeom xmlns:a="http://schemas.openxmlformats.org/drawingml/2006/main">
            <a:pathLst>
              <a:path w="438150" h="1428750">
                <a:moveTo>
                  <a:pt x="0" y="0"/>
                </a:moveTo>
                <a:lnTo>
                  <a:pt x="342900" y="0"/>
                </a:lnTo>
                <a:lnTo>
                  <a:pt x="342900" y="1428750"/>
                </a:lnTo>
                <a:lnTo>
                  <a:pt x="4381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47" name="arrowhead-142">
            <a:extLst xmlns:a="http://schemas.openxmlformats.org/drawingml/2006/main">
              <a:ext uri="{FF2B5EF4-FFF2-40B4-BE49-F238E27FC236}">
                <a16:creationId xmlns:a16="http://schemas.microsoft.com/office/drawing/2014/main" id="{FF24FD29-3B5D-41B2-9EB4-02B29AEF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53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48" name="rect-143">
            <a:extLst xmlns:a="http://schemas.openxmlformats.org/drawingml/2006/main">
              <a:ext uri="{FF2B5EF4-FFF2-40B4-BE49-F238E27FC236}">
                <a16:creationId xmlns:a16="http://schemas.microsoft.com/office/drawing/2014/main" id="{AF29B068-F0BC-4CC9-95DD-55C899AF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3872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9" name="提交">
            <a:extLst xmlns:a="http://schemas.openxmlformats.org/drawingml/2006/main">
              <a:ext uri="{FF2B5EF4-FFF2-40B4-BE49-F238E27FC236}">
                <a16:creationId xmlns:a16="http://schemas.microsoft.com/office/drawing/2014/main" id="{24102656-E4CB-40FB-8CA0-7AB738B6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380" y="5021580"/>
            <a:ext cx="4914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50" name="path-145">
            <a:extLst xmlns:a="http://schemas.openxmlformats.org/drawingml/2006/main">
              <a:ext uri="{FF2B5EF4-FFF2-40B4-BE49-F238E27FC236}">
                <a16:creationId xmlns:a16="http://schemas.microsoft.com/office/drawing/2014/main" id="{793B33AC-0AE0-4853-8028-6611CA67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57675"/>
            <a:ext cx="1247775" cy="1371600"/>
          </a:xfrm>
          <a:custGeom xmlns:a="http://schemas.openxmlformats.org/drawingml/2006/main">
            <a:pathLst>
              <a:path w="1247775" h="1371600">
                <a:moveTo>
                  <a:pt x="1247775" y="1371600"/>
                </a:moveTo>
                <a:lnTo>
                  <a:pt x="12477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51" name="arrowhead-145">
            <a:extLst xmlns:a="http://schemas.openxmlformats.org/drawingml/2006/main">
              <a:ext uri="{FF2B5EF4-FFF2-40B4-BE49-F238E27FC236}">
                <a16:creationId xmlns:a16="http://schemas.microsoft.com/office/drawing/2014/main" id="{D28F1231-F3BD-4FB7-8B24-106DFA35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624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52" name="rect-146">
            <a:extLst xmlns:a="http://schemas.openxmlformats.org/drawingml/2006/main">
              <a:ext uri="{FF2B5EF4-FFF2-40B4-BE49-F238E27FC236}">
                <a16:creationId xmlns:a16="http://schemas.microsoft.com/office/drawing/2014/main" id="{DA6A8A7B-066D-4FB5-B7BF-5D98A90F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276725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3" name="退回修改">
            <a:extLst xmlns:a="http://schemas.openxmlformats.org/drawingml/2006/main">
              <a:ext uri="{FF2B5EF4-FFF2-40B4-BE49-F238E27FC236}">
                <a16:creationId xmlns:a16="http://schemas.microsoft.com/office/drawing/2014/main" id="{36D1AC54-5361-45AF-A97D-0B103C5C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135" y="4259580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退回修改</a:t>
            </a:r>
          </a:p>
        </p:txBody>
      </p:sp>
      <p:sp>
        <p:nvSpPr>
          <p:cNvPr id="154" name="path-148">
            <a:extLst xmlns:a="http://schemas.openxmlformats.org/drawingml/2006/main">
              <a:ext uri="{FF2B5EF4-FFF2-40B4-BE49-F238E27FC236}">
                <a16:creationId xmlns:a16="http://schemas.microsoft.com/office/drawing/2014/main" id="{CE07DA90-378B-40BE-A4F2-A715286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6048375"/>
            <a:ext cx="438150" cy="476"/>
          </a:xfrm>
          <a:custGeom xmlns:a="http://schemas.openxmlformats.org/drawingml/2006/main">
            <a:pathLst>
              <a:path w="438150" h="476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55" name="arrowhead-148">
            <a:extLst xmlns:a="http://schemas.openxmlformats.org/drawingml/2006/main">
              <a:ext uri="{FF2B5EF4-FFF2-40B4-BE49-F238E27FC236}">
                <a16:creationId xmlns:a16="http://schemas.microsoft.com/office/drawing/2014/main" id="{7B435F3B-C494-45B4-967C-5E89CB22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953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56" name="path-149">
            <a:extLst xmlns:a="http://schemas.openxmlformats.org/drawingml/2006/main">
              <a:ext uri="{FF2B5EF4-FFF2-40B4-BE49-F238E27FC236}">
                <a16:creationId xmlns:a16="http://schemas.microsoft.com/office/drawing/2014/main" id="{4B119402-AC83-4AD8-8E48-7BE0F570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467475"/>
            <a:ext cx="476" cy="590550"/>
          </a:xfrm>
          <a:custGeom xmlns:a="http://schemas.openxmlformats.org/drawingml/2006/main">
            <a:pathLst>
              <a:path w="476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57" name="arrowhead-149">
            <a:extLst xmlns:a="http://schemas.openxmlformats.org/drawingml/2006/main">
              <a:ext uri="{FF2B5EF4-FFF2-40B4-BE49-F238E27FC236}">
                <a16:creationId xmlns:a16="http://schemas.microsoft.com/office/drawing/2014/main" id="{F4AAFA0E-D69E-4DFE-A401-E571205F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8675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19050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58" name="rect-150">
            <a:extLst xmlns:a="http://schemas.openxmlformats.org/drawingml/2006/main">
              <a:ext uri="{FF2B5EF4-FFF2-40B4-BE49-F238E27FC236}">
                <a16:creationId xmlns:a16="http://schemas.microsoft.com/office/drawing/2014/main" id="{E7AA1D5A-3088-4DF3-B165-E45EED5C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664845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9" name="采购需求">
            <a:extLst xmlns:a="http://schemas.openxmlformats.org/drawingml/2006/main">
              <a:ext uri="{FF2B5EF4-FFF2-40B4-BE49-F238E27FC236}">
                <a16:creationId xmlns:a16="http://schemas.microsoft.com/office/drawing/2014/main" id="{C7EB4A38-D6A5-47A1-89DC-A61D0DF8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6285" y="663130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采购需求</a:t>
            </a:r>
          </a:p>
        </p:txBody>
      </p:sp>
      <p:sp>
        <p:nvSpPr>
          <p:cNvPr id="160" name="path-152">
            <a:extLst xmlns:a="http://schemas.openxmlformats.org/drawingml/2006/main">
              <a:ext uri="{FF2B5EF4-FFF2-40B4-BE49-F238E27FC236}">
                <a16:creationId xmlns:a16="http://schemas.microsoft.com/office/drawing/2014/main" id="{ADC83821-F7AF-41BE-BFB8-2310D327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7477125"/>
            <a:ext cx="438150" cy="1428750"/>
          </a:xfrm>
          <a:custGeom xmlns:a="http://schemas.openxmlformats.org/drawingml/2006/main">
            <a:pathLst>
              <a:path w="438150" h="1428750">
                <a:moveTo>
                  <a:pt x="0" y="0"/>
                </a:moveTo>
                <a:lnTo>
                  <a:pt x="219075" y="0"/>
                </a:lnTo>
                <a:lnTo>
                  <a:pt x="219075" y="1428750"/>
                </a:lnTo>
                <a:lnTo>
                  <a:pt x="4381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61" name="arrowhead-152">
            <a:extLst xmlns:a="http://schemas.openxmlformats.org/drawingml/2006/main">
              <a:ext uri="{FF2B5EF4-FFF2-40B4-BE49-F238E27FC236}">
                <a16:creationId xmlns:a16="http://schemas.microsoft.com/office/drawing/2014/main" id="{32D59353-791A-486A-A7D5-4E7470D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88106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62" name="rect-153">
            <a:extLst xmlns:a="http://schemas.openxmlformats.org/drawingml/2006/main">
              <a:ext uri="{FF2B5EF4-FFF2-40B4-BE49-F238E27FC236}">
                <a16:creationId xmlns:a16="http://schemas.microsoft.com/office/drawing/2014/main" id="{172D1809-9001-479B-B81A-2917B281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11530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3" name="订单依据">
            <a:extLst xmlns:a="http://schemas.openxmlformats.org/drawingml/2006/main">
              <a:ext uri="{FF2B5EF4-FFF2-40B4-BE49-F238E27FC236}">
                <a16:creationId xmlns:a16="http://schemas.microsoft.com/office/drawing/2014/main" id="{330238B6-2125-4049-A7EB-F91D527C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60" y="809815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订单依据</a:t>
            </a:r>
          </a:p>
        </p:txBody>
      </p:sp>
      <p:sp>
        <p:nvSpPr>
          <p:cNvPr id="164" name="path-155">
            <a:extLst xmlns:a="http://schemas.openxmlformats.org/drawingml/2006/main">
              <a:ext uri="{FF2B5EF4-FFF2-40B4-BE49-F238E27FC236}">
                <a16:creationId xmlns:a16="http://schemas.microsoft.com/office/drawing/2014/main" id="{1532E71B-3C3B-402D-9B09-B702069A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175" y="7896225"/>
            <a:ext cx="476" cy="590550"/>
          </a:xfrm>
          <a:custGeom xmlns:a="http://schemas.openxmlformats.org/drawingml/2006/main">
            <a:pathLst>
              <a:path w="476" h="590550">
                <a:moveTo>
                  <a:pt x="0" y="590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65" name="arrowhead-155">
            <a:extLst xmlns:a="http://schemas.openxmlformats.org/drawingml/2006/main">
              <a:ext uri="{FF2B5EF4-FFF2-40B4-BE49-F238E27FC236}">
                <a16:creationId xmlns:a16="http://schemas.microsoft.com/office/drawing/2014/main" id="{19EFADF8-FAB5-44FD-BE87-9E4A004D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78962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66" name="rect-156">
            <a:extLst xmlns:a="http://schemas.openxmlformats.org/drawingml/2006/main">
              <a:ext uri="{FF2B5EF4-FFF2-40B4-BE49-F238E27FC236}">
                <a16:creationId xmlns:a16="http://schemas.microsoft.com/office/drawing/2014/main" id="{0677B289-D2BB-4BDD-B23A-66A7B30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805815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7" name="物料需求">
            <a:extLst xmlns:a="http://schemas.openxmlformats.org/drawingml/2006/main">
              <a:ext uri="{FF2B5EF4-FFF2-40B4-BE49-F238E27FC236}">
                <a16:creationId xmlns:a16="http://schemas.microsoft.com/office/drawing/2014/main" id="{8BC28677-5BF2-4696-BA19-C8BBF367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6585" y="804100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物料需求</a:t>
            </a:r>
          </a:p>
        </p:txBody>
      </p:sp>
      <p:sp>
        <p:nvSpPr>
          <p:cNvPr id="168" name="path-158">
            <a:extLst xmlns:a="http://schemas.openxmlformats.org/drawingml/2006/main">
              <a:ext uri="{FF2B5EF4-FFF2-40B4-BE49-F238E27FC236}">
                <a16:creationId xmlns:a16="http://schemas.microsoft.com/office/drawing/2014/main" id="{FDFEE4BE-BAB2-4663-A5BE-8C58AD3F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7477125"/>
            <a:ext cx="1543050" cy="1009650"/>
          </a:xfrm>
          <a:custGeom xmlns:a="http://schemas.openxmlformats.org/drawingml/2006/main">
            <a:pathLst>
              <a:path w="1543050" h="1009650">
                <a:moveTo>
                  <a:pt x="0" y="0"/>
                </a:moveTo>
                <a:lnTo>
                  <a:pt x="1543050" y="0"/>
                </a:lnTo>
                <a:lnTo>
                  <a:pt x="154305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69" name="arrowhead-158">
            <a:extLst xmlns:a="http://schemas.openxmlformats.org/drawingml/2006/main">
              <a:ext uri="{FF2B5EF4-FFF2-40B4-BE49-F238E27FC236}">
                <a16:creationId xmlns:a16="http://schemas.microsoft.com/office/drawing/2014/main" id="{D3980AC7-1B61-4B00-8390-A2435B62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82962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19050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70" name="rect-159">
            <a:extLst xmlns:a="http://schemas.openxmlformats.org/drawingml/2006/main">
              <a:ext uri="{FF2B5EF4-FFF2-40B4-BE49-F238E27FC236}">
                <a16:creationId xmlns:a16="http://schemas.microsoft.com/office/drawing/2014/main" id="{36192D52-D21B-4090-8D17-0D268EFA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655" y="7924800"/>
            <a:ext cx="1634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1" name="采购 / 到料反馈">
            <a:extLst xmlns:a="http://schemas.openxmlformats.org/drawingml/2006/main">
              <a:ext uri="{FF2B5EF4-FFF2-40B4-BE49-F238E27FC236}">
                <a16:creationId xmlns:a16="http://schemas.microsoft.com/office/drawing/2014/main" id="{2D998B45-CB51-4A12-B3BD-3F5C2408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371" y="7907655"/>
            <a:ext cx="15150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采购 / 到料反馈</a:t>
            </a:r>
          </a:p>
        </p:txBody>
      </p:sp>
      <p:sp>
        <p:nvSpPr>
          <p:cNvPr id="172" name="path-161">
            <a:extLst xmlns:a="http://schemas.openxmlformats.org/drawingml/2006/main">
              <a:ext uri="{FF2B5EF4-FFF2-40B4-BE49-F238E27FC236}">
                <a16:creationId xmlns:a16="http://schemas.microsoft.com/office/drawing/2014/main" id="{9D3B6E63-1E16-4758-9EB2-E14959AA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9324975"/>
            <a:ext cx="476" cy="590550"/>
          </a:xfrm>
          <a:custGeom xmlns:a="http://schemas.openxmlformats.org/drawingml/2006/main">
            <a:pathLst>
              <a:path w="476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73" name="arrowhead-161">
            <a:extLst xmlns:a="http://schemas.openxmlformats.org/drawingml/2006/main">
              <a:ext uri="{FF2B5EF4-FFF2-40B4-BE49-F238E27FC236}">
                <a16:creationId xmlns:a16="http://schemas.microsoft.com/office/drawing/2014/main" id="{3CB6D3F7-B83A-49BE-BCFD-4A8D443E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250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19050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74" name="rect-162">
            <a:extLst xmlns:a="http://schemas.openxmlformats.org/drawingml/2006/main">
              <a:ext uri="{FF2B5EF4-FFF2-40B4-BE49-F238E27FC236}">
                <a16:creationId xmlns:a16="http://schemas.microsoft.com/office/drawing/2014/main" id="{39EC8E21-8816-4AB6-94B5-ACB92039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94773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5" name="齐料可开工">
            <a:extLst xmlns:a="http://schemas.openxmlformats.org/drawingml/2006/main">
              <a:ext uri="{FF2B5EF4-FFF2-40B4-BE49-F238E27FC236}">
                <a16:creationId xmlns:a16="http://schemas.microsoft.com/office/drawing/2014/main" id="{D1AE1CD9-3276-4803-907B-CB063B4F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5" y="9460230"/>
            <a:ext cx="1085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齐料可开工</a:t>
            </a:r>
          </a:p>
        </p:txBody>
      </p:sp>
      <p:sp>
        <p:nvSpPr>
          <p:cNvPr id="176" name="path-164">
            <a:extLst xmlns:a="http://schemas.openxmlformats.org/drawingml/2006/main">
              <a:ext uri="{FF2B5EF4-FFF2-40B4-BE49-F238E27FC236}">
                <a16:creationId xmlns:a16="http://schemas.microsoft.com/office/drawing/2014/main" id="{652CEF2C-4B83-46E2-B586-F116C697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7896225"/>
            <a:ext cx="4191000" cy="2438400"/>
          </a:xfrm>
          <a:custGeom xmlns:a="http://schemas.openxmlformats.org/drawingml/2006/main">
            <a:pathLst>
              <a:path w="4191000" h="2438400">
                <a:moveTo>
                  <a:pt x="0" y="0"/>
                </a:moveTo>
                <a:lnTo>
                  <a:pt x="0" y="2438400"/>
                </a:lnTo>
                <a:lnTo>
                  <a:pt x="4191000" y="24384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4983E"/>
            </a:solidFill>
            <a:prstDash val="solid"/>
          </a:ln>
        </p:spPr>
      </p:sp>
      <p:sp>
        <p:nvSpPr>
          <p:cNvPr id="177" name="arrowhead-164">
            <a:extLst xmlns:a="http://schemas.openxmlformats.org/drawingml/2006/main">
              <a:ext uri="{FF2B5EF4-FFF2-40B4-BE49-F238E27FC236}">
                <a16:creationId xmlns:a16="http://schemas.microsoft.com/office/drawing/2014/main" id="{87F20B45-C95E-4D44-8B68-ECBBFB7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102393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83E"/>
          </a:solidFill>
          <a:ln xmlns:a="http://schemas.openxmlformats.org/drawingml/2006/main" w="0">
            <a:noFill/>
          </a:ln>
        </p:spPr>
      </p:sp>
      <p:sp>
        <p:nvSpPr>
          <p:cNvPr id="178" name="rect-165">
            <a:extLst xmlns:a="http://schemas.openxmlformats.org/drawingml/2006/main">
              <a:ext uri="{FF2B5EF4-FFF2-40B4-BE49-F238E27FC236}">
                <a16:creationId xmlns:a16="http://schemas.microsoft.com/office/drawing/2014/main" id="{97BF6E55-E4C9-48D9-89B7-57AA0BB4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8403" y="10058400"/>
            <a:ext cx="2199894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9" name="生产任务 / 委外订单">
            <a:extLst xmlns:a="http://schemas.openxmlformats.org/drawingml/2006/main">
              <a:ext uri="{FF2B5EF4-FFF2-40B4-BE49-F238E27FC236}">
                <a16:creationId xmlns:a16="http://schemas.microsoft.com/office/drawing/2014/main" id="{FEB5137E-0526-4025-9D24-42DD5F39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922" y="10040493"/>
            <a:ext cx="2092857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生产任务 / 委外订单</a:t>
            </a:r>
          </a:p>
        </p:txBody>
      </p:sp>
      <p:sp>
        <p:nvSpPr>
          <p:cNvPr id="180" name="path-167">
            <a:extLst xmlns:a="http://schemas.openxmlformats.org/drawingml/2006/main">
              <a:ext uri="{FF2B5EF4-FFF2-40B4-BE49-F238E27FC236}">
                <a16:creationId xmlns:a16="http://schemas.microsoft.com/office/drawing/2014/main" id="{C7AD0A61-5137-4AD0-99BA-7458F9B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25" y="10334625"/>
            <a:ext cx="1543050" cy="1009650"/>
          </a:xfrm>
          <a:custGeom xmlns:a="http://schemas.openxmlformats.org/drawingml/2006/main">
            <a:pathLst>
              <a:path w="1543050" h="1009650">
                <a:moveTo>
                  <a:pt x="0" y="0"/>
                </a:moveTo>
                <a:lnTo>
                  <a:pt x="1543050" y="0"/>
                </a:lnTo>
                <a:lnTo>
                  <a:pt x="154305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4983E"/>
            </a:solidFill>
            <a:prstDash val="solid"/>
          </a:ln>
        </p:spPr>
      </p:sp>
      <p:sp>
        <p:nvSpPr>
          <p:cNvPr id="181" name="arrowhead-167">
            <a:extLst xmlns:a="http://schemas.openxmlformats.org/drawingml/2006/main">
              <a:ext uri="{FF2B5EF4-FFF2-40B4-BE49-F238E27FC236}">
                <a16:creationId xmlns:a16="http://schemas.microsoft.com/office/drawing/2014/main" id="{C1E91D28-6381-48D7-A4C9-35A55CF0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4825" y="111537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19050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54983E"/>
          </a:solidFill>
          <a:ln xmlns:a="http://schemas.openxmlformats.org/drawingml/2006/main" w="0">
            <a:noFill/>
          </a:ln>
        </p:spPr>
      </p:sp>
      <p:sp>
        <p:nvSpPr>
          <p:cNvPr id="182" name="rect-168">
            <a:extLst xmlns:a="http://schemas.openxmlformats.org/drawingml/2006/main">
              <a:ext uri="{FF2B5EF4-FFF2-40B4-BE49-F238E27FC236}">
                <a16:creationId xmlns:a16="http://schemas.microsoft.com/office/drawing/2014/main" id="{D3B545A4-7D3F-4E81-BC07-FD52A1F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8580" y="10858500"/>
            <a:ext cx="1253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3" name="完工 / 发货">
            <a:extLst xmlns:a="http://schemas.openxmlformats.org/drawingml/2006/main">
              <a:ext uri="{FF2B5EF4-FFF2-40B4-BE49-F238E27FC236}">
                <a16:creationId xmlns:a16="http://schemas.microsoft.com/office/drawing/2014/main" id="{3C5AB11C-3989-4B9C-90D1-6F58D93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5916" y="10841355"/>
            <a:ext cx="111881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完工 / 发货</a:t>
            </a:r>
          </a:p>
        </p:txBody>
      </p:sp>
      <p:sp>
        <p:nvSpPr>
          <p:cNvPr id="184" name="path-170">
            <a:extLst xmlns:a="http://schemas.openxmlformats.org/drawingml/2006/main">
              <a:ext uri="{FF2B5EF4-FFF2-40B4-BE49-F238E27FC236}">
                <a16:creationId xmlns:a16="http://schemas.microsoft.com/office/drawing/2014/main" id="{BA51B24D-2009-44D5-AA9F-9127672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4975" y="11763375"/>
            <a:ext cx="438150" cy="476"/>
          </a:xfrm>
          <a:custGeom xmlns:a="http://schemas.openxmlformats.org/drawingml/2006/main">
            <a:pathLst>
              <a:path w="438150" h="476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solid"/>
          </a:ln>
        </p:spPr>
      </p:sp>
      <p:sp>
        <p:nvSpPr>
          <p:cNvPr id="185" name="arrowhead-170">
            <a:extLst xmlns:a="http://schemas.openxmlformats.org/drawingml/2006/main">
              <a:ext uri="{FF2B5EF4-FFF2-40B4-BE49-F238E27FC236}">
                <a16:creationId xmlns:a16="http://schemas.microsoft.com/office/drawing/2014/main" id="{C4559664-A554-4122-B00C-1EA21A3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25" y="11668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186" name="path-171">
            <a:extLst xmlns:a="http://schemas.openxmlformats.org/drawingml/2006/main">
              <a:ext uri="{FF2B5EF4-FFF2-40B4-BE49-F238E27FC236}">
                <a16:creationId xmlns:a16="http://schemas.microsoft.com/office/drawing/2014/main" id="{54EDA812-0B56-4D32-A710-22EBB94A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8025" y="6467475"/>
            <a:ext cx="476" cy="4876800"/>
          </a:xfrm>
          <a:custGeom xmlns:a="http://schemas.openxmlformats.org/drawingml/2006/main">
            <a:pathLst>
              <a:path w="476" h="4876800">
                <a:moveTo>
                  <a:pt x="0" y="48768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dash"/>
          </a:ln>
        </p:spPr>
      </p:sp>
      <p:sp>
        <p:nvSpPr>
          <p:cNvPr id="187" name="arrowhead-171">
            <a:extLst xmlns:a="http://schemas.openxmlformats.org/drawingml/2006/main">
              <a:ext uri="{FF2B5EF4-FFF2-40B4-BE49-F238E27FC236}">
                <a16:creationId xmlns:a16="http://schemas.microsoft.com/office/drawing/2014/main" id="{4D2655CF-D400-4C5C-A76A-88288AAA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2775" y="64674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188" name="rect-172">
            <a:extLst xmlns:a="http://schemas.openxmlformats.org/drawingml/2006/main">
              <a:ext uri="{FF2B5EF4-FFF2-40B4-BE49-F238E27FC236}">
                <a16:creationId xmlns:a16="http://schemas.microsoft.com/office/drawing/2014/main" id="{D5FAFB06-7C4C-47A6-8859-B09504BA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4204" y="9048750"/>
            <a:ext cx="170764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9" name="到货 / 库存事实">
            <a:extLst xmlns:a="http://schemas.openxmlformats.org/drawingml/2006/main">
              <a:ext uri="{FF2B5EF4-FFF2-40B4-BE49-F238E27FC236}">
                <a16:creationId xmlns:a16="http://schemas.microsoft.com/office/drawing/2014/main" id="{83FEA4A5-2707-416A-9FDA-358A462C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973" y="9031224"/>
            <a:ext cx="1586103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到货 / 库存事实</a:t>
            </a:r>
          </a:p>
        </p:txBody>
      </p:sp>
      <p:sp>
        <p:nvSpPr>
          <p:cNvPr id="190" name="path-174">
            <a:extLst xmlns:a="http://schemas.openxmlformats.org/drawingml/2006/main">
              <a:ext uri="{FF2B5EF4-FFF2-40B4-BE49-F238E27FC236}">
                <a16:creationId xmlns:a16="http://schemas.microsoft.com/office/drawing/2014/main" id="{7B858501-9D9F-4026-9952-D280194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25" y="10639425"/>
            <a:ext cx="4191000" cy="476"/>
          </a:xfrm>
          <a:custGeom xmlns:a="http://schemas.openxmlformats.org/drawingml/2006/main">
            <a:pathLst>
              <a:path w="4191000" h="476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4983E"/>
            </a:solidFill>
            <a:prstDash val="dash"/>
          </a:ln>
        </p:spPr>
      </p:sp>
      <p:sp>
        <p:nvSpPr>
          <p:cNvPr id="191" name="arrowhead-174">
            <a:extLst xmlns:a="http://schemas.openxmlformats.org/drawingml/2006/main">
              <a:ext uri="{FF2B5EF4-FFF2-40B4-BE49-F238E27FC236}">
                <a16:creationId xmlns:a16="http://schemas.microsoft.com/office/drawing/2014/main" id="{2BF5D853-F0D6-46D0-9394-E3424154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7525" y="105441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83E"/>
          </a:solidFill>
          <a:ln xmlns:a="http://schemas.openxmlformats.org/drawingml/2006/main" w="0">
            <a:noFill/>
          </a:ln>
        </p:spPr>
      </p:sp>
      <p:sp>
        <p:nvSpPr>
          <p:cNvPr id="192" name="rect-175">
            <a:extLst xmlns:a="http://schemas.openxmlformats.org/drawingml/2006/main">
              <a:ext uri="{FF2B5EF4-FFF2-40B4-BE49-F238E27FC236}">
                <a16:creationId xmlns:a16="http://schemas.microsoft.com/office/drawing/2014/main" id="{4BC92B56-BFD3-4AE5-9EB1-4F3E4CE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0980" y="10515600"/>
            <a:ext cx="1634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3" name="进度 / 异常回传">
            <a:extLst xmlns:a="http://schemas.openxmlformats.org/drawingml/2006/main">
              <a:ext uri="{FF2B5EF4-FFF2-40B4-BE49-F238E27FC236}">
                <a16:creationId xmlns:a16="http://schemas.microsoft.com/office/drawing/2014/main" id="{0477A398-3C9E-42C8-80F3-17DCCFFC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0696" y="10498455"/>
            <a:ext cx="15150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进度 / 异常回传</a:t>
            </a:r>
          </a:p>
        </p:txBody>
      </p:sp>
      <p:sp>
        <p:nvSpPr>
          <p:cNvPr id="194" name="circle-177">
            <a:extLst xmlns:a="http://schemas.openxmlformats.org/drawingml/2006/main">
              <a:ext uri="{FF2B5EF4-FFF2-40B4-BE49-F238E27FC236}">
                <a16:creationId xmlns:a16="http://schemas.microsoft.com/office/drawing/2014/main" id="{C52F7DD1-005F-434F-BAC4-678C9BB9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0400" y="1059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78">
            <a:extLst xmlns:a="http://schemas.openxmlformats.org/drawingml/2006/main">
              <a:ext uri="{FF2B5EF4-FFF2-40B4-BE49-F238E27FC236}">
                <a16:creationId xmlns:a16="http://schemas.microsoft.com/office/drawing/2014/main" id="{9CBA63F6-4A78-421A-97AF-8B3D7AC0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762750"/>
            <a:ext cx="10277475" cy="295275"/>
          </a:xfrm>
          <a:custGeom xmlns:a="http://schemas.openxmlformats.org/drawingml/2006/main">
            <a:pathLst>
              <a:path w="10277475" h="295275">
                <a:moveTo>
                  <a:pt x="0" y="295275"/>
                </a:moveTo>
                <a:lnTo>
                  <a:pt x="0" y="0"/>
                </a:lnTo>
                <a:lnTo>
                  <a:pt x="10277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dash"/>
          </a:ln>
        </p:spPr>
      </p:sp>
      <p:sp>
        <p:nvSpPr>
          <p:cNvPr id="196" name="arrowhead-178">
            <a:extLst xmlns:a="http://schemas.openxmlformats.org/drawingml/2006/main">
              <a:ext uri="{FF2B5EF4-FFF2-40B4-BE49-F238E27FC236}">
                <a16:creationId xmlns:a16="http://schemas.microsoft.com/office/drawing/2014/main" id="{F1FEA6A5-E3C4-4DA9-B7E8-EAD49C38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7525" y="66675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197" name="rect-179">
            <a:extLst xmlns:a="http://schemas.openxmlformats.org/drawingml/2006/main">
              <a:ext uri="{FF2B5EF4-FFF2-40B4-BE49-F238E27FC236}">
                <a16:creationId xmlns:a16="http://schemas.microsoft.com/office/drawing/2014/main" id="{7794C56E-FCE9-45C8-A805-F0490098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505" y="6648450"/>
            <a:ext cx="1634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8" name="订单 / 交期反馈">
            <a:extLst xmlns:a="http://schemas.openxmlformats.org/drawingml/2006/main">
              <a:ext uri="{FF2B5EF4-FFF2-40B4-BE49-F238E27FC236}">
                <a16:creationId xmlns:a16="http://schemas.microsoft.com/office/drawing/2014/main" id="{4C0AF746-87EA-4032-B92C-DF8BE69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221" y="6631305"/>
            <a:ext cx="15150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订单 / 交期反馈</a:t>
            </a:r>
          </a:p>
        </p:txBody>
      </p:sp>
      <p:sp>
        <p:nvSpPr>
          <p:cNvPr id="199" name="path-181">
            <a:extLst xmlns:a="http://schemas.openxmlformats.org/drawingml/2006/main">
              <a:ext uri="{FF2B5EF4-FFF2-40B4-BE49-F238E27FC236}">
                <a16:creationId xmlns:a16="http://schemas.microsoft.com/office/drawing/2014/main" id="{A08ADD50-C208-465B-BA27-5FD6CD5F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048375"/>
            <a:ext cx="12134850" cy="514350"/>
          </a:xfrm>
          <a:custGeom xmlns:a="http://schemas.openxmlformats.org/drawingml/2006/main">
            <a:pathLst>
              <a:path w="12134850" h="514350">
                <a:moveTo>
                  <a:pt x="12134850" y="0"/>
                </a:moveTo>
                <a:lnTo>
                  <a:pt x="11944350" y="0"/>
                </a:lnTo>
                <a:lnTo>
                  <a:pt x="11944350" y="514350"/>
                </a:lnTo>
                <a:lnTo>
                  <a:pt x="0" y="514350"/>
                </a:ln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dash"/>
          </a:ln>
        </p:spPr>
      </p:sp>
      <p:sp>
        <p:nvSpPr>
          <p:cNvPr id="200" name="arrowhead-181">
            <a:extLst xmlns:a="http://schemas.openxmlformats.org/drawingml/2006/main">
              <a:ext uri="{FF2B5EF4-FFF2-40B4-BE49-F238E27FC236}">
                <a16:creationId xmlns:a16="http://schemas.microsoft.com/office/drawing/2014/main" id="{87733C51-4FD0-4B99-AD35-4052E899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64674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201" name="rect-182">
            <a:extLst xmlns:a="http://schemas.openxmlformats.org/drawingml/2006/main">
              <a:ext uri="{FF2B5EF4-FFF2-40B4-BE49-F238E27FC236}">
                <a16:creationId xmlns:a16="http://schemas.microsoft.com/office/drawing/2014/main" id="{39A76DD9-3980-4DEC-9D34-3D7A95C9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6448425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2" name="按反馈滚动调整、再审核">
            <a:extLst xmlns:a="http://schemas.openxmlformats.org/drawingml/2006/main">
              <a:ext uri="{FF2B5EF4-FFF2-40B4-BE49-F238E27FC236}">
                <a16:creationId xmlns:a16="http://schemas.microsoft.com/office/drawing/2014/main" id="{5DA34CA0-3400-409A-B481-A74E1C1D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7715" y="6431280"/>
            <a:ext cx="22745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按反馈滚动调整、再审核</a:t>
            </a:r>
          </a:p>
        </p:txBody>
      </p:sp>
      <p:sp>
        <p:nvSpPr>
          <p:cNvPr id="203" name="path-184">
            <a:extLst xmlns:a="http://schemas.openxmlformats.org/drawingml/2006/main">
              <a:ext uri="{FF2B5EF4-FFF2-40B4-BE49-F238E27FC236}">
                <a16:creationId xmlns:a16="http://schemas.microsoft.com/office/drawing/2014/main" id="{99BCF33D-2532-4D8F-B9A3-0FB5C4B0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10753725"/>
            <a:ext cx="2647950" cy="1590675"/>
          </a:xfrm>
          <a:custGeom xmlns:a="http://schemas.openxmlformats.org/drawingml/2006/main">
            <a:pathLst>
              <a:path w="2647950" h="1590675">
                <a:moveTo>
                  <a:pt x="2647950" y="1428750"/>
                </a:moveTo>
                <a:lnTo>
                  <a:pt x="2647950" y="1590675"/>
                </a:lnTo>
                <a:lnTo>
                  <a:pt x="0" y="15906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204" name="arrowhead-184">
            <a:extLst xmlns:a="http://schemas.openxmlformats.org/drawingml/2006/main">
              <a:ext uri="{FF2B5EF4-FFF2-40B4-BE49-F238E27FC236}">
                <a16:creationId xmlns:a16="http://schemas.microsoft.com/office/drawing/2014/main" id="{F1363415-2898-48E8-93E8-6AD7C60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107537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205" name="rect-185">
            <a:extLst xmlns:a="http://schemas.openxmlformats.org/drawingml/2006/main">
              <a:ext uri="{FF2B5EF4-FFF2-40B4-BE49-F238E27FC236}">
                <a16:creationId xmlns:a16="http://schemas.microsoft.com/office/drawing/2014/main" id="{CD1917B9-8F38-4C66-908F-7F6097B7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005" y="12087225"/>
            <a:ext cx="2396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6" name="不合格：返工 / 异常处理">
            <a:extLst xmlns:a="http://schemas.openxmlformats.org/drawingml/2006/main">
              <a:ext uri="{FF2B5EF4-FFF2-40B4-BE49-F238E27FC236}">
                <a16:creationId xmlns:a16="http://schemas.microsoft.com/office/drawing/2014/main" id="{48AAE73E-E5AB-4936-A809-A8DE3E1D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7481" y="12070080"/>
            <a:ext cx="230753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不合格：返工 / 异常处理</a:t>
            </a:r>
          </a:p>
        </p:txBody>
      </p:sp>
      <p:sp>
        <p:nvSpPr>
          <p:cNvPr id="207" name="线型">
            <a:extLst xmlns:a="http://schemas.openxmlformats.org/drawingml/2006/main">
              <a:ext uri="{FF2B5EF4-FFF2-40B4-BE49-F238E27FC236}">
                <a16:creationId xmlns:a16="http://schemas.microsoft.com/office/drawing/2014/main" id="{286E6CFB-F54A-4964-8B4B-0FFE210C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726162"/>
            <a:ext cx="550926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线型</a:t>
            </a:r>
          </a:p>
        </p:txBody>
      </p:sp>
      <p:sp>
        <p:nvSpPr>
          <p:cNvPr id="208" name="path-188">
            <a:extLst xmlns:a="http://schemas.openxmlformats.org/drawingml/2006/main">
              <a:ext uri="{FF2B5EF4-FFF2-40B4-BE49-F238E27FC236}">
                <a16:creationId xmlns:a16="http://schemas.microsoft.com/office/drawing/2014/main" id="{9631035F-B53A-4B93-8A65-826C9900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868275"/>
            <a:ext cx="638175" cy="476"/>
          </a:xfrm>
          <a:custGeom xmlns:a="http://schemas.openxmlformats.org/drawingml/2006/main">
            <a:pathLst>
              <a:path w="638175" h="476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209" name="arrowhead-188">
            <a:extLst xmlns:a="http://schemas.openxmlformats.org/drawingml/2006/main">
              <a:ext uri="{FF2B5EF4-FFF2-40B4-BE49-F238E27FC236}">
                <a16:creationId xmlns:a16="http://schemas.microsoft.com/office/drawing/2014/main" id="{85645FEF-114A-4C7B-983B-959F9837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27730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10" name="主流程 / 业务交接">
            <a:extLst xmlns:a="http://schemas.openxmlformats.org/drawingml/2006/main">
              <a:ext uri="{FF2B5EF4-FFF2-40B4-BE49-F238E27FC236}">
                <a16:creationId xmlns:a16="http://schemas.microsoft.com/office/drawing/2014/main" id="{798E9412-68A0-44B1-AB05-82E2DAC5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2736068"/>
            <a:ext cx="18749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主流程 / 业务交接</a:t>
            </a:r>
          </a:p>
        </p:txBody>
      </p:sp>
      <p:sp>
        <p:nvSpPr>
          <p:cNvPr id="211" name="path-190">
            <a:extLst xmlns:a="http://schemas.openxmlformats.org/drawingml/2006/main">
              <a:ext uri="{FF2B5EF4-FFF2-40B4-BE49-F238E27FC236}">
                <a16:creationId xmlns:a16="http://schemas.microsoft.com/office/drawing/2014/main" id="{B7BECC0D-7CEE-4517-AC63-00D245F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868275"/>
            <a:ext cx="638175" cy="476"/>
          </a:xfrm>
          <a:custGeom xmlns:a="http://schemas.openxmlformats.org/drawingml/2006/main">
            <a:pathLst>
              <a:path w="638175" h="476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dash"/>
          </a:ln>
        </p:spPr>
      </p:sp>
      <p:sp>
        <p:nvSpPr>
          <p:cNvPr id="212" name="arrowhead-190">
            <a:extLst xmlns:a="http://schemas.openxmlformats.org/drawingml/2006/main">
              <a:ext uri="{FF2B5EF4-FFF2-40B4-BE49-F238E27FC236}">
                <a16:creationId xmlns:a16="http://schemas.microsoft.com/office/drawing/2014/main" id="{384C8951-83D5-4CF4-99A5-62359194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27730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213" name="数据回流">
            <a:extLst xmlns:a="http://schemas.openxmlformats.org/drawingml/2006/main">
              <a:ext uri="{FF2B5EF4-FFF2-40B4-BE49-F238E27FC236}">
                <a16:creationId xmlns:a16="http://schemas.microsoft.com/office/drawing/2014/main" id="{7981285D-3C06-4ED3-80A5-2D85E30E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2736068"/>
            <a:ext cx="966978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数据回流</a:t>
            </a:r>
          </a:p>
        </p:txBody>
      </p:sp>
      <p:sp>
        <p:nvSpPr>
          <p:cNvPr id="214" name="path-192">
            <a:extLst xmlns:a="http://schemas.openxmlformats.org/drawingml/2006/main">
              <a:ext uri="{FF2B5EF4-FFF2-40B4-BE49-F238E27FC236}">
                <a16:creationId xmlns:a16="http://schemas.microsoft.com/office/drawing/2014/main" id="{BFF61334-F772-47FD-80C1-DFDC7DFC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868275"/>
            <a:ext cx="638175" cy="476"/>
          </a:xfrm>
          <a:custGeom xmlns:a="http://schemas.openxmlformats.org/drawingml/2006/main">
            <a:pathLst>
              <a:path w="638175" h="476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215" name="arrowhead-192">
            <a:extLst xmlns:a="http://schemas.openxmlformats.org/drawingml/2006/main">
              <a:ext uri="{FF2B5EF4-FFF2-40B4-BE49-F238E27FC236}">
                <a16:creationId xmlns:a16="http://schemas.microsoft.com/office/drawing/2014/main" id="{192499D6-83E0-42B1-92A5-B79BF95C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27730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216" name="条件支线 / 退回">
            <a:extLst xmlns:a="http://schemas.openxmlformats.org/drawingml/2006/main">
              <a:ext uri="{FF2B5EF4-FFF2-40B4-BE49-F238E27FC236}">
                <a16:creationId xmlns:a16="http://schemas.microsoft.com/office/drawing/2014/main" id="{49576290-AAD2-4956-9C42-62F37CDC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2736068"/>
            <a:ext cx="1656993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条件支线 / 退回</a:t>
            </a:r>
          </a:p>
        </p:txBody>
      </p:sp>
      <p:sp>
        <p:nvSpPr>
          <p:cNvPr id="217" name="rect-194">
            <a:extLst xmlns:a="http://schemas.openxmlformats.org/drawingml/2006/main">
              <a:ext uri="{FF2B5EF4-FFF2-40B4-BE49-F238E27FC236}">
                <a16:creationId xmlns:a16="http://schemas.microsoft.com/office/drawing/2014/main" id="{A778AF0E-224D-4B4B-93EA-5F0E515C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744450"/>
            <a:ext cx="371475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dash"/>
          </a:ln>
        </p:spPr>
      </p:sp>
      <p:sp>
        <p:nvSpPr>
          <p:cNvPr id="218" name="虚线节点：MRP相关能力待确认">
            <a:extLst xmlns:a="http://schemas.openxmlformats.org/drawingml/2006/main">
              <a:ext uri="{FF2B5EF4-FFF2-40B4-BE49-F238E27FC236}">
                <a16:creationId xmlns:a16="http://schemas.microsoft.com/office/drawing/2014/main" id="{E166A192-A106-4443-8A8C-77936663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2736068"/>
            <a:ext cx="318994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虚线节点：MRP相关能力待确认</a:t>
            </a:r>
          </a:p>
        </p:txBody>
      </p:sp>
      <p:sp>
        <p:nvSpPr>
          <p:cNvPr id="219" name="协同约定">
            <a:extLst xmlns:a="http://schemas.openxmlformats.org/drawingml/2006/main">
              <a:ext uri="{FF2B5EF4-FFF2-40B4-BE49-F238E27FC236}">
                <a16:creationId xmlns:a16="http://schemas.microsoft.com/office/drawing/2014/main" id="{39D40EA4-54CB-4C5E-B117-3CC39BEF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29463"/>
            <a:ext cx="116509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协同约定</a:t>
            </a:r>
          </a:p>
        </p:txBody>
      </p:sp>
      <p:sp>
        <p:nvSpPr>
          <p:cNvPr id="220" name="数仓读取规则与业务事实，提供预测和缺口计算；PMC承载计划决策与人工调整。">
            <a:extLst xmlns:a="http://schemas.openxmlformats.org/drawingml/2006/main">
              <a:ext uri="{FF2B5EF4-FFF2-40B4-BE49-F238E27FC236}">
                <a16:creationId xmlns:a16="http://schemas.microsoft.com/office/drawing/2014/main" id="{B5802CAF-B036-4A09-99A6-71EAFE28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3259181"/>
            <a:ext cx="8714089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数仓读取规则与业务事实，提供预测和缺口计算；PMC承载计划决策与人工调整。</a:t>
            </a:r>
          </a:p>
        </p:txBody>
      </p:sp>
      <p:sp>
        <p:nvSpPr>
          <p:cNvPr id="221" name="待确认">
            <a:extLst xmlns:a="http://schemas.openxmlformats.org/drawingml/2006/main">
              <a:ext uri="{FF2B5EF4-FFF2-40B4-BE49-F238E27FC236}">
                <a16:creationId xmlns:a16="http://schemas.microsoft.com/office/drawing/2014/main" id="{D5147F4F-8896-4C05-AB4D-44B2E71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87806"/>
            <a:ext cx="808482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222" name="正式PR创建与审批归属；MRP / 齐料Owner；MES任务来源与回传字段；QC节点及库存事实来源。">
            <a:extLst xmlns:a="http://schemas.openxmlformats.org/drawingml/2006/main">
              <a:ext uri="{FF2B5EF4-FFF2-40B4-BE49-F238E27FC236}">
                <a16:creationId xmlns:a16="http://schemas.microsoft.com/office/drawing/2014/main" id="{70FA889F-5290-44D9-A816-7F1529FD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3697712"/>
            <a:ext cx="1019565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正式PR创建与审批归属；MRP / 齐料Owner；MES任务来源与回传字段；QC节点及库存事实来源。</a:t>
            </a:r>
          </a:p>
        </p:txBody>
      </p:sp>
      <p:sp>
        <p:nvSpPr>
          <p:cNvPr id="223" name="MRP仅在涉及物料采购 / 发料的订单适用；质检流程及回流接口为目标协同关系，落地范围需联评。">
            <a:extLst xmlns:a="http://schemas.openxmlformats.org/drawingml/2006/main">
              <a:ext uri="{FF2B5EF4-FFF2-40B4-BE49-F238E27FC236}">
                <a16:creationId xmlns:a16="http://schemas.microsoft.com/office/drawing/2014/main" id="{13BCE768-CF6E-4741-8C61-BAB01AA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4088618"/>
            <a:ext cx="97641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MRP仅在涉及物料采购 / 发料的订单适用；质检流程及回流接口为目标协同关系，落地范围需联评。</a:t>
            </a:r>
          </a:p>
        </p:txBody>
      </p:sp>
      <p:sp>
        <p:nvSpPr>
          <p:cNvPr id="224" name="path-201">
            <a:extLst xmlns:a="http://schemas.openxmlformats.org/drawingml/2006/main">
              <a:ext uri="{FF2B5EF4-FFF2-40B4-BE49-F238E27FC236}">
                <a16:creationId xmlns:a16="http://schemas.microsoft.com/office/drawing/2014/main" id="{20925775-06C2-49BC-BAB0-A29740F9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01825"/>
            <a:ext cx="23241000" cy="476"/>
          </a:xfrm>
          <a:custGeom xmlns:a="http://schemas.openxmlformats.org/drawingml/2006/main">
            <a:pathLst>
              <a:path w="23241000" h="476">
                <a:moveTo>
                  <a:pt x="0" y="0"/>
                </a:moveTo>
                <a:lnTo>
                  <a:pt x="2324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EDCE5"/>
            </a:solidFill>
            <a:prstDash val="solid"/>
          </a:ln>
        </p:spPr>
      </p:sp>
      <p:sp>
        <p:nvSpPr>
          <p:cNvPr id="225" name="汇报讨论稿  ·  业务主链表示协同关系，Q4工作流并行推进  ·  2026.09.16">
            <a:extLst xmlns:a="http://schemas.openxmlformats.org/drawingml/2006/main">
              <a:ext uri="{FF2B5EF4-FFF2-40B4-BE49-F238E27FC236}">
                <a16:creationId xmlns:a16="http://schemas.microsoft.com/office/drawing/2014/main" id="{C5E9C9A2-667D-445B-9D1A-26257672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36699"/>
            <a:ext cx="6716328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汇报讨论稿  ·  业务主链表示协同关系，Q4工作流并行推进  ·  2026.09.16</a:t>
            </a:r>
          </a:p>
        </p:txBody>
      </p:sp>
      <p:sp>
        <p:nvSpPr>
          <p:cNvPr id="226" name="供应链数字化">
            <a:extLst xmlns:a="http://schemas.openxmlformats.org/drawingml/2006/main">
              <a:ext uri="{FF2B5EF4-FFF2-40B4-BE49-F238E27FC236}">
                <a16:creationId xmlns:a16="http://schemas.microsoft.com/office/drawing/2014/main" id="{2C110044-BDBB-4ED8-B0AE-FC493FC0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0994" y="14736699"/>
            <a:ext cx="1343406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供应链数字化</a:t>
            </a:r>
          </a:p>
        </p:txBody>
      </p:sp>
    </p:spTree>
    <p:extLst>
      <p:ext uri="{BB962C8B-B14F-4D97-AF65-F5344CB8AC3E}">
        <p14:creationId xmlns:p14="http://schemas.microsoft.com/office/powerpoint/2010/main" val="1003180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2026-09-16T03:46:49.5610000Z</dcterms:created>
  <dcterms:modified xsi:type="dcterms:W3CDTF">2026-09-16T03:46:49.5610000Z</dcterms:modified>
</coreProperties>
</file>