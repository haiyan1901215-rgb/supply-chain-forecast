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8527fc742483b" /><Relationship Type="http://schemas.openxmlformats.org/officeDocument/2006/relationships/extended-properties" Target="/docProps/app.xml" Id="Re807aa0d8da94cc8" /><Relationship Type="http://schemas.openxmlformats.org/officeDocument/2006/relationships/officeDocument" Target="/ppt/presentation.xml" Id="R55147e932a784d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1f167867674820"/>
  </p:sldMasterIdLst>
  <p:notesMasterIdLst>
    <p:notesMasterId xmlns:r="http://schemas.openxmlformats.org/officeDocument/2006/relationships" r:id="R3200ed998a244a40"/>
  </p:notesMasterIdLst>
  <p:sldIdLst>
    <p:sldId xmlns:r="http://schemas.openxmlformats.org/officeDocument/2006/relationships" id="256" r:id="R54d38746aaf749bf"/>
    <p:sldId xmlns:r="http://schemas.openxmlformats.org/officeDocument/2006/relationships" id="257" r:id="Re54f4760c30f4ec3"/>
    <p:sldId xmlns:r="http://schemas.openxmlformats.org/officeDocument/2006/relationships" id="258" r:id="R8cad46e7899d4e4d"/>
    <p:sldId xmlns:r="http://schemas.openxmlformats.org/officeDocument/2006/relationships" id="259" r:id="R6b53498746f94500"/>
    <p:sldId xmlns:r="http://schemas.openxmlformats.org/officeDocument/2006/relationships" id="260" r:id="Rf38c05e29b3944bc"/>
    <p:sldId xmlns:r="http://schemas.openxmlformats.org/officeDocument/2006/relationships" id="261" r:id="R6b58a323758c4dc0"/>
    <p:sldId xmlns:r="http://schemas.openxmlformats.org/officeDocument/2006/relationships" id="262" r:id="R048ae0343228438d"/>
    <p:sldId xmlns:r="http://schemas.openxmlformats.org/officeDocument/2006/relationships" id="263" r:id="Reb4af1b7d98c48a7"/>
    <p:sldId xmlns:r="http://schemas.openxmlformats.org/officeDocument/2006/relationships" id="264" r:id="Re64d849ea85e4335"/>
    <p:sldId xmlns:r="http://schemas.openxmlformats.org/officeDocument/2006/relationships" id="265" r:id="R696cb4f1fb2f4c01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ae0a8a1d084ee1" /><Relationship Type="http://schemas.openxmlformats.org/officeDocument/2006/relationships/slideMaster" Target="/ppt/slideMasters/slideMaster1.xml" Id="R8c1f167867674820" /><Relationship Type="http://schemas.openxmlformats.org/officeDocument/2006/relationships/notesMaster" Target="/ppt/notesMasters/notesMaster1.xml" Id="R3200ed998a244a40" /><Relationship Type="http://schemas.openxmlformats.org/officeDocument/2006/relationships/presProps" Target="/ppt/presProps.xml" Id="Ra0fbf43bca854e07" /><Relationship Type="http://schemas.openxmlformats.org/officeDocument/2006/relationships/tableStyles" Target="/ppt/tableStyles.xml" Id="R3929631bd06546b7" /><Relationship Type="http://schemas.openxmlformats.org/officeDocument/2006/relationships/slide" Target="/ppt/slides/slide1.xml" Id="R54d38746aaf749bf" /><Relationship Type="http://schemas.openxmlformats.org/officeDocument/2006/relationships/slide" Target="/ppt/slides/slide2.xml" Id="Re54f4760c30f4ec3" /><Relationship Type="http://schemas.openxmlformats.org/officeDocument/2006/relationships/slide" Target="/ppt/slides/slide3.xml" Id="R8cad46e7899d4e4d" /><Relationship Type="http://schemas.openxmlformats.org/officeDocument/2006/relationships/slide" Target="/ppt/slides/slide4.xml" Id="R6b53498746f94500" /><Relationship Type="http://schemas.openxmlformats.org/officeDocument/2006/relationships/slide" Target="/ppt/slides/slide5.xml" Id="Rf38c05e29b3944bc" /><Relationship Type="http://schemas.openxmlformats.org/officeDocument/2006/relationships/slide" Target="/ppt/slides/slide6.xml" Id="R6b58a323758c4dc0" /><Relationship Type="http://schemas.openxmlformats.org/officeDocument/2006/relationships/slide" Target="/ppt/slides/slide7.xml" Id="R048ae0343228438d" /><Relationship Type="http://schemas.openxmlformats.org/officeDocument/2006/relationships/slide" Target="/ppt/slides/slide8.xml" Id="Reb4af1b7d98c48a7" /><Relationship Type="http://schemas.openxmlformats.org/officeDocument/2006/relationships/slide" Target="/ppt/slides/slide9.xml" Id="Re64d849ea85e4335" /><Relationship Type="http://schemas.openxmlformats.org/officeDocument/2006/relationships/slide" Target="/ppt/slides/slide10.xml" Id="R696cb4f1fb2f4c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86b6647f245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4d2b221844cba" /><Relationship Type="http://schemas.openxmlformats.org/officeDocument/2006/relationships/notesMaster" Target="/ppt/notesMasters/notesMaster1.xml" Id="R52a4735f7d46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785a5361194cd8" /><Relationship Type="http://schemas.openxmlformats.org/officeDocument/2006/relationships/notesMaster" Target="/ppt/notesMasters/notesMaster1.xml" Id="R855c0e050a8a4d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806c5361644551" /><Relationship Type="http://schemas.openxmlformats.org/officeDocument/2006/relationships/notesMaster" Target="/ppt/notesMasters/notesMaster1.xml" Id="Re6bc5247f0b64f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a2779f64694e26" /><Relationship Type="http://schemas.openxmlformats.org/officeDocument/2006/relationships/notesMaster" Target="/ppt/notesMasters/notesMaster1.xml" Id="R0b8a31b90fa446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3a1bf29867442f" /><Relationship Type="http://schemas.openxmlformats.org/officeDocument/2006/relationships/notesMaster" Target="/ppt/notesMasters/notesMaster1.xml" Id="R80d811ad34f54d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d5a6d74aec49fc" /><Relationship Type="http://schemas.openxmlformats.org/officeDocument/2006/relationships/notesMaster" Target="/ppt/notesMasters/notesMaster1.xml" Id="R4dd8899222494c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2cbc43b4d1435b" /><Relationship Type="http://schemas.openxmlformats.org/officeDocument/2006/relationships/notesMaster" Target="/ppt/notesMasters/notesMaster1.xml" Id="R66971c74b0a64f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3300bbde0f4305" /><Relationship Type="http://schemas.openxmlformats.org/officeDocument/2006/relationships/notesMaster" Target="/ppt/notesMasters/notesMaster1.xml" Id="Re5fbf33a1a8e4d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16537ec65f45a7" /><Relationship Type="http://schemas.openxmlformats.org/officeDocument/2006/relationships/notesMaster" Target="/ppt/notesMasters/notesMaster1.xml" Id="R31ec8452e4544c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4b4e0a344943e1" /><Relationship Type="http://schemas.openxmlformats.org/officeDocument/2006/relationships/notesMaster" Target="/ppt/notesMasters/notesMaster1.xml" Id="R4ff450388fc3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第四季度建设计划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节假日与可用工作量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10—12月实施路线图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建设范围与功能人日预算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4名开发的建议分工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10月计划：预测闭环与数据基础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11月计划：PMC到SCM主链贯通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12月计划：限定试点与季度验收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关键依赖与延误处理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季度交付标准与资源决策</a:t>
            </a:r>
          </a:p>
          <a:p xmlns:a="http://schemas.openxmlformats.org/drawingml/2006/main">
            <a:r>
              <a:t>依据用户提供的《第四季度供应链系统建设方案》和业务蓝图V3.0。2026年10—12月，4名开发为用户给定约束。所有分工、人日、里程碑、试点范围和验收安排均为本次建议，尚未获团队承诺。人员默认全职、1前端+2后端+1全栈，复用既有基础框架与SCM/MES接口；产品及业务验收由外部责任人配合。法定日历来源：https://big5.www.gov.cn/gate/big5/www.gov.cn/zhengce/zhengceku/202511/content_7047091.htm（国务院办公厅2025年11月4日通知，2026年9月16日检索）。10/1—10/7放假，10/10补班；11—12月按双休计，未扣公司年假。计算得到18+21+23=62工作日，4人248人日；功能148，联调质量52，预留48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d3f63b25c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0b61c3d0ac4316" /><Relationship Type="http://schemas.openxmlformats.org/officeDocument/2006/relationships/slideLayout" Target="/ppt/slideLayouts/slideLayout1.xml" Id="R6244678d1fcf47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44678d1fcf47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269a3352b46c8" /><Relationship Type="http://schemas.openxmlformats.org/officeDocument/2006/relationships/notesSlide" Target="/ppt/notesSlides/notesSlide1.xml" Id="R1aa77c9fd6ac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e454d38c14814" /><Relationship Type="http://schemas.openxmlformats.org/officeDocument/2006/relationships/notesSlide" Target="/ppt/notesSlides/notesSlide2.xml" Id="Rfd23aeffb1bf4d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cd24bb36d4f68" /><Relationship Type="http://schemas.openxmlformats.org/officeDocument/2006/relationships/notesSlide" Target="/ppt/notesSlides/notesSlide3.xml" Id="R14d635c1d8984c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27d24f4334e18" /><Relationship Type="http://schemas.openxmlformats.org/officeDocument/2006/relationships/notesSlide" Target="/ppt/notesSlides/notesSlide4.xml" Id="R9bb08b0b69464f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c5fdf6da5471f" /><Relationship Type="http://schemas.openxmlformats.org/officeDocument/2006/relationships/notesSlide" Target="/ppt/notesSlides/notesSlide5.xml" Id="R74235974fb6f42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565106462444c" /><Relationship Type="http://schemas.openxmlformats.org/officeDocument/2006/relationships/notesSlide" Target="/ppt/notesSlides/notesSlide6.xml" Id="Rce03713e442642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95362ffef4fbe" /><Relationship Type="http://schemas.openxmlformats.org/officeDocument/2006/relationships/notesSlide" Target="/ppt/notesSlides/notesSlide7.xml" Id="R59548d1684844c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31d4b91934607" /><Relationship Type="http://schemas.openxmlformats.org/officeDocument/2006/relationships/notesSlide" Target="/ppt/notesSlides/notesSlide8.xml" Id="R5977406926bf41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45001bc0b4d25" /><Relationship Type="http://schemas.openxmlformats.org/officeDocument/2006/relationships/notesSlide" Target="/ppt/notesSlides/notesSlide9.xml" Id="Rb839961c45c846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c1286e00440ee" /><Relationship Type="http://schemas.openxmlformats.org/officeDocument/2006/relationships/notesSlide" Target="/ppt/notesSlides/notesSlide10.xml" Id="Rbee1ab2a1e9145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86F6D-2A7D-48B4-A3F8-7FB8D1C1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第四季度建设计划">
            <a:extLst xmlns:a="http://schemas.openxmlformats.org/drawingml/2006/main">
              <a:ext uri="{FF2B5EF4-FFF2-40B4-BE49-F238E27FC236}">
                <a16:creationId xmlns:a16="http://schemas.microsoft.com/office/drawing/2014/main" id="{F7285D18-5FA2-4B80-9C8C-F6FF4E5D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第四季度建设计划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A0AAB9B0-6F62-42EF-8EBB-ADD7B1D8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00647-BDEB-452D-B6D7-D8570DB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10月建立计划能力，11月贯通采购主链，12月完成试点与稳定交付">
            <a:extLst xmlns:a="http://schemas.openxmlformats.org/drawingml/2006/main">
              <a:ext uri="{FF2B5EF4-FFF2-40B4-BE49-F238E27FC236}">
                <a16:creationId xmlns:a16="http://schemas.microsoft.com/office/drawing/2014/main" id="{65AC5549-C889-4EE1-B1E5-0495FAEC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10月建立计划能力，11月贯通采购主链，12月完成试点与稳定交付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279E2-2845-46B8-9613-DF771243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2717C6F4-3655-4033-B295-AC3F9A25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01 / 10">
            <a:extLst xmlns:a="http://schemas.openxmlformats.org/drawingml/2006/main">
              <a:ext uri="{FF2B5EF4-FFF2-40B4-BE49-F238E27FC236}">
                <a16:creationId xmlns:a16="http://schemas.microsoft.com/office/drawing/2014/main" id="{E7998700-3E0D-432A-BE9D-DF45C2D5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01 / 10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23164800" cy="626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239000"/>
                <a:gridCol w="9620250"/>
                <a:gridCol w="3162300"/>
              </a:tblGrid>
              <a:tr h="723900">
                <a:tc>
                  <a:txBody>
                    <a:bodyPr lIns="171450" tIns="133350" rIns="171450" bIns="133350"/>
                    <a:lstStyle/>
                    <a:p>
                      <a:r>
                        <a:rPr sz="24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建设内容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可验收交付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建议节点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</a:tr>
              <a:tr h="1847850"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 · 18工作日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必要配置与接口契约</a:t>
                      </a:r>
                    </a:p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日级预测闭环、备货基础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销售填报、PMC审核与退回可运行</a:t>
                      </a:r>
                    </a:p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备货数据口径与接口样例就绪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10/30</a:t>
                      </a:r>
                    </a:p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 · 21工作日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备货需求、PR/PO承接</a:t>
                      </a:r>
                    </a:p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供应商关键状态、端到端联调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预测到采购单据关联可追溯</a:t>
                      </a:r>
                    </a:p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完成PMC与采购联合UAT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11/30</a:t>
                      </a:r>
                    </a:p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847850"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12月 · 23工作日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P0限定试点与稳定</a:t>
                      </a:r>
                    </a:p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 / MES有条件样板接入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真实任务验证、异常处理与回滚</a:t>
                      </a:r>
                    </a:p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P1独立联评，季度验收与交接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12/24验收</a:t>
                      </a:r>
                    </a:p>
                    <a:p>
                      <a:r>
                        <a:rPr sz="24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12/31收口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P0保底：计划—采购—供应商执行状态">
            <a:extLst xmlns:a="http://schemas.openxmlformats.org/drawingml/2006/main">
              <a:ext uri="{FF2B5EF4-FFF2-40B4-BE49-F238E27FC236}">
                <a16:creationId xmlns:a16="http://schemas.microsoft.com/office/drawing/2014/main" id="{DAC3E420-A294-493C-B700-FED2B2D7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P0保底：计划—采购—供应商执行状态</a:t>
            </a:r>
          </a:p>
        </p:txBody>
      </p:sp>
      <p:sp>
        <p:nvSpPr>
          <p:cNvPr id="11" name="P1：MRP限定场景与已有MES最小接入，依赖就绪且不挤占P0稳定性工作。">
            <a:extLst xmlns:a="http://schemas.openxmlformats.org/drawingml/2006/main">
              <a:ext uri="{FF2B5EF4-FFF2-40B4-BE49-F238E27FC236}">
                <a16:creationId xmlns:a16="http://schemas.microsoft.com/office/drawing/2014/main" id="{80D622FC-36A2-4A41-9FAA-9DAFC47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5370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P1：MRP限定场景与已有MES最小接入，依赖就绪且不挤占P0稳定性工作。</a:t>
            </a:r>
          </a:p>
        </p:txBody>
      </p:sp>
      <p:sp>
        <p:nvSpPr>
          <p:cNvPr id="12" name="本计划为4人团队的建议基线；复用既有系统，不把原型可演示等同于生产系统已完成。">
            <a:extLst xmlns:a="http://schemas.openxmlformats.org/drawingml/2006/main">
              <a:ext uri="{FF2B5EF4-FFF2-40B4-BE49-F238E27FC236}">
                <a16:creationId xmlns:a16="http://schemas.microsoft.com/office/drawing/2014/main" id="{E7451F7C-093D-4D49-AD85-9ADDA599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本计划为4人团队的建议基线；复用既有系统，不把原型可演示等同于生产系统已完成。</a:t>
            </a:r>
          </a:p>
        </p:txBody>
      </p:sp>
    </p:spTree>
    <p:extLst>
      <p:ext uri="{BB962C8B-B14F-4D97-AF65-F5344CB8AC3E}">
        <p14:creationId xmlns:p14="http://schemas.microsoft.com/office/powerpoint/2010/main" val="1842916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57EA0-75F0-4BA4-A108-5D16639F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节假日与可用工作量">
            <a:extLst xmlns:a="http://schemas.openxmlformats.org/drawingml/2006/main">
              <a:ext uri="{FF2B5EF4-FFF2-40B4-BE49-F238E27FC236}">
                <a16:creationId xmlns:a16="http://schemas.microsoft.com/office/drawing/2014/main" id="{1EA991CD-422C-4505-BC7F-D3F0731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节假日与可用工作量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CC3A9C9F-3C8E-4AEF-8ADC-B5FE87F4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3A895-8BC9-4AE9-9D41-9420C588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国庆10/01—10/07放假，10/10周六补班；9/20补班在Q4之外，不计入资源">
            <a:extLst xmlns:a="http://schemas.openxmlformats.org/drawingml/2006/main">
              <a:ext uri="{FF2B5EF4-FFF2-40B4-BE49-F238E27FC236}">
                <a16:creationId xmlns:a16="http://schemas.microsoft.com/office/drawing/2014/main" id="{82113CAD-7EF2-43F4-8AB5-9746CCCD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国庆10/01—10/07放假，10/10周六补班；9/20补班在Q4之外，不计入资源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6BE54-EF2A-4820-9725-3C302F43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6E6C496A-67A4-416A-A327-30100BB4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02 / 10">
            <a:extLst xmlns:a="http://schemas.openxmlformats.org/drawingml/2006/main">
              <a:ext uri="{FF2B5EF4-FFF2-40B4-BE49-F238E27FC236}">
                <a16:creationId xmlns:a16="http://schemas.microsoft.com/office/drawing/2014/main" id="{3E82DD28-7F45-48B2-9E7E-C39BC5EA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23164800" cy="548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810000"/>
                <a:gridCol w="4000500"/>
                <a:gridCol w="3810000"/>
                <a:gridCol w="4191000"/>
                <a:gridCol w="4114800"/>
              </a:tblGrid>
              <a:tr h="723900">
                <a:tc>
                  <a:txBody>
                    <a:bodyPr lIns="171450" tIns="133350" rIns="171450" bIns="133350"/>
                    <a:lstStyle/>
                    <a:p>
                      <a:r>
                        <a:rPr sz="25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月份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工作日 / 人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4人理论人日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功能建设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联调与质量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风险预留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</a:tr>
              <a:tr h="1190625"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190625"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12月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248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148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5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1FB4A-3BF9-49FE-AAD0-696245D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01125"/>
            <a:ext cx="23164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B"/>
          </a:solidFill>
          <a:ln xmlns:a="http://schemas.openxmlformats.org/drawingml/2006/main" w="0">
            <a:noFill/>
          </a:ln>
        </p:spPr>
      </p:sp>
      <p:sp>
        <p:nvSpPr>
          <p:cNvPr id="11" name="已安排200人日（81%）：功能148 + 联调质量52；另保留48人日（19%）处理不确定性。">
            <a:extLst xmlns:a="http://schemas.openxmlformats.org/drawingml/2006/main">
              <a:ext uri="{FF2B5EF4-FFF2-40B4-BE49-F238E27FC236}">
                <a16:creationId xmlns:a16="http://schemas.microsoft.com/office/drawing/2014/main" id="{04EB523B-27BA-4366-A391-0B8D4AD9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96375"/>
            <a:ext cx="22650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已安排200人日（81%）：功能148 + 联调质量52；另保留48人日（19%）处理不确定性。</a:t>
            </a:r>
          </a:p>
        </p:txBody>
      </p:sp>
      <p:sp>
        <p:nvSpPr>
          <p:cNvPr id="12" name="52人日涵盖交叉测试、联调、回归、缺陷修复、发布和试点支持，由4名开发承担。">
            <a:extLst xmlns:a="http://schemas.openxmlformats.org/drawingml/2006/main">
              <a:ext uri="{FF2B5EF4-FFF2-40B4-BE49-F238E27FC236}">
                <a16:creationId xmlns:a16="http://schemas.microsoft.com/office/drawing/2014/main" id="{237E1C9F-E437-451A-8263-CBD54CD9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72700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52人日涵盖交叉测试、联调、回归、缺陷修复、发布和试点支持，由4名开发承担。</a:t>
            </a:r>
          </a:p>
        </p:txBody>
      </p:sp>
      <p:sp>
        <p:nvSpPr>
          <p:cNvPr id="13" name="48人日暂不分配新功能；公司年假、临时支持、接口阻塞或返工将消耗这部分资源。">
            <a:extLst xmlns:a="http://schemas.openxmlformats.org/drawingml/2006/main">
              <a:ext uri="{FF2B5EF4-FFF2-40B4-BE49-F238E27FC236}">
                <a16:creationId xmlns:a16="http://schemas.microsoft.com/office/drawing/2014/main" id="{41B6F95B-6ACC-4BA8-93BC-2D3C7BEA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10875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48人日暂不分配新功能；公司年假、临时支持、接口阻塞或返工将消耗这部分资源。</a:t>
            </a:r>
          </a:p>
        </p:txBody>
      </p:sp>
      <p:sp>
        <p:nvSpPr>
          <p:cNvPr id="14" name="11—12月按国内双休基线排期；海外协作方休假和跨年新调休需另行核对。">
            <a:extLst xmlns:a="http://schemas.openxmlformats.org/drawingml/2006/main">
              <a:ext uri="{FF2B5EF4-FFF2-40B4-BE49-F238E27FC236}">
                <a16:creationId xmlns:a16="http://schemas.microsoft.com/office/drawing/2014/main" id="{04EAECE5-2BCE-475A-BFA8-3AD10276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49050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11—12月按国内双休基线排期；海外协作方休假和跨年新调休需另行核对。</a:t>
            </a:r>
          </a:p>
        </p:txBody>
      </p:sp>
      <p:sp>
        <p:nvSpPr>
          <p:cNvPr id="15" name="工作日按国务院2026年节假日通知计算；人日分配为本次计划假设。">
            <a:extLst xmlns:a="http://schemas.openxmlformats.org/drawingml/2006/main">
              <a:ext uri="{FF2B5EF4-FFF2-40B4-BE49-F238E27FC236}">
                <a16:creationId xmlns:a16="http://schemas.microsoft.com/office/drawing/2014/main" id="{D7ED65B1-C91F-4ED7-9556-C780CCE2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工作日按国务院2026年节假日通知计算；人日分配为本次计划假设。</a:t>
            </a:r>
          </a:p>
        </p:txBody>
      </p:sp>
    </p:spTree>
    <p:extLst>
      <p:ext uri="{BB962C8B-B14F-4D97-AF65-F5344CB8AC3E}">
        <p14:creationId xmlns:p14="http://schemas.microsoft.com/office/powerpoint/2010/main" val="374472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874C85-676E-4DED-93A9-5BF1CEDB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10—12月实施路线图">
            <a:extLst xmlns:a="http://schemas.openxmlformats.org/drawingml/2006/main">
              <a:ext uri="{FF2B5EF4-FFF2-40B4-BE49-F238E27FC236}">
                <a16:creationId xmlns:a16="http://schemas.microsoft.com/office/drawing/2014/main" id="{B42B69B2-E5F7-42AA-9DA1-7F7541F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10—12月实施路线图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5D470285-CCAA-430B-A5C1-B041F9B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5D074-65AA-4D81-B385-8B211A19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主链优先，按验收结果进入下一阶段；MRP与SCM并行业务关系不因排期改变">
            <a:extLst xmlns:a="http://schemas.openxmlformats.org/drawingml/2006/main">
              <a:ext uri="{FF2B5EF4-FFF2-40B4-BE49-F238E27FC236}">
                <a16:creationId xmlns:a16="http://schemas.microsoft.com/office/drawing/2014/main" id="{011AA665-33C6-4421-9850-70B5A7CE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主链优先，按验收结果进入下一阶段；MRP与SCM并行业务关系不因排期改变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8DE4F-CC93-4FC4-87E5-4C082BD1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FD4443AD-0825-41D3-87F2-6847DD28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03 / 10">
            <a:extLst xmlns:a="http://schemas.openxmlformats.org/drawingml/2006/main">
              <a:ext uri="{FF2B5EF4-FFF2-40B4-BE49-F238E27FC236}">
                <a16:creationId xmlns:a16="http://schemas.microsoft.com/office/drawing/2014/main" id="{FA770438-05D2-49B2-B94C-35CB7D8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2E653-168C-4F6A-8B8E-0DB882FA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58864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10月 · 基础与预测">
            <a:extLst xmlns:a="http://schemas.openxmlformats.org/drawingml/2006/main">
              <a:ext uri="{FF2B5EF4-FFF2-40B4-BE49-F238E27FC236}">
                <a16:creationId xmlns:a16="http://schemas.microsoft.com/office/drawing/2014/main" id="{C8ED6399-F5D4-491E-8686-B96CCA32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38425"/>
            <a:ext cx="560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10月 · 基础与预测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08DDD-9927-4B0B-9AC1-95E74EF7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0"/>
            <a:ext cx="58864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2" name="11月 · 主链贯通">
            <a:extLst xmlns:a="http://schemas.openxmlformats.org/drawingml/2006/main">
              <a:ext uri="{FF2B5EF4-FFF2-40B4-BE49-F238E27FC236}">
                <a16:creationId xmlns:a16="http://schemas.microsoft.com/office/drawing/2014/main" id="{C2807CD4-6E95-464A-B8EC-28AF3C8F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638425"/>
            <a:ext cx="560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11月 · 主链贯通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58865-BFD6-4CAA-9B9E-DCB2F747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2571750"/>
            <a:ext cx="58864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4" name="12月 · 试点与收口">
            <a:extLst xmlns:a="http://schemas.openxmlformats.org/drawingml/2006/main">
              <a:ext uri="{FF2B5EF4-FFF2-40B4-BE49-F238E27FC236}">
                <a16:creationId xmlns:a16="http://schemas.microsoft.com/office/drawing/2014/main" id="{772CE157-132E-4D07-9D6F-EE07D8E7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2638425"/>
            <a:ext cx="5600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12月 · 试点与收口</a:t>
            </a:r>
          </a:p>
        </p:txBody>
      </p:sp>
      <p:sp>
        <p:nvSpPr>
          <p:cNvPr id="15" name="公共基础 / 配置">
            <a:extLst xmlns:a="http://schemas.openxmlformats.org/drawingml/2006/main">
              <a:ext uri="{FF2B5EF4-FFF2-40B4-BE49-F238E27FC236}">
                <a16:creationId xmlns:a16="http://schemas.microsoft.com/office/drawing/2014/main" id="{06A5D265-AE27-46CD-ABB9-C272AF1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4248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公共基础 / 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0EA2C-95F4-40A5-B0F6-D4EF1D2C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0425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E0D2D-6F07-4946-A828-227539A0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04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18" name="10/08—10/16 定版与实现">
            <a:extLst xmlns:a="http://schemas.openxmlformats.org/drawingml/2006/main">
              <a:ext uri="{FF2B5EF4-FFF2-40B4-BE49-F238E27FC236}">
                <a16:creationId xmlns:a16="http://schemas.microsoft.com/office/drawing/2014/main" id="{764C8DD4-1B3F-4029-9D6F-195FBF5C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33775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10/08—10/16 定版与实现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6483D-E880-4026-989C-5C5A637A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00425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067C0-2F10-42B0-8FA4-AB7A3BEB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004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1" name="口径变更按版本控制">
            <a:extLst xmlns:a="http://schemas.openxmlformats.org/drawingml/2006/main">
              <a:ext uri="{FF2B5EF4-FFF2-40B4-BE49-F238E27FC236}">
                <a16:creationId xmlns:a16="http://schemas.microsoft.com/office/drawing/2014/main" id="{22F4A63F-B05C-4A0B-86DE-8F8BDA14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33775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口径变更按版本控制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E32A5-E570-406A-8377-9CD9EFDF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3400425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20232-AADC-4404-A215-FFDB3E02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34004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4" name="仅修复和必要维护">
            <a:extLst xmlns:a="http://schemas.openxmlformats.org/drawingml/2006/main">
              <a:ext uri="{FF2B5EF4-FFF2-40B4-BE49-F238E27FC236}">
                <a16:creationId xmlns:a16="http://schemas.microsoft.com/office/drawing/2014/main" id="{8AB65724-9D43-4B75-A6FA-273F21DE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3533775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仅修复和必要维护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B5EC4-7C18-4FE4-9163-23B5CEE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26" name="PMC预测 / 备货">
            <a:extLst xmlns:a="http://schemas.openxmlformats.org/drawingml/2006/main">
              <a:ext uri="{FF2B5EF4-FFF2-40B4-BE49-F238E27FC236}">
                <a16:creationId xmlns:a16="http://schemas.microsoft.com/office/drawing/2014/main" id="{D7AD4178-CAE9-405D-9E80-A47F972D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248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PMC预测 / 备货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E011B-8E58-48D6-85BF-F91978A0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CE3F49-BFC6-434F-BCEF-E24D9B08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9" name="10/12—10/30 预测与计划基础">
            <a:extLst xmlns:a="http://schemas.openxmlformats.org/drawingml/2006/main">
              <a:ext uri="{FF2B5EF4-FFF2-40B4-BE49-F238E27FC236}">
                <a16:creationId xmlns:a16="http://schemas.microsoft.com/office/drawing/2014/main" id="{A6451569-7B62-44E8-A459-254CFEF0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10/12—10/30 预测与计划基础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260E4-53E3-46E9-854B-67B63F61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AE2A67-2899-42DF-BADC-9884086F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01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32" name="11/02—11/27 备货与UAT">
            <a:extLst xmlns:a="http://schemas.openxmlformats.org/drawingml/2006/main">
              <a:ext uri="{FF2B5EF4-FFF2-40B4-BE49-F238E27FC236}">
                <a16:creationId xmlns:a16="http://schemas.microsoft.com/office/drawing/2014/main" id="{1EC28E3D-7501-433B-A3CB-303EE7BD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743450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11/02—11/27 备货与UAT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0F7EE3-02F5-47E1-B0F0-9032F077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4610100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30507-1593-4353-BD1A-F980D597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46101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35" name="12/01—12/24 试点修复">
            <a:extLst xmlns:a="http://schemas.openxmlformats.org/drawingml/2006/main">
              <a:ext uri="{FF2B5EF4-FFF2-40B4-BE49-F238E27FC236}">
                <a16:creationId xmlns:a16="http://schemas.microsoft.com/office/drawing/2014/main" id="{687FAA9F-504D-4B42-AC04-F865D4AB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4743450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12/01—12/24 试点修复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6537AA-E1EF-48A6-A4CC-6FAA5837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37" name="SCM / 供应商">
            <a:extLst xmlns:a="http://schemas.openxmlformats.org/drawingml/2006/main">
              <a:ext uri="{FF2B5EF4-FFF2-40B4-BE49-F238E27FC236}">
                <a16:creationId xmlns:a16="http://schemas.microsoft.com/office/drawing/2014/main" id="{0681B56B-3E3A-4D03-AB2D-C2724C5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4248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SCM / 供应商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F633BF-85FD-48EF-8BB1-2F1A334F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19775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92DF38-4506-47DB-B163-44AFB7BD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197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40" name="数据与接口契约准备">
            <a:extLst xmlns:a="http://schemas.openxmlformats.org/drawingml/2006/main">
              <a:ext uri="{FF2B5EF4-FFF2-40B4-BE49-F238E27FC236}">
                <a16:creationId xmlns:a16="http://schemas.microsoft.com/office/drawing/2014/main" id="{BA70CB9A-A1F7-44D3-A6C0-47F454CA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953125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数据与接口契约准备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D2F3BA-8867-4B27-86E0-3969DEE1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19775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E0E7D6-78BF-43AA-ACC0-AC262AA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197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43" name="11/02—11/30 PR/PO主链">
            <a:extLst xmlns:a="http://schemas.openxmlformats.org/drawingml/2006/main">
              <a:ext uri="{FF2B5EF4-FFF2-40B4-BE49-F238E27FC236}">
                <a16:creationId xmlns:a16="http://schemas.microsoft.com/office/drawing/2014/main" id="{75786635-1384-4012-8D6B-DA5E7A00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953125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11/02—11/30 PR/PO主链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508A6E-39CF-4E91-B4DC-C7D9E08B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5819775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5F2E09-076B-4EE9-B17A-890313C1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58197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46" name="关键状态补齐，稳定运行">
            <a:extLst xmlns:a="http://schemas.openxmlformats.org/drawingml/2006/main">
              <a:ext uri="{FF2B5EF4-FFF2-40B4-BE49-F238E27FC236}">
                <a16:creationId xmlns:a16="http://schemas.microsoft.com/office/drawing/2014/main" id="{63D3909C-E96B-43AE-8E7F-D5FC2D7D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5953125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关键状态补齐，稳定运行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67F8D5-2B2B-4B8B-8201-E6AE4BD5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72275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48" name="MRP限定样板">
            <a:extLst xmlns:a="http://schemas.openxmlformats.org/drawingml/2006/main">
              <a:ext uri="{FF2B5EF4-FFF2-40B4-BE49-F238E27FC236}">
                <a16:creationId xmlns:a16="http://schemas.microsoft.com/office/drawing/2014/main" id="{3B895DC1-6B91-4F3F-9D5F-7C8565AB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29450"/>
            <a:ext cx="4248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MRP限定样板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B7CF27-C41F-4E5F-98BC-504D1B0D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029450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898A1A-DE3C-444C-B5FD-187E1D84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029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51" name="10/30前锁定BOM和库存样例">
            <a:extLst xmlns:a="http://schemas.openxmlformats.org/drawingml/2006/main">
              <a:ext uri="{FF2B5EF4-FFF2-40B4-BE49-F238E27FC236}">
                <a16:creationId xmlns:a16="http://schemas.microsoft.com/office/drawing/2014/main" id="{6AA9514C-B9BD-414A-A874-BC642DCB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162800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10/30前锁定BOM和库存样例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D11122-0EA7-46C8-ADBD-AA40F38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29450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54FADD-65F2-48A1-BC3D-0A2CAEE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29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54" name="11月数据就绪后启动">
            <a:extLst xmlns:a="http://schemas.openxmlformats.org/drawingml/2006/main">
              <a:ext uri="{FF2B5EF4-FFF2-40B4-BE49-F238E27FC236}">
                <a16:creationId xmlns:a16="http://schemas.microsoft.com/office/drawing/2014/main" id="{9715BE50-7717-4435-98AD-25E8B660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7162800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11月数据就绪后启动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4E35F4-90CA-4B01-A92E-88DD6BFA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7029450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16306D-32BE-46BD-B2D3-48EA9595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7029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57" name="12/18前样例对账与联评">
            <a:extLst xmlns:a="http://schemas.openxmlformats.org/drawingml/2006/main">
              <a:ext uri="{FF2B5EF4-FFF2-40B4-BE49-F238E27FC236}">
                <a16:creationId xmlns:a16="http://schemas.microsoft.com/office/drawing/2014/main" id="{7F144FE1-FDBC-4C71-A632-5E65B8D0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7162800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12/18前样例对账与联评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1E46B0-A468-48C1-8471-5584189D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8195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59" name="已有MES接入">
            <a:extLst xmlns:a="http://schemas.openxmlformats.org/drawingml/2006/main">
              <a:ext uri="{FF2B5EF4-FFF2-40B4-BE49-F238E27FC236}">
                <a16:creationId xmlns:a16="http://schemas.microsoft.com/office/drawing/2014/main" id="{384BD810-55F6-467B-89F1-5E83F0B7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39125"/>
            <a:ext cx="4248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已有MES接入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1EA6BE-FA0B-43EA-9CA8-69F6DAE5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239125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4D359A-C8FD-41AE-813B-4C09B259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2391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62" name="范围与接口责任人明确">
            <a:extLst xmlns:a="http://schemas.openxmlformats.org/drawingml/2006/main">
              <a:ext uri="{FF2B5EF4-FFF2-40B4-BE49-F238E27FC236}">
                <a16:creationId xmlns:a16="http://schemas.microsoft.com/office/drawing/2014/main" id="{5E307538-3FC2-4F78-9CE3-B81C3DEF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372475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范围与接口责任人明确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A6CFDB-56EA-4108-AA4A-7B1D6C40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239125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89C5BF-FE66-4AA3-9A88-9D7E205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2391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65" name="11/13前接口/环境就绪">
            <a:extLst xmlns:a="http://schemas.openxmlformats.org/drawingml/2006/main">
              <a:ext uri="{FF2B5EF4-FFF2-40B4-BE49-F238E27FC236}">
                <a16:creationId xmlns:a16="http://schemas.microsoft.com/office/drawing/2014/main" id="{100B4C37-D922-4E06-8E6A-30972513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8372475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11/13前接口/环境就绪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79C14C-F414-4456-A3A3-AF817430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8239125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4CC28B-47F6-4C37-A8C2-C95E2F3B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82391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68" name="12/01—12/18 最小接入">
            <a:extLst xmlns:a="http://schemas.openxmlformats.org/drawingml/2006/main">
              <a:ext uri="{FF2B5EF4-FFF2-40B4-BE49-F238E27FC236}">
                <a16:creationId xmlns:a16="http://schemas.microsoft.com/office/drawing/2014/main" id="{896529A9-C8C7-4A42-AE46-71116180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8372475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12/01—12/18 最小接入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CD09BE-E7C6-4C53-969A-BD08AA60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91625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0" name="验收 / 试点">
            <a:extLst xmlns:a="http://schemas.openxmlformats.org/drawingml/2006/main">
              <a:ext uri="{FF2B5EF4-FFF2-40B4-BE49-F238E27FC236}">
                <a16:creationId xmlns:a16="http://schemas.microsoft.com/office/drawing/2014/main" id="{365071B0-11B4-4AC7-818E-9F081D38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48800"/>
            <a:ext cx="4248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验收 / 试点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5DA2F2-61A0-4048-B617-34FFA3C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448800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3EC35F-8F87-4A1E-8EC1-36D989B9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4488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73" name="G1 10/30：预测闭环">
            <a:extLst xmlns:a="http://schemas.openxmlformats.org/drawingml/2006/main">
              <a:ext uri="{FF2B5EF4-FFF2-40B4-BE49-F238E27FC236}">
                <a16:creationId xmlns:a16="http://schemas.microsoft.com/office/drawing/2014/main" id="{F1CB9A5F-CDA7-417F-A3E7-BCEBDABF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9582150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G1 10/30：预测闭环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4781E4-544C-4126-8DEA-EDF1C23C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448800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F5EF58-F01A-459A-B281-C1F7347E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4488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76" name="G2 11/30：P0试点准入">
            <a:extLst xmlns:a="http://schemas.openxmlformats.org/drawingml/2006/main">
              <a:ext uri="{FF2B5EF4-FFF2-40B4-BE49-F238E27FC236}">
                <a16:creationId xmlns:a16="http://schemas.microsoft.com/office/drawing/2014/main" id="{EE226A9C-A682-4D17-92BB-A21D6911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582150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G2 11/30：P0试点准入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860195-50B3-4135-A79A-0AC3BDAA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448800"/>
            <a:ext cx="588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E49A20-9BF1-4452-B3CE-88F5933D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4488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79" name="G3 12/24：验收与冻结">
            <a:extLst xmlns:a="http://schemas.openxmlformats.org/drawingml/2006/main">
              <a:ext uri="{FF2B5EF4-FFF2-40B4-BE49-F238E27FC236}">
                <a16:creationId xmlns:a16="http://schemas.microsoft.com/office/drawing/2014/main" id="{F0D4D1F6-E6C1-4ACD-96D0-5C2316BD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582150"/>
            <a:ext cx="553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G3 12/24：验收与冻结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7B1760-3ECF-480E-9B3D-670BBBAE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013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E52D85-5320-4F39-95A2-D0026950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0"/>
            <a:ext cx="23164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B"/>
          </a:solidFill>
          <a:ln xmlns:a="http://schemas.openxmlformats.org/drawingml/2006/main" w="0">
            <a:noFill/>
          </a:ln>
        </p:spPr>
      </p:sp>
      <p:sp>
        <p:nvSpPr>
          <p:cNvPr id="82" name="12/25—12/31：观察与缺陷收尾，归档Q4交付并确定Q1待办；不安排常规大版本上线。">
            <a:extLst xmlns:a="http://schemas.openxmlformats.org/drawingml/2006/main">
              <a:ext uri="{FF2B5EF4-FFF2-40B4-BE49-F238E27FC236}">
                <a16:creationId xmlns:a16="http://schemas.microsoft.com/office/drawing/2014/main" id="{426E4931-91E0-404B-B4BD-38970EB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239500"/>
            <a:ext cx="22650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12/25—12/31：观察与缺陷收尾，归档Q4交付并确定Q1待办；不安排常规大版本上线。</a:t>
            </a:r>
          </a:p>
        </p:txBody>
      </p:sp>
      <p:sp>
        <p:nvSpPr>
          <p:cNvPr id="83" name="具体起止日期为建议；P1仅对完成数据及接口准备的试点场景开展，不承诺全渠道/全工厂覆盖。">
            <a:extLst xmlns:a="http://schemas.openxmlformats.org/drawingml/2006/main">
              <a:ext uri="{FF2B5EF4-FFF2-40B4-BE49-F238E27FC236}">
                <a16:creationId xmlns:a16="http://schemas.microsoft.com/office/drawing/2014/main" id="{792270DF-67B2-4D99-8F51-7F4B3D51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具体起止日期为建议；P1仅对完成数据及接口准备的试点场景开展，不承诺全渠道/全工厂覆盖。</a:t>
            </a:r>
          </a:p>
        </p:txBody>
      </p:sp>
    </p:spTree>
    <p:extLst>
      <p:ext uri="{BB962C8B-B14F-4D97-AF65-F5344CB8AC3E}">
        <p14:creationId xmlns:p14="http://schemas.microsoft.com/office/powerpoint/2010/main" val="608946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13EED-90B6-49FF-9DD4-1FC34BF5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建设范围与功能人日预算">
            <a:extLst xmlns:a="http://schemas.openxmlformats.org/drawingml/2006/main">
              <a:ext uri="{FF2B5EF4-FFF2-40B4-BE49-F238E27FC236}">
                <a16:creationId xmlns:a16="http://schemas.microsoft.com/office/drawing/2014/main" id="{83689E7D-B919-41C6-816C-72F2B75B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建设范围与功能人日预算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780DF84D-03DC-4671-92B0-A93D79F2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E76C9-4140-49A4-A110-696F573F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148人日用于功能建设；联调质量52人日、风险预留48人日另计">
            <a:extLst xmlns:a="http://schemas.openxmlformats.org/drawingml/2006/main">
              <a:ext uri="{FF2B5EF4-FFF2-40B4-BE49-F238E27FC236}">
                <a16:creationId xmlns:a16="http://schemas.microsoft.com/office/drawing/2014/main" id="{F7562FFE-B3CA-4242-BCF7-906EEB7A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148人日用于功能建设；联调质量52人日、风险预留48人日另计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0B98-2E4E-4BAC-B009-46CCFB92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77726457-D54B-46F8-B252-18D91838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04 / 10">
            <a:extLst xmlns:a="http://schemas.openxmlformats.org/drawingml/2006/main">
              <a:ext uri="{FF2B5EF4-FFF2-40B4-BE49-F238E27FC236}">
                <a16:creationId xmlns:a16="http://schemas.microsoft.com/office/drawing/2014/main" id="{E9CB3D4C-491A-40D8-A412-8AA4053A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23164800" cy="781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143000"/>
                <a:gridCol w="11144250"/>
                <a:gridCol w="1790700"/>
                <a:gridCol w="1790700"/>
                <a:gridCol w="1790700"/>
                <a:gridCol w="1790700"/>
              </a:tblGrid>
              <a:tr h="723900">
                <a:tc>
                  <a:txBody>
                    <a:bodyPr lIns="171450" tIns="133350" rIns="171450" bIns="133350"/>
                    <a:lstStyle/>
                    <a:p>
                      <a:r>
                        <a:rPr sz="217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工作包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级别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本季度交付边界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12月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</a:tr>
              <a:tr h="1181100"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公共基础与必要配置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角色、审计、日历、规则版本及试点必要参数；复用现有框架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PMC日级销量预测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周期、日级基准/修正/活动、提交退回、冻结与版本追溯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181100"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PMC备货与采购需求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引用库存在途、SKU版本、人工校准、确认需求及SCM交接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SCM与供应商执行状态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复用PR/PO，需求接收去重、关键状态/异常治理、接单交期发货回传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181100"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MRP限定场景验证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固定BOM和物料库存的净需求、采购建议、备料发料清单及业务复核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已有MES最小接入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单工厂订单关联、已有进度/完工结果回传；延期异常标记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75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11548-101D-4751-8CF6-F1CECD22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0"/>
            <a:ext cx="23164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B"/>
          </a:solidFill>
          <a:ln xmlns:a="http://schemas.openxmlformats.org/drawingml/2006/main" w="0">
            <a:noFill/>
          </a:ln>
        </p:spPr>
      </p:sp>
      <p:sp>
        <p:nvSpPr>
          <p:cNvPr id="11" name="P0功能预算120人日，P1样板预算28人日；若P0或基础接口超出预算，先缩减P1扩展范围。">
            <a:extLst xmlns:a="http://schemas.openxmlformats.org/drawingml/2006/main">
              <a:ext uri="{FF2B5EF4-FFF2-40B4-BE49-F238E27FC236}">
                <a16:creationId xmlns:a16="http://schemas.microsoft.com/office/drawing/2014/main" id="{9333199D-83A5-46D8-A373-06006B68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953750"/>
            <a:ext cx="22650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P0功能预算120人日，P1样板预算28人日；若P0或基础接口超出预算，先缩减P1扩展范围。</a:t>
            </a:r>
          </a:p>
        </p:txBody>
      </p:sp>
      <p:sp>
        <p:nvSpPr>
          <p:cNvPr id="12" name="不含完整WMS/OMS/PMS、算法平台、全量历史治理或完整QC系统重建；配置仅建设试点必需项。">
            <a:extLst xmlns:a="http://schemas.openxmlformats.org/drawingml/2006/main">
              <a:ext uri="{FF2B5EF4-FFF2-40B4-BE49-F238E27FC236}">
                <a16:creationId xmlns:a16="http://schemas.microsoft.com/office/drawing/2014/main" id="{B9CFEFC0-86AB-450C-8B76-0097D598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不含完整WMS/OMS/PMS、算法平台、全量历史治理或完整QC系统重建；配置仅建设试点必需项。</a:t>
            </a:r>
          </a:p>
        </p:txBody>
      </p:sp>
    </p:spTree>
    <p:extLst>
      <p:ext uri="{BB962C8B-B14F-4D97-AF65-F5344CB8AC3E}">
        <p14:creationId xmlns:p14="http://schemas.microsoft.com/office/powerpoint/2010/main" val="1901355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6810D-A71C-40CB-B104-21D847F9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4名开发的建议分工">
            <a:extLst xmlns:a="http://schemas.openxmlformats.org/drawingml/2006/main">
              <a:ext uri="{FF2B5EF4-FFF2-40B4-BE49-F238E27FC236}">
                <a16:creationId xmlns:a16="http://schemas.microsoft.com/office/drawing/2014/main" id="{4E99E3AF-F169-4D7C-BDC0-999C3C0C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4名开发的建议分工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4E0F22EE-F572-4977-B240-222F51BE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FBFF2-FEC9-494F-9135-AEF83E87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暂按1名前端、2名后端、1名全栈/接口配置；不额外假设专职测试开发">
            <a:extLst xmlns:a="http://schemas.openxmlformats.org/drawingml/2006/main">
              <a:ext uri="{FF2B5EF4-FFF2-40B4-BE49-F238E27FC236}">
                <a16:creationId xmlns:a16="http://schemas.microsoft.com/office/drawing/2014/main" id="{E158232B-D766-4FA4-B924-D52F83C3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暂按1名前端、2名后端、1名全栈/接口配置；不额外假设专职测试开发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152E2-27C0-43EC-9C3B-C992606C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AFC2E4CA-B0AA-4A53-8187-0C260FF0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05 / 10">
            <a:extLst xmlns:a="http://schemas.openxmlformats.org/drawingml/2006/main">
              <a:ext uri="{FF2B5EF4-FFF2-40B4-BE49-F238E27FC236}">
                <a16:creationId xmlns:a16="http://schemas.microsoft.com/office/drawing/2014/main" id="{99543D65-1D13-4A77-8667-6F543AC5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23164800" cy="689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8763000"/>
                <a:gridCol w="3467100"/>
                <a:gridCol w="3467100"/>
                <a:gridCol w="3467100"/>
              </a:tblGrid>
              <a:tr h="723900"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开发角色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主要责任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</a:t>
                      </a:r>
                    </a:p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功能/质量/预留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</a:t>
                      </a:r>
                    </a:p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功能/质量/预留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12月</a:t>
                      </a:r>
                    </a:p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功能/质量/预留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</a:tr>
              <a:tr h="15430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 · 前端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PMC界面与共用交互，SCM必要前端增量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/ 3 / 1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/ 4 / 3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7 / 6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5430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 · 后端 / PMC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周期与预测状态、计划计算、权限及版本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/ 3 / 1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/ 3 / 2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7 / 6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5430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 · 后端 / SCM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数据契约协同，PR/PO增量及执行状态回流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3 / 5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/ 3 / 2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7 / 6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5430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 · 全栈 / 接口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事实数据接入，MRP样板，已有MES对接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3 / 5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2 / 7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7 / 4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53149-5BAF-4FBC-AD6E-39E4A090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23164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B"/>
          </a:solidFill>
          <a:ln xmlns:a="http://schemas.openxmlformats.org/drawingml/2006/main" w="0">
            <a:noFill/>
          </a:ln>
        </p:spPr>
      </p:sp>
      <p:sp>
        <p:nvSpPr>
          <p:cNvPr id="11" name="每人按18 / 21 / 23工作日排期，季度合计62人日；预留已经包含在表内，不能重复计算。">
            <a:extLst xmlns:a="http://schemas.openxmlformats.org/drawingml/2006/main">
              <a:ext uri="{FF2B5EF4-FFF2-40B4-BE49-F238E27FC236}">
                <a16:creationId xmlns:a16="http://schemas.microsoft.com/office/drawing/2014/main" id="{4F75C2B5-4CE5-41D3-88CD-2970867E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0"/>
            <a:ext cx="22650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每人按18 / 21 / 23工作日排期，季度合计62人日；预留已经包含在表内，不能重复计算。</a:t>
            </a:r>
          </a:p>
        </p:txBody>
      </p:sp>
      <p:sp>
        <p:nvSpPr>
          <p:cNvPr id="12" name="D1和D2共同交付PMC，D3承接SCM，D4按“数据接入 → MRP样板 → MES最小接入”推进。">
            <a:extLst xmlns:a="http://schemas.openxmlformats.org/drawingml/2006/main">
              <a:ext uri="{FF2B5EF4-FFF2-40B4-BE49-F238E27FC236}">
                <a16:creationId xmlns:a16="http://schemas.microsoft.com/office/drawing/2014/main" id="{1666633C-3DAC-4A21-ADCF-450E894E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0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D1和D2共同交付PMC，D3承接SCM，D4按“数据接入 → MRP样板 → MES最小接入”推进。</a:t>
            </a:r>
          </a:p>
        </p:txBody>
      </p:sp>
      <p:sp>
        <p:nvSpPr>
          <p:cNvPr id="13" name="模块负责人不代表单人独立完成；统一契约、自测与交叉评审，按周检查实际投入和剩余工作量。">
            <a:extLst xmlns:a="http://schemas.openxmlformats.org/drawingml/2006/main">
              <a:ext uri="{FF2B5EF4-FFF2-40B4-BE49-F238E27FC236}">
                <a16:creationId xmlns:a16="http://schemas.microsoft.com/office/drawing/2014/main" id="{BD26D0F9-EC48-4072-8F37-17E0BA6C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模块负责人不代表单人独立完成；统一契约、自测与交叉评审，按周检查实际投入和剩余工作量。</a:t>
            </a:r>
          </a:p>
        </p:txBody>
      </p:sp>
    </p:spTree>
    <p:extLst>
      <p:ext uri="{BB962C8B-B14F-4D97-AF65-F5344CB8AC3E}">
        <p14:creationId xmlns:p14="http://schemas.microsoft.com/office/powerpoint/2010/main" val="13160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89B11-EFD9-45AF-B910-D896E943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10月计划：预测闭环与数据基础">
            <a:extLst xmlns:a="http://schemas.openxmlformats.org/drawingml/2006/main">
              <a:ext uri="{FF2B5EF4-FFF2-40B4-BE49-F238E27FC236}">
                <a16:creationId xmlns:a16="http://schemas.microsoft.com/office/drawing/2014/main" id="{AD03AEEC-2D23-4756-A5BB-3E1D5A50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10月计划：预测闭环与数据基础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F816C4E0-B47A-4120-9F55-0E0F0447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884EA-E02B-4D98-91B1-F054F6F6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10/08启动开发，10/10补班用于评审和契约校准，国庆假期不安排正常开发任务">
            <a:extLst xmlns:a="http://schemas.openxmlformats.org/drawingml/2006/main">
              <a:ext uri="{FF2B5EF4-FFF2-40B4-BE49-F238E27FC236}">
                <a16:creationId xmlns:a16="http://schemas.microsoft.com/office/drawing/2014/main" id="{D853A1A5-3319-444A-B0AF-A5256D92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10/08启动开发，10/10补班用于评审和契约校准，国庆假期不安排正常开发任务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52EB8-86B3-4DF4-91CF-E45A8483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AD5A5DDB-E8D8-4CF8-A51E-B2E0FC41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06 / 10">
            <a:extLst xmlns:a="http://schemas.openxmlformats.org/drawingml/2006/main">
              <a:ext uri="{FF2B5EF4-FFF2-40B4-BE49-F238E27FC236}">
                <a16:creationId xmlns:a16="http://schemas.microsoft.com/office/drawing/2014/main" id="{2ADFA694-17D1-4ECD-A3EF-EB8C53A9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23164800" cy="689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096125"/>
                <a:gridCol w="7239000"/>
                <a:gridCol w="5495925"/>
              </a:tblGrid>
              <a:tr h="723900"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 / 工作日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建设工作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验收节点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</a:tr>
              <a:tr h="205740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10-08—10-10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3个工作日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需求与技术评审，锁定试点与数据契约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范围、字段/接口、验收样例、权限边界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10/10：评审并重估人日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205740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10-12—10-23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10个工作日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预测全链路开发，库存/映射接口及计划骨架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日级填报、原因与活动、提交/审核/退回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每日自测，接口使用固定样例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205740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10-26—10-30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5个工作日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预测交叉测试与UAT，备货基础演示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预测闭环验收记录，11月接口就绪清单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10/30：预测闭环通过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G1验收：填报、草稿、提交只读、退回修改、重提、PMC确认及审计链路可运行。">
            <a:extLst xmlns:a="http://schemas.openxmlformats.org/drawingml/2006/main">
              <a:ext uri="{FF2B5EF4-FFF2-40B4-BE49-F238E27FC236}">
                <a16:creationId xmlns:a16="http://schemas.microsoft.com/office/drawing/2014/main" id="{75A51C0B-EF0B-4389-A397-2FCCD209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06125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G1验收：填报、草稿、提交只读、退回修改、重提、PMC确认及审计链路可运行。</a:t>
            </a:r>
          </a:p>
        </p:txBody>
      </p:sp>
      <p:sp>
        <p:nvSpPr>
          <p:cNvPr id="11" name="10月交付不等于正式上线；规则、库存口径、BOM和接口缺口纳入11月准入清单。">
            <a:extLst xmlns:a="http://schemas.openxmlformats.org/drawingml/2006/main">
              <a:ext uri="{FF2B5EF4-FFF2-40B4-BE49-F238E27FC236}">
                <a16:creationId xmlns:a16="http://schemas.microsoft.com/office/drawing/2014/main" id="{488C7545-8F87-4DF0-9546-F2C72AF4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72875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10月交付不等于正式上线；规则、库存口径、BOM和接口缺口纳入11月准入清单。</a:t>
            </a:r>
          </a:p>
        </p:txBody>
      </p:sp>
      <p:sp>
        <p:nvSpPr>
          <p:cNvPr id="12" name="10月资源：72人日 = 功能48 + 联调质量12 + 预留12。">
            <a:extLst xmlns:a="http://schemas.openxmlformats.org/drawingml/2006/main">
              <a:ext uri="{FF2B5EF4-FFF2-40B4-BE49-F238E27FC236}">
                <a16:creationId xmlns:a16="http://schemas.microsoft.com/office/drawing/2014/main" id="{9EF6BC23-C916-4EA9-AAC3-D37541E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10月资源：72人日 = 功能48 + 联调质量12 + 预留12。</a:t>
            </a:r>
          </a:p>
        </p:txBody>
      </p:sp>
    </p:spTree>
    <p:extLst>
      <p:ext uri="{BB962C8B-B14F-4D97-AF65-F5344CB8AC3E}">
        <p14:creationId xmlns:p14="http://schemas.microsoft.com/office/powerpoint/2010/main" val="1049438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59BB4-0C00-4CCC-B561-5E31793F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11月计划：PMC到SCM主链贯通">
            <a:extLst xmlns:a="http://schemas.openxmlformats.org/drawingml/2006/main">
              <a:ext uri="{FF2B5EF4-FFF2-40B4-BE49-F238E27FC236}">
                <a16:creationId xmlns:a16="http://schemas.microsoft.com/office/drawing/2014/main" id="{8F8DA33E-A380-45A9-B2B0-E7D1CE9E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11月计划：PMC到SCM主链贯通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1AA7F3A3-6384-4AA4-8B83-0F6C06BE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B6C23-7221-4C5A-966B-F4F01CE0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完成真实接口联调与业务UAT，11/30评审通过后进入12月限定试点">
            <a:extLst xmlns:a="http://schemas.openxmlformats.org/drawingml/2006/main">
              <a:ext uri="{FF2B5EF4-FFF2-40B4-BE49-F238E27FC236}">
                <a16:creationId xmlns:a16="http://schemas.microsoft.com/office/drawing/2014/main" id="{007586F1-0284-4312-9354-D9E0FD7C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完成真实接口联调与业务UAT，11/30评审通过后进入12月限定试点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9467E-9EF5-4135-B61E-F0D8F464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32B21D47-F4F8-4345-A3FB-E9AFC4B3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07 / 10">
            <a:extLst xmlns:a="http://schemas.openxmlformats.org/drawingml/2006/main">
              <a:ext uri="{FF2B5EF4-FFF2-40B4-BE49-F238E27FC236}">
                <a16:creationId xmlns:a16="http://schemas.microsoft.com/office/drawing/2014/main" id="{8558BFE5-EBA2-4B95-A270-E9C331A5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23164800" cy="765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096125"/>
                <a:gridCol w="7239000"/>
                <a:gridCol w="5495925"/>
              </a:tblGrid>
              <a:tr h="723900"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 / 工作日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建设工作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验收节点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</a:tr>
              <a:tr h="17335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11-02—11-13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10个工作日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备货/PR交接与SCM增量并行开发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库存引用、SKU拆解、确认需求、接收去重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MRP只启动数据就绪样板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7335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11-16—11-20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5个工作日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主链端到端联调，执行状态回传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预测—计划—PR—PO—供应商关联可追溯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重试、重复请求和错误回传测试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7335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11-23—11-27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5个工作日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业务UAT、关键缺陷修复与回归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PMC/采购联合验收及试点手册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未通过项不得带入正式试点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7335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11-30—11-30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1个工作日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P0上线准备评审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试点名单、发布与回滚方案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11/30：P0进入试点准备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G2验收：确认计划能追溯PR/PO，重复请求不重复建单，异常可补偿，关键执行状态可回流。">
            <a:extLst xmlns:a="http://schemas.openxmlformats.org/drawingml/2006/main">
              <a:ext uri="{FF2B5EF4-FFF2-40B4-BE49-F238E27FC236}">
                <a16:creationId xmlns:a16="http://schemas.microsoft.com/office/drawing/2014/main" id="{89491607-34FD-429C-9AF6-4E6BC09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06125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G2验收：确认计划能追溯PR/PO，重复请求不重复建单，异常可补偿，关键执行状态可回流。</a:t>
            </a:r>
          </a:p>
        </p:txBody>
      </p:sp>
      <p:sp>
        <p:nvSpPr>
          <p:cNvPr id="11" name="若只实现导出再导入，只可算业务过渡方案，不算PMC—SCM自动闭环通过。">
            <a:extLst xmlns:a="http://schemas.openxmlformats.org/drawingml/2006/main">
              <a:ext uri="{FF2B5EF4-FFF2-40B4-BE49-F238E27FC236}">
                <a16:creationId xmlns:a16="http://schemas.microsoft.com/office/drawing/2014/main" id="{EC432C24-EE58-473F-A4D8-66A56171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72875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若只实现导出再导入，只可算业务过渡方案，不算PMC—SCM自动闭环通过。</a:t>
            </a:r>
          </a:p>
        </p:txBody>
      </p:sp>
      <p:sp>
        <p:nvSpPr>
          <p:cNvPr id="12" name="11月资源：84人日 = 功能58 + 联调质量12 + 预留14。">
            <a:extLst xmlns:a="http://schemas.openxmlformats.org/drawingml/2006/main">
              <a:ext uri="{FF2B5EF4-FFF2-40B4-BE49-F238E27FC236}">
                <a16:creationId xmlns:a16="http://schemas.microsoft.com/office/drawing/2014/main" id="{20A567DA-E59A-4320-86E7-88AE914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11月资源：84人日 = 功能58 + 联调质量12 + 预留14。</a:t>
            </a:r>
          </a:p>
        </p:txBody>
      </p:sp>
    </p:spTree>
    <p:extLst>
      <p:ext uri="{BB962C8B-B14F-4D97-AF65-F5344CB8AC3E}">
        <p14:creationId xmlns:p14="http://schemas.microsoft.com/office/powerpoint/2010/main" val="1066199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3122F-D99D-4002-8DF6-49AA57C4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12月计划：限定试点与季度验收">
            <a:extLst xmlns:a="http://schemas.openxmlformats.org/drawingml/2006/main">
              <a:ext uri="{FF2B5EF4-FFF2-40B4-BE49-F238E27FC236}">
                <a16:creationId xmlns:a16="http://schemas.microsoft.com/office/drawing/2014/main" id="{561B6814-FC88-4008-87F0-2080A68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12月计划：限定试点与季度验收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F684DCB5-5377-4D0B-B80C-AC7D0B70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19537-70E4-476A-8C77-8B2F0CF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先稳定P0，再验证MRP与MES限定场景；12/24冻结常规变更，月底留出观察时间">
            <a:extLst xmlns:a="http://schemas.openxmlformats.org/drawingml/2006/main">
              <a:ext uri="{FF2B5EF4-FFF2-40B4-BE49-F238E27FC236}">
                <a16:creationId xmlns:a16="http://schemas.microsoft.com/office/drawing/2014/main" id="{F786C2A6-A3B4-4295-8EA8-A9D397D1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先稳定P0，再验证MRP与MES限定场景；12/24冻结常规变更，月底留出观察时间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4F4CA-C59D-48E8-B0A8-35C32B77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42BADB8F-711D-4FAA-8031-4696841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08 / 10">
            <a:extLst xmlns:a="http://schemas.openxmlformats.org/drawingml/2006/main">
              <a:ext uri="{FF2B5EF4-FFF2-40B4-BE49-F238E27FC236}">
                <a16:creationId xmlns:a16="http://schemas.microsoft.com/office/drawing/2014/main" id="{DC524256-4A32-49E9-BE86-8A23C7C6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23164800" cy="765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096125"/>
                <a:gridCol w="7239000"/>
                <a:gridCol w="5495925"/>
              </a:tblGrid>
              <a:tr h="723900"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 / 工作日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建设工作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验收节点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</a:tr>
              <a:tr h="17335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12-01—12-11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9个工作日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P0限定试点，MRP样例核对及MES接入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真实任务执行记录，P1试点对账差异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12/01仅在G2通过后启动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7335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12-14—12-18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5个工作日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P1样板联评、试点修复及主链回归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MRP/MES有条件验收，P0稳定性记录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不以P1阻塞P0稳定交付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7335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12-21—12-24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4个工作日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满足门槛后有限扩围，季度验收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正式交接、运维责任、遗留问题清单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 12/24：验收并冻结常规变更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733550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12-25—12-31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5个工作日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观察、缺陷收尾、文档归档和下季排期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Q4总结及Q1待办，严重问题按应急流程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G4 12/31：季度收口，不安排大版本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试点建议：1个渠道/站点、1个品类、1—2家供应商及1家MES工厂，名单由业务确定。">
            <a:extLst xmlns:a="http://schemas.openxmlformats.org/drawingml/2006/main">
              <a:ext uri="{FF2B5EF4-FFF2-40B4-BE49-F238E27FC236}">
                <a16:creationId xmlns:a16="http://schemas.microsoft.com/office/drawing/2014/main" id="{2F17C65B-394C-4861-884F-FDB9CECC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06125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试点建议：1个渠道/站点、1个品类、1—2家供应商及1家MES工厂，名单由业务确定。</a:t>
            </a:r>
          </a:p>
        </p:txBody>
      </p:sp>
      <p:sp>
        <p:nvSpPr>
          <p:cNvPr id="11" name="P1交付为限定样板；BOM、库存或MES接口未就绪时，保留差距清单并列入Q1。">
            <a:extLst xmlns:a="http://schemas.openxmlformats.org/drawingml/2006/main">
              <a:ext uri="{FF2B5EF4-FFF2-40B4-BE49-F238E27FC236}">
                <a16:creationId xmlns:a16="http://schemas.microsoft.com/office/drawing/2014/main" id="{30AF8E5F-16DE-4E34-9719-D210FBBE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72875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P1交付为限定样板；BOM、库存或MES接口未就绪时，保留差距清单并列入Q1。</a:t>
            </a:r>
          </a:p>
        </p:txBody>
      </p:sp>
      <p:sp>
        <p:nvSpPr>
          <p:cNvPr id="12" name="12月资源：92人日 = 功能42 + 联调质量28 + 预留22。">
            <a:extLst xmlns:a="http://schemas.openxmlformats.org/drawingml/2006/main">
              <a:ext uri="{FF2B5EF4-FFF2-40B4-BE49-F238E27FC236}">
                <a16:creationId xmlns:a16="http://schemas.microsoft.com/office/drawing/2014/main" id="{FFD28DA1-810A-4B0E-AD18-60EF3E7D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12月资源：92人日 = 功能42 + 联调质量28 + 预留22。</a:t>
            </a:r>
          </a:p>
        </p:txBody>
      </p:sp>
    </p:spTree>
    <p:extLst>
      <p:ext uri="{BB962C8B-B14F-4D97-AF65-F5344CB8AC3E}">
        <p14:creationId xmlns:p14="http://schemas.microsoft.com/office/powerpoint/2010/main" val="1295750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B520D-50F6-4FFF-99D0-111BDA10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关键依赖与延误处理">
            <a:extLst xmlns:a="http://schemas.openxmlformats.org/drawingml/2006/main">
              <a:ext uri="{FF2B5EF4-FFF2-40B4-BE49-F238E27FC236}">
                <a16:creationId xmlns:a16="http://schemas.microsoft.com/office/drawing/2014/main" id="{6A5A9198-A151-4C53-ADB0-1288C46E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关键依赖与延误处理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FFA82E3C-2122-4E9D-9DD6-3CA49A18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1E399-C0D5-4B80-AC63-40BDC15B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4人交付能力依赖现有系统复用、数据就绪和业务验收支持；按具体日期检查">
            <a:extLst xmlns:a="http://schemas.openxmlformats.org/drawingml/2006/main">
              <a:ext uri="{FF2B5EF4-FFF2-40B4-BE49-F238E27FC236}">
                <a16:creationId xmlns:a16="http://schemas.microsoft.com/office/drawing/2014/main" id="{806A6276-BB29-4316-845D-62C3AF86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4人交付能力依赖现有系统复用、数据就绪和业务验收支持；按具体日期检查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00277-09FD-4006-BEDD-22A101DA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C9E660BA-2F66-403F-8324-39F7C8E4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09 / 10">
            <a:extLst xmlns:a="http://schemas.openxmlformats.org/drawingml/2006/main">
              <a:ext uri="{FF2B5EF4-FFF2-40B4-BE49-F238E27FC236}">
                <a16:creationId xmlns:a16="http://schemas.microsoft.com/office/drawing/2014/main" id="{5151432B-8172-457B-840B-7C8F145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23164800" cy="8553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524750"/>
                <a:gridCol w="5715000"/>
                <a:gridCol w="7067550"/>
              </a:tblGrid>
              <a:tr h="723900">
                <a:tc>
                  <a:txBody>
                    <a:bodyPr lIns="171450" tIns="133350" rIns="171450" bIns="13335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最晚检查点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依赖项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协同责任方（建议）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未就绪处理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</a:tr>
              <a:tr h="1304925"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人员能力、代码复用与试点范围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研发负责人 / PMC / 采购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重估后调小范围，不以加班填平缺口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304925"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10/16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SKU关系、销量/库存/在途样例及口径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商品主数据 / 数仓 / 库存责任方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隔离演示数据，正式验收与上线顺延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304925"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10/23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SCM接收接口、PR/PO状态及异常约定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SCM负责人 / 采购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保留可追溯需求导出，但不宣称自动闭环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304925"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10/30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试点BOM版本、物料库存、损耗等参数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PLM / MRP业务 / 物料责任方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MRP停留样例验证，生产扩展排入Q1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304925"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11/13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MES订单标识、进度/完工接口及环境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MES负责人 / 工厂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只做联调准备，缺少接口不承诺自动回传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304925"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11/20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业务UAT人员、试点名单与操作时段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PMC / 销售 / 采购 / 供应商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10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缩小试点，不未经业务验收直接上线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以上为跨团队配合要求，未将这些责任方计入4名开发的人日；需在10/10评审时落实到具体人员。">
            <a:extLst xmlns:a="http://schemas.openxmlformats.org/drawingml/2006/main">
              <a:ext uri="{FF2B5EF4-FFF2-40B4-BE49-F238E27FC236}">
                <a16:creationId xmlns:a16="http://schemas.microsoft.com/office/drawing/2014/main" id="{DB6BEA57-F22B-43A3-B257-B87CD0F7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以上为跨团队配合要求，未将这些责任方计入4名开发的人日；需在10/10评审时落实到具体人员。</a:t>
            </a:r>
          </a:p>
        </p:txBody>
      </p:sp>
    </p:spTree>
    <p:extLst>
      <p:ext uri="{BB962C8B-B14F-4D97-AF65-F5344CB8AC3E}">
        <p14:creationId xmlns:p14="http://schemas.microsoft.com/office/powerpoint/2010/main" val="2064040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D6CEA-312D-4ABA-863C-4A70A5FE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" name="季度交付标准与资源决策">
            <a:extLst xmlns:a="http://schemas.openxmlformats.org/drawingml/2006/main">
              <a:ext uri="{FF2B5EF4-FFF2-40B4-BE49-F238E27FC236}">
                <a16:creationId xmlns:a16="http://schemas.microsoft.com/office/drawing/2014/main" id="{1674F6B2-63DC-4F57-B631-1DD9F592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"/>
            <a:ext cx="1905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季度交付标准与资源决策</a:t>
            </a:r>
          </a:p>
        </p:txBody>
      </p:sp>
      <p:sp>
        <p:nvSpPr>
          <p:cNvPr id="3" name="2026 Q4 / 计划V1.0">
            <a:extLst xmlns:a="http://schemas.openxmlformats.org/drawingml/2006/main">
              <a:ext uri="{FF2B5EF4-FFF2-40B4-BE49-F238E27FC236}">
                <a16:creationId xmlns:a16="http://schemas.microsoft.com/office/drawing/2014/main" id="{072D3400-F525-48DB-93AD-2016F9BE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0" y="571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计划V1.0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3E324-60B5-4872-93B5-E4277D3D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5" name="12/24按已批准试点范围验收，12/31完成交接；新增需求通过变更评审调整日期或范围">
            <a:extLst xmlns:a="http://schemas.openxmlformats.org/drawingml/2006/main">
              <a:ext uri="{FF2B5EF4-FFF2-40B4-BE49-F238E27FC236}">
                <a16:creationId xmlns:a16="http://schemas.microsoft.com/office/drawing/2014/main" id="{9D2D4D04-5343-42D9-B7DB-578EC1DF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3164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12/24按已批准试点范围验收，12/31完成交接；新增需求通过变更评审调整日期或范围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679BF-A90D-4D6D-93C4-0F0925C5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82600"/>
            <a:ext cx="2316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9"/>
          </a:solidFill>
          <a:ln xmlns:a="http://schemas.openxmlformats.org/drawingml/2006/main" w="0">
            <a:noFill/>
          </a:ln>
        </p:spPr>
      </p:sp>
      <p:sp>
        <p:nvSpPr>
          <p:cNvPr id="7" name="建议排期 · 4名开发 · 接续业务蓝图V3.0 · 10/10技术评审后锁定基线">
            <a:extLst xmlns:a="http://schemas.openxmlformats.org/drawingml/2006/main">
              <a:ext uri="{FF2B5EF4-FFF2-40B4-BE49-F238E27FC236}">
                <a16:creationId xmlns:a16="http://schemas.microsoft.com/office/drawing/2014/main" id="{BA26F0C4-72F1-49AA-9CF0-5D4649B2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96900"/>
            <a:ext cx="2095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建议排期 · 4名开发 · 接续业务蓝图V3.0 · 10/10技术评审后锁定基线</a:t>
            </a:r>
          </a:p>
        </p:txBody>
      </p:sp>
      <p:sp>
        <p:nvSpPr>
          <p:cNvPr id="8" name="10 / 10">
            <a:extLst xmlns:a="http://schemas.openxmlformats.org/drawingml/2006/main">
              <a:ext uri="{FF2B5EF4-FFF2-40B4-BE49-F238E27FC236}">
                <a16:creationId xmlns:a16="http://schemas.microsoft.com/office/drawing/2014/main" id="{F3E0A1A3-D3C9-48B8-A347-B48A91E3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0" y="132969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23164800" cy="708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3811250"/>
                <a:gridCol w="6019800"/>
              </a:tblGrid>
              <a:tr h="723900"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验收对象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1">
                          <a:solidFill>
                            <a:srgbClr val="008DD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建议证据</a:t>
                      </a:r>
                    </a:p>
                  </a:txBody>
                  <a:tcPr marL="171450" marR="171450" marT="133350" marB="133350" anchor="ctr">
                    <a:solidFill>
                      <a:srgbClr val="EAF4FB"/>
                    </a:solidFill>
                  </a:tcPr>
                </a:tc>
              </a:tr>
              <a:tr h="1590675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P0业务闭环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预测、计划、PR/PO及供应商状态关联可追溯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权限、退回、重复请求、异常回补验证通过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业务UAT签字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真实试点单据及日志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590675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数据与规则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销量/库存/在途来源明确，SKU版本与规则可追溯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数量或状态差异有业务确认与处理记录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数据对账清单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接口及版本说明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  <a:tr h="1590675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P1限定样板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MRP样例与业务复核一致；MES试点订单状态可回传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数据/接口未就绪项单列，不包装为全面上线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样例对账结果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接口回传和差距清单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1590675"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运行与交接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无阻断上线或影响核心数量/权限的未解决缺陷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完成回滚演练、责任交接和遗留事项排期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  <a:tc>
                  <a:txBody>
                    <a:bodyPr lIns="171450" tIns="133350" rIns="171450" bIns="133350"/>
                    <a:lstStyle/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发布/回滚记录</a:t>
                      </a:r>
                    </a:p>
                    <a:p>
                      <a:r>
                        <a:rPr sz="2250" b="0">
                          <a:solidFill>
                            <a:srgbClr val="3C56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培训、运维及Q1待办</a:t>
                      </a:r>
                    </a:p>
                  </a:txBody>
                  <a:tcPr marL="171450" marR="171450" marT="133350" marB="13335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请管理层确认">
            <a:extLst xmlns:a="http://schemas.openxmlformats.org/drawingml/2006/main">
              <a:ext uri="{FF2B5EF4-FFF2-40B4-BE49-F238E27FC236}">
                <a16:creationId xmlns:a16="http://schemas.microsoft.com/office/drawing/2014/main" id="{DF163EF0-3485-486B-A546-C0CA2538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请管理层确认</a:t>
            </a:r>
          </a:p>
        </p:txBody>
      </p:sp>
      <p:sp>
        <p:nvSpPr>
          <p:cNvPr id="11" name="4人投入比例与技能组合；试点范围及协同人员；P0优先、P1按依赖就绪推进的交付策略。">
            <a:extLst xmlns:a="http://schemas.openxmlformats.org/drawingml/2006/main">
              <a:ext uri="{FF2B5EF4-FFF2-40B4-BE49-F238E27FC236}">
                <a16:creationId xmlns:a16="http://schemas.microsoft.com/office/drawing/2014/main" id="{115BC1D7-696D-4FC7-ACA0-FD5AD11E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96625"/>
            <a:ext cx="2316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4人投入比例与技能组合；试点范围及协同人员；P0优先、P1按依赖就绪推进的交付策略。</a:t>
            </a:r>
          </a:p>
        </p:txBody>
      </p:sp>
      <p:sp>
        <p:nvSpPr>
          <p:cNvPr id="12" name="如1人整季仅投入50%，资源减少31人日；需重排范围，不能继续按248人日承诺。">
            <a:extLst xmlns:a="http://schemas.openxmlformats.org/drawingml/2006/main">
              <a:ext uri="{FF2B5EF4-FFF2-40B4-BE49-F238E27FC236}">
                <a16:creationId xmlns:a16="http://schemas.microsoft.com/office/drawing/2014/main" id="{BF775180-18D7-49F9-80C0-8D1F79C4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0"/>
            <a:ext cx="23164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如1人整季仅投入50%，资源减少31人日；需重排范围，不能继续按248人日承诺。</a:t>
            </a:r>
          </a:p>
        </p:txBody>
      </p:sp>
    </p:spTree>
    <p:extLst>
      <p:ext uri="{BB962C8B-B14F-4D97-AF65-F5344CB8AC3E}">
        <p14:creationId xmlns:p14="http://schemas.microsoft.com/office/powerpoint/2010/main" val="2040456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2026-09-16T10:25:58.0200000Z</dcterms:created>
  <dcterms:modified xsi:type="dcterms:W3CDTF">2026-09-16T10:25:58.0200000Z</dcterms:modified>
</coreProperties>
</file>